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Pourquoi accélérer maintenant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01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LeftAccentBar"/>
          <p:cNvSpPr/>
          <p:nvPr/>
        </p:nvSpPr>
        <p:spPr>
          <a:xfrm>
            <a:off x="720000" y="1260000"/>
            <a:ext cx="39600" cy="22680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01_MANIFESTO"/>
          <p:cNvSpPr txBox="1"/>
          <p:nvPr/>
        </p:nvSpPr>
        <p:spPr>
          <a:xfrm>
            <a:off x="838800" y="1238400"/>
            <a:ext cx="7617600" cy="102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474E67"/>
                </a:solidFill>
                <a:latin typeface="Segoe UI Light"/>
              </a:rPr>
              <a:t>Le </a:t>
            </a:r>
            <a:r>
              <a:rPr sz="2400" b="1" i="0">
                <a:solidFill>
                  <a:srgbClr val="A25871"/>
                </a:solidFill>
                <a:latin typeface="Segoe UI"/>
              </a:rPr>
              <a:t>statu quo</a:t>
            </a:r>
            <a:r>
              <a:rPr sz="2400" b="0" i="0">
                <a:solidFill>
                  <a:srgbClr val="474E67"/>
                </a:solidFill>
                <a:latin typeface="Segoe UI Light"/>
              </a:rPr>
              <a:t> ralentit les équipes. Le pilote donne un </a:t>
            </a:r>
            <a:r>
              <a:rPr sz="2400" b="1" i="0">
                <a:solidFill>
                  <a:srgbClr val="A25871"/>
                </a:solidFill>
                <a:latin typeface="Segoe UI"/>
              </a:rPr>
              <a:t>rythme clair</a:t>
            </a:r>
            <a:r>
              <a:rPr sz="2400" b="0" i="0">
                <a:solidFill>
                  <a:srgbClr val="474E67"/>
                </a:solidFill>
                <a:latin typeface="Segoe UI Light"/>
              </a:rPr>
              <a:t> et rend la </a:t>
            </a:r>
            <a:r>
              <a:rPr sz="2400" b="1" i="0">
                <a:solidFill>
                  <a:srgbClr val="A25871"/>
                </a:solidFill>
                <a:latin typeface="Segoe UI"/>
              </a:rPr>
              <a:t>décision visible</a:t>
            </a:r>
            <a:r>
              <a:rPr sz="2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10" name="S01_BODY"/>
          <p:cNvSpPr txBox="1"/>
          <p:nvPr/>
        </p:nvSpPr>
        <p:spPr>
          <a:xfrm>
            <a:off x="838800" y="2865600"/>
            <a:ext cx="7365600" cy="1015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74E67"/>
                </a:solidFill>
                <a:latin typeface="Segoe UI"/>
              </a:rPr>
              <a:t>Les 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signaux convergent</a:t>
            </a:r>
            <a:r>
              <a:rPr sz="1300" b="0" i="0">
                <a:solidFill>
                  <a:srgbClr val="474E67"/>
                </a:solidFill>
                <a:latin typeface="Segoe UI"/>
              </a:rPr>
              <a:t> : délais instables, arbitrages tardifs et énergie dispersée. Avec un 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pilote court</a:t>
            </a:r>
            <a:r>
              <a:rPr sz="1300" b="0" i="0">
                <a:solidFill>
                  <a:srgbClr val="474E67"/>
                </a:solidFill>
                <a:latin typeface="Segoe UI"/>
              </a:rPr>
              <a:t>, nous créons une 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preuve mesurable</a:t>
            </a:r>
            <a:r>
              <a:rPr sz="1300" b="0" i="0">
                <a:solidFill>
                  <a:srgbClr val="474E67"/>
                </a:solidFill>
                <a:latin typeface="Segoe UI"/>
              </a:rPr>
              <a:t> pour décider vite.</a:t>
            </a:r>
          </a:p>
        </p:txBody>
      </p:sp>
      <p:sp>
        <p:nvSpPr>
          <p:cNvPr id="11" name="KpiAccent_1"/>
          <p:cNvSpPr/>
          <p:nvPr/>
        </p:nvSpPr>
        <p:spPr>
          <a:xfrm>
            <a:off x="8712000" y="1040400"/>
            <a:ext cx="406799" cy="25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01_STAT_1_VALUE"/>
          <p:cNvSpPr txBox="1"/>
          <p:nvPr/>
        </p:nvSpPr>
        <p:spPr>
          <a:xfrm>
            <a:off x="8712000" y="1144800"/>
            <a:ext cx="3401999" cy="76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6A5D79"/>
                </a:solidFill>
                <a:latin typeface="Segoe UI Black"/>
              </a:rPr>
              <a:t>+18%</a:t>
            </a:r>
          </a:p>
        </p:txBody>
      </p:sp>
      <p:sp>
        <p:nvSpPr>
          <p:cNvPr id="13" name="S01_STAT_1_LABEL"/>
          <p:cNvSpPr txBox="1"/>
          <p:nvPr/>
        </p:nvSpPr>
        <p:spPr>
          <a:xfrm>
            <a:off x="8712000" y="1904400"/>
            <a:ext cx="3401999" cy="28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70E1D"/>
                </a:solidFill>
                <a:latin typeface="Segoe UI"/>
              </a:rPr>
              <a:t>Engagement équipe</a:t>
            </a:r>
          </a:p>
        </p:txBody>
      </p:sp>
      <p:sp>
        <p:nvSpPr>
          <p:cNvPr id="14" name="S01_STAT_1_SUBLABEL"/>
          <p:cNvSpPr txBox="1"/>
          <p:nvPr/>
        </p:nvSpPr>
        <p:spPr>
          <a:xfrm>
            <a:off x="8712000" y="2185200"/>
            <a:ext cx="3401999" cy="255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sur équipe pilote</a:t>
            </a:r>
          </a:p>
        </p:txBody>
      </p:sp>
      <p:sp>
        <p:nvSpPr>
          <p:cNvPr id="15" name="KpiAccent_2"/>
          <p:cNvSpPr/>
          <p:nvPr/>
        </p:nvSpPr>
        <p:spPr>
          <a:xfrm>
            <a:off x="8712000" y="2692800"/>
            <a:ext cx="406799" cy="252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S01_STAT_2_VALUE"/>
          <p:cNvSpPr txBox="1"/>
          <p:nvPr/>
        </p:nvSpPr>
        <p:spPr>
          <a:xfrm>
            <a:off x="8712000" y="2793600"/>
            <a:ext cx="3401999" cy="76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A25871"/>
                </a:solidFill>
                <a:latin typeface="Segoe UI Black"/>
              </a:rPr>
              <a:t>12 j</a:t>
            </a:r>
          </a:p>
        </p:txBody>
      </p:sp>
      <p:sp>
        <p:nvSpPr>
          <p:cNvPr id="17" name="S01_STAT_2_LABEL"/>
          <p:cNvSpPr txBox="1"/>
          <p:nvPr/>
        </p:nvSpPr>
        <p:spPr>
          <a:xfrm>
            <a:off x="8712000" y="3556800"/>
            <a:ext cx="3401999" cy="28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70E1D"/>
                </a:solidFill>
                <a:latin typeface="Segoe UI"/>
              </a:rPr>
              <a:t>Cycle cible</a:t>
            </a:r>
          </a:p>
        </p:txBody>
      </p:sp>
      <p:sp>
        <p:nvSpPr>
          <p:cNvPr id="18" name="S01_STAT_2_SUBLABEL"/>
          <p:cNvSpPr txBox="1"/>
          <p:nvPr/>
        </p:nvSpPr>
        <p:spPr>
          <a:xfrm>
            <a:off x="8712000" y="3834000"/>
            <a:ext cx="3401999" cy="255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contre 21 j</a:t>
            </a:r>
          </a:p>
        </p:txBody>
      </p:sp>
      <p:sp>
        <p:nvSpPr>
          <p:cNvPr id="19" name="KpiAccent_3"/>
          <p:cNvSpPr/>
          <p:nvPr/>
        </p:nvSpPr>
        <p:spPr>
          <a:xfrm>
            <a:off x="8712000" y="4338000"/>
            <a:ext cx="406799" cy="25200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S01_STAT_3_VALUE"/>
          <p:cNvSpPr txBox="1"/>
          <p:nvPr/>
        </p:nvSpPr>
        <p:spPr>
          <a:xfrm>
            <a:off x="8712000" y="4446000"/>
            <a:ext cx="3401999" cy="76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FDA85B"/>
                </a:solidFill>
                <a:latin typeface="Segoe UI Black"/>
              </a:rPr>
              <a:t>90 j</a:t>
            </a:r>
          </a:p>
        </p:txBody>
      </p:sp>
      <p:sp>
        <p:nvSpPr>
          <p:cNvPr id="21" name="S01_STAT_3_LABEL"/>
          <p:cNvSpPr txBox="1"/>
          <p:nvPr/>
        </p:nvSpPr>
        <p:spPr>
          <a:xfrm>
            <a:off x="8712000" y="5205600"/>
            <a:ext cx="3401999" cy="28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70E1D"/>
                </a:solidFill>
                <a:latin typeface="Segoe UI"/>
              </a:rPr>
              <a:t>Preuve de valeur</a:t>
            </a:r>
          </a:p>
        </p:txBody>
      </p:sp>
      <p:sp>
        <p:nvSpPr>
          <p:cNvPr id="22" name="S01_STAT_3_SUBLABEL"/>
          <p:cNvSpPr txBox="1"/>
          <p:nvPr/>
        </p:nvSpPr>
        <p:spPr>
          <a:xfrm>
            <a:off x="8712000" y="5486400"/>
            <a:ext cx="3401999" cy="255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avant scale-up</a:t>
            </a:r>
          </a:p>
        </p:txBody>
      </p:sp>
      <p:sp>
        <p:nvSpPr>
          <p:cNvPr id="23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Décider vite pour apprendre vite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Trois principes d'exécution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02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02_SEP_1"/>
          <p:cNvSpPr/>
          <p:nvPr/>
        </p:nvSpPr>
        <p:spPr>
          <a:xfrm>
            <a:off x="607859" y="1695600"/>
            <a:ext cx="36000" cy="35640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02_COL_1_TITLE"/>
          <p:cNvSpPr txBox="1"/>
          <p:nvPr/>
        </p:nvSpPr>
        <p:spPr>
          <a:xfrm>
            <a:off x="849059" y="2545200"/>
            <a:ext cx="3240000" cy="9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cap="small">
                <a:solidFill>
                  <a:srgbClr val="6A5D79"/>
                </a:solidFill>
                <a:latin typeface="Segoe UI"/>
              </a:rPr>
              <a:t>Commencer petit, mesurer vite</a:t>
            </a:r>
          </a:p>
        </p:txBody>
      </p:sp>
      <p:sp>
        <p:nvSpPr>
          <p:cNvPr id="10" name="S02_COL_1_BODY"/>
          <p:cNvSpPr txBox="1"/>
          <p:nvPr/>
        </p:nvSpPr>
        <p:spPr>
          <a:xfrm>
            <a:off x="849059" y="4086000"/>
            <a:ext cx="3240000" cy="1126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Un périmètre pilote évite la dispersion. Les apprentissages deviennent des standards simples.</a:t>
            </a:r>
          </a:p>
        </p:txBody>
      </p:sp>
      <p:sp>
        <p:nvSpPr>
          <p:cNvPr id="11" name="S02_SEP_2"/>
          <p:cNvSpPr/>
          <p:nvPr/>
        </p:nvSpPr>
        <p:spPr>
          <a:xfrm>
            <a:off x="4355459" y="1695600"/>
            <a:ext cx="36000" cy="35640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02_COL_2_TITLE"/>
          <p:cNvSpPr txBox="1"/>
          <p:nvPr/>
        </p:nvSpPr>
        <p:spPr>
          <a:xfrm>
            <a:off x="4596659" y="2545200"/>
            <a:ext cx="3240000" cy="9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cap="small">
                <a:solidFill>
                  <a:srgbClr val="A25871"/>
                </a:solidFill>
                <a:latin typeface="Segoe UI"/>
              </a:rPr>
              <a:t>Donner un rôle au terrain</a:t>
            </a:r>
          </a:p>
        </p:txBody>
      </p:sp>
      <p:sp>
        <p:nvSpPr>
          <p:cNvPr id="13" name="S02_COL_2_BODY"/>
          <p:cNvSpPr txBox="1"/>
          <p:nvPr/>
        </p:nvSpPr>
        <p:spPr>
          <a:xfrm>
            <a:off x="4596659" y="4086000"/>
            <a:ext cx="3240000" cy="1126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Les équipes valident les irritants réels, priorisent les actions utiles et rendent les gains visibles.</a:t>
            </a:r>
          </a:p>
        </p:txBody>
      </p:sp>
      <p:sp>
        <p:nvSpPr>
          <p:cNvPr id="14" name="S02_SEP_3"/>
          <p:cNvSpPr/>
          <p:nvPr/>
        </p:nvSpPr>
        <p:spPr>
          <a:xfrm>
            <a:off x="8103059" y="1695600"/>
            <a:ext cx="36000" cy="3564000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02_COL_3_TITLE"/>
          <p:cNvSpPr txBox="1"/>
          <p:nvPr/>
        </p:nvSpPr>
        <p:spPr>
          <a:xfrm>
            <a:off x="8344260" y="2545200"/>
            <a:ext cx="3240000" cy="9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cap="small">
                <a:solidFill>
                  <a:srgbClr val="FDA85B"/>
                </a:solidFill>
                <a:latin typeface="Segoe UI"/>
              </a:rPr>
              <a:t>Installer une cadence commune</a:t>
            </a:r>
          </a:p>
        </p:txBody>
      </p:sp>
      <p:sp>
        <p:nvSpPr>
          <p:cNvPr id="16" name="S02_COL_3_BODY"/>
          <p:cNvSpPr txBox="1"/>
          <p:nvPr/>
        </p:nvSpPr>
        <p:spPr>
          <a:xfrm>
            <a:off x="8344260" y="4086000"/>
            <a:ext cx="3240000" cy="1126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Un rythme court synchronise sponsor, managers et contributeurs autour des mêmes faits.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Six facteurs critiques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03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03_TEARDROP_1"/>
          <p:cNvSpPr/>
          <p:nvPr/>
        </p:nvSpPr>
        <p:spPr>
          <a:xfrm>
            <a:off x="1336859" y="1475999"/>
            <a:ext cx="864000" cy="864000"/>
          </a:xfrm>
          <a:prstGeom prst="teardrop">
            <a:avLst/>
          </a:prstGeom>
          <a:solidFill>
            <a:srgbClr val="BABD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03_FACTOR_1_LABEL"/>
          <p:cNvSpPr txBox="1"/>
          <p:nvPr/>
        </p:nvSpPr>
        <p:spPr>
          <a:xfrm>
            <a:off x="627659" y="24804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Sponsor exécutif</a:t>
            </a:r>
          </a:p>
        </p:txBody>
      </p:sp>
      <p:sp>
        <p:nvSpPr>
          <p:cNvPr id="10" name="S03_TEARDROP_2"/>
          <p:cNvSpPr/>
          <p:nvPr/>
        </p:nvSpPr>
        <p:spPr>
          <a:xfrm>
            <a:off x="5635260" y="1475999"/>
            <a:ext cx="864000" cy="864000"/>
          </a:xfrm>
          <a:prstGeom prst="teardrop">
            <a:avLst/>
          </a:prstGeom>
          <a:solidFill>
            <a:srgbClr val="BBB4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03_FACTOR_2_LABEL"/>
          <p:cNvSpPr txBox="1"/>
          <p:nvPr/>
        </p:nvSpPr>
        <p:spPr>
          <a:xfrm>
            <a:off x="4926060" y="24804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Vision partagée</a:t>
            </a:r>
          </a:p>
        </p:txBody>
      </p:sp>
      <p:sp>
        <p:nvSpPr>
          <p:cNvPr id="12" name="S03_TEARDROP_3"/>
          <p:cNvSpPr/>
          <p:nvPr/>
        </p:nvSpPr>
        <p:spPr>
          <a:xfrm>
            <a:off x="9775260" y="1475999"/>
            <a:ext cx="864000" cy="864000"/>
          </a:xfrm>
          <a:prstGeom prst="teardrop">
            <a:avLst/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S03_FACTOR_3_LABEL"/>
          <p:cNvSpPr txBox="1"/>
          <p:nvPr/>
        </p:nvSpPr>
        <p:spPr>
          <a:xfrm>
            <a:off x="9066060" y="24804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Equipe dédiée</a:t>
            </a:r>
          </a:p>
        </p:txBody>
      </p:sp>
      <p:sp>
        <p:nvSpPr>
          <p:cNvPr id="14" name="S03_TEARDROP_4"/>
          <p:cNvSpPr/>
          <p:nvPr/>
        </p:nvSpPr>
        <p:spPr>
          <a:xfrm>
            <a:off x="1336859" y="4111200"/>
            <a:ext cx="864000" cy="864000"/>
          </a:xfrm>
          <a:prstGeom prst="teardrop">
            <a:avLst/>
          </a:prstGeom>
          <a:solidFill>
            <a:srgbClr val="F1D3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03_FACTOR_4_LABEL"/>
          <p:cNvSpPr txBox="1"/>
          <p:nvPr/>
        </p:nvSpPr>
        <p:spPr>
          <a:xfrm>
            <a:off x="627659" y="51156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Indicateurs simples</a:t>
            </a:r>
          </a:p>
        </p:txBody>
      </p:sp>
      <p:sp>
        <p:nvSpPr>
          <p:cNvPr id="16" name="S03_TEARDROP_5"/>
          <p:cNvSpPr/>
          <p:nvPr/>
        </p:nvSpPr>
        <p:spPr>
          <a:xfrm>
            <a:off x="5635260" y="4111200"/>
            <a:ext cx="864000" cy="864000"/>
          </a:xfrm>
          <a:prstGeom prst="teardrop">
            <a:avLst/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03_FACTOR_5_LABEL"/>
          <p:cNvSpPr txBox="1"/>
          <p:nvPr/>
        </p:nvSpPr>
        <p:spPr>
          <a:xfrm>
            <a:off x="4926060" y="51156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Communication continue</a:t>
            </a:r>
          </a:p>
        </p:txBody>
      </p:sp>
      <p:sp>
        <p:nvSpPr>
          <p:cNvPr id="18" name="S03_TEARDROP_6"/>
          <p:cNvSpPr/>
          <p:nvPr/>
        </p:nvSpPr>
        <p:spPr>
          <a:xfrm>
            <a:off x="9775260" y="4111200"/>
            <a:ext cx="864000" cy="864000"/>
          </a:xfrm>
          <a:prstGeom prst="teardrop">
            <a:avLst/>
          </a:prstGeom>
          <a:solidFill>
            <a:srgbClr val="FEF4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03_FACTOR_6_LABEL"/>
          <p:cNvSpPr txBox="1"/>
          <p:nvPr/>
        </p:nvSpPr>
        <p:spPr>
          <a:xfrm>
            <a:off x="9066060" y="51156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Quick wins visibles</a:t>
            </a:r>
          </a:p>
        </p:txBody>
      </p:sp>
      <p:sp>
        <p:nvSpPr>
          <p:cNvPr id="20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Aligner les facteurs avant le lancement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iang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459" y="1080000"/>
            <a:ext cx="5929200" cy="4860000"/>
          </a:xfrm>
          <a:prstGeom prst="rect">
            <a:avLst/>
          </a:prstGeom>
        </p:spPr>
      </p:pic>
      <p:sp>
        <p:nvSpPr>
          <p:cNvPr id="3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Trois dimensions liées</a:t>
            </a:r>
          </a:p>
        </p:txBody>
      </p:sp>
      <p:sp>
        <p:nvSpPr>
          <p:cNvPr id="4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04      |</a:t>
            </a:r>
          </a:p>
        </p:txBody>
      </p:sp>
      <p:pic>
        <p:nvPicPr>
          <p:cNvPr id="8" name="Picture 7" descr="safra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9" name="S04_TOP_LABEL"/>
          <p:cNvSpPr txBox="1"/>
          <p:nvPr/>
        </p:nvSpPr>
        <p:spPr>
          <a:xfrm>
            <a:off x="7059600" y="640800"/>
            <a:ext cx="2188800" cy="37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070E1D"/>
                </a:solidFill>
                <a:latin typeface="Segoe UI"/>
              </a:rPr>
              <a:t>Personnes</a:t>
            </a:r>
          </a:p>
        </p:txBody>
      </p:sp>
      <p:sp>
        <p:nvSpPr>
          <p:cNvPr id="10" name="S04_TOP_SUBLABEL"/>
          <p:cNvSpPr txBox="1"/>
          <p:nvPr/>
        </p:nvSpPr>
        <p:spPr>
          <a:xfrm>
            <a:off x="7059600" y="917999"/>
            <a:ext cx="2188800" cy="30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 Light"/>
              </a:rPr>
              <a:t>compétences et posture</a:t>
            </a:r>
          </a:p>
        </p:txBody>
      </p:sp>
      <p:sp>
        <p:nvSpPr>
          <p:cNvPr id="11" name="S04_LEFT_LABEL"/>
          <p:cNvSpPr txBox="1"/>
          <p:nvPr/>
        </p:nvSpPr>
        <p:spPr>
          <a:xfrm>
            <a:off x="1011600" y="4262400"/>
            <a:ext cx="2188800" cy="37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070E1D"/>
                </a:solidFill>
                <a:latin typeface="Segoe UI"/>
              </a:rPr>
              <a:t>Processus</a:t>
            </a:r>
          </a:p>
        </p:txBody>
      </p:sp>
      <p:sp>
        <p:nvSpPr>
          <p:cNvPr id="12" name="S04_LEFT_SUBLABEL"/>
          <p:cNvSpPr txBox="1"/>
          <p:nvPr/>
        </p:nvSpPr>
        <p:spPr>
          <a:xfrm>
            <a:off x="1011600" y="4539600"/>
            <a:ext cx="2188800" cy="30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 Light"/>
              </a:rPr>
              <a:t>rituels et standards</a:t>
            </a:r>
          </a:p>
        </p:txBody>
      </p:sp>
      <p:sp>
        <p:nvSpPr>
          <p:cNvPr id="13" name="S04_RIGHT_LABEL"/>
          <p:cNvSpPr txBox="1"/>
          <p:nvPr/>
        </p:nvSpPr>
        <p:spPr>
          <a:xfrm>
            <a:off x="8928000" y="4262400"/>
            <a:ext cx="2188800" cy="37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070E1D"/>
                </a:solidFill>
                <a:latin typeface="Segoe UI"/>
              </a:rPr>
              <a:t>Outils</a:t>
            </a:r>
          </a:p>
        </p:txBody>
      </p:sp>
      <p:sp>
        <p:nvSpPr>
          <p:cNvPr id="14" name="S04_RIGHT_SUBLABEL"/>
          <p:cNvSpPr txBox="1"/>
          <p:nvPr/>
        </p:nvSpPr>
        <p:spPr>
          <a:xfrm>
            <a:off x="8928000" y="4539600"/>
            <a:ext cx="2188800" cy="30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 Light"/>
              </a:rPr>
              <a:t>données et pilotage</a:t>
            </a:r>
          </a:p>
        </p:txBody>
      </p:sp>
      <p:sp>
        <p:nvSpPr>
          <p:cNvPr id="15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Aucune dimension ne progresse seule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Trajectoire en quatre temps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05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710459" y="2462400"/>
            <a:ext cx="2502000" cy="0"/>
          </a:xfrm>
          <a:prstGeom prst="line">
            <a:avLst/>
          </a:prstGeom>
          <a:ln w="19050">
            <a:solidFill>
              <a:srgbClr val="BBB4C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500460" y="2462400"/>
            <a:ext cx="2502000" cy="0"/>
          </a:xfrm>
          <a:prstGeom prst="line">
            <a:avLst/>
          </a:prstGeom>
          <a:ln w="19050">
            <a:solidFill>
              <a:srgbClr val="D5B3BE"/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6290459" y="2462400"/>
            <a:ext cx="2502001" cy="0"/>
          </a:xfrm>
          <a:prstGeom prst="line">
            <a:avLst/>
          </a:prstGeom>
          <a:ln w="19050">
            <a:solidFill>
              <a:srgbClr val="F1D3D5"/>
            </a:solidFill>
          </a:ln>
        </p:spPr>
      </p:cxnSp>
      <p:sp>
        <p:nvSpPr>
          <p:cNvPr id="11" name="S05_STEP_1_BULLET"/>
          <p:cNvSpPr/>
          <p:nvPr/>
        </p:nvSpPr>
        <p:spPr>
          <a:xfrm>
            <a:off x="566459" y="2390400"/>
            <a:ext cx="144000" cy="144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05_STEP_1_NUMBER"/>
          <p:cNvSpPr/>
          <p:nvPr/>
        </p:nvSpPr>
        <p:spPr>
          <a:xfrm>
            <a:off x="566459" y="2750400"/>
            <a:ext cx="331200" cy="3312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Black"/>
              </a:rPr>
              <a:t>1</a:t>
            </a:r>
          </a:p>
        </p:txBody>
      </p:sp>
      <p:sp>
        <p:nvSpPr>
          <p:cNvPr id="13" name="S05_STEP_1_PERIOD"/>
          <p:cNvSpPr txBox="1"/>
          <p:nvPr/>
        </p:nvSpPr>
        <p:spPr>
          <a:xfrm>
            <a:off x="566459" y="3193199"/>
            <a:ext cx="2689200" cy="22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cap="small">
                <a:solidFill>
                  <a:srgbClr val="6A5D79"/>
                </a:solidFill>
                <a:latin typeface="Segoe UI"/>
              </a:rPr>
              <a:t>S1-S2</a:t>
            </a:r>
          </a:p>
        </p:txBody>
      </p:sp>
      <p:sp>
        <p:nvSpPr>
          <p:cNvPr id="14" name="S05_STEP_1_TITLE"/>
          <p:cNvSpPr txBox="1"/>
          <p:nvPr/>
        </p:nvSpPr>
        <p:spPr>
          <a:xfrm>
            <a:off x="566459" y="3456000"/>
            <a:ext cx="2689200" cy="288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70E1D"/>
                </a:solidFill>
                <a:latin typeface="Segoe UI"/>
              </a:rPr>
              <a:t>Cadrer</a:t>
            </a:r>
          </a:p>
        </p:txBody>
      </p:sp>
      <p:sp>
        <p:nvSpPr>
          <p:cNvPr id="15" name="S05_STEP_1_BODY"/>
          <p:cNvSpPr txBox="1"/>
          <p:nvPr/>
        </p:nvSpPr>
        <p:spPr>
          <a:xfrm>
            <a:off x="566459" y="3794399"/>
            <a:ext cx="2689200" cy="69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74E67"/>
                </a:solidFill>
                <a:latin typeface="Segoe UI Light"/>
              </a:rPr>
              <a:t>Aligner sponsor, périmètre pilote, indicateurs de succès et règles d'arbitrage.</a:t>
            </a:r>
          </a:p>
        </p:txBody>
      </p:sp>
      <p:sp>
        <p:nvSpPr>
          <p:cNvPr id="16" name="S05_STEP_2_BULLET"/>
          <p:cNvSpPr/>
          <p:nvPr/>
        </p:nvSpPr>
        <p:spPr>
          <a:xfrm>
            <a:off x="3356459" y="2390400"/>
            <a:ext cx="144000" cy="1440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05_STEP_2_NUMBER"/>
          <p:cNvSpPr/>
          <p:nvPr/>
        </p:nvSpPr>
        <p:spPr>
          <a:xfrm>
            <a:off x="3356459" y="2750400"/>
            <a:ext cx="331200" cy="3312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Black"/>
              </a:rPr>
              <a:t>2</a:t>
            </a:r>
          </a:p>
        </p:txBody>
      </p:sp>
      <p:sp>
        <p:nvSpPr>
          <p:cNvPr id="18" name="S05_STEP_2_PERIOD"/>
          <p:cNvSpPr txBox="1"/>
          <p:nvPr/>
        </p:nvSpPr>
        <p:spPr>
          <a:xfrm>
            <a:off x="3356459" y="3193199"/>
            <a:ext cx="2689200" cy="22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cap="small">
                <a:solidFill>
                  <a:srgbClr val="A25871"/>
                </a:solidFill>
                <a:latin typeface="Segoe UI"/>
              </a:rPr>
              <a:t>S3-S6</a:t>
            </a:r>
          </a:p>
        </p:txBody>
      </p:sp>
      <p:sp>
        <p:nvSpPr>
          <p:cNvPr id="19" name="S05_STEP_2_TITLE"/>
          <p:cNvSpPr txBox="1"/>
          <p:nvPr/>
        </p:nvSpPr>
        <p:spPr>
          <a:xfrm>
            <a:off x="3356459" y="3456000"/>
            <a:ext cx="2689200" cy="288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70E1D"/>
                </a:solidFill>
                <a:latin typeface="Segoe UI"/>
              </a:rPr>
              <a:t>Tester</a:t>
            </a:r>
          </a:p>
        </p:txBody>
      </p:sp>
      <p:sp>
        <p:nvSpPr>
          <p:cNvPr id="20" name="S05_STEP_2_BODY"/>
          <p:cNvSpPr txBox="1"/>
          <p:nvPr/>
        </p:nvSpPr>
        <p:spPr>
          <a:xfrm>
            <a:off x="3356459" y="3794399"/>
            <a:ext cx="2689200" cy="69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74E67"/>
                </a:solidFill>
                <a:latin typeface="Segoe UI Light"/>
              </a:rPr>
              <a:t>Mener les cycles courts, mesurer les écarts et décider les corrections utiles.</a:t>
            </a:r>
          </a:p>
        </p:txBody>
      </p:sp>
      <p:sp>
        <p:nvSpPr>
          <p:cNvPr id="21" name="S05_STEP_3_BULLET"/>
          <p:cNvSpPr/>
          <p:nvPr/>
        </p:nvSpPr>
        <p:spPr>
          <a:xfrm>
            <a:off x="6146460" y="2390400"/>
            <a:ext cx="144000" cy="144000"/>
          </a:xfrm>
          <a:prstGeom prst="ellipse">
            <a:avLst/>
          </a:prstGeom>
          <a:solidFill>
            <a:srgbClr val="D473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S05_STEP_3_NUMBER"/>
          <p:cNvSpPr/>
          <p:nvPr/>
        </p:nvSpPr>
        <p:spPr>
          <a:xfrm>
            <a:off x="6146460" y="2750400"/>
            <a:ext cx="331200" cy="331200"/>
          </a:xfrm>
          <a:prstGeom prst="ellipse">
            <a:avLst/>
          </a:prstGeom>
          <a:solidFill>
            <a:srgbClr val="D4737A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Black"/>
              </a:rPr>
              <a:t>3</a:t>
            </a:r>
          </a:p>
        </p:txBody>
      </p:sp>
      <p:sp>
        <p:nvSpPr>
          <p:cNvPr id="23" name="S05_STEP_3_PERIOD"/>
          <p:cNvSpPr txBox="1"/>
          <p:nvPr/>
        </p:nvSpPr>
        <p:spPr>
          <a:xfrm>
            <a:off x="6146460" y="3193199"/>
            <a:ext cx="2689200" cy="22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cap="small">
                <a:solidFill>
                  <a:srgbClr val="D4737A"/>
                </a:solidFill>
                <a:latin typeface="Segoe UI"/>
              </a:rPr>
              <a:t>S7-S10</a:t>
            </a:r>
          </a:p>
        </p:txBody>
      </p:sp>
      <p:sp>
        <p:nvSpPr>
          <p:cNvPr id="24" name="S05_STEP_3_TITLE"/>
          <p:cNvSpPr txBox="1"/>
          <p:nvPr/>
        </p:nvSpPr>
        <p:spPr>
          <a:xfrm>
            <a:off x="6146460" y="3456000"/>
            <a:ext cx="2689200" cy="288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70E1D"/>
                </a:solidFill>
                <a:latin typeface="Segoe UI"/>
              </a:rPr>
              <a:t>Stabiliser</a:t>
            </a:r>
          </a:p>
        </p:txBody>
      </p:sp>
      <p:sp>
        <p:nvSpPr>
          <p:cNvPr id="25" name="S05_STEP_3_BODY"/>
          <p:cNvSpPr txBox="1"/>
          <p:nvPr/>
        </p:nvSpPr>
        <p:spPr>
          <a:xfrm>
            <a:off x="6146460" y="3794399"/>
            <a:ext cx="2689200" cy="69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74E67"/>
                </a:solidFill>
                <a:latin typeface="Segoe UI Light"/>
              </a:rPr>
              <a:t>Transformer les pratiques validées en standards et former les relais locaux.</a:t>
            </a:r>
          </a:p>
        </p:txBody>
      </p:sp>
      <p:sp>
        <p:nvSpPr>
          <p:cNvPr id="26" name="S05_STEP_4_BULLET"/>
          <p:cNvSpPr/>
          <p:nvPr/>
        </p:nvSpPr>
        <p:spPr>
          <a:xfrm>
            <a:off x="8936460" y="2390400"/>
            <a:ext cx="144000" cy="1440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S05_STEP_4_NUMBER"/>
          <p:cNvSpPr/>
          <p:nvPr/>
        </p:nvSpPr>
        <p:spPr>
          <a:xfrm>
            <a:off x="8936460" y="2750400"/>
            <a:ext cx="331200" cy="3312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Black"/>
              </a:rPr>
              <a:t>4</a:t>
            </a:r>
          </a:p>
        </p:txBody>
      </p:sp>
      <p:sp>
        <p:nvSpPr>
          <p:cNvPr id="28" name="S05_STEP_4_PERIOD"/>
          <p:cNvSpPr txBox="1"/>
          <p:nvPr/>
        </p:nvSpPr>
        <p:spPr>
          <a:xfrm>
            <a:off x="8936460" y="3193199"/>
            <a:ext cx="2689200" cy="22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cap="small">
                <a:solidFill>
                  <a:srgbClr val="FDA85B"/>
                </a:solidFill>
                <a:latin typeface="Segoe UI"/>
              </a:rPr>
              <a:t>S11-S12</a:t>
            </a:r>
          </a:p>
        </p:txBody>
      </p:sp>
      <p:sp>
        <p:nvSpPr>
          <p:cNvPr id="29" name="S05_STEP_4_TITLE"/>
          <p:cNvSpPr txBox="1"/>
          <p:nvPr/>
        </p:nvSpPr>
        <p:spPr>
          <a:xfrm>
            <a:off x="8936460" y="3456000"/>
            <a:ext cx="2689200" cy="288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70E1D"/>
                </a:solidFill>
                <a:latin typeface="Segoe UI"/>
              </a:rPr>
              <a:t>Décider</a:t>
            </a:r>
          </a:p>
        </p:txBody>
      </p:sp>
      <p:sp>
        <p:nvSpPr>
          <p:cNvPr id="30" name="S05_STEP_4_BODY"/>
          <p:cNvSpPr txBox="1"/>
          <p:nvPr/>
        </p:nvSpPr>
        <p:spPr>
          <a:xfrm>
            <a:off x="8936460" y="3794399"/>
            <a:ext cx="2689200" cy="69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74E67"/>
                </a:solidFill>
                <a:latin typeface="Segoe UI Light"/>
              </a:rPr>
              <a:t>Présenter les résultats, qualifier les risques et choisir le scénario de déploiement.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Comparer les scénarios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06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06_HEADER_1_BG"/>
          <p:cNvSpPr/>
          <p:nvPr/>
        </p:nvSpPr>
        <p:spPr>
          <a:xfrm>
            <a:off x="375659" y="1897199"/>
            <a:ext cx="3625200" cy="4572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06_HEADER_C1"/>
          <p:cNvSpPr txBox="1"/>
          <p:nvPr/>
        </p:nvSpPr>
        <p:spPr>
          <a:xfrm>
            <a:off x="375659" y="1897199"/>
            <a:ext cx="3625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Scénario</a:t>
            </a:r>
          </a:p>
        </p:txBody>
      </p:sp>
      <p:sp>
        <p:nvSpPr>
          <p:cNvPr id="10" name="S06_HEADER_2_BG"/>
          <p:cNvSpPr/>
          <p:nvPr/>
        </p:nvSpPr>
        <p:spPr>
          <a:xfrm>
            <a:off x="4000859" y="1897199"/>
            <a:ext cx="2095200" cy="4572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06_HEADER_C2"/>
          <p:cNvSpPr txBox="1"/>
          <p:nvPr/>
        </p:nvSpPr>
        <p:spPr>
          <a:xfrm>
            <a:off x="4000859" y="1897199"/>
            <a:ext cx="2095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Coût</a:t>
            </a:r>
          </a:p>
        </p:txBody>
      </p:sp>
      <p:sp>
        <p:nvSpPr>
          <p:cNvPr id="12" name="S06_HEADER_3_BG"/>
          <p:cNvSpPr/>
          <p:nvPr/>
        </p:nvSpPr>
        <p:spPr>
          <a:xfrm>
            <a:off x="6096059" y="1897199"/>
            <a:ext cx="1764000" cy="4572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S06_HEADER_C3"/>
          <p:cNvSpPr txBox="1"/>
          <p:nvPr/>
        </p:nvSpPr>
        <p:spPr>
          <a:xfrm>
            <a:off x="6096059" y="1897199"/>
            <a:ext cx="17640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Délai</a:t>
            </a:r>
          </a:p>
        </p:txBody>
      </p:sp>
      <p:sp>
        <p:nvSpPr>
          <p:cNvPr id="14" name="S06_HEADER_4_BG"/>
          <p:cNvSpPr/>
          <p:nvPr/>
        </p:nvSpPr>
        <p:spPr>
          <a:xfrm>
            <a:off x="7860060" y="1897199"/>
            <a:ext cx="2329200" cy="4572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06_HEADER_C4"/>
          <p:cNvSpPr txBox="1"/>
          <p:nvPr/>
        </p:nvSpPr>
        <p:spPr>
          <a:xfrm>
            <a:off x="7860060" y="1897199"/>
            <a:ext cx="2329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Risque</a:t>
            </a:r>
          </a:p>
        </p:txBody>
      </p:sp>
      <p:sp>
        <p:nvSpPr>
          <p:cNvPr id="16" name="S06_HEADER_5_BG"/>
          <p:cNvSpPr/>
          <p:nvPr/>
        </p:nvSpPr>
        <p:spPr>
          <a:xfrm>
            <a:off x="10189260" y="1897199"/>
            <a:ext cx="1627199" cy="4572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06_HEADER_C5"/>
          <p:cNvSpPr txBox="1"/>
          <p:nvPr/>
        </p:nvSpPr>
        <p:spPr>
          <a:xfrm>
            <a:off x="10189260" y="1897199"/>
            <a:ext cx="1627199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Score</a:t>
            </a:r>
          </a:p>
        </p:txBody>
      </p:sp>
      <p:sp>
        <p:nvSpPr>
          <p:cNvPr id="18" name="S06_R1_BG"/>
          <p:cNvSpPr/>
          <p:nvPr/>
        </p:nvSpPr>
        <p:spPr>
          <a:xfrm>
            <a:off x="375659" y="2361600"/>
            <a:ext cx="11440800" cy="503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06_R1C1"/>
          <p:cNvSpPr txBox="1"/>
          <p:nvPr/>
        </p:nvSpPr>
        <p:spPr>
          <a:xfrm>
            <a:off x="375659" y="2361600"/>
            <a:ext cx="362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070E1D"/>
                </a:solidFill>
                <a:latin typeface="Segoe UI"/>
              </a:rPr>
              <a:t>A - Statu quo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75659" y="28655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21" name="S06_R1C2"/>
          <p:cNvSpPr txBox="1"/>
          <p:nvPr/>
        </p:nvSpPr>
        <p:spPr>
          <a:xfrm>
            <a:off x="4000859" y="2361600"/>
            <a:ext cx="209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0,5 M€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75659" y="28655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23" name="S06_R1C3"/>
          <p:cNvSpPr txBox="1"/>
          <p:nvPr/>
        </p:nvSpPr>
        <p:spPr>
          <a:xfrm>
            <a:off x="6096059" y="2361600"/>
            <a:ext cx="17640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6 mois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5659" y="28655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25" name="S06_R1C4"/>
          <p:cNvSpPr txBox="1"/>
          <p:nvPr/>
        </p:nvSpPr>
        <p:spPr>
          <a:xfrm>
            <a:off x="7860060" y="2361600"/>
            <a:ext cx="2329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6A5D79"/>
                </a:solidFill>
                <a:latin typeface="Segoe UI"/>
              </a:rPr>
              <a:t>Faible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75659" y="28655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27" name="S06_R1C5"/>
          <p:cNvSpPr txBox="1"/>
          <p:nvPr/>
        </p:nvSpPr>
        <p:spPr>
          <a:xfrm>
            <a:off x="10189260" y="2361600"/>
            <a:ext cx="1627199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474E67"/>
                </a:solidFill>
                <a:latin typeface="Segoe UI"/>
              </a:rPr>
              <a:t>★★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75659" y="28655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29" name="S06_R2_BG"/>
          <p:cNvSpPr/>
          <p:nvPr/>
        </p:nvSpPr>
        <p:spPr>
          <a:xfrm>
            <a:off x="375659" y="2869200"/>
            <a:ext cx="11440800" cy="503999"/>
          </a:xfrm>
          <a:prstGeom prst="rect">
            <a:avLst/>
          </a:prstGeom>
          <a:solidFill>
            <a:srgbClr val="F4F5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S06_R2C1"/>
          <p:cNvSpPr txBox="1"/>
          <p:nvPr/>
        </p:nvSpPr>
        <p:spPr>
          <a:xfrm>
            <a:off x="375659" y="2869200"/>
            <a:ext cx="362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070E1D"/>
                </a:solidFill>
                <a:latin typeface="Segoe UI"/>
              </a:rPr>
              <a:t>B - Pilote ciblé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75659" y="33731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32" name="S06_R2C2"/>
          <p:cNvSpPr txBox="1"/>
          <p:nvPr/>
        </p:nvSpPr>
        <p:spPr>
          <a:xfrm>
            <a:off x="4000859" y="2869200"/>
            <a:ext cx="209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1,2 M€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75659" y="33731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34" name="S06_R2C3"/>
          <p:cNvSpPr txBox="1"/>
          <p:nvPr/>
        </p:nvSpPr>
        <p:spPr>
          <a:xfrm>
            <a:off x="6096059" y="2869200"/>
            <a:ext cx="17640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9 mois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75659" y="33731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36" name="S06_R2C4"/>
          <p:cNvSpPr txBox="1"/>
          <p:nvPr/>
        </p:nvSpPr>
        <p:spPr>
          <a:xfrm>
            <a:off x="7860060" y="2869200"/>
            <a:ext cx="2329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6A5D79"/>
                </a:solidFill>
                <a:latin typeface="Segoe UI"/>
              </a:rPr>
              <a:t>Moyen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75659" y="33731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38" name="S06_R2C5"/>
          <p:cNvSpPr txBox="1"/>
          <p:nvPr/>
        </p:nvSpPr>
        <p:spPr>
          <a:xfrm>
            <a:off x="10189260" y="2869200"/>
            <a:ext cx="1627199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474E67"/>
                </a:solidFill>
                <a:latin typeface="Segoe UI"/>
              </a:rPr>
              <a:t>★★★★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75659" y="33731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40" name="S06_R3_BG"/>
          <p:cNvSpPr/>
          <p:nvPr/>
        </p:nvSpPr>
        <p:spPr>
          <a:xfrm>
            <a:off x="375659" y="3376800"/>
            <a:ext cx="11440800" cy="503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S06_R3C1"/>
          <p:cNvSpPr txBox="1"/>
          <p:nvPr/>
        </p:nvSpPr>
        <p:spPr>
          <a:xfrm>
            <a:off x="375659" y="3376800"/>
            <a:ext cx="362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070E1D"/>
                </a:solidFill>
                <a:latin typeface="Segoe UI"/>
              </a:rPr>
              <a:t>C - Transformation totale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75659" y="38808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43" name="S06_R3C2"/>
          <p:cNvSpPr txBox="1"/>
          <p:nvPr/>
        </p:nvSpPr>
        <p:spPr>
          <a:xfrm>
            <a:off x="4000859" y="3376800"/>
            <a:ext cx="209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4,0 M€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75659" y="38808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45" name="S06_R3C3"/>
          <p:cNvSpPr txBox="1"/>
          <p:nvPr/>
        </p:nvSpPr>
        <p:spPr>
          <a:xfrm>
            <a:off x="6096059" y="3376800"/>
            <a:ext cx="17640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24 mois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75659" y="38808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47" name="S06_R3C4"/>
          <p:cNvSpPr txBox="1"/>
          <p:nvPr/>
        </p:nvSpPr>
        <p:spPr>
          <a:xfrm>
            <a:off x="7860060" y="3376800"/>
            <a:ext cx="2329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6A5D79"/>
                </a:solidFill>
                <a:latin typeface="Segoe UI"/>
              </a:rPr>
              <a:t>Elevé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75659" y="38808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49" name="S06_R3C5"/>
          <p:cNvSpPr txBox="1"/>
          <p:nvPr/>
        </p:nvSpPr>
        <p:spPr>
          <a:xfrm>
            <a:off x="10189260" y="3376800"/>
            <a:ext cx="1627199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474E67"/>
                </a:solidFill>
                <a:latin typeface="Segoe UI"/>
              </a:rPr>
              <a:t>★★★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75659" y="38808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51" name="S06_R4_BG"/>
          <p:cNvSpPr/>
          <p:nvPr/>
        </p:nvSpPr>
        <p:spPr>
          <a:xfrm>
            <a:off x="375659" y="3884399"/>
            <a:ext cx="11440800" cy="503999"/>
          </a:xfrm>
          <a:prstGeom prst="rect">
            <a:avLst/>
          </a:prstGeom>
          <a:solidFill>
            <a:srgbClr val="F4F5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S06_R4C1"/>
          <p:cNvSpPr txBox="1"/>
          <p:nvPr/>
        </p:nvSpPr>
        <p:spPr>
          <a:xfrm>
            <a:off x="375659" y="3884399"/>
            <a:ext cx="362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070E1D"/>
                </a:solidFill>
                <a:latin typeface="Segoe UI"/>
              </a:rPr>
              <a:t>D - Externalisation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75659" y="43884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54" name="S06_R4C2"/>
          <p:cNvSpPr txBox="1"/>
          <p:nvPr/>
        </p:nvSpPr>
        <p:spPr>
          <a:xfrm>
            <a:off x="4000859" y="3884399"/>
            <a:ext cx="209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2,5 M€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375659" y="43884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56" name="S06_R4C3"/>
          <p:cNvSpPr txBox="1"/>
          <p:nvPr/>
        </p:nvSpPr>
        <p:spPr>
          <a:xfrm>
            <a:off x="6096059" y="3884399"/>
            <a:ext cx="17640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12 mois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375659" y="43884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58" name="S06_R4C4"/>
          <p:cNvSpPr txBox="1"/>
          <p:nvPr/>
        </p:nvSpPr>
        <p:spPr>
          <a:xfrm>
            <a:off x="7860060" y="3884399"/>
            <a:ext cx="2329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6A5D79"/>
                </a:solidFill>
                <a:latin typeface="Segoe UI"/>
              </a:rPr>
              <a:t>Moyen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375659" y="43884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60" name="S06_R4C5"/>
          <p:cNvSpPr txBox="1"/>
          <p:nvPr/>
        </p:nvSpPr>
        <p:spPr>
          <a:xfrm>
            <a:off x="10189260" y="3884399"/>
            <a:ext cx="1627199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474E67"/>
                </a:solidFill>
                <a:latin typeface="Segoe UI"/>
              </a:rPr>
              <a:t>★★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375659" y="43884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62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Scénario B : meilleur équilibre valeur/risque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Indicateurs de pilotage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07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07_KPI_1_CARD"/>
          <p:cNvSpPr/>
          <p:nvPr/>
        </p:nvSpPr>
        <p:spPr>
          <a:xfrm>
            <a:off x="498059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D8DB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07_KPI_1_LABEL"/>
          <p:cNvSpPr txBox="1"/>
          <p:nvPr/>
        </p:nvSpPr>
        <p:spPr>
          <a:xfrm>
            <a:off x="537659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484C6A"/>
                </a:solidFill>
                <a:latin typeface="Segoe UI Black"/>
              </a:rPr>
              <a:t>94%</a:t>
            </a:r>
          </a:p>
        </p:txBody>
      </p:sp>
      <p:sp>
        <p:nvSpPr>
          <p:cNvPr id="10" name="S07_KPI_1_SUBLABEL"/>
          <p:cNvSpPr txBox="1"/>
          <p:nvPr/>
        </p:nvSpPr>
        <p:spPr>
          <a:xfrm>
            <a:off x="537659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Adhésion équipes</a:t>
            </a:r>
          </a:p>
        </p:txBody>
      </p:sp>
      <p:sp>
        <p:nvSpPr>
          <p:cNvPr id="11" name="S07_KPI_2_CARD"/>
          <p:cNvSpPr/>
          <p:nvPr/>
        </p:nvSpPr>
        <p:spPr>
          <a:xfrm>
            <a:off x="2377259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BBB4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07_KPI_2_LABEL"/>
          <p:cNvSpPr txBox="1"/>
          <p:nvPr/>
        </p:nvSpPr>
        <p:spPr>
          <a:xfrm>
            <a:off x="2416859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6A5D79"/>
                </a:solidFill>
                <a:latin typeface="Segoe UI Black"/>
              </a:rPr>
              <a:t>12 j</a:t>
            </a:r>
          </a:p>
        </p:txBody>
      </p:sp>
      <p:sp>
        <p:nvSpPr>
          <p:cNvPr id="13" name="S07_KPI_2_SUBLABEL"/>
          <p:cNvSpPr txBox="1"/>
          <p:nvPr/>
        </p:nvSpPr>
        <p:spPr>
          <a:xfrm>
            <a:off x="2416859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Cycle moyen</a:t>
            </a:r>
          </a:p>
        </p:txBody>
      </p:sp>
      <p:sp>
        <p:nvSpPr>
          <p:cNvPr id="14" name="S07_KPI_3_CARD"/>
          <p:cNvSpPr/>
          <p:nvPr/>
        </p:nvSpPr>
        <p:spPr>
          <a:xfrm>
            <a:off x="4256459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07_KPI_3_LABEL"/>
          <p:cNvSpPr txBox="1"/>
          <p:nvPr/>
        </p:nvSpPr>
        <p:spPr>
          <a:xfrm>
            <a:off x="4296059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A25871"/>
                </a:solidFill>
                <a:latin typeface="Segoe UI Black"/>
              </a:rPr>
              <a:t>+18%</a:t>
            </a:r>
          </a:p>
        </p:txBody>
      </p:sp>
      <p:sp>
        <p:nvSpPr>
          <p:cNvPr id="16" name="S07_KPI_3_SUBLABEL"/>
          <p:cNvSpPr txBox="1"/>
          <p:nvPr/>
        </p:nvSpPr>
        <p:spPr>
          <a:xfrm>
            <a:off x="4296059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Engagement</a:t>
            </a:r>
          </a:p>
        </p:txBody>
      </p:sp>
      <p:sp>
        <p:nvSpPr>
          <p:cNvPr id="17" name="S07_KPI_4_CARD"/>
          <p:cNvSpPr/>
          <p:nvPr/>
        </p:nvSpPr>
        <p:spPr>
          <a:xfrm>
            <a:off x="6135659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F1D3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S07_KPI_4_LABEL"/>
          <p:cNvSpPr txBox="1"/>
          <p:nvPr/>
        </p:nvSpPr>
        <p:spPr>
          <a:xfrm>
            <a:off x="6175259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D4737A"/>
                </a:solidFill>
                <a:latin typeface="Segoe UI Black"/>
              </a:rPr>
              <a:t>1,2</a:t>
            </a:r>
          </a:p>
        </p:txBody>
      </p:sp>
      <p:sp>
        <p:nvSpPr>
          <p:cNvPr id="19" name="S07_KPI_4_SUBLABEL"/>
          <p:cNvSpPr txBox="1"/>
          <p:nvPr/>
        </p:nvSpPr>
        <p:spPr>
          <a:xfrm>
            <a:off x="6175259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Sigma qualité</a:t>
            </a:r>
          </a:p>
        </p:txBody>
      </p:sp>
      <p:sp>
        <p:nvSpPr>
          <p:cNvPr id="20" name="S07_KPI_5_CARD"/>
          <p:cNvSpPr/>
          <p:nvPr/>
        </p:nvSpPr>
        <p:spPr>
          <a:xfrm>
            <a:off x="8014859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S07_KPI_5_LABEL"/>
          <p:cNvSpPr txBox="1"/>
          <p:nvPr/>
        </p:nvSpPr>
        <p:spPr>
          <a:xfrm>
            <a:off x="8054459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FDA85B"/>
                </a:solidFill>
                <a:latin typeface="Segoe UI Black"/>
              </a:rPr>
              <a:t>2,4 M€</a:t>
            </a:r>
          </a:p>
        </p:txBody>
      </p:sp>
      <p:sp>
        <p:nvSpPr>
          <p:cNvPr id="22" name="S07_KPI_5_SUBLABEL"/>
          <p:cNvSpPr txBox="1"/>
          <p:nvPr/>
        </p:nvSpPr>
        <p:spPr>
          <a:xfrm>
            <a:off x="8054459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Gains annualisés</a:t>
            </a:r>
          </a:p>
        </p:txBody>
      </p:sp>
      <p:sp>
        <p:nvSpPr>
          <p:cNvPr id="23" name="S07_KPI_6_CARD"/>
          <p:cNvSpPr/>
          <p:nvPr/>
        </p:nvSpPr>
        <p:spPr>
          <a:xfrm>
            <a:off x="9894059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FEF4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S07_KPI_6_LABEL"/>
          <p:cNvSpPr txBox="1"/>
          <p:nvPr/>
        </p:nvSpPr>
        <p:spPr>
          <a:xfrm>
            <a:off x="9933659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FBCC58"/>
                </a:solidFill>
                <a:latin typeface="Segoe UI Black"/>
              </a:rPr>
              <a:t>98%</a:t>
            </a:r>
          </a:p>
        </p:txBody>
      </p:sp>
      <p:sp>
        <p:nvSpPr>
          <p:cNvPr id="25" name="S07_KPI_6_SUBLABEL"/>
          <p:cNvSpPr txBox="1"/>
          <p:nvPr/>
        </p:nvSpPr>
        <p:spPr>
          <a:xfrm>
            <a:off x="9933659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OTD client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1659" y="3060000"/>
            <a:ext cx="11188800" cy="421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S07_SECTION_LABEL"/>
          <p:cNvSpPr txBox="1"/>
          <p:nvPr/>
        </p:nvSpPr>
        <p:spPr>
          <a:xfrm>
            <a:off x="501659" y="3060000"/>
            <a:ext cx="11188800" cy="42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1">
                <a:solidFill>
                  <a:srgbClr val="070E1D"/>
                </a:solidFill>
                <a:latin typeface="Segoe UI"/>
              </a:rPr>
              <a:t>Avancement par chantier en mai 2026</a:t>
            </a:r>
          </a:p>
        </p:txBody>
      </p:sp>
      <p:sp>
        <p:nvSpPr>
          <p:cNvPr id="28" name="S07_BAR_1_LABEL"/>
          <p:cNvSpPr txBox="1"/>
          <p:nvPr/>
        </p:nvSpPr>
        <p:spPr>
          <a:xfrm>
            <a:off x="498059" y="36324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Standards opérationnels</a:t>
            </a:r>
          </a:p>
        </p:txBody>
      </p:sp>
      <p:sp>
        <p:nvSpPr>
          <p:cNvPr id="29" name="S07_BAR_1_BAR"/>
          <p:cNvSpPr/>
          <p:nvPr/>
        </p:nvSpPr>
        <p:spPr>
          <a:xfrm>
            <a:off x="3068459" y="3704399"/>
            <a:ext cx="6811560" cy="198000"/>
          </a:xfrm>
          <a:prstGeom prst="roundRect">
            <a:avLst>
              <a:gd name="adj" fmla="val 50000"/>
            </a:avLst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S07_BAR_1_VALUE"/>
          <p:cNvSpPr txBox="1"/>
          <p:nvPr/>
        </p:nvSpPr>
        <p:spPr>
          <a:xfrm>
            <a:off x="11118060" y="36684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85%</a:t>
            </a:r>
          </a:p>
        </p:txBody>
      </p:sp>
      <p:sp>
        <p:nvSpPr>
          <p:cNvPr id="31" name="S07_BAR_2_LABEL"/>
          <p:cNvSpPr txBox="1"/>
          <p:nvPr/>
        </p:nvSpPr>
        <p:spPr>
          <a:xfrm>
            <a:off x="498059" y="41040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Outils data</a:t>
            </a:r>
          </a:p>
        </p:txBody>
      </p:sp>
      <p:sp>
        <p:nvSpPr>
          <p:cNvPr id="32" name="S07_BAR_2_BAR"/>
          <p:cNvSpPr/>
          <p:nvPr/>
        </p:nvSpPr>
        <p:spPr>
          <a:xfrm>
            <a:off x="3068459" y="4176000"/>
            <a:ext cx="4968431" cy="198000"/>
          </a:xfrm>
          <a:prstGeom prst="roundRect">
            <a:avLst>
              <a:gd name="adj" fmla="val 50000"/>
            </a:avLst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S07_BAR_2_VALUE"/>
          <p:cNvSpPr txBox="1"/>
          <p:nvPr/>
        </p:nvSpPr>
        <p:spPr>
          <a:xfrm>
            <a:off x="11118060" y="41400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62%</a:t>
            </a:r>
          </a:p>
        </p:txBody>
      </p:sp>
      <p:sp>
        <p:nvSpPr>
          <p:cNvPr id="34" name="S07_BAR_3_LABEL"/>
          <p:cNvSpPr txBox="1"/>
          <p:nvPr/>
        </p:nvSpPr>
        <p:spPr>
          <a:xfrm>
            <a:off x="498059" y="45648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Compétences relais</a:t>
            </a:r>
          </a:p>
        </p:txBody>
      </p:sp>
      <p:sp>
        <p:nvSpPr>
          <p:cNvPr id="35" name="S07_BAR_3_BAR"/>
          <p:cNvSpPr/>
          <p:nvPr/>
        </p:nvSpPr>
        <p:spPr>
          <a:xfrm>
            <a:off x="3068459" y="4636800"/>
            <a:ext cx="3285575" cy="198000"/>
          </a:xfrm>
          <a:prstGeom prst="roundRect">
            <a:avLst>
              <a:gd name="adj" fmla="val 50000"/>
            </a:avLst>
          </a:prstGeom>
          <a:solidFill>
            <a:srgbClr val="D473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S07_BAR_3_VALUE"/>
          <p:cNvSpPr txBox="1"/>
          <p:nvPr/>
        </p:nvSpPr>
        <p:spPr>
          <a:xfrm>
            <a:off x="11118060" y="46008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41%</a:t>
            </a:r>
          </a:p>
        </p:txBody>
      </p:sp>
      <p:sp>
        <p:nvSpPr>
          <p:cNvPr id="37" name="S07_BAR_4_LABEL"/>
          <p:cNvSpPr txBox="1"/>
          <p:nvPr/>
        </p:nvSpPr>
        <p:spPr>
          <a:xfrm>
            <a:off x="498059" y="50256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Pilotage KPI</a:t>
            </a:r>
          </a:p>
        </p:txBody>
      </p:sp>
      <p:sp>
        <p:nvSpPr>
          <p:cNvPr id="38" name="S07_BAR_4_BAR"/>
          <p:cNvSpPr/>
          <p:nvPr/>
        </p:nvSpPr>
        <p:spPr>
          <a:xfrm>
            <a:off x="3068459" y="5097600"/>
            <a:ext cx="6250608" cy="198000"/>
          </a:xfrm>
          <a:prstGeom prst="roundRect">
            <a:avLst>
              <a:gd name="adj" fmla="val 50000"/>
            </a:avLst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S07_BAR_4_VALUE"/>
          <p:cNvSpPr txBox="1"/>
          <p:nvPr/>
        </p:nvSpPr>
        <p:spPr>
          <a:xfrm>
            <a:off x="11118060" y="50616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78%</a:t>
            </a:r>
          </a:p>
        </p:txBody>
      </p:sp>
      <p:sp>
        <p:nvSpPr>
          <p:cNvPr id="40" name="S07_BAR_5_LABEL"/>
          <p:cNvSpPr txBox="1"/>
          <p:nvPr/>
        </p:nvSpPr>
        <p:spPr>
          <a:xfrm>
            <a:off x="498059" y="54648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Communication change</a:t>
            </a:r>
          </a:p>
        </p:txBody>
      </p:sp>
      <p:sp>
        <p:nvSpPr>
          <p:cNvPr id="41" name="S07_BAR_5_BAR"/>
          <p:cNvSpPr/>
          <p:nvPr/>
        </p:nvSpPr>
        <p:spPr>
          <a:xfrm>
            <a:off x="3068459" y="5536800"/>
            <a:ext cx="7212240" cy="198000"/>
          </a:xfrm>
          <a:prstGeom prst="roundRect">
            <a:avLst>
              <a:gd name="adj" fmla="val 50000"/>
            </a:avLst>
          </a:prstGeom>
          <a:solidFill>
            <a:srgbClr val="FBCC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S07_BAR_5_VALUE"/>
          <p:cNvSpPr txBox="1"/>
          <p:nvPr/>
        </p:nvSpPr>
        <p:spPr>
          <a:xfrm>
            <a:off x="11118060" y="55008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90%</a:t>
            </a:r>
          </a:p>
        </p:txBody>
      </p:sp>
      <p:sp>
        <p:nvSpPr>
          <p:cNvPr id="43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Accélérer trois chantiers prioritaires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Avant / Après pilote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08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08_SUBTITLE"/>
          <p:cNvSpPr txBox="1"/>
          <p:nvPr/>
        </p:nvSpPr>
        <p:spPr>
          <a:xfrm>
            <a:off x="388800" y="1454400"/>
            <a:ext cx="11412000" cy="34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 i="0">
                <a:solidFill>
                  <a:srgbClr val="6A5D79"/>
                </a:solidFill>
                <a:latin typeface="Segoe UI Black"/>
              </a:rPr>
              <a:t>Cinq indicateurs mesurés sur 90 jours</a:t>
            </a:r>
          </a:p>
        </p:txBody>
      </p:sp>
      <p:sp>
        <p:nvSpPr>
          <p:cNvPr id="9" name="S08_LEGEND_1"/>
          <p:cNvSpPr txBox="1"/>
          <p:nvPr/>
        </p:nvSpPr>
        <p:spPr>
          <a:xfrm>
            <a:off x="7851600" y="2210400"/>
            <a:ext cx="2001599" cy="320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Avant</a:t>
            </a:r>
          </a:p>
        </p:txBody>
      </p:sp>
      <p:sp>
        <p:nvSpPr>
          <p:cNvPr id="10" name="S08_LEGEND_2"/>
          <p:cNvSpPr txBox="1"/>
          <p:nvPr/>
        </p:nvSpPr>
        <p:spPr>
          <a:xfrm>
            <a:off x="10249200" y="2210400"/>
            <a:ext cx="2001599" cy="320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Après</a:t>
            </a:r>
          </a:p>
        </p:txBody>
      </p:sp>
      <p:sp>
        <p:nvSpPr>
          <p:cNvPr id="11" name="S08_LEGEND_1_SQ"/>
          <p:cNvSpPr/>
          <p:nvPr/>
        </p:nvSpPr>
        <p:spPr>
          <a:xfrm>
            <a:off x="7668000" y="2268000"/>
            <a:ext cx="162000" cy="162000"/>
          </a:xfrm>
          <a:prstGeom prst="rect">
            <a:avLst/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08_LEGEND_2_SQ"/>
          <p:cNvSpPr/>
          <p:nvPr/>
        </p:nvSpPr>
        <p:spPr>
          <a:xfrm>
            <a:off x="10065600" y="2268000"/>
            <a:ext cx="162000" cy="162000"/>
          </a:xfrm>
          <a:prstGeom prst="rect">
            <a:avLst/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S08_ROW_1_LABEL"/>
          <p:cNvSpPr txBox="1"/>
          <p:nvPr/>
        </p:nvSpPr>
        <p:spPr>
          <a:xfrm>
            <a:off x="388800" y="28980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Délai de cycle</a:t>
            </a:r>
          </a:p>
        </p:txBody>
      </p:sp>
      <p:sp>
        <p:nvSpPr>
          <p:cNvPr id="14" name="S08_ROW_1_BAR_1"/>
          <p:cNvSpPr/>
          <p:nvPr/>
        </p:nvSpPr>
        <p:spPr>
          <a:xfrm>
            <a:off x="4298400" y="2934000"/>
            <a:ext cx="3739320" cy="298800"/>
          </a:xfrm>
          <a:prstGeom prst="roundRect">
            <a:avLst>
              <a:gd name="adj" fmla="val 30000"/>
            </a:avLst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08_ROW_1_BAR_2"/>
          <p:cNvSpPr/>
          <p:nvPr/>
        </p:nvSpPr>
        <p:spPr>
          <a:xfrm>
            <a:off x="8798400" y="2934000"/>
            <a:ext cx="1388511" cy="298800"/>
          </a:xfrm>
          <a:prstGeom prst="roundRect">
            <a:avLst>
              <a:gd name="adj" fmla="val 30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S08_ROW_1_VALUE_1"/>
          <p:cNvSpPr txBox="1"/>
          <p:nvPr/>
        </p:nvSpPr>
        <p:spPr>
          <a:xfrm>
            <a:off x="8073720" y="29340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21 j</a:t>
            </a:r>
          </a:p>
        </p:txBody>
      </p:sp>
      <p:sp>
        <p:nvSpPr>
          <p:cNvPr id="17" name="S08_ROW_1_VALUE_2"/>
          <p:cNvSpPr txBox="1"/>
          <p:nvPr/>
        </p:nvSpPr>
        <p:spPr>
          <a:xfrm>
            <a:off x="10222911" y="29340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13 j</a:t>
            </a:r>
          </a:p>
        </p:txBody>
      </p:sp>
      <p:sp>
        <p:nvSpPr>
          <p:cNvPr id="18" name="S08_ROW_2_LABEL"/>
          <p:cNvSpPr txBox="1"/>
          <p:nvPr/>
        </p:nvSpPr>
        <p:spPr>
          <a:xfrm>
            <a:off x="388800" y="33660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Taux de défauts</a:t>
            </a:r>
          </a:p>
        </p:txBody>
      </p:sp>
      <p:sp>
        <p:nvSpPr>
          <p:cNvPr id="19" name="S08_ROW_2_BAR_1"/>
          <p:cNvSpPr/>
          <p:nvPr/>
        </p:nvSpPr>
        <p:spPr>
          <a:xfrm>
            <a:off x="4298400" y="3401999"/>
            <a:ext cx="3739320" cy="298800"/>
          </a:xfrm>
          <a:prstGeom prst="roundRect">
            <a:avLst>
              <a:gd name="adj" fmla="val 30000"/>
            </a:avLst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S08_ROW_2_BAR_2"/>
          <p:cNvSpPr/>
          <p:nvPr/>
        </p:nvSpPr>
        <p:spPr>
          <a:xfrm>
            <a:off x="8798400" y="3401999"/>
            <a:ext cx="710276" cy="298800"/>
          </a:xfrm>
          <a:prstGeom prst="roundRect">
            <a:avLst>
              <a:gd name="adj" fmla="val 30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S08_ROW_2_VALUE_1"/>
          <p:cNvSpPr txBox="1"/>
          <p:nvPr/>
        </p:nvSpPr>
        <p:spPr>
          <a:xfrm>
            <a:off x="8073720" y="3401999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1200</a:t>
            </a:r>
          </a:p>
        </p:txBody>
      </p:sp>
      <p:sp>
        <p:nvSpPr>
          <p:cNvPr id="22" name="S08_ROW_2_VALUE_2"/>
          <p:cNvSpPr txBox="1"/>
          <p:nvPr/>
        </p:nvSpPr>
        <p:spPr>
          <a:xfrm>
            <a:off x="9544677" y="3401999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380</a:t>
            </a:r>
          </a:p>
        </p:txBody>
      </p:sp>
      <p:sp>
        <p:nvSpPr>
          <p:cNvPr id="23" name="S08_ROW_3_LABEL"/>
          <p:cNvSpPr txBox="1"/>
          <p:nvPr/>
        </p:nvSpPr>
        <p:spPr>
          <a:xfrm>
            <a:off x="388800" y="38376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Engagement équipe</a:t>
            </a:r>
          </a:p>
        </p:txBody>
      </p:sp>
      <p:sp>
        <p:nvSpPr>
          <p:cNvPr id="24" name="S08_ROW_3_BAR_1"/>
          <p:cNvSpPr/>
          <p:nvPr/>
        </p:nvSpPr>
        <p:spPr>
          <a:xfrm>
            <a:off x="4298400" y="3873600"/>
            <a:ext cx="2684640" cy="298800"/>
          </a:xfrm>
          <a:prstGeom prst="roundRect">
            <a:avLst>
              <a:gd name="adj" fmla="val 30000"/>
            </a:avLst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S08_ROW_3_BAR_2"/>
          <p:cNvSpPr/>
          <p:nvPr/>
        </p:nvSpPr>
        <p:spPr>
          <a:xfrm>
            <a:off x="8798400" y="3873600"/>
            <a:ext cx="2242980" cy="298800"/>
          </a:xfrm>
          <a:prstGeom prst="roundRect">
            <a:avLst>
              <a:gd name="adj" fmla="val 30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S08_ROW_3_VALUE_1"/>
          <p:cNvSpPr txBox="1"/>
          <p:nvPr/>
        </p:nvSpPr>
        <p:spPr>
          <a:xfrm>
            <a:off x="7019040" y="38736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56%</a:t>
            </a:r>
          </a:p>
        </p:txBody>
      </p:sp>
      <p:sp>
        <p:nvSpPr>
          <p:cNvPr id="27" name="S08_ROW_3_VALUE_2"/>
          <p:cNvSpPr txBox="1"/>
          <p:nvPr/>
        </p:nvSpPr>
        <p:spPr>
          <a:xfrm>
            <a:off x="11077380" y="38736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78%</a:t>
            </a:r>
          </a:p>
        </p:txBody>
      </p:sp>
      <p:sp>
        <p:nvSpPr>
          <p:cNvPr id="28" name="S08_ROW_4_LABEL"/>
          <p:cNvSpPr txBox="1"/>
          <p:nvPr/>
        </p:nvSpPr>
        <p:spPr>
          <a:xfrm>
            <a:off x="388800" y="43092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Coût unitaire</a:t>
            </a:r>
          </a:p>
        </p:txBody>
      </p:sp>
      <p:sp>
        <p:nvSpPr>
          <p:cNvPr id="29" name="S08_ROW_4_BAR_1"/>
          <p:cNvSpPr/>
          <p:nvPr/>
        </p:nvSpPr>
        <p:spPr>
          <a:xfrm>
            <a:off x="4298400" y="4345200"/>
            <a:ext cx="3739320" cy="298800"/>
          </a:xfrm>
          <a:prstGeom prst="roundRect">
            <a:avLst>
              <a:gd name="adj" fmla="val 30000"/>
            </a:avLst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S08_ROW_4_BAR_2"/>
          <p:cNvSpPr/>
          <p:nvPr/>
        </p:nvSpPr>
        <p:spPr>
          <a:xfrm>
            <a:off x="8798400" y="4345200"/>
            <a:ext cx="1822421" cy="298800"/>
          </a:xfrm>
          <a:prstGeom prst="roundRect">
            <a:avLst>
              <a:gd name="adj" fmla="val 30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S08_ROW_4_VALUE_1"/>
          <p:cNvSpPr txBox="1"/>
          <p:nvPr/>
        </p:nvSpPr>
        <p:spPr>
          <a:xfrm>
            <a:off x="8073720" y="43452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240 €</a:t>
            </a:r>
          </a:p>
        </p:txBody>
      </p:sp>
      <p:sp>
        <p:nvSpPr>
          <p:cNvPr id="32" name="S08_ROW_4_VALUE_2"/>
          <p:cNvSpPr txBox="1"/>
          <p:nvPr/>
        </p:nvSpPr>
        <p:spPr>
          <a:xfrm>
            <a:off x="10656821" y="43452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195 €</a:t>
            </a:r>
          </a:p>
        </p:txBody>
      </p:sp>
      <p:sp>
        <p:nvSpPr>
          <p:cNvPr id="33" name="S08_ROW_5_LABEL"/>
          <p:cNvSpPr txBox="1"/>
          <p:nvPr/>
        </p:nvSpPr>
        <p:spPr>
          <a:xfrm>
            <a:off x="388800" y="47772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Satisfaction client</a:t>
            </a:r>
          </a:p>
        </p:txBody>
      </p:sp>
      <p:sp>
        <p:nvSpPr>
          <p:cNvPr id="34" name="S08_ROW_5_BAR_1"/>
          <p:cNvSpPr/>
          <p:nvPr/>
        </p:nvSpPr>
        <p:spPr>
          <a:xfrm>
            <a:off x="4298400" y="4813200"/>
            <a:ext cx="3130593" cy="298800"/>
          </a:xfrm>
          <a:prstGeom prst="roundRect">
            <a:avLst>
              <a:gd name="adj" fmla="val 30000"/>
            </a:avLst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S08_ROW_5_BAR_2"/>
          <p:cNvSpPr/>
          <p:nvPr/>
        </p:nvSpPr>
        <p:spPr>
          <a:xfrm>
            <a:off x="8798400" y="4813200"/>
            <a:ext cx="2242980" cy="298800"/>
          </a:xfrm>
          <a:prstGeom prst="roundRect">
            <a:avLst>
              <a:gd name="adj" fmla="val 30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S08_ROW_5_VALUE_1"/>
          <p:cNvSpPr txBox="1"/>
          <p:nvPr/>
        </p:nvSpPr>
        <p:spPr>
          <a:xfrm>
            <a:off x="7464993" y="48132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7,2</a:t>
            </a:r>
          </a:p>
        </p:txBody>
      </p:sp>
      <p:sp>
        <p:nvSpPr>
          <p:cNvPr id="37" name="S08_ROW_5_VALUE_2"/>
          <p:cNvSpPr txBox="1"/>
          <p:nvPr/>
        </p:nvSpPr>
        <p:spPr>
          <a:xfrm>
            <a:off x="11077380" y="48132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8,6</a:t>
            </a:r>
          </a:p>
        </p:txBody>
      </p:sp>
      <p:sp>
        <p:nvSpPr>
          <p:cNvPr id="38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Le pilote améliore les cinq dimensions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1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Risques &amp; Opportunités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09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09_RISK_1_CARD"/>
          <p:cNvSpPr/>
          <p:nvPr/>
        </p:nvSpPr>
        <p:spPr>
          <a:xfrm>
            <a:off x="121859" y="1260000"/>
            <a:ext cx="3920400" cy="230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09_RISK_1_ICON"/>
          <p:cNvSpPr/>
          <p:nvPr/>
        </p:nvSpPr>
        <p:spPr>
          <a:xfrm>
            <a:off x="168659" y="1440000"/>
            <a:ext cx="306000" cy="306000"/>
          </a:xfrm>
          <a:prstGeom prst="roundRect">
            <a:avLst>
              <a:gd name="adj" fmla="val 15000"/>
            </a:avLst>
          </a:prstGeom>
          <a:solidFill>
            <a:srgbClr val="BBB4C4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6A5D79"/>
                </a:solidFill>
                <a:latin typeface="Wingdings"/>
              </a:rPr>
              <a:t>L</a:t>
            </a:r>
          </a:p>
        </p:txBody>
      </p:sp>
      <p:sp>
        <p:nvSpPr>
          <p:cNvPr id="10" name="S09_RISK_1_TITLE"/>
          <p:cNvSpPr txBox="1"/>
          <p:nvPr/>
        </p:nvSpPr>
        <p:spPr>
          <a:xfrm>
            <a:off x="553859" y="1386000"/>
            <a:ext cx="32400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Résistance managériale</a:t>
            </a:r>
          </a:p>
        </p:txBody>
      </p:sp>
      <p:sp>
        <p:nvSpPr>
          <p:cNvPr id="11" name="S09_RISK_1_LEVEL"/>
          <p:cNvSpPr/>
          <p:nvPr/>
        </p:nvSpPr>
        <p:spPr>
          <a:xfrm>
            <a:off x="553859" y="1663200"/>
            <a:ext cx="892800" cy="190800"/>
          </a:xfrm>
          <a:prstGeom prst="roundRect">
            <a:avLst>
              <a:gd name="adj" fmla="val 15000"/>
            </a:avLst>
          </a:prstGeom>
          <a:solidFill>
            <a:srgbClr val="FF9797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C00000"/>
                </a:solidFill>
                <a:latin typeface="Segoe UI"/>
              </a:rPr>
              <a:t>Risque élevé</a:t>
            </a:r>
          </a:p>
        </p:txBody>
      </p:sp>
      <p:sp>
        <p:nvSpPr>
          <p:cNvPr id="12" name="S09_RISK_1_BODY"/>
          <p:cNvSpPr txBox="1"/>
          <p:nvPr/>
        </p:nvSpPr>
        <p:spPr>
          <a:xfrm>
            <a:off x="168659" y="1908000"/>
            <a:ext cx="3776400" cy="432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Crainte de surcharge et perte de repères.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3859" y="2448000"/>
            <a:ext cx="37764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</p:cxnSp>
      <p:sp>
        <p:nvSpPr>
          <p:cNvPr id="14" name="S09_RISK_1_ACTION_TAG"/>
          <p:cNvSpPr/>
          <p:nvPr/>
        </p:nvSpPr>
        <p:spPr>
          <a:xfrm>
            <a:off x="193859" y="2556000"/>
            <a:ext cx="615600" cy="190800"/>
          </a:xfrm>
          <a:prstGeom prst="roundRect">
            <a:avLst>
              <a:gd name="adj" fmla="val 15000"/>
            </a:avLst>
          </a:prstGeom>
          <a:solidFill>
            <a:srgbClr val="DDE7CF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8DAC95"/>
                </a:solidFill>
                <a:latin typeface="Segoe UI"/>
              </a:rPr>
              <a:t>Parade</a:t>
            </a:r>
          </a:p>
        </p:txBody>
      </p:sp>
      <p:sp>
        <p:nvSpPr>
          <p:cNvPr id="15" name="S09_RISK_1_ACTION_BODY"/>
          <p:cNvSpPr txBox="1"/>
          <p:nvPr/>
        </p:nvSpPr>
        <p:spPr>
          <a:xfrm>
            <a:off x="877859" y="2556000"/>
            <a:ext cx="3092400" cy="360000"/>
          </a:xfrm>
          <a:prstGeom prst="rect">
            <a:avLst/>
          </a:prstGeom>
          <a:noFill/>
        </p:spPr>
        <p:txBody>
          <a:bodyPr wrap="square" lIns="45720" rIns="45720" tIns="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Former les relais et clarifier le rôle du sponsor.</a:t>
            </a:r>
          </a:p>
        </p:txBody>
      </p:sp>
      <p:sp>
        <p:nvSpPr>
          <p:cNvPr id="16" name="S09_RISK_2_CARD"/>
          <p:cNvSpPr/>
          <p:nvPr/>
        </p:nvSpPr>
        <p:spPr>
          <a:xfrm>
            <a:off x="4135859" y="1260000"/>
            <a:ext cx="3920400" cy="230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09_RISK_2_ICON"/>
          <p:cNvSpPr/>
          <p:nvPr/>
        </p:nvSpPr>
        <p:spPr>
          <a:xfrm>
            <a:off x="4182659" y="1440000"/>
            <a:ext cx="306000" cy="306000"/>
          </a:xfrm>
          <a:prstGeom prst="roundRect">
            <a:avLst>
              <a:gd name="adj" fmla="val 15000"/>
            </a:avLst>
          </a:prstGeom>
          <a:solidFill>
            <a:srgbClr val="BBB4C4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6A5D79"/>
                </a:solidFill>
                <a:latin typeface="Wingdings"/>
              </a:rPr>
              <a:t>L</a:t>
            </a:r>
          </a:p>
        </p:txBody>
      </p:sp>
      <p:sp>
        <p:nvSpPr>
          <p:cNvPr id="18" name="S09_RISK_2_TITLE"/>
          <p:cNvSpPr txBox="1"/>
          <p:nvPr/>
        </p:nvSpPr>
        <p:spPr>
          <a:xfrm>
            <a:off x="4567859" y="1386000"/>
            <a:ext cx="32400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Disponibilité terrain</a:t>
            </a:r>
          </a:p>
        </p:txBody>
      </p:sp>
      <p:sp>
        <p:nvSpPr>
          <p:cNvPr id="19" name="S09_RISK_2_LEVEL"/>
          <p:cNvSpPr/>
          <p:nvPr/>
        </p:nvSpPr>
        <p:spPr>
          <a:xfrm>
            <a:off x="4567859" y="1663200"/>
            <a:ext cx="892800" cy="190800"/>
          </a:xfrm>
          <a:prstGeom prst="roundRect">
            <a:avLst>
              <a:gd name="adj" fmla="val 15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FDA85B"/>
                </a:solidFill>
                <a:latin typeface="Segoe UI"/>
              </a:rPr>
              <a:t>Risque moyen</a:t>
            </a:r>
          </a:p>
        </p:txBody>
      </p:sp>
      <p:sp>
        <p:nvSpPr>
          <p:cNvPr id="20" name="S09_RISK_2_BODY"/>
          <p:cNvSpPr txBox="1"/>
          <p:nvPr/>
        </p:nvSpPr>
        <p:spPr>
          <a:xfrm>
            <a:off x="4182659" y="1908000"/>
            <a:ext cx="3776400" cy="432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Calendrier chargé sur les sites pilotes.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207859" y="2448000"/>
            <a:ext cx="37764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</p:cxnSp>
      <p:sp>
        <p:nvSpPr>
          <p:cNvPr id="22" name="S09_RISK_2_ACTION_TAG"/>
          <p:cNvSpPr/>
          <p:nvPr/>
        </p:nvSpPr>
        <p:spPr>
          <a:xfrm>
            <a:off x="4207859" y="2556000"/>
            <a:ext cx="615600" cy="190800"/>
          </a:xfrm>
          <a:prstGeom prst="roundRect">
            <a:avLst>
              <a:gd name="adj" fmla="val 15000"/>
            </a:avLst>
          </a:prstGeom>
          <a:solidFill>
            <a:srgbClr val="DDE7CF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8DAC95"/>
                </a:solidFill>
                <a:latin typeface="Segoe UI"/>
              </a:rPr>
              <a:t>Parade</a:t>
            </a:r>
          </a:p>
        </p:txBody>
      </p:sp>
      <p:sp>
        <p:nvSpPr>
          <p:cNvPr id="23" name="S09_RISK_2_ACTION_BODY"/>
          <p:cNvSpPr txBox="1"/>
          <p:nvPr/>
        </p:nvSpPr>
        <p:spPr>
          <a:xfrm>
            <a:off x="4891859" y="2556000"/>
            <a:ext cx="3092400" cy="360000"/>
          </a:xfrm>
          <a:prstGeom prst="rect">
            <a:avLst/>
          </a:prstGeom>
          <a:noFill/>
        </p:spPr>
        <p:txBody>
          <a:bodyPr wrap="square" lIns="45720" rIns="45720" tIns="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Limiter les ateliers et préparer les décisions en amont.</a:t>
            </a:r>
          </a:p>
        </p:txBody>
      </p:sp>
      <p:sp>
        <p:nvSpPr>
          <p:cNvPr id="24" name="S09_RISK_3_CARD"/>
          <p:cNvSpPr/>
          <p:nvPr/>
        </p:nvSpPr>
        <p:spPr>
          <a:xfrm>
            <a:off x="8149859" y="1260000"/>
            <a:ext cx="3920400" cy="230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S09_RISK_3_ICON"/>
          <p:cNvSpPr/>
          <p:nvPr/>
        </p:nvSpPr>
        <p:spPr>
          <a:xfrm>
            <a:off x="8196659" y="1440000"/>
            <a:ext cx="306000" cy="306000"/>
          </a:xfrm>
          <a:prstGeom prst="roundRect">
            <a:avLst>
              <a:gd name="adj" fmla="val 15000"/>
            </a:avLst>
          </a:prstGeom>
          <a:solidFill>
            <a:srgbClr val="BBB4C4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6A5D79"/>
                </a:solidFill>
                <a:latin typeface="Wingdings"/>
              </a:rPr>
              <a:t>L</a:t>
            </a:r>
          </a:p>
        </p:txBody>
      </p:sp>
      <p:sp>
        <p:nvSpPr>
          <p:cNvPr id="26" name="S09_RISK_3_TITLE"/>
          <p:cNvSpPr txBox="1"/>
          <p:nvPr/>
        </p:nvSpPr>
        <p:spPr>
          <a:xfrm>
            <a:off x="8581859" y="1386000"/>
            <a:ext cx="32400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Dépendance data</a:t>
            </a:r>
          </a:p>
        </p:txBody>
      </p:sp>
      <p:sp>
        <p:nvSpPr>
          <p:cNvPr id="27" name="S09_RISK_3_LEVEL"/>
          <p:cNvSpPr/>
          <p:nvPr/>
        </p:nvSpPr>
        <p:spPr>
          <a:xfrm>
            <a:off x="8581859" y="1663200"/>
            <a:ext cx="892800" cy="190800"/>
          </a:xfrm>
          <a:prstGeom prst="roundRect">
            <a:avLst>
              <a:gd name="adj" fmla="val 15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FDA85B"/>
                </a:solidFill>
                <a:latin typeface="Segoe UI"/>
              </a:rPr>
              <a:t>Risque moyen</a:t>
            </a:r>
          </a:p>
        </p:txBody>
      </p:sp>
      <p:sp>
        <p:nvSpPr>
          <p:cNvPr id="28" name="S09_RISK_3_BODY"/>
          <p:cNvSpPr txBox="1"/>
          <p:nvPr/>
        </p:nvSpPr>
        <p:spPr>
          <a:xfrm>
            <a:off x="8196659" y="1908000"/>
            <a:ext cx="3776400" cy="432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Qualité variable des données sources.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21859" y="2448000"/>
            <a:ext cx="37764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</p:cxnSp>
      <p:sp>
        <p:nvSpPr>
          <p:cNvPr id="30" name="S09_RISK_3_ACTION_TAG"/>
          <p:cNvSpPr/>
          <p:nvPr/>
        </p:nvSpPr>
        <p:spPr>
          <a:xfrm>
            <a:off x="8221859" y="2556000"/>
            <a:ext cx="615600" cy="190800"/>
          </a:xfrm>
          <a:prstGeom prst="roundRect">
            <a:avLst>
              <a:gd name="adj" fmla="val 15000"/>
            </a:avLst>
          </a:prstGeom>
          <a:solidFill>
            <a:srgbClr val="DDE7CF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8DAC95"/>
                </a:solidFill>
                <a:latin typeface="Segoe UI"/>
              </a:rPr>
              <a:t>Parade</a:t>
            </a:r>
          </a:p>
        </p:txBody>
      </p:sp>
      <p:sp>
        <p:nvSpPr>
          <p:cNvPr id="31" name="S09_RISK_3_ACTION_BODY"/>
          <p:cNvSpPr txBox="1"/>
          <p:nvPr/>
        </p:nvSpPr>
        <p:spPr>
          <a:xfrm>
            <a:off x="8905860" y="2556000"/>
            <a:ext cx="3092400" cy="360000"/>
          </a:xfrm>
          <a:prstGeom prst="rect">
            <a:avLst/>
          </a:prstGeom>
          <a:noFill/>
        </p:spPr>
        <p:txBody>
          <a:bodyPr wrap="square" lIns="45720" rIns="45720" tIns="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Créer une règle simple de validation hebdomadaire.</a:t>
            </a:r>
          </a:p>
        </p:txBody>
      </p:sp>
      <p:sp>
        <p:nvSpPr>
          <p:cNvPr id="32" name="S09_OPP_1_CARD"/>
          <p:cNvSpPr/>
          <p:nvPr/>
        </p:nvSpPr>
        <p:spPr>
          <a:xfrm>
            <a:off x="121859" y="3708000"/>
            <a:ext cx="3920400" cy="230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S09_OPP_1_ICON"/>
          <p:cNvSpPr/>
          <p:nvPr/>
        </p:nvSpPr>
        <p:spPr>
          <a:xfrm>
            <a:off x="168659" y="3888000"/>
            <a:ext cx="306000" cy="306000"/>
          </a:xfrm>
          <a:prstGeom prst="roundRect">
            <a:avLst>
              <a:gd name="adj" fmla="val 15000"/>
            </a:avLst>
          </a:prstGeom>
          <a:solidFill>
            <a:srgbClr val="FEF4DA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FBCC58"/>
                </a:solidFill>
                <a:latin typeface="Wingdings"/>
              </a:rPr>
              <a:t>J</a:t>
            </a:r>
          </a:p>
        </p:txBody>
      </p:sp>
      <p:sp>
        <p:nvSpPr>
          <p:cNvPr id="34" name="S09_OPP_1_TITLE"/>
          <p:cNvSpPr txBox="1"/>
          <p:nvPr/>
        </p:nvSpPr>
        <p:spPr>
          <a:xfrm>
            <a:off x="553859" y="3834000"/>
            <a:ext cx="32400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Engagement post-pilote</a:t>
            </a:r>
          </a:p>
        </p:txBody>
      </p:sp>
      <p:sp>
        <p:nvSpPr>
          <p:cNvPr id="35" name="S09_OPP_1_LEVEL"/>
          <p:cNvSpPr/>
          <p:nvPr/>
        </p:nvSpPr>
        <p:spPr>
          <a:xfrm>
            <a:off x="553859" y="4111200"/>
            <a:ext cx="892800" cy="190800"/>
          </a:xfrm>
          <a:prstGeom prst="roundRect">
            <a:avLst>
              <a:gd name="adj" fmla="val 15000"/>
            </a:avLst>
          </a:prstGeom>
          <a:solidFill>
            <a:srgbClr val="69FFAD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00B050"/>
                </a:solidFill>
                <a:latin typeface="Segoe UI"/>
              </a:rPr>
              <a:t>Gain élevé</a:t>
            </a:r>
          </a:p>
        </p:txBody>
      </p:sp>
      <p:sp>
        <p:nvSpPr>
          <p:cNvPr id="36" name="S09_OPP_1_BODY"/>
          <p:cNvSpPr txBox="1"/>
          <p:nvPr/>
        </p:nvSpPr>
        <p:spPr>
          <a:xfrm>
            <a:off x="168659" y="4356000"/>
            <a:ext cx="3776400" cy="432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Témoignages spontanés des équipes.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93859" y="4896000"/>
            <a:ext cx="37764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</p:cxnSp>
      <p:sp>
        <p:nvSpPr>
          <p:cNvPr id="38" name="S09_OPP_1_ACTION_TAG"/>
          <p:cNvSpPr/>
          <p:nvPr/>
        </p:nvSpPr>
        <p:spPr>
          <a:xfrm>
            <a:off x="193859" y="5004000"/>
            <a:ext cx="615600" cy="190800"/>
          </a:xfrm>
          <a:prstGeom prst="roundRect">
            <a:avLst>
              <a:gd name="adj" fmla="val 15000"/>
            </a:avLst>
          </a:prstGeom>
          <a:solidFill>
            <a:srgbClr val="DDE7CF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8DAC95"/>
                </a:solidFill>
                <a:latin typeface="Segoe UI"/>
              </a:rPr>
              <a:t>Levier</a:t>
            </a:r>
          </a:p>
        </p:txBody>
      </p:sp>
      <p:sp>
        <p:nvSpPr>
          <p:cNvPr id="39" name="S09_OPP_1_ACTION_BODY"/>
          <p:cNvSpPr txBox="1"/>
          <p:nvPr/>
        </p:nvSpPr>
        <p:spPr>
          <a:xfrm>
            <a:off x="877859" y="5004000"/>
            <a:ext cx="3092400" cy="360000"/>
          </a:xfrm>
          <a:prstGeom prst="rect">
            <a:avLst/>
          </a:prstGeom>
          <a:noFill/>
        </p:spPr>
        <p:txBody>
          <a:bodyPr wrap="square" lIns="45720" rIns="45720" tIns="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Capitaliser via communication interne.</a:t>
            </a:r>
          </a:p>
        </p:txBody>
      </p:sp>
      <p:sp>
        <p:nvSpPr>
          <p:cNvPr id="40" name="S09_OPP_2_CARD"/>
          <p:cNvSpPr/>
          <p:nvPr/>
        </p:nvSpPr>
        <p:spPr>
          <a:xfrm>
            <a:off x="4135859" y="3708000"/>
            <a:ext cx="3920400" cy="230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S09_OPP_2_ICON"/>
          <p:cNvSpPr/>
          <p:nvPr/>
        </p:nvSpPr>
        <p:spPr>
          <a:xfrm>
            <a:off x="4182659" y="3888000"/>
            <a:ext cx="306000" cy="306000"/>
          </a:xfrm>
          <a:prstGeom prst="roundRect">
            <a:avLst>
              <a:gd name="adj" fmla="val 15000"/>
            </a:avLst>
          </a:prstGeom>
          <a:solidFill>
            <a:srgbClr val="FEF4DA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FBCC58"/>
                </a:solidFill>
                <a:latin typeface="Wingdings"/>
              </a:rPr>
              <a:t>J</a:t>
            </a:r>
          </a:p>
        </p:txBody>
      </p:sp>
      <p:sp>
        <p:nvSpPr>
          <p:cNvPr id="42" name="S09_OPP_2_TITLE"/>
          <p:cNvSpPr txBox="1"/>
          <p:nvPr/>
        </p:nvSpPr>
        <p:spPr>
          <a:xfrm>
            <a:off x="4567859" y="3834000"/>
            <a:ext cx="32400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Réplicabilité multi-sites</a:t>
            </a:r>
          </a:p>
        </p:txBody>
      </p:sp>
      <p:sp>
        <p:nvSpPr>
          <p:cNvPr id="43" name="S09_OPP_2_LEVEL"/>
          <p:cNvSpPr/>
          <p:nvPr/>
        </p:nvSpPr>
        <p:spPr>
          <a:xfrm>
            <a:off x="4567859" y="4111200"/>
            <a:ext cx="892800" cy="190800"/>
          </a:xfrm>
          <a:prstGeom prst="roundRect">
            <a:avLst>
              <a:gd name="adj" fmla="val 15000"/>
            </a:avLst>
          </a:prstGeom>
          <a:solidFill>
            <a:srgbClr val="69FFAD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00B050"/>
                </a:solidFill>
                <a:latin typeface="Segoe UI"/>
              </a:rPr>
              <a:t>Gain élevé</a:t>
            </a:r>
          </a:p>
        </p:txBody>
      </p:sp>
      <p:sp>
        <p:nvSpPr>
          <p:cNvPr id="44" name="S09_OPP_2_BODY"/>
          <p:cNvSpPr txBox="1"/>
          <p:nvPr/>
        </p:nvSpPr>
        <p:spPr>
          <a:xfrm>
            <a:off x="4182659" y="4356000"/>
            <a:ext cx="3776400" cy="432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Méthode simple et transférable.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207859" y="4896000"/>
            <a:ext cx="37764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</p:cxnSp>
      <p:sp>
        <p:nvSpPr>
          <p:cNvPr id="46" name="S09_OPP_2_ACTION_TAG"/>
          <p:cNvSpPr/>
          <p:nvPr/>
        </p:nvSpPr>
        <p:spPr>
          <a:xfrm>
            <a:off x="4207859" y="5004000"/>
            <a:ext cx="615600" cy="190800"/>
          </a:xfrm>
          <a:prstGeom prst="roundRect">
            <a:avLst>
              <a:gd name="adj" fmla="val 15000"/>
            </a:avLst>
          </a:prstGeom>
          <a:solidFill>
            <a:srgbClr val="DDE7CF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8DAC95"/>
                </a:solidFill>
                <a:latin typeface="Segoe UI"/>
              </a:rPr>
              <a:t>Levier</a:t>
            </a:r>
          </a:p>
        </p:txBody>
      </p:sp>
      <p:sp>
        <p:nvSpPr>
          <p:cNvPr id="47" name="S09_OPP_2_ACTION_BODY"/>
          <p:cNvSpPr txBox="1"/>
          <p:nvPr/>
        </p:nvSpPr>
        <p:spPr>
          <a:xfrm>
            <a:off x="4891859" y="5004000"/>
            <a:ext cx="3092400" cy="360000"/>
          </a:xfrm>
          <a:prstGeom prst="rect">
            <a:avLst/>
          </a:prstGeom>
          <a:noFill/>
        </p:spPr>
        <p:txBody>
          <a:bodyPr wrap="square" lIns="45720" rIns="45720" tIns="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Préparer un kit de déploiement.</a:t>
            </a:r>
          </a:p>
        </p:txBody>
      </p:sp>
      <p:sp>
        <p:nvSpPr>
          <p:cNvPr id="48" name="S09_OPP_3_CARD"/>
          <p:cNvSpPr/>
          <p:nvPr/>
        </p:nvSpPr>
        <p:spPr>
          <a:xfrm>
            <a:off x="8149859" y="3708000"/>
            <a:ext cx="3920400" cy="230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S09_OPP_3_ICON"/>
          <p:cNvSpPr/>
          <p:nvPr/>
        </p:nvSpPr>
        <p:spPr>
          <a:xfrm>
            <a:off x="8196659" y="3888000"/>
            <a:ext cx="306000" cy="306000"/>
          </a:xfrm>
          <a:prstGeom prst="roundRect">
            <a:avLst>
              <a:gd name="adj" fmla="val 15000"/>
            </a:avLst>
          </a:prstGeom>
          <a:solidFill>
            <a:srgbClr val="FEF4DA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FBCC58"/>
                </a:solidFill>
                <a:latin typeface="Wingdings"/>
              </a:rPr>
              <a:t>J</a:t>
            </a:r>
          </a:p>
        </p:txBody>
      </p:sp>
      <p:sp>
        <p:nvSpPr>
          <p:cNvPr id="50" name="S09_OPP_3_TITLE"/>
          <p:cNvSpPr txBox="1"/>
          <p:nvPr/>
        </p:nvSpPr>
        <p:spPr>
          <a:xfrm>
            <a:off x="8581859" y="3834000"/>
            <a:ext cx="32400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Crédibilité comité</a:t>
            </a:r>
          </a:p>
        </p:txBody>
      </p:sp>
      <p:sp>
        <p:nvSpPr>
          <p:cNvPr id="51" name="S09_OPP_3_LEVEL"/>
          <p:cNvSpPr/>
          <p:nvPr/>
        </p:nvSpPr>
        <p:spPr>
          <a:xfrm>
            <a:off x="8581859" y="4111200"/>
            <a:ext cx="892800" cy="190800"/>
          </a:xfrm>
          <a:prstGeom prst="roundRect">
            <a:avLst>
              <a:gd name="adj" fmla="val 15000"/>
            </a:avLst>
          </a:prstGeom>
          <a:solidFill>
            <a:srgbClr val="FFFF85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A8A400"/>
                </a:solidFill>
                <a:latin typeface="Segoe UI"/>
              </a:rPr>
              <a:t>Gain moyen</a:t>
            </a:r>
          </a:p>
        </p:txBody>
      </p:sp>
      <p:sp>
        <p:nvSpPr>
          <p:cNvPr id="52" name="S09_OPP_3_BODY"/>
          <p:cNvSpPr txBox="1"/>
          <p:nvPr/>
        </p:nvSpPr>
        <p:spPr>
          <a:xfrm>
            <a:off x="8196659" y="4356000"/>
            <a:ext cx="3776400" cy="432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Décision appuyée sur des preuves terrain.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221859" y="4896000"/>
            <a:ext cx="37764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</p:cxnSp>
      <p:sp>
        <p:nvSpPr>
          <p:cNvPr id="54" name="S09_OPP_3_ACTION_TAG"/>
          <p:cNvSpPr/>
          <p:nvPr/>
        </p:nvSpPr>
        <p:spPr>
          <a:xfrm>
            <a:off x="8221859" y="5004000"/>
            <a:ext cx="615600" cy="190800"/>
          </a:xfrm>
          <a:prstGeom prst="roundRect">
            <a:avLst>
              <a:gd name="adj" fmla="val 15000"/>
            </a:avLst>
          </a:prstGeom>
          <a:solidFill>
            <a:srgbClr val="DDE7CF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8DAC95"/>
                </a:solidFill>
                <a:latin typeface="Segoe UI"/>
              </a:rPr>
              <a:t>Levier</a:t>
            </a:r>
          </a:p>
        </p:txBody>
      </p:sp>
      <p:sp>
        <p:nvSpPr>
          <p:cNvPr id="55" name="S09_OPP_3_ACTION_BODY"/>
          <p:cNvSpPr txBox="1"/>
          <p:nvPr/>
        </p:nvSpPr>
        <p:spPr>
          <a:xfrm>
            <a:off x="8905860" y="5004000"/>
            <a:ext cx="3092400" cy="360000"/>
          </a:xfrm>
          <a:prstGeom prst="rect">
            <a:avLst/>
          </a:prstGeom>
          <a:noFill/>
        </p:spPr>
        <p:txBody>
          <a:bodyPr wrap="square" lIns="45720" rIns="45720" tIns="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Présenter les gains et les risques restants.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Plan d'action 18 mois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10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10_DATE"/>
          <p:cNvSpPr txBox="1"/>
          <p:nvPr/>
        </p:nvSpPr>
        <p:spPr>
          <a:xfrm>
            <a:off x="10119600" y="270000"/>
            <a:ext cx="1828800" cy="46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Calibri"/>
              </a:rPr>
              <a:t>Mai 2026</a:t>
            </a:r>
          </a:p>
        </p:txBody>
      </p:sp>
      <p:sp>
        <p:nvSpPr>
          <p:cNvPr id="9" name="S10_PHASE_1_CARD"/>
          <p:cNvSpPr/>
          <p:nvPr/>
        </p:nvSpPr>
        <p:spPr>
          <a:xfrm>
            <a:off x="202859" y="1475999"/>
            <a:ext cx="3780000" cy="4136400"/>
          </a:xfrm>
          <a:prstGeom prst="rect">
            <a:avLst/>
          </a:prstGeom>
          <a:solidFill>
            <a:srgbClr val="FFFFFF"/>
          </a:solidFill>
          <a:ln w="3175">
            <a:solidFill>
              <a:srgbClr val="E0E2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10_PHASE_1_BAND"/>
          <p:cNvSpPr/>
          <p:nvPr/>
        </p:nvSpPr>
        <p:spPr>
          <a:xfrm>
            <a:off x="202859" y="1475999"/>
            <a:ext cx="3780000" cy="7560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10_PHASE_1_NUMBER"/>
          <p:cNvSpPr/>
          <p:nvPr/>
        </p:nvSpPr>
        <p:spPr>
          <a:xfrm>
            <a:off x="274859" y="1665000"/>
            <a:ext cx="410399" cy="410399"/>
          </a:xfrm>
          <a:prstGeom prst="ellipse">
            <a:avLst/>
          </a:prstGeom>
          <a:solidFill>
            <a:srgbClr val="6A5D79"/>
          </a:solidFill>
          <a:ln w="28575">
            <a:solidFill>
              <a:srgbClr val="FFFFFF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2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S10_PHASE_1_TITLE"/>
          <p:cNvSpPr txBox="1"/>
          <p:nvPr/>
        </p:nvSpPr>
        <p:spPr>
          <a:xfrm>
            <a:off x="836459" y="1558800"/>
            <a:ext cx="3024000" cy="342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Cadrage</a:t>
            </a:r>
          </a:p>
        </p:txBody>
      </p:sp>
      <p:sp>
        <p:nvSpPr>
          <p:cNvPr id="13" name="S10_PHASE_1_SUBTITLE"/>
          <p:cNvSpPr txBox="1"/>
          <p:nvPr/>
        </p:nvSpPr>
        <p:spPr>
          <a:xfrm>
            <a:off x="836459" y="1890000"/>
            <a:ext cx="3024000" cy="29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Segoe UI"/>
              </a:rPr>
              <a:t>T2 2026</a:t>
            </a:r>
          </a:p>
        </p:txBody>
      </p:sp>
      <p:sp>
        <p:nvSpPr>
          <p:cNvPr id="14" name="S10_PHASE_1_ITEM_1_BULLET"/>
          <p:cNvSpPr/>
          <p:nvPr/>
        </p:nvSpPr>
        <p:spPr>
          <a:xfrm>
            <a:off x="382859" y="2397599"/>
            <a:ext cx="108000" cy="108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10_PHASE_1_ITEM_1_TITLE"/>
          <p:cNvSpPr txBox="1"/>
          <p:nvPr/>
        </p:nvSpPr>
        <p:spPr>
          <a:xfrm>
            <a:off x="570059" y="2267999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Sponsor + gouvernance</a:t>
            </a:r>
          </a:p>
        </p:txBody>
      </p:sp>
      <p:sp>
        <p:nvSpPr>
          <p:cNvPr id="16" name="S10_PHASE_1_ITEM_1_BODY"/>
          <p:cNvSpPr txBox="1"/>
          <p:nvPr/>
        </p:nvSpPr>
        <p:spPr>
          <a:xfrm>
            <a:off x="570059" y="2613599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COPIL hebdomadaire et sponsor nommé.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46859" y="3358800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18" name="S10_PHASE_1_ITEM_2_BULLET"/>
          <p:cNvSpPr/>
          <p:nvPr/>
        </p:nvSpPr>
        <p:spPr>
          <a:xfrm>
            <a:off x="382859" y="3524399"/>
            <a:ext cx="108000" cy="108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10_PHASE_1_ITEM_2_TITLE"/>
          <p:cNvSpPr txBox="1"/>
          <p:nvPr/>
        </p:nvSpPr>
        <p:spPr>
          <a:xfrm>
            <a:off x="570059" y="33948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Diagnostic terrain</a:t>
            </a:r>
          </a:p>
        </p:txBody>
      </p:sp>
      <p:sp>
        <p:nvSpPr>
          <p:cNvPr id="20" name="S10_PHASE_1_ITEM_2_BODY"/>
          <p:cNvSpPr txBox="1"/>
          <p:nvPr/>
        </p:nvSpPr>
        <p:spPr>
          <a:xfrm>
            <a:off x="570059" y="37404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Entretiens, irritants et baseline KPI.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46859" y="4485600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22" name="S10_PHASE_1_ITEM_3_BULLET"/>
          <p:cNvSpPr/>
          <p:nvPr/>
        </p:nvSpPr>
        <p:spPr>
          <a:xfrm>
            <a:off x="382859" y="4651200"/>
            <a:ext cx="108000" cy="108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S10_PHASE_1_ITEM_3_TITLE"/>
          <p:cNvSpPr txBox="1"/>
          <p:nvPr/>
        </p:nvSpPr>
        <p:spPr>
          <a:xfrm>
            <a:off x="570059" y="45216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Roadmap détaillée</a:t>
            </a:r>
          </a:p>
        </p:txBody>
      </p:sp>
      <p:sp>
        <p:nvSpPr>
          <p:cNvPr id="24" name="S10_PHASE_1_ITEM_3_BODY"/>
          <p:cNvSpPr txBox="1"/>
          <p:nvPr/>
        </p:nvSpPr>
        <p:spPr>
          <a:xfrm>
            <a:off x="570059" y="48672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Chantiers, jalons et critères de succès.</a:t>
            </a:r>
          </a:p>
        </p:txBody>
      </p:sp>
      <p:sp>
        <p:nvSpPr>
          <p:cNvPr id="25" name="S10_PHASE_2_CARD"/>
          <p:cNvSpPr/>
          <p:nvPr/>
        </p:nvSpPr>
        <p:spPr>
          <a:xfrm>
            <a:off x="4206059" y="1475999"/>
            <a:ext cx="3780000" cy="4136400"/>
          </a:xfrm>
          <a:prstGeom prst="rect">
            <a:avLst/>
          </a:prstGeom>
          <a:solidFill>
            <a:srgbClr val="FFFFFF"/>
          </a:solidFill>
          <a:ln w="3175">
            <a:solidFill>
              <a:srgbClr val="E0E2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S10_PHASE_2_BAND"/>
          <p:cNvSpPr/>
          <p:nvPr/>
        </p:nvSpPr>
        <p:spPr>
          <a:xfrm>
            <a:off x="4206059" y="1475999"/>
            <a:ext cx="3780000" cy="7560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S10_PHASE_2_NUMBER"/>
          <p:cNvSpPr/>
          <p:nvPr/>
        </p:nvSpPr>
        <p:spPr>
          <a:xfrm>
            <a:off x="4278059" y="1665000"/>
            <a:ext cx="410399" cy="410399"/>
          </a:xfrm>
          <a:prstGeom prst="ellipse">
            <a:avLst/>
          </a:prstGeom>
          <a:solidFill>
            <a:srgbClr val="A25871"/>
          </a:solidFill>
          <a:ln w="28575">
            <a:solidFill>
              <a:srgbClr val="FFFFFF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2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8" name="S10_PHASE_2_TITLE"/>
          <p:cNvSpPr txBox="1"/>
          <p:nvPr/>
        </p:nvSpPr>
        <p:spPr>
          <a:xfrm>
            <a:off x="4839659" y="1558800"/>
            <a:ext cx="3024000" cy="342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Pilote</a:t>
            </a:r>
          </a:p>
        </p:txBody>
      </p:sp>
      <p:sp>
        <p:nvSpPr>
          <p:cNvPr id="29" name="S10_PHASE_2_SUBTITLE"/>
          <p:cNvSpPr txBox="1"/>
          <p:nvPr/>
        </p:nvSpPr>
        <p:spPr>
          <a:xfrm>
            <a:off x="4839659" y="1890000"/>
            <a:ext cx="3024000" cy="29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Segoe UI"/>
              </a:rPr>
              <a:t>T3 2026</a:t>
            </a:r>
          </a:p>
        </p:txBody>
      </p:sp>
      <p:sp>
        <p:nvSpPr>
          <p:cNvPr id="30" name="S10_PHASE_2_ITEM_1_BULLET"/>
          <p:cNvSpPr/>
          <p:nvPr/>
        </p:nvSpPr>
        <p:spPr>
          <a:xfrm>
            <a:off x="4386059" y="2397599"/>
            <a:ext cx="108000" cy="1080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S10_PHASE_2_ITEM_1_TITLE"/>
          <p:cNvSpPr txBox="1"/>
          <p:nvPr/>
        </p:nvSpPr>
        <p:spPr>
          <a:xfrm>
            <a:off x="4573259" y="2267999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2 sites pilotes</a:t>
            </a:r>
          </a:p>
        </p:txBody>
      </p:sp>
      <p:sp>
        <p:nvSpPr>
          <p:cNvPr id="32" name="S10_PHASE_2_ITEM_1_BODY"/>
          <p:cNvSpPr txBox="1"/>
          <p:nvPr/>
        </p:nvSpPr>
        <p:spPr>
          <a:xfrm>
            <a:off x="4573259" y="2613599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Deux contextes pour tester la robustesse.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350059" y="3358800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34" name="S10_PHASE_2_ITEM_2_BULLET"/>
          <p:cNvSpPr/>
          <p:nvPr/>
        </p:nvSpPr>
        <p:spPr>
          <a:xfrm>
            <a:off x="4386059" y="3524399"/>
            <a:ext cx="108000" cy="1080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S10_PHASE_2_ITEM_2_TITLE"/>
          <p:cNvSpPr txBox="1"/>
          <p:nvPr/>
        </p:nvSpPr>
        <p:spPr>
          <a:xfrm>
            <a:off x="4573259" y="33948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Méthode validée</a:t>
            </a:r>
          </a:p>
        </p:txBody>
      </p:sp>
      <p:sp>
        <p:nvSpPr>
          <p:cNvPr id="36" name="S10_PHASE_2_ITEM_2_BODY"/>
          <p:cNvSpPr txBox="1"/>
          <p:nvPr/>
        </p:nvSpPr>
        <p:spPr>
          <a:xfrm>
            <a:off x="4573259" y="37404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Itérations courtes et REX mensuel.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350059" y="4485600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38" name="S10_PHASE_2_ITEM_3_BULLET"/>
          <p:cNvSpPr/>
          <p:nvPr/>
        </p:nvSpPr>
        <p:spPr>
          <a:xfrm>
            <a:off x="4386059" y="4651200"/>
            <a:ext cx="108000" cy="1080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S10_PHASE_2_ITEM_3_TITLE"/>
          <p:cNvSpPr txBox="1"/>
          <p:nvPr/>
        </p:nvSpPr>
        <p:spPr>
          <a:xfrm>
            <a:off x="4573259" y="45216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Premiers gains</a:t>
            </a:r>
          </a:p>
        </p:txBody>
      </p:sp>
      <p:sp>
        <p:nvSpPr>
          <p:cNvPr id="40" name="S10_PHASE_2_ITEM_3_BODY"/>
          <p:cNvSpPr txBox="1"/>
          <p:nvPr/>
        </p:nvSpPr>
        <p:spPr>
          <a:xfrm>
            <a:off x="4573259" y="48672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Mesure des impacts et communication.</a:t>
            </a:r>
          </a:p>
        </p:txBody>
      </p:sp>
      <p:sp>
        <p:nvSpPr>
          <p:cNvPr id="41" name="S10_PHASE_3_CARD"/>
          <p:cNvSpPr/>
          <p:nvPr/>
        </p:nvSpPr>
        <p:spPr>
          <a:xfrm>
            <a:off x="8209259" y="1475999"/>
            <a:ext cx="3780000" cy="4136400"/>
          </a:xfrm>
          <a:prstGeom prst="rect">
            <a:avLst/>
          </a:prstGeom>
          <a:solidFill>
            <a:srgbClr val="FFFFFF"/>
          </a:solidFill>
          <a:ln w="3175">
            <a:solidFill>
              <a:srgbClr val="E0E2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S10_PHASE_3_BAND"/>
          <p:cNvSpPr/>
          <p:nvPr/>
        </p:nvSpPr>
        <p:spPr>
          <a:xfrm>
            <a:off x="8209259" y="1475999"/>
            <a:ext cx="3780000" cy="756000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S10_PHASE_3_NUMBER"/>
          <p:cNvSpPr/>
          <p:nvPr/>
        </p:nvSpPr>
        <p:spPr>
          <a:xfrm>
            <a:off x="8281259" y="1665000"/>
            <a:ext cx="410399" cy="410399"/>
          </a:xfrm>
          <a:prstGeom prst="ellipse">
            <a:avLst/>
          </a:prstGeom>
          <a:solidFill>
            <a:srgbClr val="FDA85B"/>
          </a:solidFill>
          <a:ln w="28575">
            <a:solidFill>
              <a:srgbClr val="FFFFFF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2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44" name="S10_PHASE_3_TITLE"/>
          <p:cNvSpPr txBox="1"/>
          <p:nvPr/>
        </p:nvSpPr>
        <p:spPr>
          <a:xfrm>
            <a:off x="8842860" y="1558800"/>
            <a:ext cx="3024000" cy="342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Déploiement</a:t>
            </a:r>
          </a:p>
        </p:txBody>
      </p:sp>
      <p:sp>
        <p:nvSpPr>
          <p:cNvPr id="45" name="S10_PHASE_3_SUBTITLE"/>
          <p:cNvSpPr txBox="1"/>
          <p:nvPr/>
        </p:nvSpPr>
        <p:spPr>
          <a:xfrm>
            <a:off x="8842860" y="1890000"/>
            <a:ext cx="3024000" cy="29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Segoe UI"/>
              </a:rPr>
              <a:t>2027</a:t>
            </a:r>
          </a:p>
        </p:txBody>
      </p:sp>
      <p:sp>
        <p:nvSpPr>
          <p:cNvPr id="46" name="S10_PHASE_3_ITEM_1_BULLET"/>
          <p:cNvSpPr/>
          <p:nvPr/>
        </p:nvSpPr>
        <p:spPr>
          <a:xfrm>
            <a:off x="8389259" y="2397599"/>
            <a:ext cx="108000" cy="1080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S10_PHASE_3_ITEM_1_TITLE"/>
          <p:cNvSpPr txBox="1"/>
          <p:nvPr/>
        </p:nvSpPr>
        <p:spPr>
          <a:xfrm>
            <a:off x="8576459" y="2267999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Vague 1</a:t>
            </a:r>
          </a:p>
        </p:txBody>
      </p:sp>
      <p:sp>
        <p:nvSpPr>
          <p:cNvPr id="48" name="S10_PHASE_3_ITEM_1_BODY"/>
          <p:cNvSpPr txBox="1"/>
          <p:nvPr/>
        </p:nvSpPr>
        <p:spPr>
          <a:xfrm>
            <a:off x="8576459" y="2613599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Six sites avec relais locaux.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353259" y="3358800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50" name="S10_PHASE_3_ITEM_2_BULLET"/>
          <p:cNvSpPr/>
          <p:nvPr/>
        </p:nvSpPr>
        <p:spPr>
          <a:xfrm>
            <a:off x="8389259" y="3524399"/>
            <a:ext cx="108000" cy="1080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S10_PHASE_3_ITEM_2_TITLE"/>
          <p:cNvSpPr txBox="1"/>
          <p:nvPr/>
        </p:nvSpPr>
        <p:spPr>
          <a:xfrm>
            <a:off x="8576459" y="33948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Vague 2</a:t>
            </a:r>
          </a:p>
        </p:txBody>
      </p:sp>
      <p:sp>
        <p:nvSpPr>
          <p:cNvPr id="52" name="S10_PHASE_3_ITEM_2_BODY"/>
          <p:cNvSpPr txBox="1"/>
          <p:nvPr/>
        </p:nvSpPr>
        <p:spPr>
          <a:xfrm>
            <a:off x="8576459" y="37404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Extension aux BU adjacentes.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353259" y="4485600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54" name="S10_PHASE_3_ITEM_3_BULLET"/>
          <p:cNvSpPr/>
          <p:nvPr/>
        </p:nvSpPr>
        <p:spPr>
          <a:xfrm>
            <a:off x="8389259" y="4651200"/>
            <a:ext cx="108000" cy="1080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S10_PHASE_3_ITEM_3_TITLE"/>
          <p:cNvSpPr txBox="1"/>
          <p:nvPr/>
        </p:nvSpPr>
        <p:spPr>
          <a:xfrm>
            <a:off x="8576459" y="45216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Pérennisation</a:t>
            </a:r>
          </a:p>
        </p:txBody>
      </p:sp>
      <p:sp>
        <p:nvSpPr>
          <p:cNvPr id="56" name="S10_PHASE_3_ITEM_3_BODY"/>
          <p:cNvSpPr txBox="1"/>
          <p:nvPr/>
        </p:nvSpPr>
        <p:spPr>
          <a:xfrm>
            <a:off x="8576459" y="48672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Intégration aux routines managériales.</a:t>
            </a:r>
          </a:p>
        </p:txBody>
      </p:sp>
      <p:sp>
        <p:nvSpPr>
          <p:cNvPr id="57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Trois phases pour sécuriser le scale-up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Synthèse et décision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11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11_BLOCK_1_ACCENT_BAR"/>
          <p:cNvSpPr/>
          <p:nvPr/>
        </p:nvSpPr>
        <p:spPr>
          <a:xfrm>
            <a:off x="392400" y="1152000"/>
            <a:ext cx="61200" cy="1371600"/>
          </a:xfrm>
          <a:prstGeom prst="roundRect">
            <a:avLst>
              <a:gd name="adj" fmla="val 12000"/>
            </a:avLst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S11_BLOCK_1_NUMB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00" y="1242000"/>
            <a:ext cx="1440000" cy="792000"/>
          </a:xfrm>
          <a:prstGeom prst="rect">
            <a:avLst/>
          </a:prstGeom>
        </p:spPr>
      </p:pic>
      <p:sp>
        <p:nvSpPr>
          <p:cNvPr id="10" name="S11_BLOCK_1_TITLE"/>
          <p:cNvSpPr txBox="1"/>
          <p:nvPr/>
        </p:nvSpPr>
        <p:spPr>
          <a:xfrm>
            <a:off x="720000" y="1242000"/>
            <a:ext cx="10620000" cy="39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6A5D79"/>
                </a:solidFill>
                <a:latin typeface="Segoe UI"/>
              </a:rPr>
              <a:t>Ce que le pilote prouve</a:t>
            </a:r>
          </a:p>
        </p:txBody>
      </p:sp>
      <p:sp>
        <p:nvSpPr>
          <p:cNvPr id="11" name="S11_BLOCK_1_BODY"/>
          <p:cNvSpPr txBox="1"/>
          <p:nvPr/>
        </p:nvSpPr>
        <p:spPr>
          <a:xfrm>
            <a:off x="720000" y="1674000"/>
            <a:ext cx="10620000" cy="86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Le dispositif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réduit le temps d'arbitrage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et rend les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points de blocage visibles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12" name="S11_BLOCK_2_ACCENT_BAR"/>
          <p:cNvSpPr/>
          <p:nvPr/>
        </p:nvSpPr>
        <p:spPr>
          <a:xfrm>
            <a:off x="392400" y="2772000"/>
            <a:ext cx="61200" cy="1371600"/>
          </a:xfrm>
          <a:prstGeom prst="roundRect">
            <a:avLst>
              <a:gd name="adj" fmla="val 12000"/>
            </a:avLst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11_BLOCK_2_NUMBE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" y="2872800"/>
            <a:ext cx="1440000" cy="792000"/>
          </a:xfrm>
          <a:prstGeom prst="rect">
            <a:avLst/>
          </a:prstGeom>
        </p:spPr>
      </p:pic>
      <p:sp>
        <p:nvSpPr>
          <p:cNvPr id="14" name="S11_BLOCK_2_TITLE"/>
          <p:cNvSpPr txBox="1"/>
          <p:nvPr/>
        </p:nvSpPr>
        <p:spPr>
          <a:xfrm>
            <a:off x="720000" y="2872800"/>
            <a:ext cx="10620000" cy="39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A25871"/>
                </a:solidFill>
                <a:latin typeface="Segoe UI"/>
              </a:rPr>
              <a:t>Ce qui change pour les équipes</a:t>
            </a:r>
          </a:p>
        </p:txBody>
      </p:sp>
      <p:sp>
        <p:nvSpPr>
          <p:cNvPr id="15" name="S11_BLOCK_2_BODY"/>
          <p:cNvSpPr txBox="1"/>
          <p:nvPr/>
        </p:nvSpPr>
        <p:spPr>
          <a:xfrm>
            <a:off x="720000" y="3304800"/>
            <a:ext cx="10620000" cy="86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Les équipes disposent d'une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cadence stable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, de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décisions plus rapides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et d'un espace clair pour remonter les irritants.</a:t>
            </a:r>
          </a:p>
        </p:txBody>
      </p:sp>
      <p:sp>
        <p:nvSpPr>
          <p:cNvPr id="16" name="S11_BLOCK_3_ACCENT_BAR"/>
          <p:cNvSpPr/>
          <p:nvPr/>
        </p:nvSpPr>
        <p:spPr>
          <a:xfrm>
            <a:off x="392400" y="4392000"/>
            <a:ext cx="61200" cy="1371600"/>
          </a:xfrm>
          <a:prstGeom prst="roundRect">
            <a:avLst>
              <a:gd name="adj" fmla="val 12000"/>
            </a:avLst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11_BLOCK_3_NUMBE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000" y="4482000"/>
            <a:ext cx="1440000" cy="792000"/>
          </a:xfrm>
          <a:prstGeom prst="rect">
            <a:avLst/>
          </a:prstGeom>
        </p:spPr>
      </p:pic>
      <p:sp>
        <p:nvSpPr>
          <p:cNvPr id="18" name="S11_BLOCK_3_TITLE"/>
          <p:cNvSpPr txBox="1"/>
          <p:nvPr/>
        </p:nvSpPr>
        <p:spPr>
          <a:xfrm>
            <a:off x="720000" y="4482000"/>
            <a:ext cx="10620000" cy="39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FDA85B"/>
                </a:solidFill>
                <a:latin typeface="Segoe UI"/>
              </a:rPr>
              <a:t>Ce que nous proposons</a:t>
            </a:r>
          </a:p>
        </p:txBody>
      </p:sp>
      <p:sp>
        <p:nvSpPr>
          <p:cNvPr id="19" name="S11_BLOCK_3_BODY"/>
          <p:cNvSpPr txBox="1"/>
          <p:nvPr/>
        </p:nvSpPr>
        <p:spPr>
          <a:xfrm>
            <a:off x="720000" y="4914000"/>
            <a:ext cx="10620000" cy="86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Valider le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scale-up sur trois sites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, avec un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sponsor unique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et un reporting centré sur les impacts.</a:t>
            </a:r>
          </a:p>
        </p:txBody>
      </p:sp>
      <p:sp>
        <p:nvSpPr>
          <p:cNvPr id="20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Validez-vous le scale-up dès ce mois-ci 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Process de déploiement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12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12_STEP_1_BULLET"/>
          <p:cNvSpPr/>
          <p:nvPr/>
        </p:nvSpPr>
        <p:spPr>
          <a:xfrm>
            <a:off x="392400" y="1303200"/>
            <a:ext cx="442800" cy="442800"/>
          </a:xfrm>
          <a:prstGeom prst="ellipse">
            <a:avLst/>
          </a:prstGeom>
          <a:solidFill>
            <a:srgbClr val="BABDD0"/>
          </a:solidFill>
          <a:ln w="19050">
            <a:solidFill>
              <a:srgbClr val="484C6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12_STEP_1_NUMBER"/>
          <p:cNvSpPr txBox="1"/>
          <p:nvPr/>
        </p:nvSpPr>
        <p:spPr>
          <a:xfrm>
            <a:off x="392400" y="1303200"/>
            <a:ext cx="442800" cy="44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484C6A"/>
                </a:solidFill>
                <a:latin typeface="Segoe UI"/>
              </a:rPr>
              <a:t>1</a:t>
            </a:r>
          </a:p>
        </p:txBody>
      </p:sp>
      <p:sp>
        <p:nvSpPr>
          <p:cNvPr id="10" name="S12_STEP_1_LABEL"/>
          <p:cNvSpPr txBox="1"/>
          <p:nvPr/>
        </p:nvSpPr>
        <p:spPr>
          <a:xfrm>
            <a:off x="1044000" y="1288800"/>
            <a:ext cx="4417200" cy="270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Identifier les clients</a:t>
            </a:r>
          </a:p>
        </p:txBody>
      </p:sp>
      <p:sp>
        <p:nvSpPr>
          <p:cNvPr id="11" name="S12_STEP_1_SUBLABEL"/>
          <p:cNvSpPr txBox="1"/>
          <p:nvPr/>
        </p:nvSpPr>
        <p:spPr>
          <a:xfrm>
            <a:off x="1044000" y="1558800"/>
            <a:ext cx="101880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Cartographier les parties prenantes et qualifier la voix du client.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5600" y="1742400"/>
            <a:ext cx="0" cy="381600"/>
          </a:xfrm>
          <a:prstGeom prst="line">
            <a:avLst/>
          </a:prstGeom>
          <a:ln w="19050">
            <a:solidFill>
              <a:srgbClr val="BABDD0"/>
            </a:solidFill>
          </a:ln>
        </p:spPr>
      </p:cxnSp>
      <p:sp>
        <p:nvSpPr>
          <p:cNvPr id="13" name="S12_STEP_2_BULLET"/>
          <p:cNvSpPr/>
          <p:nvPr/>
        </p:nvSpPr>
        <p:spPr>
          <a:xfrm>
            <a:off x="392400" y="2124000"/>
            <a:ext cx="442800" cy="442800"/>
          </a:xfrm>
          <a:prstGeom prst="ellipse">
            <a:avLst/>
          </a:prstGeom>
          <a:solidFill>
            <a:srgbClr val="BBB4C4"/>
          </a:solidFill>
          <a:ln w="19050">
            <a:solidFill>
              <a:srgbClr val="6A5D7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12_STEP_2_NUMBER"/>
          <p:cNvSpPr txBox="1"/>
          <p:nvPr/>
        </p:nvSpPr>
        <p:spPr>
          <a:xfrm>
            <a:off x="392400" y="2124000"/>
            <a:ext cx="442800" cy="44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6A5D79"/>
                </a:solidFill>
                <a:latin typeface="Segoe UI"/>
              </a:rPr>
              <a:t>2</a:t>
            </a:r>
          </a:p>
        </p:txBody>
      </p:sp>
      <p:sp>
        <p:nvSpPr>
          <p:cNvPr id="15" name="S12_STEP_2_LABEL"/>
          <p:cNvSpPr txBox="1"/>
          <p:nvPr/>
        </p:nvSpPr>
        <p:spPr>
          <a:xfrm>
            <a:off x="1044000" y="2113200"/>
            <a:ext cx="4417200" cy="270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Évaluer les attentes</a:t>
            </a:r>
          </a:p>
        </p:txBody>
      </p:sp>
      <p:sp>
        <p:nvSpPr>
          <p:cNvPr id="16" name="S12_STEP_2_SUBLABEL"/>
          <p:cNvSpPr txBox="1"/>
          <p:nvPr/>
        </p:nvSpPr>
        <p:spPr>
          <a:xfrm>
            <a:off x="1044000" y="2383200"/>
            <a:ext cx="101880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Prioriser chaque besoin sur une échelle simple et comparable.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5600" y="2563200"/>
            <a:ext cx="0" cy="381600"/>
          </a:xfrm>
          <a:prstGeom prst="line">
            <a:avLst/>
          </a:prstGeom>
          <a:ln w="19050">
            <a:solidFill>
              <a:srgbClr val="BBB4C4"/>
            </a:solidFill>
          </a:ln>
        </p:spPr>
      </p:cxnSp>
      <p:sp>
        <p:nvSpPr>
          <p:cNvPr id="18" name="S12_STEP_3_BULLET"/>
          <p:cNvSpPr/>
          <p:nvPr/>
        </p:nvSpPr>
        <p:spPr>
          <a:xfrm>
            <a:off x="392400" y="2944800"/>
            <a:ext cx="442800" cy="442800"/>
          </a:xfrm>
          <a:prstGeom prst="ellipse">
            <a:avLst/>
          </a:prstGeom>
          <a:solidFill>
            <a:srgbClr val="D5B3BE"/>
          </a:solidFill>
          <a:ln w="19050">
            <a:solidFill>
              <a:srgbClr val="A2587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12_STEP_3_NUMBER"/>
          <p:cNvSpPr txBox="1"/>
          <p:nvPr/>
        </p:nvSpPr>
        <p:spPr>
          <a:xfrm>
            <a:off x="392400" y="2944800"/>
            <a:ext cx="442800" cy="44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A25871"/>
                </a:solidFill>
                <a:latin typeface="Segoe UI"/>
              </a:rPr>
              <a:t>3</a:t>
            </a:r>
          </a:p>
        </p:txBody>
      </p:sp>
      <p:sp>
        <p:nvSpPr>
          <p:cNvPr id="20" name="S12_STEP_3_LABEL"/>
          <p:cNvSpPr txBox="1"/>
          <p:nvPr/>
        </p:nvSpPr>
        <p:spPr>
          <a:xfrm>
            <a:off x="1044000" y="2934000"/>
            <a:ext cx="4417200" cy="270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Construire le questionnaire</a:t>
            </a:r>
          </a:p>
        </p:txBody>
      </p:sp>
      <p:sp>
        <p:nvSpPr>
          <p:cNvPr id="21" name="S12_STEP_3_SUBLABEL"/>
          <p:cNvSpPr txBox="1"/>
          <p:nvPr/>
        </p:nvSpPr>
        <p:spPr>
          <a:xfrm>
            <a:off x="1044000" y="3204000"/>
            <a:ext cx="101880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Préparer des questions fonctionnelles et dysfonctionnelles robustes.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15600" y="3384000"/>
            <a:ext cx="0" cy="385200"/>
          </a:xfrm>
          <a:prstGeom prst="line">
            <a:avLst/>
          </a:prstGeom>
          <a:ln w="19050">
            <a:solidFill>
              <a:srgbClr val="D5B3BE"/>
            </a:solidFill>
          </a:ln>
        </p:spPr>
      </p:cxnSp>
      <p:sp>
        <p:nvSpPr>
          <p:cNvPr id="23" name="S12_STEP_4_BULLET"/>
          <p:cNvSpPr/>
          <p:nvPr/>
        </p:nvSpPr>
        <p:spPr>
          <a:xfrm>
            <a:off x="392400" y="3769200"/>
            <a:ext cx="442800" cy="442800"/>
          </a:xfrm>
          <a:prstGeom prst="ellipse">
            <a:avLst/>
          </a:prstGeom>
          <a:solidFill>
            <a:srgbClr val="F1D3D5"/>
          </a:solidFill>
          <a:ln w="19050">
            <a:solidFill>
              <a:srgbClr val="D473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S12_STEP_4_NUMBER"/>
          <p:cNvSpPr txBox="1"/>
          <p:nvPr/>
        </p:nvSpPr>
        <p:spPr>
          <a:xfrm>
            <a:off x="392400" y="3769200"/>
            <a:ext cx="442800" cy="44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D4737A"/>
                </a:solidFill>
                <a:latin typeface="Segoe UI"/>
              </a:rPr>
              <a:t>4</a:t>
            </a:r>
          </a:p>
        </p:txBody>
      </p:sp>
      <p:sp>
        <p:nvSpPr>
          <p:cNvPr id="25" name="S12_STEP_4_LABEL"/>
          <p:cNvSpPr txBox="1"/>
          <p:nvPr/>
        </p:nvSpPr>
        <p:spPr>
          <a:xfrm>
            <a:off x="1044000" y="3754800"/>
            <a:ext cx="4417200" cy="270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Tester le dispositif</a:t>
            </a:r>
          </a:p>
        </p:txBody>
      </p:sp>
      <p:sp>
        <p:nvSpPr>
          <p:cNvPr id="26" name="S12_STEP_4_SUBLABEL"/>
          <p:cNvSpPr txBox="1"/>
          <p:nvPr/>
        </p:nvSpPr>
        <p:spPr>
          <a:xfrm>
            <a:off x="1044000" y="4024800"/>
            <a:ext cx="101880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Valider la compréhension auprès d'un échantillon restreint.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5600" y="4208400"/>
            <a:ext cx="0" cy="381600"/>
          </a:xfrm>
          <a:prstGeom prst="line">
            <a:avLst/>
          </a:prstGeom>
          <a:ln w="19050">
            <a:solidFill>
              <a:srgbClr val="F1D3D5"/>
            </a:solidFill>
          </a:ln>
        </p:spPr>
      </p:cxnSp>
      <p:sp>
        <p:nvSpPr>
          <p:cNvPr id="28" name="S12_STEP_5_BULLET"/>
          <p:cNvSpPr/>
          <p:nvPr/>
        </p:nvSpPr>
        <p:spPr>
          <a:xfrm>
            <a:off x="392400" y="4590000"/>
            <a:ext cx="442800" cy="442800"/>
          </a:xfrm>
          <a:prstGeom prst="ellipse">
            <a:avLst/>
          </a:prstGeom>
          <a:solidFill>
            <a:srgbClr val="FEE3CA"/>
          </a:solidFill>
          <a:ln w="19050">
            <a:solidFill>
              <a:srgbClr val="FDA85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S12_STEP_5_NUMBER"/>
          <p:cNvSpPr txBox="1"/>
          <p:nvPr/>
        </p:nvSpPr>
        <p:spPr>
          <a:xfrm>
            <a:off x="392400" y="4590000"/>
            <a:ext cx="442800" cy="44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DA85B"/>
                </a:solidFill>
                <a:latin typeface="Segoe UI"/>
              </a:rPr>
              <a:t>5</a:t>
            </a:r>
          </a:p>
        </p:txBody>
      </p:sp>
      <p:sp>
        <p:nvSpPr>
          <p:cNvPr id="30" name="S12_STEP_5_LABEL"/>
          <p:cNvSpPr txBox="1"/>
          <p:nvPr/>
        </p:nvSpPr>
        <p:spPr>
          <a:xfrm>
            <a:off x="1044000" y="4579200"/>
            <a:ext cx="4417200" cy="270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Diffuser largement</a:t>
            </a:r>
          </a:p>
        </p:txBody>
      </p:sp>
      <p:sp>
        <p:nvSpPr>
          <p:cNvPr id="31" name="S12_STEP_5_SUBLABEL"/>
          <p:cNvSpPr txBox="1"/>
          <p:nvPr/>
        </p:nvSpPr>
        <p:spPr>
          <a:xfrm>
            <a:off x="1044000" y="4849200"/>
            <a:ext cx="101880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Choisir les canaux, suivre le taux de réponse et sécuriser les données.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15600" y="5029200"/>
            <a:ext cx="0" cy="385200"/>
          </a:xfrm>
          <a:prstGeom prst="line">
            <a:avLst/>
          </a:prstGeom>
          <a:ln w="19050">
            <a:solidFill>
              <a:srgbClr val="FEE3CA"/>
            </a:solidFill>
          </a:ln>
        </p:spPr>
      </p:cxnSp>
      <p:sp>
        <p:nvSpPr>
          <p:cNvPr id="33" name="S12_STEP_6_BULLET"/>
          <p:cNvSpPr/>
          <p:nvPr/>
        </p:nvSpPr>
        <p:spPr>
          <a:xfrm>
            <a:off x="392400" y="5414400"/>
            <a:ext cx="442800" cy="442800"/>
          </a:xfrm>
          <a:prstGeom prst="ellipse">
            <a:avLst/>
          </a:prstGeom>
          <a:solidFill>
            <a:srgbClr val="FDEBBF"/>
          </a:solidFill>
          <a:ln w="19050">
            <a:solidFill>
              <a:srgbClr val="FBCC5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S12_STEP_6_NUMBER"/>
          <p:cNvSpPr txBox="1"/>
          <p:nvPr/>
        </p:nvSpPr>
        <p:spPr>
          <a:xfrm>
            <a:off x="392400" y="5414400"/>
            <a:ext cx="442800" cy="44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BCC58"/>
                </a:solidFill>
                <a:latin typeface="Segoe UI"/>
              </a:rPr>
              <a:t>6</a:t>
            </a:r>
          </a:p>
        </p:txBody>
      </p:sp>
      <p:sp>
        <p:nvSpPr>
          <p:cNvPr id="35" name="S12_STEP_6_LABEL"/>
          <p:cNvSpPr txBox="1"/>
          <p:nvPr/>
        </p:nvSpPr>
        <p:spPr>
          <a:xfrm>
            <a:off x="1044000" y="5400000"/>
            <a:ext cx="4417200" cy="270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Analyser les résultats</a:t>
            </a:r>
          </a:p>
        </p:txBody>
      </p:sp>
      <p:sp>
        <p:nvSpPr>
          <p:cNvPr id="36" name="S12_STEP_6_SUBLABEL"/>
          <p:cNvSpPr txBox="1"/>
          <p:nvPr/>
        </p:nvSpPr>
        <p:spPr>
          <a:xfrm>
            <a:off x="1044000" y="5670000"/>
            <a:ext cx="101880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Transformer les réponses en priorités d'action mesurables.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Bonnes pratiques terrain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13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13_LEFT_TITLE"/>
          <p:cNvSpPr txBox="1"/>
          <p:nvPr/>
        </p:nvSpPr>
        <p:spPr>
          <a:xfrm>
            <a:off x="345600" y="1576800"/>
            <a:ext cx="55044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F6E56"/>
                </a:solidFill>
                <a:latin typeface="Segoe UI"/>
              </a:rPr>
              <a:t>À faire</a:t>
            </a:r>
          </a:p>
        </p:txBody>
      </p:sp>
      <p:sp>
        <p:nvSpPr>
          <p:cNvPr id="9" name="S13_RIGHT_TITLE"/>
          <p:cNvSpPr txBox="1"/>
          <p:nvPr/>
        </p:nvSpPr>
        <p:spPr>
          <a:xfrm>
            <a:off x="6094800" y="1576800"/>
            <a:ext cx="57492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993C1D"/>
                </a:solidFill>
                <a:latin typeface="Segoe UI"/>
              </a:rPr>
              <a:t>À éviter</a:t>
            </a:r>
          </a:p>
        </p:txBody>
      </p:sp>
      <p:sp>
        <p:nvSpPr>
          <p:cNvPr id="10" name="S13_LEFT_1_BOX"/>
          <p:cNvSpPr/>
          <p:nvPr/>
        </p:nvSpPr>
        <p:spPr>
          <a:xfrm>
            <a:off x="345600" y="2030400"/>
            <a:ext cx="55044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13_RIGHT_1_BOX"/>
          <p:cNvSpPr/>
          <p:nvPr/>
        </p:nvSpPr>
        <p:spPr>
          <a:xfrm>
            <a:off x="6094800" y="2030400"/>
            <a:ext cx="57492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13_LEFT_1_BULLET"/>
          <p:cNvSpPr/>
          <p:nvPr/>
        </p:nvSpPr>
        <p:spPr>
          <a:xfrm>
            <a:off x="468000" y="2127600"/>
            <a:ext cx="316800" cy="316800"/>
          </a:xfrm>
          <a:prstGeom prst="ellipse">
            <a:avLst/>
          </a:prstGeom>
          <a:solidFill>
            <a:srgbClr val="E1F5EE"/>
          </a:solidFill>
          <a:ln w="6350">
            <a:solidFill>
              <a:srgbClr val="0F6E56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0F6E56"/>
                </a:solidFill>
                <a:latin typeface="Segoe UI"/>
              </a:rPr>
              <a:t>✓</a:t>
            </a:r>
          </a:p>
        </p:txBody>
      </p:sp>
      <p:sp>
        <p:nvSpPr>
          <p:cNvPr id="13" name="S13_RIGHT_1_BULLET"/>
          <p:cNvSpPr/>
          <p:nvPr/>
        </p:nvSpPr>
        <p:spPr>
          <a:xfrm>
            <a:off x="6217200" y="2127600"/>
            <a:ext cx="316800" cy="316800"/>
          </a:xfrm>
          <a:prstGeom prst="ellipse">
            <a:avLst/>
          </a:prstGeom>
          <a:solidFill>
            <a:srgbClr val="FAECE7"/>
          </a:solidFill>
          <a:ln w="6350">
            <a:solidFill>
              <a:srgbClr val="993C1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993C1D"/>
                </a:solidFill>
                <a:latin typeface="Segoe UI"/>
              </a:rPr>
              <a:t>×</a:t>
            </a:r>
          </a:p>
        </p:txBody>
      </p:sp>
      <p:sp>
        <p:nvSpPr>
          <p:cNvPr id="14" name="S13_LEFT_1_ITEM"/>
          <p:cNvSpPr txBox="1"/>
          <p:nvPr/>
        </p:nvSpPr>
        <p:spPr>
          <a:xfrm>
            <a:off x="896400" y="2080799"/>
            <a:ext cx="48312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Questions précises, portant sur une seule caractéristique</a:t>
            </a:r>
          </a:p>
        </p:txBody>
      </p:sp>
      <p:sp>
        <p:nvSpPr>
          <p:cNvPr id="15" name="S13_RIGHT_1_ITEM"/>
          <p:cNvSpPr txBox="1"/>
          <p:nvPr/>
        </p:nvSpPr>
        <p:spPr>
          <a:xfrm>
            <a:off x="6645600" y="2080799"/>
            <a:ext cx="50760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Nier mécaniquement la question fonctionnelle</a:t>
            </a:r>
          </a:p>
        </p:txBody>
      </p:sp>
      <p:sp>
        <p:nvSpPr>
          <p:cNvPr id="16" name="S13_LEFT_2_BOX"/>
          <p:cNvSpPr/>
          <p:nvPr/>
        </p:nvSpPr>
        <p:spPr>
          <a:xfrm>
            <a:off x="345600" y="2667600"/>
            <a:ext cx="55044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13_RIGHT_2_BOX"/>
          <p:cNvSpPr/>
          <p:nvPr/>
        </p:nvSpPr>
        <p:spPr>
          <a:xfrm>
            <a:off x="6094800" y="2667600"/>
            <a:ext cx="57492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S13_LEFT_2_BULLET"/>
          <p:cNvSpPr/>
          <p:nvPr/>
        </p:nvSpPr>
        <p:spPr>
          <a:xfrm>
            <a:off x="468000" y="2764800"/>
            <a:ext cx="316800" cy="316800"/>
          </a:xfrm>
          <a:prstGeom prst="ellipse">
            <a:avLst/>
          </a:prstGeom>
          <a:solidFill>
            <a:srgbClr val="E1F5EE"/>
          </a:solidFill>
          <a:ln w="6350">
            <a:solidFill>
              <a:srgbClr val="0F6E56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0F6E56"/>
                </a:solidFill>
                <a:latin typeface="Segoe UI"/>
              </a:rPr>
              <a:t>✓</a:t>
            </a:r>
          </a:p>
        </p:txBody>
      </p:sp>
      <p:sp>
        <p:nvSpPr>
          <p:cNvPr id="19" name="S13_RIGHT_2_BULLET"/>
          <p:cNvSpPr/>
          <p:nvPr/>
        </p:nvSpPr>
        <p:spPr>
          <a:xfrm>
            <a:off x="6217200" y="2764800"/>
            <a:ext cx="316800" cy="316800"/>
          </a:xfrm>
          <a:prstGeom prst="ellipse">
            <a:avLst/>
          </a:prstGeom>
          <a:solidFill>
            <a:srgbClr val="FAECE7"/>
          </a:solidFill>
          <a:ln w="6350">
            <a:solidFill>
              <a:srgbClr val="993C1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993C1D"/>
                </a:solidFill>
                <a:latin typeface="Segoe UI"/>
              </a:rPr>
              <a:t>×</a:t>
            </a:r>
          </a:p>
        </p:txBody>
      </p:sp>
      <p:sp>
        <p:nvSpPr>
          <p:cNvPr id="20" name="S13_LEFT_2_ITEM"/>
          <p:cNvSpPr txBox="1"/>
          <p:nvPr/>
        </p:nvSpPr>
        <p:spPr>
          <a:xfrm>
            <a:off x="896400" y="2718000"/>
            <a:ext cx="48312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Formuler en termes de bénéfices pour l'utilisateur</a:t>
            </a:r>
          </a:p>
        </p:txBody>
      </p:sp>
      <p:sp>
        <p:nvSpPr>
          <p:cNvPr id="21" name="S13_RIGHT_2_ITEM"/>
          <p:cNvSpPr txBox="1"/>
          <p:nvPr/>
        </p:nvSpPr>
        <p:spPr>
          <a:xfrm>
            <a:off x="6645600" y="2718000"/>
            <a:ext cx="50760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Utiliser une échelle classique à la place des réponses adaptées</a:t>
            </a:r>
          </a:p>
        </p:txBody>
      </p:sp>
      <p:sp>
        <p:nvSpPr>
          <p:cNvPr id="22" name="S13_LEFT_3_BOX"/>
          <p:cNvSpPr/>
          <p:nvPr/>
        </p:nvSpPr>
        <p:spPr>
          <a:xfrm>
            <a:off x="345600" y="3301200"/>
            <a:ext cx="55044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S13_RIGHT_3_BOX"/>
          <p:cNvSpPr/>
          <p:nvPr/>
        </p:nvSpPr>
        <p:spPr>
          <a:xfrm>
            <a:off x="6094800" y="3301200"/>
            <a:ext cx="57492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S13_LEFT_3_BULLET"/>
          <p:cNvSpPr/>
          <p:nvPr/>
        </p:nvSpPr>
        <p:spPr>
          <a:xfrm>
            <a:off x="468000" y="3398400"/>
            <a:ext cx="316800" cy="316800"/>
          </a:xfrm>
          <a:prstGeom prst="ellipse">
            <a:avLst/>
          </a:prstGeom>
          <a:solidFill>
            <a:srgbClr val="E1F5EE"/>
          </a:solidFill>
          <a:ln w="6350">
            <a:solidFill>
              <a:srgbClr val="0F6E56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0F6E56"/>
                </a:solidFill>
                <a:latin typeface="Segoe UI"/>
              </a:rPr>
              <a:t>✓</a:t>
            </a:r>
          </a:p>
        </p:txBody>
      </p:sp>
      <p:sp>
        <p:nvSpPr>
          <p:cNvPr id="25" name="S13_RIGHT_3_BULLET"/>
          <p:cNvSpPr/>
          <p:nvPr/>
        </p:nvSpPr>
        <p:spPr>
          <a:xfrm>
            <a:off x="6217200" y="3398400"/>
            <a:ext cx="316800" cy="316800"/>
          </a:xfrm>
          <a:prstGeom prst="ellipse">
            <a:avLst/>
          </a:prstGeom>
          <a:solidFill>
            <a:srgbClr val="FAECE7"/>
          </a:solidFill>
          <a:ln w="6350">
            <a:solidFill>
              <a:srgbClr val="993C1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993C1D"/>
                </a:solidFill>
                <a:latin typeface="Segoe UI"/>
              </a:rPr>
              <a:t>×</a:t>
            </a:r>
          </a:p>
        </p:txBody>
      </p:sp>
      <p:sp>
        <p:nvSpPr>
          <p:cNvPr id="26" name="S13_LEFT_3_ITEM"/>
          <p:cNvSpPr txBox="1"/>
          <p:nvPr/>
        </p:nvSpPr>
        <p:spPr>
          <a:xfrm>
            <a:off x="896400" y="3351600"/>
            <a:ext cx="48312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Mélanger les questions dans un ordre aléatoire</a:t>
            </a:r>
          </a:p>
        </p:txBody>
      </p:sp>
      <p:sp>
        <p:nvSpPr>
          <p:cNvPr id="27" name="S13_RIGHT_3_ITEM"/>
          <p:cNvSpPr txBox="1"/>
          <p:nvPr/>
        </p:nvSpPr>
        <p:spPr>
          <a:xfrm>
            <a:off x="6645600" y="3351600"/>
            <a:ext cx="50760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Prioriser par simple comptage sans indice d'intensité</a:t>
            </a:r>
          </a:p>
        </p:txBody>
      </p:sp>
      <p:sp>
        <p:nvSpPr>
          <p:cNvPr id="28" name="S13_LEFT_4_BOX"/>
          <p:cNvSpPr/>
          <p:nvPr/>
        </p:nvSpPr>
        <p:spPr>
          <a:xfrm>
            <a:off x="345600" y="3938400"/>
            <a:ext cx="55044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S13_RIGHT_4_BOX"/>
          <p:cNvSpPr/>
          <p:nvPr/>
        </p:nvSpPr>
        <p:spPr>
          <a:xfrm>
            <a:off x="6094800" y="3938400"/>
            <a:ext cx="57492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S13_LEFT_4_BULLET"/>
          <p:cNvSpPr/>
          <p:nvPr/>
        </p:nvSpPr>
        <p:spPr>
          <a:xfrm>
            <a:off x="468000" y="4035599"/>
            <a:ext cx="316800" cy="316800"/>
          </a:xfrm>
          <a:prstGeom prst="ellipse">
            <a:avLst/>
          </a:prstGeom>
          <a:solidFill>
            <a:srgbClr val="E1F5EE"/>
          </a:solidFill>
          <a:ln w="6350">
            <a:solidFill>
              <a:srgbClr val="0F6E56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0F6E56"/>
                </a:solidFill>
                <a:latin typeface="Segoe UI"/>
              </a:rPr>
              <a:t>✓</a:t>
            </a:r>
          </a:p>
        </p:txBody>
      </p:sp>
      <p:sp>
        <p:nvSpPr>
          <p:cNvPr id="31" name="S13_RIGHT_4_BULLET"/>
          <p:cNvSpPr/>
          <p:nvPr/>
        </p:nvSpPr>
        <p:spPr>
          <a:xfrm>
            <a:off x="6217200" y="4035599"/>
            <a:ext cx="316800" cy="316800"/>
          </a:xfrm>
          <a:prstGeom prst="ellipse">
            <a:avLst/>
          </a:prstGeom>
          <a:solidFill>
            <a:srgbClr val="FAECE7"/>
          </a:solidFill>
          <a:ln w="6350">
            <a:solidFill>
              <a:srgbClr val="993C1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993C1D"/>
                </a:solidFill>
                <a:latin typeface="Segoe UI"/>
              </a:rPr>
              <a:t>×</a:t>
            </a:r>
          </a:p>
        </p:txBody>
      </p:sp>
      <p:sp>
        <p:nvSpPr>
          <p:cNvPr id="32" name="S13_LEFT_4_ITEM"/>
          <p:cNvSpPr txBox="1"/>
          <p:nvPr/>
        </p:nvSpPr>
        <p:spPr>
          <a:xfrm>
            <a:off x="896400" y="3988800"/>
            <a:ext cx="48312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Placer les données démographiques en fin de questionnaire</a:t>
            </a:r>
          </a:p>
        </p:txBody>
      </p:sp>
      <p:sp>
        <p:nvSpPr>
          <p:cNvPr id="33" name="S13_RIGHT_4_ITEM"/>
          <p:cNvSpPr txBox="1"/>
          <p:nvPr/>
        </p:nvSpPr>
        <p:spPr>
          <a:xfrm>
            <a:off x="6645600" y="3988800"/>
            <a:ext cx="50760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Lancer sans tester le questionnaire en amont</a:t>
            </a:r>
          </a:p>
        </p:txBody>
      </p:sp>
      <p:sp>
        <p:nvSpPr>
          <p:cNvPr id="34" name="S13_LEFT_5_BOX"/>
          <p:cNvSpPr/>
          <p:nvPr/>
        </p:nvSpPr>
        <p:spPr>
          <a:xfrm>
            <a:off x="345600" y="4575600"/>
            <a:ext cx="55044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S13_RIGHT_5_BOX"/>
          <p:cNvSpPr/>
          <p:nvPr/>
        </p:nvSpPr>
        <p:spPr>
          <a:xfrm>
            <a:off x="6094800" y="4575600"/>
            <a:ext cx="57492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S13_LEFT_5_BULLET"/>
          <p:cNvSpPr/>
          <p:nvPr/>
        </p:nvSpPr>
        <p:spPr>
          <a:xfrm>
            <a:off x="468000" y="4672800"/>
            <a:ext cx="316800" cy="316800"/>
          </a:xfrm>
          <a:prstGeom prst="ellipse">
            <a:avLst/>
          </a:prstGeom>
          <a:solidFill>
            <a:srgbClr val="E1F5EE"/>
          </a:solidFill>
          <a:ln w="6350">
            <a:solidFill>
              <a:srgbClr val="0F6E56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0F6E56"/>
                </a:solidFill>
                <a:latin typeface="Segoe UI"/>
              </a:rPr>
              <a:t>✓</a:t>
            </a:r>
          </a:p>
        </p:txBody>
      </p:sp>
      <p:sp>
        <p:nvSpPr>
          <p:cNvPr id="37" name="S13_RIGHT_5_BULLET"/>
          <p:cNvSpPr/>
          <p:nvPr/>
        </p:nvSpPr>
        <p:spPr>
          <a:xfrm>
            <a:off x="6217200" y="4672800"/>
            <a:ext cx="316800" cy="316800"/>
          </a:xfrm>
          <a:prstGeom prst="ellipse">
            <a:avLst/>
          </a:prstGeom>
          <a:solidFill>
            <a:srgbClr val="FAECE7"/>
          </a:solidFill>
          <a:ln w="6350">
            <a:solidFill>
              <a:srgbClr val="993C1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993C1D"/>
                </a:solidFill>
                <a:latin typeface="Segoe UI"/>
              </a:rPr>
              <a:t>×</a:t>
            </a:r>
          </a:p>
        </p:txBody>
      </p:sp>
      <p:sp>
        <p:nvSpPr>
          <p:cNvPr id="38" name="S13_LEFT_5_ITEM"/>
          <p:cNvSpPr txBox="1"/>
          <p:nvPr/>
        </p:nvSpPr>
        <p:spPr>
          <a:xfrm>
            <a:off x="896400" y="4626000"/>
            <a:ext cx="48312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Limiter le questionnaire à dix fonctionnalités</a:t>
            </a:r>
          </a:p>
        </p:txBody>
      </p:sp>
      <p:sp>
        <p:nvSpPr>
          <p:cNvPr id="39" name="S13_RIGHT_5_ITEM"/>
          <p:cNvSpPr txBox="1"/>
          <p:nvPr/>
        </p:nvSpPr>
        <p:spPr>
          <a:xfrm>
            <a:off x="6645600" y="4626000"/>
            <a:ext cx="50760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Multiplier les fonctionnalités au détriment de la qualité de réponse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Comparatif qualitatif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14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pic>
        <p:nvPicPr>
          <p:cNvPr id="8" name="Comp_quali_bg" descr="Comp_quali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200" y="1411200"/>
            <a:ext cx="9910800" cy="4190400"/>
          </a:xfrm>
          <a:prstGeom prst="rect">
            <a:avLst/>
          </a:prstGeom>
        </p:spPr>
      </p:pic>
      <p:sp>
        <p:nvSpPr>
          <p:cNvPr id="9" name="S14_LEFT_TITLE"/>
          <p:cNvSpPr txBox="1"/>
          <p:nvPr/>
        </p:nvSpPr>
        <p:spPr>
          <a:xfrm>
            <a:off x="2048400" y="1699200"/>
            <a:ext cx="2696400" cy="4320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ctr"/>
            <a:r>
              <a:rPr sz="2200" b="1" i="0" cap="small">
                <a:solidFill>
                  <a:srgbClr val="6A5D79"/>
                </a:solidFill>
                <a:latin typeface="Segoe UI"/>
              </a:rPr>
              <a:t>DMAIC</a:t>
            </a:r>
          </a:p>
        </p:txBody>
      </p:sp>
      <p:sp>
        <p:nvSpPr>
          <p:cNvPr id="10" name="S14_RIGHT_TITLE"/>
          <p:cNvSpPr txBox="1"/>
          <p:nvPr/>
        </p:nvSpPr>
        <p:spPr>
          <a:xfrm>
            <a:off x="7441200" y="1699200"/>
            <a:ext cx="2696400" cy="4320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ctr"/>
            <a:r>
              <a:rPr sz="2200" b="1" i="0" cap="small">
                <a:solidFill>
                  <a:srgbClr val="FDA85B"/>
                </a:solidFill>
                <a:latin typeface="Segoe UI"/>
              </a:rPr>
              <a:t>DMADV</a:t>
            </a:r>
          </a:p>
        </p:txBody>
      </p:sp>
      <p:sp>
        <p:nvSpPr>
          <p:cNvPr id="11" name="S14_LEFT_1_ITEM"/>
          <p:cNvSpPr txBox="1"/>
          <p:nvPr/>
        </p:nvSpPr>
        <p:spPr>
          <a:xfrm>
            <a:off x="1303200" y="2325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Améliorer un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processus existant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à partir de preuves terrain</a:t>
            </a:r>
          </a:p>
        </p:txBody>
      </p:sp>
      <p:sp>
        <p:nvSpPr>
          <p:cNvPr id="12" name="S14_RIGHT_1_ITEM"/>
          <p:cNvSpPr txBox="1"/>
          <p:nvPr/>
        </p:nvSpPr>
        <p:spPr>
          <a:xfrm>
            <a:off x="6703200" y="2325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Concevoir une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solution nouvelle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quand l'existant ne suffit plus</a:t>
            </a:r>
          </a:p>
        </p:txBody>
      </p:sp>
      <p:sp>
        <p:nvSpPr>
          <p:cNvPr id="13" name="S14_LEFT_2_ITEM"/>
          <p:cNvSpPr txBox="1"/>
          <p:nvPr/>
        </p:nvSpPr>
        <p:spPr>
          <a:xfrm>
            <a:off x="1303200" y="2937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Mesurer les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écarts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avant de définir les actions correctives</a:t>
            </a:r>
          </a:p>
        </p:txBody>
      </p:sp>
      <p:sp>
        <p:nvSpPr>
          <p:cNvPr id="14" name="S14_RIGHT_2_ITEM"/>
          <p:cNvSpPr txBox="1"/>
          <p:nvPr/>
        </p:nvSpPr>
        <p:spPr>
          <a:xfrm>
            <a:off x="6703200" y="2937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Traduire la voix client en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exigences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de conception</a:t>
            </a:r>
          </a:p>
        </p:txBody>
      </p:sp>
      <p:sp>
        <p:nvSpPr>
          <p:cNvPr id="15" name="S14_LEFT_3_ITEM"/>
          <p:cNvSpPr txBox="1"/>
          <p:nvPr/>
        </p:nvSpPr>
        <p:spPr>
          <a:xfrm>
            <a:off x="1303200" y="3549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Réduire la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variabilité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et stabiliser les standards</a:t>
            </a:r>
          </a:p>
        </p:txBody>
      </p:sp>
      <p:sp>
        <p:nvSpPr>
          <p:cNvPr id="16" name="S14_RIGHT_3_ITEM"/>
          <p:cNvSpPr txBox="1"/>
          <p:nvPr/>
        </p:nvSpPr>
        <p:spPr>
          <a:xfrm>
            <a:off x="6703200" y="3549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Prototyper et vérifier la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robustesse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avant déploiement</a:t>
            </a:r>
          </a:p>
        </p:txBody>
      </p:sp>
      <p:sp>
        <p:nvSpPr>
          <p:cNvPr id="17" name="S14_LEFT_4_ITEM"/>
          <p:cNvSpPr txBox="1"/>
          <p:nvPr/>
        </p:nvSpPr>
        <p:spPr>
          <a:xfrm>
            <a:off x="1303200" y="4161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Installer un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contrôle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opérationnel après amélioration</a:t>
            </a:r>
          </a:p>
        </p:txBody>
      </p:sp>
      <p:sp>
        <p:nvSpPr>
          <p:cNvPr id="18" name="S14_RIGHT_4_ITEM"/>
          <p:cNvSpPr txBox="1"/>
          <p:nvPr/>
        </p:nvSpPr>
        <p:spPr>
          <a:xfrm>
            <a:off x="6703200" y="4161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Prévenir les défauts dès la phase de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design</a:t>
            </a:r>
          </a:p>
        </p:txBody>
      </p:sp>
      <p:sp>
        <p:nvSpPr>
          <p:cNvPr id="19" name="S14_LEFT_5_ITEM"/>
          <p:cNvSpPr txBox="1"/>
          <p:nvPr/>
        </p:nvSpPr>
        <p:spPr>
          <a:xfrm>
            <a:off x="1303200" y="4773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Idéal quand le fonctionnement actuel est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connu</a:t>
            </a:r>
          </a:p>
        </p:txBody>
      </p:sp>
      <p:sp>
        <p:nvSpPr>
          <p:cNvPr id="20" name="S14_RIGHT_5_ITEM"/>
          <p:cNvSpPr txBox="1"/>
          <p:nvPr/>
        </p:nvSpPr>
        <p:spPr>
          <a:xfrm>
            <a:off x="6703200" y="4773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Idéal quand il faut créer un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modèle cible</a:t>
            </a:r>
          </a:p>
        </p:txBody>
      </p:sp>
      <p:sp>
        <p:nvSpPr>
          <p:cNvPr id="21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Choisir l'approche selon la maturité du problème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Impact par population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15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15_HEADER_1"/>
          <p:cNvSpPr txBox="1"/>
          <p:nvPr/>
        </p:nvSpPr>
        <p:spPr>
          <a:xfrm>
            <a:off x="3315600" y="1310400"/>
            <a:ext cx="6336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Outils</a:t>
            </a:r>
          </a:p>
        </p:txBody>
      </p:sp>
      <p:sp>
        <p:nvSpPr>
          <p:cNvPr id="9" name="S15_HEADER_2"/>
          <p:cNvSpPr txBox="1"/>
          <p:nvPr/>
        </p:nvSpPr>
        <p:spPr>
          <a:xfrm>
            <a:off x="4723200" y="1310400"/>
            <a:ext cx="6552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Métier</a:t>
            </a:r>
          </a:p>
        </p:txBody>
      </p:sp>
      <p:sp>
        <p:nvSpPr>
          <p:cNvPr id="10" name="S15_HEADER_3"/>
          <p:cNvSpPr txBox="1"/>
          <p:nvPr/>
        </p:nvSpPr>
        <p:spPr>
          <a:xfrm>
            <a:off x="5871600" y="1310400"/>
            <a:ext cx="11412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Organisation</a:t>
            </a:r>
          </a:p>
        </p:txBody>
      </p:sp>
      <p:sp>
        <p:nvSpPr>
          <p:cNvPr id="11" name="S15_HEADER_4"/>
          <p:cNvSpPr txBox="1"/>
          <p:nvPr/>
        </p:nvSpPr>
        <p:spPr>
          <a:xfrm>
            <a:off x="7466399" y="1310400"/>
            <a:ext cx="7344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Culture</a:t>
            </a:r>
          </a:p>
        </p:txBody>
      </p:sp>
      <p:sp>
        <p:nvSpPr>
          <p:cNvPr id="12" name="S15_HEADER_5"/>
          <p:cNvSpPr txBox="1"/>
          <p:nvPr/>
        </p:nvSpPr>
        <p:spPr>
          <a:xfrm>
            <a:off x="9054000" y="1310400"/>
            <a:ext cx="20376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Leviers retenus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8800" y="1602000"/>
            <a:ext cx="11412000" cy="0"/>
          </a:xfrm>
          <a:prstGeom prst="line">
            <a:avLst/>
          </a:prstGeom>
          <a:ln w="19050">
            <a:solidFill>
              <a:srgbClr val="D7DAE4"/>
            </a:solidFill>
          </a:ln>
        </p:spPr>
      </p:cxnSp>
      <p:sp>
        <p:nvSpPr>
          <p:cNvPr id="14" name="S15_TABLE_LABEL_R1"/>
          <p:cNvSpPr txBox="1"/>
          <p:nvPr/>
        </p:nvSpPr>
        <p:spPr>
          <a:xfrm>
            <a:off x="388800" y="1655999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0" i="0">
                <a:solidFill>
                  <a:srgbClr val="070E1D"/>
                </a:solidFill>
                <a:latin typeface="Segoe UI"/>
              </a:rPr>
              <a:t>Garants de  fabricabilité  xxxxxxxxxxxxxxxxxxxxxxxxxxxxxxx</a:t>
            </a:r>
          </a:p>
        </p:txBody>
      </p:sp>
      <p:sp>
        <p:nvSpPr>
          <p:cNvPr id="15" name="S15_TABLE_SUBLABEL_R1"/>
          <p:cNvSpPr txBox="1"/>
          <p:nvPr/>
        </p:nvSpPr>
        <p:spPr>
          <a:xfrm>
            <a:off x="388800" y="19188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~ 5 personnes</a:t>
            </a:r>
          </a:p>
        </p:txBody>
      </p:sp>
      <p:sp>
        <p:nvSpPr>
          <p:cNvPr id="16" name="S15_TABLE_R1_C2"/>
          <p:cNvSpPr/>
          <p:nvPr/>
        </p:nvSpPr>
        <p:spPr>
          <a:xfrm>
            <a:off x="2973600" y="16559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15_TABLE_R1_C3"/>
          <p:cNvSpPr/>
          <p:nvPr/>
        </p:nvSpPr>
        <p:spPr>
          <a:xfrm>
            <a:off x="4366800" y="16559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S15_TABLE_R1_C4"/>
          <p:cNvSpPr/>
          <p:nvPr/>
        </p:nvSpPr>
        <p:spPr>
          <a:xfrm>
            <a:off x="5760000" y="16559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15_TABLE_R1_C5"/>
          <p:cNvSpPr/>
          <p:nvPr/>
        </p:nvSpPr>
        <p:spPr>
          <a:xfrm>
            <a:off x="7149600" y="16559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S15_TABLE_R1_C6"/>
          <p:cNvSpPr/>
          <p:nvPr/>
        </p:nvSpPr>
        <p:spPr>
          <a:xfrm>
            <a:off x="8542800" y="1655999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Communication | Support</a:t>
            </a:r>
          </a:p>
        </p:txBody>
      </p:sp>
      <p:sp>
        <p:nvSpPr>
          <p:cNvPr id="21" name="S15_TABLE_LABEL_R2"/>
          <p:cNvSpPr txBox="1"/>
          <p:nvPr/>
        </p:nvSpPr>
        <p:spPr>
          <a:xfrm>
            <a:off x="388800" y="2221200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0" i="0">
                <a:solidFill>
                  <a:srgbClr val="070E1D"/>
                </a:solidFill>
                <a:latin typeface="Segoe UI"/>
              </a:rPr>
              <a:t>Experts usinage IBIF</a:t>
            </a:r>
          </a:p>
        </p:txBody>
      </p:sp>
      <p:sp>
        <p:nvSpPr>
          <p:cNvPr id="22" name="S15_TABLE_SUBLABEL_R2"/>
          <p:cNvSpPr txBox="1"/>
          <p:nvPr/>
        </p:nvSpPr>
        <p:spPr>
          <a:xfrm>
            <a:off x="388800" y="24840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~ 1 personne</a:t>
            </a:r>
          </a:p>
        </p:txBody>
      </p:sp>
      <p:sp>
        <p:nvSpPr>
          <p:cNvPr id="23" name="S15_TABLE_R2_C2"/>
          <p:cNvSpPr/>
          <p:nvPr/>
        </p:nvSpPr>
        <p:spPr>
          <a:xfrm>
            <a:off x="2973600" y="222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S15_TABLE_R2_C3"/>
          <p:cNvSpPr/>
          <p:nvPr/>
        </p:nvSpPr>
        <p:spPr>
          <a:xfrm>
            <a:off x="4366800" y="222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S15_TABLE_R2_C4"/>
          <p:cNvSpPr/>
          <p:nvPr/>
        </p:nvSpPr>
        <p:spPr>
          <a:xfrm>
            <a:off x="5760000" y="222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S15_TABLE_R2_C5"/>
          <p:cNvSpPr/>
          <p:nvPr/>
        </p:nvSpPr>
        <p:spPr>
          <a:xfrm>
            <a:off x="7149600" y="222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S15_TABLE_R2_C6"/>
          <p:cNvSpPr/>
          <p:nvPr/>
        </p:nvSpPr>
        <p:spPr>
          <a:xfrm>
            <a:off x="8542800" y="2221200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Communication | Mobilisation | Support</a:t>
            </a:r>
          </a:p>
        </p:txBody>
      </p:sp>
      <p:sp>
        <p:nvSpPr>
          <p:cNvPr id="28" name="S15_TABLE_LABEL_R3"/>
          <p:cNvSpPr txBox="1"/>
          <p:nvPr/>
        </p:nvSpPr>
        <p:spPr>
          <a:xfrm>
            <a:off x="388800" y="2782800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0" i="0">
                <a:solidFill>
                  <a:srgbClr val="070E1D"/>
                </a:solidFill>
                <a:latin typeface="Segoe UI"/>
              </a:rPr>
              <a:t>Pilotes d'indus</a:t>
            </a:r>
          </a:p>
        </p:txBody>
      </p:sp>
      <p:sp>
        <p:nvSpPr>
          <p:cNvPr id="29" name="S15_TABLE_SUBLABEL_R3"/>
          <p:cNvSpPr txBox="1"/>
          <p:nvPr/>
        </p:nvSpPr>
        <p:spPr>
          <a:xfrm>
            <a:off x="388800" y="30456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~ 15 personnes</a:t>
            </a:r>
          </a:p>
        </p:txBody>
      </p:sp>
      <p:sp>
        <p:nvSpPr>
          <p:cNvPr id="30" name="S15_TABLE_R3_C2"/>
          <p:cNvSpPr/>
          <p:nvPr/>
        </p:nvSpPr>
        <p:spPr>
          <a:xfrm>
            <a:off x="2973600" y="27828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S15_TABLE_R3_C3"/>
          <p:cNvSpPr/>
          <p:nvPr/>
        </p:nvSpPr>
        <p:spPr>
          <a:xfrm>
            <a:off x="4366800" y="27828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3932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S15_TABLE_R3_C4"/>
          <p:cNvSpPr/>
          <p:nvPr/>
        </p:nvSpPr>
        <p:spPr>
          <a:xfrm>
            <a:off x="5760000" y="27828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S15_TABLE_R3_C5"/>
          <p:cNvSpPr/>
          <p:nvPr/>
        </p:nvSpPr>
        <p:spPr>
          <a:xfrm>
            <a:off x="7149600" y="27828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S15_TABLE_R3_C6"/>
          <p:cNvSpPr/>
          <p:nvPr/>
        </p:nvSpPr>
        <p:spPr>
          <a:xfrm>
            <a:off x="8542800" y="2782800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Communication | Support</a:t>
            </a:r>
          </a:p>
        </p:txBody>
      </p:sp>
      <p:sp>
        <p:nvSpPr>
          <p:cNvPr id="35" name="S15_TABLE_LABEL_R4"/>
          <p:cNvSpPr txBox="1"/>
          <p:nvPr/>
        </p:nvSpPr>
        <p:spPr>
          <a:xfrm>
            <a:off x="388800" y="3344399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0" i="0">
                <a:solidFill>
                  <a:srgbClr val="070E1D"/>
                </a:solidFill>
                <a:latin typeface="Segoe UI"/>
              </a:rPr>
              <a:t>Experts usinage IBIF</a:t>
            </a:r>
          </a:p>
        </p:txBody>
      </p:sp>
      <p:sp>
        <p:nvSpPr>
          <p:cNvPr id="36" name="S15_TABLE_SUBLABEL_R4"/>
          <p:cNvSpPr txBox="1"/>
          <p:nvPr/>
        </p:nvSpPr>
        <p:spPr>
          <a:xfrm>
            <a:off x="388800" y="36072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TBD</a:t>
            </a:r>
          </a:p>
        </p:txBody>
      </p:sp>
      <p:sp>
        <p:nvSpPr>
          <p:cNvPr id="37" name="S15_TABLE_R4_C2"/>
          <p:cNvSpPr/>
          <p:nvPr/>
        </p:nvSpPr>
        <p:spPr>
          <a:xfrm>
            <a:off x="2973600" y="33443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S15_TABLE_R4_C3"/>
          <p:cNvSpPr/>
          <p:nvPr/>
        </p:nvSpPr>
        <p:spPr>
          <a:xfrm>
            <a:off x="4366800" y="33443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S15_TABLE_R4_C4"/>
          <p:cNvSpPr/>
          <p:nvPr/>
        </p:nvSpPr>
        <p:spPr>
          <a:xfrm>
            <a:off x="5760000" y="33443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S15_TABLE_R4_C5"/>
          <p:cNvSpPr/>
          <p:nvPr/>
        </p:nvSpPr>
        <p:spPr>
          <a:xfrm>
            <a:off x="7149600" y="33443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S15_TABLE_R4_C6"/>
          <p:cNvSpPr/>
          <p:nvPr/>
        </p:nvSpPr>
        <p:spPr>
          <a:xfrm>
            <a:off x="8542800" y="3344399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Communication | Mobilisation | Support</a:t>
            </a:r>
          </a:p>
        </p:txBody>
      </p:sp>
      <p:sp>
        <p:nvSpPr>
          <p:cNvPr id="42" name="S15_TABLE_LABEL_R5"/>
          <p:cNvSpPr txBox="1"/>
          <p:nvPr/>
        </p:nvSpPr>
        <p:spPr>
          <a:xfrm>
            <a:off x="388800" y="3909600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0" i="0">
                <a:solidFill>
                  <a:srgbClr val="070E1D"/>
                </a:solidFill>
                <a:latin typeface="Segoe UI"/>
              </a:rPr>
              <a:t>Garants de fabricabilité</a:t>
            </a:r>
          </a:p>
        </p:txBody>
      </p:sp>
      <p:sp>
        <p:nvSpPr>
          <p:cNvPr id="43" name="S15_TABLE_SUBLABEL_R5"/>
          <p:cNvSpPr txBox="1"/>
          <p:nvPr/>
        </p:nvSpPr>
        <p:spPr>
          <a:xfrm>
            <a:off x="388800" y="41724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~ 5 personnes</a:t>
            </a:r>
          </a:p>
        </p:txBody>
      </p:sp>
      <p:sp>
        <p:nvSpPr>
          <p:cNvPr id="44" name="S15_TABLE_R5_C2"/>
          <p:cNvSpPr/>
          <p:nvPr/>
        </p:nvSpPr>
        <p:spPr>
          <a:xfrm>
            <a:off x="2973600" y="39096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S15_TABLE_R5_C3"/>
          <p:cNvSpPr/>
          <p:nvPr/>
        </p:nvSpPr>
        <p:spPr>
          <a:xfrm>
            <a:off x="4366800" y="39096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S15_TABLE_R5_C4"/>
          <p:cNvSpPr/>
          <p:nvPr/>
        </p:nvSpPr>
        <p:spPr>
          <a:xfrm>
            <a:off x="5760000" y="39096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S15_TABLE_R5_C5"/>
          <p:cNvSpPr/>
          <p:nvPr/>
        </p:nvSpPr>
        <p:spPr>
          <a:xfrm>
            <a:off x="7149600" y="39096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S15_TABLE_R5_C6"/>
          <p:cNvSpPr/>
          <p:nvPr/>
        </p:nvSpPr>
        <p:spPr>
          <a:xfrm>
            <a:off x="8542800" y="3909600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Communication | Support</a:t>
            </a:r>
          </a:p>
        </p:txBody>
      </p:sp>
      <p:sp>
        <p:nvSpPr>
          <p:cNvPr id="49" name="S15_TABLE_LABEL_R6"/>
          <p:cNvSpPr txBox="1"/>
          <p:nvPr/>
        </p:nvSpPr>
        <p:spPr>
          <a:xfrm>
            <a:off x="388800" y="4471200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0" i="0">
                <a:solidFill>
                  <a:srgbClr val="070E1D"/>
                </a:solidFill>
                <a:latin typeface="Segoe UI"/>
              </a:rPr>
              <a:t>Experts usinage IBIF</a:t>
            </a:r>
          </a:p>
        </p:txBody>
      </p:sp>
      <p:sp>
        <p:nvSpPr>
          <p:cNvPr id="50" name="S15_TABLE_SUBLABEL_R6"/>
          <p:cNvSpPr txBox="1"/>
          <p:nvPr/>
        </p:nvSpPr>
        <p:spPr>
          <a:xfrm>
            <a:off x="388800" y="47340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TBD</a:t>
            </a:r>
          </a:p>
        </p:txBody>
      </p:sp>
      <p:sp>
        <p:nvSpPr>
          <p:cNvPr id="51" name="S15_TABLE_R6_C2"/>
          <p:cNvSpPr/>
          <p:nvPr/>
        </p:nvSpPr>
        <p:spPr>
          <a:xfrm>
            <a:off x="2973600" y="447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S15_TABLE_R6_C3"/>
          <p:cNvSpPr/>
          <p:nvPr/>
        </p:nvSpPr>
        <p:spPr>
          <a:xfrm>
            <a:off x="4366800" y="447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S15_TABLE_R6_C4"/>
          <p:cNvSpPr/>
          <p:nvPr/>
        </p:nvSpPr>
        <p:spPr>
          <a:xfrm>
            <a:off x="5760000" y="447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S15_TABLE_R6_C5"/>
          <p:cNvSpPr/>
          <p:nvPr/>
        </p:nvSpPr>
        <p:spPr>
          <a:xfrm>
            <a:off x="7149600" y="447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S15_TABLE_R6_C6"/>
          <p:cNvSpPr/>
          <p:nvPr/>
        </p:nvSpPr>
        <p:spPr>
          <a:xfrm>
            <a:off x="8542800" y="4471200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Communication | Mobilisation | Support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88800" y="6004800"/>
            <a:ext cx="11412000" cy="0"/>
          </a:xfrm>
          <a:prstGeom prst="line">
            <a:avLst/>
          </a:prstGeom>
          <a:ln w="19050">
            <a:solidFill>
              <a:srgbClr val="D7DAE4"/>
            </a:solidFill>
          </a:ln>
        </p:spPr>
      </p:cxnSp>
      <p:sp>
        <p:nvSpPr>
          <p:cNvPr id="57" name="LEGENDE_TITLE"/>
          <p:cNvSpPr txBox="1"/>
          <p:nvPr/>
        </p:nvSpPr>
        <p:spPr>
          <a:xfrm>
            <a:off x="388800" y="6008400"/>
            <a:ext cx="6228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 cap="small">
                <a:solidFill>
                  <a:srgbClr val="474E67"/>
                </a:solidFill>
                <a:latin typeface="Segoe UI"/>
              </a:rPr>
              <a:t>Intensité</a:t>
            </a:r>
          </a:p>
        </p:txBody>
      </p:sp>
      <p:sp>
        <p:nvSpPr>
          <p:cNvPr id="58" name="S15_LEGENDE_1_BOX"/>
          <p:cNvSpPr/>
          <p:nvPr/>
        </p:nvSpPr>
        <p:spPr>
          <a:xfrm>
            <a:off x="1785600" y="6044400"/>
            <a:ext cx="183600" cy="165600"/>
          </a:xfrm>
          <a:prstGeom prst="rect">
            <a:avLst/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S15_LEGENDE_1_LABEL"/>
          <p:cNvSpPr txBox="1"/>
          <p:nvPr/>
        </p:nvSpPr>
        <p:spPr>
          <a:xfrm>
            <a:off x="2041200" y="6008400"/>
            <a:ext cx="4824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Faible</a:t>
            </a:r>
          </a:p>
        </p:txBody>
      </p:sp>
      <p:sp>
        <p:nvSpPr>
          <p:cNvPr id="60" name="S15_LEGENDE_2_BOX"/>
          <p:cNvSpPr/>
          <p:nvPr/>
        </p:nvSpPr>
        <p:spPr>
          <a:xfrm>
            <a:off x="2790000" y="6044400"/>
            <a:ext cx="183600" cy="165600"/>
          </a:xfrm>
          <a:prstGeom prst="rect">
            <a:avLst/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S15_LEGENDE_2_LABEL"/>
          <p:cNvSpPr txBox="1"/>
          <p:nvPr/>
        </p:nvSpPr>
        <p:spPr>
          <a:xfrm>
            <a:off x="3045600" y="6008400"/>
            <a:ext cx="5868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Modéré</a:t>
            </a:r>
          </a:p>
        </p:txBody>
      </p:sp>
      <p:sp>
        <p:nvSpPr>
          <p:cNvPr id="62" name="S15_LEGENDE_3_BOX"/>
          <p:cNvSpPr/>
          <p:nvPr/>
        </p:nvSpPr>
        <p:spPr>
          <a:xfrm>
            <a:off x="3798000" y="6044400"/>
            <a:ext cx="183600" cy="1656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S15_LEGENDE_3_LABEL"/>
          <p:cNvSpPr txBox="1"/>
          <p:nvPr/>
        </p:nvSpPr>
        <p:spPr>
          <a:xfrm>
            <a:off x="4053600" y="6008400"/>
            <a:ext cx="3852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Fort</a:t>
            </a:r>
          </a:p>
        </p:txBody>
      </p:sp>
      <p:sp>
        <p:nvSpPr>
          <p:cNvPr id="64" name="S15_LEGENDE_4_BOX"/>
          <p:cNvSpPr/>
          <p:nvPr/>
        </p:nvSpPr>
        <p:spPr>
          <a:xfrm>
            <a:off x="4600800" y="6044400"/>
            <a:ext cx="183600" cy="165600"/>
          </a:xfrm>
          <a:prstGeom prst="rect">
            <a:avLst/>
          </a:prstGeom>
          <a:solidFill>
            <a:srgbClr val="3932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S15_LEGENDE_4_LABEL"/>
          <p:cNvSpPr txBox="1"/>
          <p:nvPr/>
        </p:nvSpPr>
        <p:spPr>
          <a:xfrm>
            <a:off x="4856400" y="6008400"/>
            <a:ext cx="6120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Très fort</a:t>
            </a:r>
          </a:p>
        </p:txBody>
      </p:sp>
      <p:sp>
        <p:nvSpPr>
          <p:cNvPr id="66" name="S15_FOOTNOTE"/>
          <p:cNvSpPr txBox="1"/>
          <p:nvPr/>
        </p:nvSpPr>
        <p:spPr>
          <a:xfrm>
            <a:off x="8456400" y="6008400"/>
            <a:ext cx="32328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r"/>
            <a:r>
              <a:rPr sz="900" b="0" i="1">
                <a:solidFill>
                  <a:srgbClr val="474E67"/>
                </a:solidFill>
                <a:latin typeface="Segoe UI"/>
              </a:rPr>
              <a:t>Leviers = axes d'accompagnement prioritaires par population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Impact par population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16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15_HEADER_1"/>
          <p:cNvSpPr txBox="1"/>
          <p:nvPr/>
        </p:nvSpPr>
        <p:spPr>
          <a:xfrm>
            <a:off x="3315600" y="1310400"/>
            <a:ext cx="6336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Outils</a:t>
            </a:r>
          </a:p>
        </p:txBody>
      </p:sp>
      <p:sp>
        <p:nvSpPr>
          <p:cNvPr id="9" name="S15_HEADER_2"/>
          <p:cNvSpPr txBox="1"/>
          <p:nvPr/>
        </p:nvSpPr>
        <p:spPr>
          <a:xfrm>
            <a:off x="4723200" y="1310400"/>
            <a:ext cx="6552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Métier</a:t>
            </a:r>
          </a:p>
        </p:txBody>
      </p:sp>
      <p:sp>
        <p:nvSpPr>
          <p:cNvPr id="10" name="S15_HEADER_3"/>
          <p:cNvSpPr txBox="1"/>
          <p:nvPr/>
        </p:nvSpPr>
        <p:spPr>
          <a:xfrm>
            <a:off x="5871600" y="1310400"/>
            <a:ext cx="11412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Organisation</a:t>
            </a:r>
          </a:p>
        </p:txBody>
      </p:sp>
      <p:sp>
        <p:nvSpPr>
          <p:cNvPr id="11" name="S15_HEADER_4"/>
          <p:cNvSpPr txBox="1"/>
          <p:nvPr/>
        </p:nvSpPr>
        <p:spPr>
          <a:xfrm>
            <a:off x="7466399" y="1310400"/>
            <a:ext cx="7344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Culture</a:t>
            </a:r>
          </a:p>
        </p:txBody>
      </p:sp>
      <p:sp>
        <p:nvSpPr>
          <p:cNvPr id="12" name="S15_HEADER_5"/>
          <p:cNvSpPr txBox="1"/>
          <p:nvPr/>
        </p:nvSpPr>
        <p:spPr>
          <a:xfrm>
            <a:off x="9054000" y="1310400"/>
            <a:ext cx="20376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Leviers retenus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8800" y="1602000"/>
            <a:ext cx="11412000" cy="0"/>
          </a:xfrm>
          <a:prstGeom prst="line">
            <a:avLst/>
          </a:prstGeom>
          <a:ln w="19050">
            <a:solidFill>
              <a:srgbClr val="D7DAE4"/>
            </a:solidFill>
          </a:ln>
        </p:spPr>
      </p:cxnSp>
      <p:sp>
        <p:nvSpPr>
          <p:cNvPr id="14" name="S15_TABLE_LABEL_R1"/>
          <p:cNvSpPr txBox="1"/>
          <p:nvPr/>
        </p:nvSpPr>
        <p:spPr>
          <a:xfrm>
            <a:off x="388800" y="1655999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0" i="0">
                <a:solidFill>
                  <a:srgbClr val="070E1D"/>
                </a:solidFill>
                <a:latin typeface="Segoe UI"/>
              </a:rPr>
              <a:t>Garants de fabricabilité</a:t>
            </a:r>
          </a:p>
        </p:txBody>
      </p:sp>
      <p:sp>
        <p:nvSpPr>
          <p:cNvPr id="15" name="S15_TABLE_SUBLABEL_R1"/>
          <p:cNvSpPr txBox="1"/>
          <p:nvPr/>
        </p:nvSpPr>
        <p:spPr>
          <a:xfrm>
            <a:off x="388800" y="19188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~ 5 personnes</a:t>
            </a:r>
          </a:p>
        </p:txBody>
      </p:sp>
      <p:sp>
        <p:nvSpPr>
          <p:cNvPr id="16" name="S15_TABLE_R1_C2"/>
          <p:cNvSpPr/>
          <p:nvPr/>
        </p:nvSpPr>
        <p:spPr>
          <a:xfrm>
            <a:off x="2973600" y="16559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15_TABLE_R1_C3"/>
          <p:cNvSpPr/>
          <p:nvPr/>
        </p:nvSpPr>
        <p:spPr>
          <a:xfrm>
            <a:off x="4366800" y="16559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S15_TABLE_R1_C4"/>
          <p:cNvSpPr/>
          <p:nvPr/>
        </p:nvSpPr>
        <p:spPr>
          <a:xfrm>
            <a:off x="5760000" y="16559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3932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15_TABLE_R1_C5"/>
          <p:cNvSpPr/>
          <p:nvPr/>
        </p:nvSpPr>
        <p:spPr>
          <a:xfrm>
            <a:off x="7149600" y="16559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S15_TABLE_R1_C6"/>
          <p:cNvSpPr/>
          <p:nvPr/>
        </p:nvSpPr>
        <p:spPr>
          <a:xfrm>
            <a:off x="8542800" y="1655999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Communication | Support</a:t>
            </a:r>
          </a:p>
        </p:txBody>
      </p:sp>
      <p:sp>
        <p:nvSpPr>
          <p:cNvPr id="21" name="S15_TABLE_LABEL_R2"/>
          <p:cNvSpPr txBox="1"/>
          <p:nvPr/>
        </p:nvSpPr>
        <p:spPr>
          <a:xfrm>
            <a:off x="388800" y="2221200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0" i="0">
                <a:solidFill>
                  <a:srgbClr val="070E1D"/>
                </a:solidFill>
                <a:latin typeface="Segoe UI"/>
              </a:rPr>
              <a:t>Experts usinage IBIF</a:t>
            </a:r>
          </a:p>
        </p:txBody>
      </p:sp>
      <p:sp>
        <p:nvSpPr>
          <p:cNvPr id="22" name="S15_TABLE_SUBLABEL_R2"/>
          <p:cNvSpPr txBox="1"/>
          <p:nvPr/>
        </p:nvSpPr>
        <p:spPr>
          <a:xfrm>
            <a:off x="388800" y="24840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TBD</a:t>
            </a:r>
          </a:p>
        </p:txBody>
      </p:sp>
      <p:sp>
        <p:nvSpPr>
          <p:cNvPr id="23" name="S15_TABLE_R2_C2"/>
          <p:cNvSpPr/>
          <p:nvPr/>
        </p:nvSpPr>
        <p:spPr>
          <a:xfrm>
            <a:off x="2973600" y="222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S15_TABLE_R2_C3"/>
          <p:cNvSpPr/>
          <p:nvPr/>
        </p:nvSpPr>
        <p:spPr>
          <a:xfrm>
            <a:off x="4366800" y="222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S15_TABLE_R2_C4"/>
          <p:cNvSpPr/>
          <p:nvPr/>
        </p:nvSpPr>
        <p:spPr>
          <a:xfrm>
            <a:off x="5760000" y="222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S15_TABLE_R2_C5"/>
          <p:cNvSpPr/>
          <p:nvPr/>
        </p:nvSpPr>
        <p:spPr>
          <a:xfrm>
            <a:off x="7149600" y="222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S15_TABLE_R2_C6"/>
          <p:cNvSpPr/>
          <p:nvPr/>
        </p:nvSpPr>
        <p:spPr>
          <a:xfrm>
            <a:off x="8542800" y="2221200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Communication | Mobilisation | Support</a:t>
            </a:r>
          </a:p>
        </p:txBody>
      </p:sp>
      <p:sp>
        <p:nvSpPr>
          <p:cNvPr id="28" name="S15_TABLE_LABEL_R3"/>
          <p:cNvSpPr txBox="1"/>
          <p:nvPr/>
        </p:nvSpPr>
        <p:spPr>
          <a:xfrm>
            <a:off x="388800" y="2782800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</a:p>
        </p:txBody>
      </p:sp>
      <p:sp>
        <p:nvSpPr>
          <p:cNvPr id="29" name="S15_TABLE_SUBLABEL_R3"/>
          <p:cNvSpPr txBox="1"/>
          <p:nvPr/>
        </p:nvSpPr>
        <p:spPr>
          <a:xfrm>
            <a:off x="388800" y="30456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</a:p>
        </p:txBody>
      </p:sp>
      <p:sp>
        <p:nvSpPr>
          <p:cNvPr id="30" name="S15_TABLE_R3_C6"/>
          <p:cNvSpPr/>
          <p:nvPr/>
        </p:nvSpPr>
        <p:spPr>
          <a:xfrm>
            <a:off x="8542800" y="2782800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31" name="S15_TABLE_LABEL_R4"/>
          <p:cNvSpPr txBox="1"/>
          <p:nvPr/>
        </p:nvSpPr>
        <p:spPr>
          <a:xfrm>
            <a:off x="388800" y="3344399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</a:p>
        </p:txBody>
      </p:sp>
      <p:sp>
        <p:nvSpPr>
          <p:cNvPr id="32" name="S15_TABLE_SUBLABEL_R4"/>
          <p:cNvSpPr txBox="1"/>
          <p:nvPr/>
        </p:nvSpPr>
        <p:spPr>
          <a:xfrm>
            <a:off x="388800" y="36072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</a:p>
        </p:txBody>
      </p:sp>
      <p:sp>
        <p:nvSpPr>
          <p:cNvPr id="33" name="S15_TABLE_R4_C6"/>
          <p:cNvSpPr/>
          <p:nvPr/>
        </p:nvSpPr>
        <p:spPr>
          <a:xfrm>
            <a:off x="8542800" y="3344399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34" name="S15_TABLE_LABEL_R5"/>
          <p:cNvSpPr txBox="1"/>
          <p:nvPr/>
        </p:nvSpPr>
        <p:spPr>
          <a:xfrm>
            <a:off x="388800" y="3909600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</a:p>
        </p:txBody>
      </p:sp>
      <p:sp>
        <p:nvSpPr>
          <p:cNvPr id="35" name="S15_TABLE_SUBLABEL_R5"/>
          <p:cNvSpPr txBox="1"/>
          <p:nvPr/>
        </p:nvSpPr>
        <p:spPr>
          <a:xfrm>
            <a:off x="388800" y="41724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</a:p>
        </p:txBody>
      </p:sp>
      <p:sp>
        <p:nvSpPr>
          <p:cNvPr id="36" name="S15_TABLE_R5_C6"/>
          <p:cNvSpPr/>
          <p:nvPr/>
        </p:nvSpPr>
        <p:spPr>
          <a:xfrm>
            <a:off x="8542800" y="3909600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37" name="S15_TABLE_LABEL_R6"/>
          <p:cNvSpPr txBox="1"/>
          <p:nvPr/>
        </p:nvSpPr>
        <p:spPr>
          <a:xfrm>
            <a:off x="388800" y="4471200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</a:p>
        </p:txBody>
      </p:sp>
      <p:sp>
        <p:nvSpPr>
          <p:cNvPr id="38" name="S15_TABLE_SUBLABEL_R6"/>
          <p:cNvSpPr txBox="1"/>
          <p:nvPr/>
        </p:nvSpPr>
        <p:spPr>
          <a:xfrm>
            <a:off x="388800" y="47340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</a:p>
        </p:txBody>
      </p:sp>
      <p:sp>
        <p:nvSpPr>
          <p:cNvPr id="39" name="S15_TABLE_R6_C6"/>
          <p:cNvSpPr/>
          <p:nvPr/>
        </p:nvSpPr>
        <p:spPr>
          <a:xfrm>
            <a:off x="8542800" y="4471200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</a:p>
        </p:txBody>
      </p:sp>
      <p:cxnSp>
        <p:nvCxnSpPr>
          <p:cNvPr id="40" name="Connector 39"/>
          <p:cNvCxnSpPr/>
          <p:nvPr/>
        </p:nvCxnSpPr>
        <p:spPr>
          <a:xfrm>
            <a:off x="388800" y="6004800"/>
            <a:ext cx="11412000" cy="0"/>
          </a:xfrm>
          <a:prstGeom prst="line">
            <a:avLst/>
          </a:prstGeom>
          <a:ln w="19050">
            <a:solidFill>
              <a:srgbClr val="D7DAE4"/>
            </a:solidFill>
          </a:ln>
        </p:spPr>
      </p:cxnSp>
      <p:sp>
        <p:nvSpPr>
          <p:cNvPr id="41" name="LEGENDE_TITLE"/>
          <p:cNvSpPr txBox="1"/>
          <p:nvPr/>
        </p:nvSpPr>
        <p:spPr>
          <a:xfrm>
            <a:off x="388800" y="6008400"/>
            <a:ext cx="6228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 cap="small">
                <a:solidFill>
                  <a:srgbClr val="474E67"/>
                </a:solidFill>
                <a:latin typeface="Segoe UI"/>
              </a:rPr>
              <a:t>Intensité</a:t>
            </a:r>
          </a:p>
        </p:txBody>
      </p:sp>
      <p:sp>
        <p:nvSpPr>
          <p:cNvPr id="42" name="S15_LEGENDE_1_BOX"/>
          <p:cNvSpPr/>
          <p:nvPr/>
        </p:nvSpPr>
        <p:spPr>
          <a:xfrm>
            <a:off x="1785600" y="6044400"/>
            <a:ext cx="183600" cy="165600"/>
          </a:xfrm>
          <a:prstGeom prst="rect">
            <a:avLst/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S15_LEGENDE_1_LABEL"/>
          <p:cNvSpPr txBox="1"/>
          <p:nvPr/>
        </p:nvSpPr>
        <p:spPr>
          <a:xfrm>
            <a:off x="2041200" y="6008400"/>
            <a:ext cx="4824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Faible</a:t>
            </a:r>
          </a:p>
        </p:txBody>
      </p:sp>
      <p:sp>
        <p:nvSpPr>
          <p:cNvPr id="44" name="S15_LEGENDE_2_BOX"/>
          <p:cNvSpPr/>
          <p:nvPr/>
        </p:nvSpPr>
        <p:spPr>
          <a:xfrm>
            <a:off x="2790000" y="6044400"/>
            <a:ext cx="183600" cy="165600"/>
          </a:xfrm>
          <a:prstGeom prst="rect">
            <a:avLst/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S15_LEGENDE_2_LABEL"/>
          <p:cNvSpPr txBox="1"/>
          <p:nvPr/>
        </p:nvSpPr>
        <p:spPr>
          <a:xfrm>
            <a:off x="3045600" y="6008400"/>
            <a:ext cx="5868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Modéré</a:t>
            </a:r>
          </a:p>
        </p:txBody>
      </p:sp>
      <p:sp>
        <p:nvSpPr>
          <p:cNvPr id="46" name="S15_LEGENDE_3_BOX"/>
          <p:cNvSpPr/>
          <p:nvPr/>
        </p:nvSpPr>
        <p:spPr>
          <a:xfrm>
            <a:off x="3798000" y="6044400"/>
            <a:ext cx="183600" cy="1656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S15_LEGENDE_3_LABEL"/>
          <p:cNvSpPr txBox="1"/>
          <p:nvPr/>
        </p:nvSpPr>
        <p:spPr>
          <a:xfrm>
            <a:off x="4053600" y="6008400"/>
            <a:ext cx="3852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Fort</a:t>
            </a:r>
          </a:p>
        </p:txBody>
      </p:sp>
      <p:sp>
        <p:nvSpPr>
          <p:cNvPr id="48" name="S15_LEGENDE_4_BOX"/>
          <p:cNvSpPr/>
          <p:nvPr/>
        </p:nvSpPr>
        <p:spPr>
          <a:xfrm>
            <a:off x="4600800" y="6044400"/>
            <a:ext cx="183600" cy="165600"/>
          </a:xfrm>
          <a:prstGeom prst="rect">
            <a:avLst/>
          </a:prstGeom>
          <a:solidFill>
            <a:srgbClr val="3932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S15_LEGENDE_4_LABEL"/>
          <p:cNvSpPr txBox="1"/>
          <p:nvPr/>
        </p:nvSpPr>
        <p:spPr>
          <a:xfrm>
            <a:off x="4856400" y="6008400"/>
            <a:ext cx="6120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Très fort</a:t>
            </a:r>
          </a:p>
        </p:txBody>
      </p:sp>
      <p:sp>
        <p:nvSpPr>
          <p:cNvPr id="50" name="S15_FOOTNOTE"/>
          <p:cNvSpPr txBox="1"/>
          <p:nvPr/>
        </p:nvSpPr>
        <p:spPr>
          <a:xfrm>
            <a:off x="8456400" y="6008400"/>
            <a:ext cx="32328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r"/>
            <a:r>
              <a:rPr sz="900" b="0" i="1">
                <a:solidFill>
                  <a:srgbClr val="474E67"/>
                </a:solidFill>
                <a:latin typeface="Segoe UI"/>
              </a:rPr>
              <a:t>Leviers = axes d'accompagnement prioritaires par population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