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Impact par population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01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15_HEADER_1"/>
          <p:cNvSpPr txBox="1"/>
          <p:nvPr/>
        </p:nvSpPr>
        <p:spPr>
          <a:xfrm>
            <a:off x="3315600" y="1310400"/>
            <a:ext cx="6336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Outils</a:t>
            </a:r>
          </a:p>
        </p:txBody>
      </p:sp>
      <p:sp>
        <p:nvSpPr>
          <p:cNvPr id="9" name="S15_HEADER_2"/>
          <p:cNvSpPr txBox="1"/>
          <p:nvPr/>
        </p:nvSpPr>
        <p:spPr>
          <a:xfrm>
            <a:off x="4723200" y="1310400"/>
            <a:ext cx="6552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Métier</a:t>
            </a:r>
          </a:p>
        </p:txBody>
      </p:sp>
      <p:sp>
        <p:nvSpPr>
          <p:cNvPr id="10" name="S15_HEADER_3"/>
          <p:cNvSpPr txBox="1"/>
          <p:nvPr/>
        </p:nvSpPr>
        <p:spPr>
          <a:xfrm>
            <a:off x="5871600" y="1310400"/>
            <a:ext cx="11412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Organisation</a:t>
            </a:r>
          </a:p>
        </p:txBody>
      </p:sp>
      <p:sp>
        <p:nvSpPr>
          <p:cNvPr id="11" name="S15_HEADER_4"/>
          <p:cNvSpPr txBox="1"/>
          <p:nvPr/>
        </p:nvSpPr>
        <p:spPr>
          <a:xfrm>
            <a:off x="7466399" y="1310400"/>
            <a:ext cx="7344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Culture</a:t>
            </a:r>
          </a:p>
        </p:txBody>
      </p:sp>
      <p:sp>
        <p:nvSpPr>
          <p:cNvPr id="12" name="S15_HEADER_5"/>
          <p:cNvSpPr txBox="1"/>
          <p:nvPr/>
        </p:nvSpPr>
        <p:spPr>
          <a:xfrm>
            <a:off x="9054000" y="1310400"/>
            <a:ext cx="20376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Leviers retenus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8800" y="1602000"/>
            <a:ext cx="11412000" cy="0"/>
          </a:xfrm>
          <a:prstGeom prst="line">
            <a:avLst/>
          </a:prstGeom>
          <a:ln w="19050">
            <a:solidFill>
              <a:srgbClr val="D7DAE4"/>
            </a:solidFill>
          </a:ln>
        </p:spPr>
      </p:cxnSp>
      <p:sp>
        <p:nvSpPr>
          <p:cNvPr id="14" name="S15_TABLE_LABEL_R1"/>
          <p:cNvSpPr txBox="1"/>
          <p:nvPr/>
        </p:nvSpPr>
        <p:spPr>
          <a:xfrm>
            <a:off x="388800" y="1655999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Garants de  fabricabilitÚ  xxxxxxxxxxxxxxxxxxxxxxxxxxxxxxx</a:t>
            </a:r>
          </a:p>
        </p:txBody>
      </p:sp>
      <p:sp>
        <p:nvSpPr>
          <p:cNvPr id="15" name="S15_TABLE_SUBLABEL_R1"/>
          <p:cNvSpPr txBox="1"/>
          <p:nvPr/>
        </p:nvSpPr>
        <p:spPr>
          <a:xfrm>
            <a:off x="388800" y="19188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~ 5 personnes</a:t>
            </a:r>
          </a:p>
        </p:txBody>
      </p:sp>
      <p:sp>
        <p:nvSpPr>
          <p:cNvPr id="16" name="S15_TABLE_R1_C2"/>
          <p:cNvSpPr/>
          <p:nvPr/>
        </p:nvSpPr>
        <p:spPr>
          <a:xfrm>
            <a:off x="29736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15_TABLE_R1_C3"/>
          <p:cNvSpPr/>
          <p:nvPr/>
        </p:nvSpPr>
        <p:spPr>
          <a:xfrm>
            <a:off x="43668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15_TABLE_R1_C4"/>
          <p:cNvSpPr/>
          <p:nvPr/>
        </p:nvSpPr>
        <p:spPr>
          <a:xfrm>
            <a:off x="57600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15_TABLE_R1_C5"/>
          <p:cNvSpPr/>
          <p:nvPr/>
        </p:nvSpPr>
        <p:spPr>
          <a:xfrm>
            <a:off x="71496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15_TABLE_R1_C6"/>
          <p:cNvSpPr/>
          <p:nvPr/>
        </p:nvSpPr>
        <p:spPr>
          <a:xfrm>
            <a:off x="8542800" y="1655999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Planification 3 mois budget ; pairs VP1 en témoin RGM ; templates oSmoz outillages ; points de support MàJ et retex coord. IB</a:t>
            </a:r>
          </a:p>
        </p:txBody>
      </p:sp>
      <p:sp>
        <p:nvSpPr>
          <p:cNvPr id="21" name="S15_TABLE_LABEL_R2"/>
          <p:cNvSpPr txBox="1"/>
          <p:nvPr/>
        </p:nvSpPr>
        <p:spPr>
          <a:xfrm>
            <a:off x="388800" y="22212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Experts usinage IBIF</a:t>
            </a:r>
          </a:p>
        </p:txBody>
      </p:sp>
      <p:sp>
        <p:nvSpPr>
          <p:cNvPr id="22" name="S15_TABLE_SUBLABEL_R2"/>
          <p:cNvSpPr txBox="1"/>
          <p:nvPr/>
        </p:nvSpPr>
        <p:spPr>
          <a:xfrm>
            <a:off x="388800" y="24840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~ 1 personne</a:t>
            </a:r>
          </a:p>
        </p:txBody>
      </p:sp>
      <p:sp>
        <p:nvSpPr>
          <p:cNvPr id="23" name="S15_TABLE_R2_C2"/>
          <p:cNvSpPr/>
          <p:nvPr/>
        </p:nvSpPr>
        <p:spPr>
          <a:xfrm>
            <a:off x="29736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S15_TABLE_R2_C3"/>
          <p:cNvSpPr/>
          <p:nvPr/>
        </p:nvSpPr>
        <p:spPr>
          <a:xfrm>
            <a:off x="43668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S15_TABLE_R2_C4"/>
          <p:cNvSpPr/>
          <p:nvPr/>
        </p:nvSpPr>
        <p:spPr>
          <a:xfrm>
            <a:off x="57600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S15_TABLE_R2_C5"/>
          <p:cNvSpPr/>
          <p:nvPr/>
        </p:nvSpPr>
        <p:spPr>
          <a:xfrm>
            <a:off x="71496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S15_TABLE_R2_C6"/>
          <p:cNvSpPr/>
          <p:nvPr/>
        </p:nvSpPr>
        <p:spPr>
          <a:xfrm>
            <a:off x="8542800" y="22212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Com. enjeux VP1 ; pairs VP1 en témoin ; relais d'animation RGM (livrables, RACI, ILS-1940) ; points retex post-déploiement</a:t>
            </a:r>
          </a:p>
        </p:txBody>
      </p:sp>
      <p:sp>
        <p:nvSpPr>
          <p:cNvPr id="28" name="S15_TABLE_LABEL_R3"/>
          <p:cNvSpPr txBox="1"/>
          <p:nvPr/>
        </p:nvSpPr>
        <p:spPr>
          <a:xfrm>
            <a:off x="388800" y="27828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Pilotes d'indus</a:t>
            </a:r>
          </a:p>
        </p:txBody>
      </p:sp>
      <p:sp>
        <p:nvSpPr>
          <p:cNvPr id="29" name="S15_TABLE_SUBLABEL_R3"/>
          <p:cNvSpPr txBox="1"/>
          <p:nvPr/>
        </p:nvSpPr>
        <p:spPr>
          <a:xfrm>
            <a:off x="388800" y="30456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~ 15 personnes</a:t>
            </a:r>
          </a:p>
        </p:txBody>
      </p:sp>
      <p:sp>
        <p:nvSpPr>
          <p:cNvPr id="30" name="S15_TABLE_R3_C2"/>
          <p:cNvSpPr/>
          <p:nvPr/>
        </p:nvSpPr>
        <p:spPr>
          <a:xfrm>
            <a:off x="2973600" y="27828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S15_TABLE_R3_C3"/>
          <p:cNvSpPr/>
          <p:nvPr/>
        </p:nvSpPr>
        <p:spPr>
          <a:xfrm>
            <a:off x="4366800" y="27828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3932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S15_TABLE_R3_C4"/>
          <p:cNvSpPr/>
          <p:nvPr/>
        </p:nvSpPr>
        <p:spPr>
          <a:xfrm>
            <a:off x="5760000" y="27828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S15_TABLE_R3_C5"/>
          <p:cNvSpPr/>
          <p:nvPr/>
        </p:nvSpPr>
        <p:spPr>
          <a:xfrm>
            <a:off x="7149600" y="27828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S15_TABLE_R3_C6"/>
          <p:cNvSpPr/>
          <p:nvPr/>
        </p:nvSpPr>
        <p:spPr>
          <a:xfrm>
            <a:off x="8542800" y="27828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Planification 3 mois budget ; pairs VP1 en témoin RGM ; templates oSmoz outillages ; points de support MàJ et retex coord. IB</a:t>
            </a:r>
          </a:p>
        </p:txBody>
      </p:sp>
      <p:sp>
        <p:nvSpPr>
          <p:cNvPr id="35" name="S15_TABLE_LABEL_R4"/>
          <p:cNvSpPr txBox="1"/>
          <p:nvPr/>
        </p:nvSpPr>
        <p:spPr>
          <a:xfrm>
            <a:off x="388800" y="3344399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Experts usinage IBIF</a:t>
            </a:r>
          </a:p>
        </p:txBody>
      </p:sp>
      <p:sp>
        <p:nvSpPr>
          <p:cNvPr id="36" name="S15_TABLE_SUBLABEL_R4"/>
          <p:cNvSpPr txBox="1"/>
          <p:nvPr/>
        </p:nvSpPr>
        <p:spPr>
          <a:xfrm>
            <a:off x="388800" y="36072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TBD</a:t>
            </a:r>
          </a:p>
        </p:txBody>
      </p:sp>
      <p:sp>
        <p:nvSpPr>
          <p:cNvPr id="37" name="S15_TABLE_R4_C2"/>
          <p:cNvSpPr/>
          <p:nvPr/>
        </p:nvSpPr>
        <p:spPr>
          <a:xfrm>
            <a:off x="2973600" y="33443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S15_TABLE_R4_C3"/>
          <p:cNvSpPr/>
          <p:nvPr/>
        </p:nvSpPr>
        <p:spPr>
          <a:xfrm>
            <a:off x="4366800" y="33443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S15_TABLE_R4_C4"/>
          <p:cNvSpPr/>
          <p:nvPr/>
        </p:nvSpPr>
        <p:spPr>
          <a:xfrm>
            <a:off x="5760000" y="33443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S15_TABLE_R4_C5"/>
          <p:cNvSpPr/>
          <p:nvPr/>
        </p:nvSpPr>
        <p:spPr>
          <a:xfrm>
            <a:off x="7149600" y="33443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S15_TABLE_R4_C6"/>
          <p:cNvSpPr/>
          <p:nvPr/>
        </p:nvSpPr>
        <p:spPr>
          <a:xfrm>
            <a:off x="8542800" y="3344399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Com. enjeux VP1 ; pairs VP1 en témoin ; relais d'animation RGM (livrables, RACI, ILS-1940) ; points retex post-déploiement</a:t>
            </a:r>
          </a:p>
        </p:txBody>
      </p:sp>
      <p:sp>
        <p:nvSpPr>
          <p:cNvPr id="42" name="S15_TABLE_LABEL_R5"/>
          <p:cNvSpPr txBox="1"/>
          <p:nvPr/>
        </p:nvSpPr>
        <p:spPr>
          <a:xfrm>
            <a:off x="388800" y="39096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Garants de fabricabilitÚ</a:t>
            </a:r>
          </a:p>
        </p:txBody>
      </p:sp>
      <p:sp>
        <p:nvSpPr>
          <p:cNvPr id="43" name="S15_TABLE_SUBLABEL_R5"/>
          <p:cNvSpPr txBox="1"/>
          <p:nvPr/>
        </p:nvSpPr>
        <p:spPr>
          <a:xfrm>
            <a:off x="388800" y="41724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~ 5 personnes</a:t>
            </a:r>
          </a:p>
        </p:txBody>
      </p:sp>
      <p:sp>
        <p:nvSpPr>
          <p:cNvPr id="44" name="S15_TABLE_R5_C2"/>
          <p:cNvSpPr/>
          <p:nvPr/>
        </p:nvSpPr>
        <p:spPr>
          <a:xfrm>
            <a:off x="2973600" y="39096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S15_TABLE_R5_C3"/>
          <p:cNvSpPr/>
          <p:nvPr/>
        </p:nvSpPr>
        <p:spPr>
          <a:xfrm>
            <a:off x="4366800" y="39096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S15_TABLE_R5_C4"/>
          <p:cNvSpPr/>
          <p:nvPr/>
        </p:nvSpPr>
        <p:spPr>
          <a:xfrm>
            <a:off x="5760000" y="39096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S15_TABLE_R5_C5"/>
          <p:cNvSpPr/>
          <p:nvPr/>
        </p:nvSpPr>
        <p:spPr>
          <a:xfrm>
            <a:off x="7149600" y="39096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S15_TABLE_R5_C6"/>
          <p:cNvSpPr/>
          <p:nvPr/>
        </p:nvSpPr>
        <p:spPr>
          <a:xfrm>
            <a:off x="8542800" y="39096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Planification 3 mois budget ; pairs VP1 en témoin RGM ; templates oSmoz outillages ; points de support MàJ et retex coord. IB</a:t>
            </a:r>
          </a:p>
        </p:txBody>
      </p:sp>
      <p:sp>
        <p:nvSpPr>
          <p:cNvPr id="49" name="S15_TABLE_LABEL_R6"/>
          <p:cNvSpPr txBox="1"/>
          <p:nvPr/>
        </p:nvSpPr>
        <p:spPr>
          <a:xfrm>
            <a:off x="388800" y="44712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Experts usinage IBIF</a:t>
            </a:r>
          </a:p>
        </p:txBody>
      </p:sp>
      <p:sp>
        <p:nvSpPr>
          <p:cNvPr id="50" name="S15_TABLE_SUBLABEL_R6"/>
          <p:cNvSpPr txBox="1"/>
          <p:nvPr/>
        </p:nvSpPr>
        <p:spPr>
          <a:xfrm>
            <a:off x="388800" y="47340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TBD</a:t>
            </a:r>
          </a:p>
        </p:txBody>
      </p:sp>
      <p:sp>
        <p:nvSpPr>
          <p:cNvPr id="51" name="S15_TABLE_R6_C2"/>
          <p:cNvSpPr/>
          <p:nvPr/>
        </p:nvSpPr>
        <p:spPr>
          <a:xfrm>
            <a:off x="2973600" y="447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S15_TABLE_R6_C3"/>
          <p:cNvSpPr/>
          <p:nvPr/>
        </p:nvSpPr>
        <p:spPr>
          <a:xfrm>
            <a:off x="4366800" y="447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S15_TABLE_R6_C4"/>
          <p:cNvSpPr/>
          <p:nvPr/>
        </p:nvSpPr>
        <p:spPr>
          <a:xfrm>
            <a:off x="5760000" y="447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S15_TABLE_R6_C5"/>
          <p:cNvSpPr/>
          <p:nvPr/>
        </p:nvSpPr>
        <p:spPr>
          <a:xfrm>
            <a:off x="7149600" y="447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S15_TABLE_R6_C6"/>
          <p:cNvSpPr/>
          <p:nvPr/>
        </p:nvSpPr>
        <p:spPr>
          <a:xfrm>
            <a:off x="8542800" y="44712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Com. enjeux VP1 ; pairs VP1 en témoin ; relais d'animation RGM (livrables, RACI, ILS-1940) ; points retex post-déploiement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88800" y="6004800"/>
            <a:ext cx="11412000" cy="0"/>
          </a:xfrm>
          <a:prstGeom prst="line">
            <a:avLst/>
          </a:prstGeom>
          <a:ln w="19050">
            <a:solidFill>
              <a:srgbClr val="D7DAE4"/>
            </a:solidFill>
          </a:ln>
        </p:spPr>
      </p:cxnSp>
      <p:sp>
        <p:nvSpPr>
          <p:cNvPr id="57" name="LEGENDE_TITLE"/>
          <p:cNvSpPr txBox="1"/>
          <p:nvPr/>
        </p:nvSpPr>
        <p:spPr>
          <a:xfrm>
            <a:off x="388800" y="6008400"/>
            <a:ext cx="6228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 cap="small">
                <a:solidFill>
                  <a:srgbClr val="474E67"/>
                </a:solidFill>
                <a:latin typeface="Segoe UI"/>
              </a:rPr>
              <a:t>Intensité</a:t>
            </a:r>
          </a:p>
        </p:txBody>
      </p:sp>
      <p:sp>
        <p:nvSpPr>
          <p:cNvPr id="58" name="S15_LEGENDE_1_BOX"/>
          <p:cNvSpPr/>
          <p:nvPr/>
        </p:nvSpPr>
        <p:spPr>
          <a:xfrm>
            <a:off x="1785600" y="6044400"/>
            <a:ext cx="183600" cy="165600"/>
          </a:xfrm>
          <a:prstGeom prst="rect">
            <a:avLst/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S15_LEGENDE_1_LABEL"/>
          <p:cNvSpPr txBox="1"/>
          <p:nvPr/>
        </p:nvSpPr>
        <p:spPr>
          <a:xfrm>
            <a:off x="2041200" y="6008400"/>
            <a:ext cx="4824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Faible</a:t>
            </a:r>
          </a:p>
        </p:txBody>
      </p:sp>
      <p:sp>
        <p:nvSpPr>
          <p:cNvPr id="60" name="S15_LEGENDE_2_BOX"/>
          <p:cNvSpPr/>
          <p:nvPr/>
        </p:nvSpPr>
        <p:spPr>
          <a:xfrm>
            <a:off x="2790000" y="6044400"/>
            <a:ext cx="183600" cy="165600"/>
          </a:xfrm>
          <a:prstGeom prst="rect">
            <a:avLst/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S15_LEGENDE_2_LABEL"/>
          <p:cNvSpPr txBox="1"/>
          <p:nvPr/>
        </p:nvSpPr>
        <p:spPr>
          <a:xfrm>
            <a:off x="3045600" y="6008400"/>
            <a:ext cx="5868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Modéré</a:t>
            </a:r>
          </a:p>
        </p:txBody>
      </p:sp>
      <p:sp>
        <p:nvSpPr>
          <p:cNvPr id="62" name="S15_LEGENDE_3_BOX"/>
          <p:cNvSpPr/>
          <p:nvPr/>
        </p:nvSpPr>
        <p:spPr>
          <a:xfrm>
            <a:off x="3798000" y="6044400"/>
            <a:ext cx="183600" cy="1656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S15_LEGENDE_3_LABEL"/>
          <p:cNvSpPr txBox="1"/>
          <p:nvPr/>
        </p:nvSpPr>
        <p:spPr>
          <a:xfrm>
            <a:off x="4053600" y="6008400"/>
            <a:ext cx="3852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Fort</a:t>
            </a:r>
          </a:p>
        </p:txBody>
      </p:sp>
      <p:sp>
        <p:nvSpPr>
          <p:cNvPr id="64" name="S15_LEGENDE_4_BOX"/>
          <p:cNvSpPr/>
          <p:nvPr/>
        </p:nvSpPr>
        <p:spPr>
          <a:xfrm>
            <a:off x="4600800" y="6044400"/>
            <a:ext cx="183600" cy="165600"/>
          </a:xfrm>
          <a:prstGeom prst="rect">
            <a:avLst/>
          </a:prstGeom>
          <a:solidFill>
            <a:srgbClr val="3932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S15_LEGENDE_4_LABEL"/>
          <p:cNvSpPr txBox="1"/>
          <p:nvPr/>
        </p:nvSpPr>
        <p:spPr>
          <a:xfrm>
            <a:off x="4856400" y="6008400"/>
            <a:ext cx="6120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Très fort</a:t>
            </a:r>
          </a:p>
        </p:txBody>
      </p:sp>
      <p:sp>
        <p:nvSpPr>
          <p:cNvPr id="66" name="S15_FOOTNOTE"/>
          <p:cNvSpPr txBox="1"/>
          <p:nvPr/>
        </p:nvSpPr>
        <p:spPr>
          <a:xfrm>
            <a:off x="8456400" y="6008400"/>
            <a:ext cx="32328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r"/>
            <a:r>
              <a:rPr sz="900" b="0" i="1">
                <a:solidFill>
                  <a:srgbClr val="474E67"/>
                </a:solidFill>
                <a:latin typeface="Segoe UI"/>
              </a:rPr>
              <a:t>Leviers = axes d'accompagnement prioritaires par population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Impact par population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 i="0">
                <a:solidFill>
                  <a:srgbClr val="7D7B8D"/>
                </a:solidFill>
                <a:latin typeface="Segoe UI"/>
              </a:rPr>
              <a:t>02      |</a:t>
            </a:r>
          </a:p>
        </p:txBody>
      </p:sp>
      <p:pic>
        <p:nvPicPr>
          <p:cNvPr id="7" name="Picture 6" descr="safra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200" y="6447600"/>
            <a:ext cx="1090800" cy="230400"/>
          </a:xfrm>
          <a:prstGeom prst="rect">
            <a:avLst/>
          </a:prstGeom>
        </p:spPr>
      </p:pic>
      <p:sp>
        <p:nvSpPr>
          <p:cNvPr id="8" name="S15_HEADER_1"/>
          <p:cNvSpPr txBox="1"/>
          <p:nvPr/>
        </p:nvSpPr>
        <p:spPr>
          <a:xfrm>
            <a:off x="3315600" y="1310400"/>
            <a:ext cx="6336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Outils</a:t>
            </a:r>
          </a:p>
        </p:txBody>
      </p:sp>
      <p:sp>
        <p:nvSpPr>
          <p:cNvPr id="9" name="S15_HEADER_2"/>
          <p:cNvSpPr txBox="1"/>
          <p:nvPr/>
        </p:nvSpPr>
        <p:spPr>
          <a:xfrm>
            <a:off x="4723200" y="1310400"/>
            <a:ext cx="6552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Métier</a:t>
            </a:r>
          </a:p>
        </p:txBody>
      </p:sp>
      <p:sp>
        <p:nvSpPr>
          <p:cNvPr id="10" name="S15_HEADER_3"/>
          <p:cNvSpPr txBox="1"/>
          <p:nvPr/>
        </p:nvSpPr>
        <p:spPr>
          <a:xfrm>
            <a:off x="5871600" y="1310400"/>
            <a:ext cx="11412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Organisation</a:t>
            </a:r>
          </a:p>
        </p:txBody>
      </p:sp>
      <p:sp>
        <p:nvSpPr>
          <p:cNvPr id="11" name="S15_HEADER_4"/>
          <p:cNvSpPr txBox="1"/>
          <p:nvPr/>
        </p:nvSpPr>
        <p:spPr>
          <a:xfrm>
            <a:off x="7466399" y="1310400"/>
            <a:ext cx="7344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Culture</a:t>
            </a:r>
          </a:p>
        </p:txBody>
      </p:sp>
      <p:sp>
        <p:nvSpPr>
          <p:cNvPr id="12" name="S15_HEADER_5"/>
          <p:cNvSpPr txBox="1"/>
          <p:nvPr/>
        </p:nvSpPr>
        <p:spPr>
          <a:xfrm>
            <a:off x="9054000" y="1310400"/>
            <a:ext cx="2037600" cy="27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/>
            <a:r>
              <a:rPr sz="1200" b="1" i="0" cap="small">
                <a:solidFill>
                  <a:srgbClr val="070E1D"/>
                </a:solidFill>
                <a:latin typeface="Segoe UI"/>
              </a:rPr>
              <a:t>Leviers retenus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8800" y="1602000"/>
            <a:ext cx="11412000" cy="0"/>
          </a:xfrm>
          <a:prstGeom prst="line">
            <a:avLst/>
          </a:prstGeom>
          <a:ln w="19050">
            <a:solidFill>
              <a:srgbClr val="D7DAE4"/>
            </a:solidFill>
          </a:ln>
        </p:spPr>
      </p:cxnSp>
      <p:sp>
        <p:nvSpPr>
          <p:cNvPr id="14" name="S15_TABLE_LABEL_R1"/>
          <p:cNvSpPr txBox="1"/>
          <p:nvPr/>
        </p:nvSpPr>
        <p:spPr>
          <a:xfrm>
            <a:off x="388800" y="1655999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Garants de fabricabilitÚ</a:t>
            </a:r>
          </a:p>
        </p:txBody>
      </p:sp>
      <p:sp>
        <p:nvSpPr>
          <p:cNvPr id="15" name="S15_TABLE_SUBLABEL_R1"/>
          <p:cNvSpPr txBox="1"/>
          <p:nvPr/>
        </p:nvSpPr>
        <p:spPr>
          <a:xfrm>
            <a:off x="388800" y="19188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~ 5 personnes</a:t>
            </a:r>
          </a:p>
        </p:txBody>
      </p:sp>
      <p:sp>
        <p:nvSpPr>
          <p:cNvPr id="16" name="S15_TABLE_R1_C2"/>
          <p:cNvSpPr/>
          <p:nvPr/>
        </p:nvSpPr>
        <p:spPr>
          <a:xfrm>
            <a:off x="29736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15_TABLE_R1_C3"/>
          <p:cNvSpPr/>
          <p:nvPr/>
        </p:nvSpPr>
        <p:spPr>
          <a:xfrm>
            <a:off x="43668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15_TABLE_R1_C4"/>
          <p:cNvSpPr/>
          <p:nvPr/>
        </p:nvSpPr>
        <p:spPr>
          <a:xfrm>
            <a:off x="57600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3932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15_TABLE_R1_C5"/>
          <p:cNvSpPr/>
          <p:nvPr/>
        </p:nvSpPr>
        <p:spPr>
          <a:xfrm>
            <a:off x="7149600" y="1655999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15_TABLE_R1_C6"/>
          <p:cNvSpPr/>
          <p:nvPr/>
        </p:nvSpPr>
        <p:spPr>
          <a:xfrm>
            <a:off x="8542800" y="1655999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Planification 3 mois budget ; pairs VP1 en témoin RGM ; templates oSmoz outillages ; points de support MàJ et retex coord. IB</a:t>
            </a:r>
          </a:p>
        </p:txBody>
      </p:sp>
      <p:sp>
        <p:nvSpPr>
          <p:cNvPr id="21" name="S15_TABLE_LABEL_R2"/>
          <p:cNvSpPr txBox="1"/>
          <p:nvPr/>
        </p:nvSpPr>
        <p:spPr>
          <a:xfrm>
            <a:off x="388800" y="22212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1200" b="0" i="0">
                <a:solidFill>
                  <a:srgbClr val="070E1D"/>
                </a:solidFill>
                <a:latin typeface="Segoe UI"/>
              </a:rPr>
              <a:t>Experts usinage IBIF</a:t>
            </a:r>
          </a:p>
        </p:txBody>
      </p:sp>
      <p:sp>
        <p:nvSpPr>
          <p:cNvPr id="22" name="S15_TABLE_SUBLABEL_R2"/>
          <p:cNvSpPr txBox="1"/>
          <p:nvPr/>
        </p:nvSpPr>
        <p:spPr>
          <a:xfrm>
            <a:off x="388800" y="24840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TBD</a:t>
            </a:r>
          </a:p>
        </p:txBody>
      </p:sp>
      <p:sp>
        <p:nvSpPr>
          <p:cNvPr id="23" name="S15_TABLE_R2_C2"/>
          <p:cNvSpPr/>
          <p:nvPr/>
        </p:nvSpPr>
        <p:spPr>
          <a:xfrm>
            <a:off x="29736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S15_TABLE_R2_C3"/>
          <p:cNvSpPr/>
          <p:nvPr/>
        </p:nvSpPr>
        <p:spPr>
          <a:xfrm>
            <a:off x="43668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S15_TABLE_R2_C4"/>
          <p:cNvSpPr/>
          <p:nvPr/>
        </p:nvSpPr>
        <p:spPr>
          <a:xfrm>
            <a:off x="57600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S15_TABLE_R2_C5"/>
          <p:cNvSpPr/>
          <p:nvPr/>
        </p:nvSpPr>
        <p:spPr>
          <a:xfrm>
            <a:off x="7149600" y="2221200"/>
            <a:ext cx="1368000" cy="540000"/>
          </a:xfrm>
          <a:prstGeom prst="roundRect">
            <a:avLst>
              <a:gd name="adj" fmla="val 20000"/>
            </a:avLst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S15_TABLE_R2_C6"/>
          <p:cNvSpPr/>
          <p:nvPr/>
        </p:nvSpPr>
        <p:spPr>
          <a:xfrm>
            <a:off x="8542800" y="22212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74E67"/>
                </a:solidFill>
                <a:latin typeface="Segoe UI"/>
              </a:rPr>
              <a:t>Com. enjeux VP1 ; pairs VP1 en témoin ; relais d'animation RGM (livrables, RACI, ILS-1940) ; points retex post-déploiement</a:t>
            </a:r>
          </a:p>
        </p:txBody>
      </p:sp>
      <p:sp>
        <p:nvSpPr>
          <p:cNvPr id="28" name="S15_TABLE_LABEL_R3"/>
          <p:cNvSpPr txBox="1"/>
          <p:nvPr/>
        </p:nvSpPr>
        <p:spPr>
          <a:xfrm>
            <a:off x="388800" y="27828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</a:p>
        </p:txBody>
      </p:sp>
      <p:sp>
        <p:nvSpPr>
          <p:cNvPr id="29" name="S15_TABLE_SUBLABEL_R3"/>
          <p:cNvSpPr txBox="1"/>
          <p:nvPr/>
        </p:nvSpPr>
        <p:spPr>
          <a:xfrm>
            <a:off x="388800" y="30456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</a:p>
        </p:txBody>
      </p:sp>
      <p:sp>
        <p:nvSpPr>
          <p:cNvPr id="30" name="S15_TABLE_R3_C6"/>
          <p:cNvSpPr/>
          <p:nvPr/>
        </p:nvSpPr>
        <p:spPr>
          <a:xfrm>
            <a:off x="8542800" y="27828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31" name="S15_TABLE_LABEL_R4"/>
          <p:cNvSpPr txBox="1"/>
          <p:nvPr/>
        </p:nvSpPr>
        <p:spPr>
          <a:xfrm>
            <a:off x="388800" y="3344399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</a:p>
        </p:txBody>
      </p:sp>
      <p:sp>
        <p:nvSpPr>
          <p:cNvPr id="32" name="S15_TABLE_SUBLABEL_R4"/>
          <p:cNvSpPr txBox="1"/>
          <p:nvPr/>
        </p:nvSpPr>
        <p:spPr>
          <a:xfrm>
            <a:off x="388800" y="36072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</a:p>
        </p:txBody>
      </p:sp>
      <p:sp>
        <p:nvSpPr>
          <p:cNvPr id="33" name="S15_TABLE_R4_C6"/>
          <p:cNvSpPr/>
          <p:nvPr/>
        </p:nvSpPr>
        <p:spPr>
          <a:xfrm>
            <a:off x="8542800" y="3344399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34" name="S15_TABLE_LABEL_R5"/>
          <p:cNvSpPr txBox="1"/>
          <p:nvPr/>
        </p:nvSpPr>
        <p:spPr>
          <a:xfrm>
            <a:off x="388800" y="39096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</a:p>
        </p:txBody>
      </p:sp>
      <p:sp>
        <p:nvSpPr>
          <p:cNvPr id="35" name="S15_TABLE_SUBLABEL_R5"/>
          <p:cNvSpPr txBox="1"/>
          <p:nvPr/>
        </p:nvSpPr>
        <p:spPr>
          <a:xfrm>
            <a:off x="388800" y="41724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</a:p>
        </p:txBody>
      </p:sp>
      <p:sp>
        <p:nvSpPr>
          <p:cNvPr id="36" name="S15_TABLE_R5_C6"/>
          <p:cNvSpPr/>
          <p:nvPr/>
        </p:nvSpPr>
        <p:spPr>
          <a:xfrm>
            <a:off x="8542800" y="39096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</a:p>
        </p:txBody>
      </p:sp>
      <p:sp>
        <p:nvSpPr>
          <p:cNvPr id="37" name="S15_TABLE_LABEL_R6"/>
          <p:cNvSpPr txBox="1"/>
          <p:nvPr/>
        </p:nvSpPr>
        <p:spPr>
          <a:xfrm>
            <a:off x="388800" y="4471200"/>
            <a:ext cx="2422800" cy="2772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</a:p>
        </p:txBody>
      </p:sp>
      <p:sp>
        <p:nvSpPr>
          <p:cNvPr id="38" name="S15_TABLE_SUBLABEL_R6"/>
          <p:cNvSpPr txBox="1"/>
          <p:nvPr/>
        </p:nvSpPr>
        <p:spPr>
          <a:xfrm>
            <a:off x="388800" y="4734000"/>
            <a:ext cx="2422800" cy="183600"/>
          </a:xfrm>
          <a:prstGeom prst="rect">
            <a:avLst/>
          </a:prstGeom>
          <a:noFill/>
        </p:spPr>
        <p:txBody>
          <a:bodyPr wrap="square" lIns="0" rIns="45720" tIns="0" anchor="t">
            <a:spAutoFit/>
          </a:bodyPr>
          <a:lstStyle/>
          <a:p>
            <a:pPr algn="l"/>
          </a:p>
        </p:txBody>
      </p:sp>
      <p:sp>
        <p:nvSpPr>
          <p:cNvPr id="39" name="S15_TABLE_R6_C6"/>
          <p:cNvSpPr/>
          <p:nvPr/>
        </p:nvSpPr>
        <p:spPr>
          <a:xfrm>
            <a:off x="8542800" y="4471200"/>
            <a:ext cx="3261600" cy="540000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</a:ln>
        </p:spPr>
        <p:txBody>
          <a:bodyPr rtlCol="0" anchor="t" wrap="square" lIns="90000" rIns="45720" tIns="0"/>
          <a:lstStyle/>
          <a:p>
            <a:pPr algn="l">
              <a:lnSpc>
                <a:spcPct val="110000"/>
              </a:lnSpc>
            </a:pPr>
          </a:p>
        </p:txBody>
      </p:sp>
      <p:cxnSp>
        <p:nvCxnSpPr>
          <p:cNvPr id="40" name="Connector 39"/>
          <p:cNvCxnSpPr/>
          <p:nvPr/>
        </p:nvCxnSpPr>
        <p:spPr>
          <a:xfrm>
            <a:off x="388800" y="6004800"/>
            <a:ext cx="11412000" cy="0"/>
          </a:xfrm>
          <a:prstGeom prst="line">
            <a:avLst/>
          </a:prstGeom>
          <a:ln w="19050">
            <a:solidFill>
              <a:srgbClr val="D7DAE4"/>
            </a:solidFill>
          </a:ln>
        </p:spPr>
      </p:cxnSp>
      <p:sp>
        <p:nvSpPr>
          <p:cNvPr id="41" name="LEGENDE_TITLE"/>
          <p:cNvSpPr txBox="1"/>
          <p:nvPr/>
        </p:nvSpPr>
        <p:spPr>
          <a:xfrm>
            <a:off x="388800" y="6008400"/>
            <a:ext cx="6228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 cap="small">
                <a:solidFill>
                  <a:srgbClr val="474E67"/>
                </a:solidFill>
                <a:latin typeface="Segoe UI"/>
              </a:rPr>
              <a:t>Intensité</a:t>
            </a:r>
          </a:p>
        </p:txBody>
      </p:sp>
      <p:sp>
        <p:nvSpPr>
          <p:cNvPr id="42" name="S15_LEGENDE_1_BOX"/>
          <p:cNvSpPr/>
          <p:nvPr/>
        </p:nvSpPr>
        <p:spPr>
          <a:xfrm>
            <a:off x="1785600" y="6044400"/>
            <a:ext cx="183600" cy="165600"/>
          </a:xfrm>
          <a:prstGeom prst="rect">
            <a:avLst/>
          </a:prstGeom>
          <a:solidFill>
            <a:srgbClr val="CEC9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S15_LEGENDE_1_LABEL"/>
          <p:cNvSpPr txBox="1"/>
          <p:nvPr/>
        </p:nvSpPr>
        <p:spPr>
          <a:xfrm>
            <a:off x="2041200" y="6008400"/>
            <a:ext cx="4824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Faible</a:t>
            </a:r>
          </a:p>
        </p:txBody>
      </p:sp>
      <p:sp>
        <p:nvSpPr>
          <p:cNvPr id="44" name="S15_LEGENDE_2_BOX"/>
          <p:cNvSpPr/>
          <p:nvPr/>
        </p:nvSpPr>
        <p:spPr>
          <a:xfrm>
            <a:off x="2790000" y="6044400"/>
            <a:ext cx="183600" cy="165600"/>
          </a:xfrm>
          <a:prstGeom prst="rect">
            <a:avLst/>
          </a:prstGeom>
          <a:solidFill>
            <a:srgbClr val="9D9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S15_LEGENDE_2_LABEL"/>
          <p:cNvSpPr txBox="1"/>
          <p:nvPr/>
        </p:nvSpPr>
        <p:spPr>
          <a:xfrm>
            <a:off x="3045600" y="6008400"/>
            <a:ext cx="5868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Modéré</a:t>
            </a:r>
          </a:p>
        </p:txBody>
      </p:sp>
      <p:sp>
        <p:nvSpPr>
          <p:cNvPr id="46" name="S15_LEGENDE_3_BOX"/>
          <p:cNvSpPr/>
          <p:nvPr/>
        </p:nvSpPr>
        <p:spPr>
          <a:xfrm>
            <a:off x="3798000" y="6044400"/>
            <a:ext cx="183600" cy="1656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S15_LEGENDE_3_LABEL"/>
          <p:cNvSpPr txBox="1"/>
          <p:nvPr/>
        </p:nvSpPr>
        <p:spPr>
          <a:xfrm>
            <a:off x="4053600" y="6008400"/>
            <a:ext cx="3852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Fort</a:t>
            </a:r>
          </a:p>
        </p:txBody>
      </p:sp>
      <p:sp>
        <p:nvSpPr>
          <p:cNvPr id="48" name="S15_LEGENDE_4_BOX"/>
          <p:cNvSpPr/>
          <p:nvPr/>
        </p:nvSpPr>
        <p:spPr>
          <a:xfrm>
            <a:off x="4600800" y="6044400"/>
            <a:ext cx="183600" cy="165600"/>
          </a:xfrm>
          <a:prstGeom prst="rect">
            <a:avLst/>
          </a:prstGeom>
          <a:solidFill>
            <a:srgbClr val="3932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S15_LEGENDE_4_LABEL"/>
          <p:cNvSpPr txBox="1"/>
          <p:nvPr/>
        </p:nvSpPr>
        <p:spPr>
          <a:xfrm>
            <a:off x="4856400" y="6008400"/>
            <a:ext cx="6120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l"/>
            <a:r>
              <a:rPr sz="900" b="0" i="0">
                <a:solidFill>
                  <a:srgbClr val="474E67"/>
                </a:solidFill>
                <a:latin typeface="Segoe UI"/>
              </a:rPr>
              <a:t>Très fort</a:t>
            </a:r>
          </a:p>
        </p:txBody>
      </p:sp>
      <p:sp>
        <p:nvSpPr>
          <p:cNvPr id="50" name="S15_FOOTNOTE"/>
          <p:cNvSpPr txBox="1"/>
          <p:nvPr/>
        </p:nvSpPr>
        <p:spPr>
          <a:xfrm>
            <a:off x="8456400" y="6008400"/>
            <a:ext cx="3232800" cy="230400"/>
          </a:xfrm>
          <a:prstGeom prst="rect">
            <a:avLst/>
          </a:prstGeom>
          <a:noFill/>
        </p:spPr>
        <p:txBody>
          <a:bodyPr wrap="square" lIns="0" rIns="45720" anchor="t">
            <a:spAutoFit/>
          </a:bodyPr>
          <a:lstStyle/>
          <a:p>
            <a:pPr algn="r"/>
            <a:r>
              <a:rPr sz="900" b="0" i="1">
                <a:solidFill>
                  <a:srgbClr val="474E67"/>
                </a:solidFill>
                <a:latin typeface="Segoe UI"/>
              </a:rPr>
              <a:t>Leviers = axes d'accompagnement prioritaires par population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