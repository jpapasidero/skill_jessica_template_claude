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notesMasterIdLst>
    <p:notesMasterId r:id="rId18"/>
  </p:notesMasterIdLst>
  <p:sldIdLst>
    <p:sldId id="1188" r:id="rId2"/>
    <p:sldId id="261" r:id="rId3"/>
    <p:sldId id="1100" r:id="rId4"/>
    <p:sldId id="1246" r:id="rId5"/>
    <p:sldId id="263" r:id="rId6"/>
    <p:sldId id="1138" r:id="rId7"/>
    <p:sldId id="1183" r:id="rId8"/>
    <p:sldId id="1244" r:id="rId9"/>
    <p:sldId id="1247" r:id="rId10"/>
    <p:sldId id="1179" r:id="rId11"/>
    <p:sldId id="1202" r:id="rId12"/>
    <p:sldId id="1250" r:id="rId13"/>
    <p:sldId id="1248" r:id="rId14"/>
    <p:sldId id="1249" r:id="rId15"/>
    <p:sldId id="1253" r:id="rId16"/>
    <p:sldId id="1252" r:id="rId17"/>
  </p:sldIdLst>
  <p:sldSz cx="12192000" cy="6858000"/>
  <p:notesSz cx="7099300" cy="102346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63636"/>
    <a:srgbClr val="000000"/>
    <a:srgbClr val="070E1D"/>
    <a:srgbClr val="D7DAE4"/>
    <a:srgbClr val="9D93AB"/>
    <a:srgbClr val="CEC9D5"/>
    <a:srgbClr val="BBB4C4"/>
    <a:srgbClr val="8A7E9A"/>
    <a:srgbClr val="6A5D79"/>
    <a:srgbClr val="3932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349" autoAdjust="0"/>
    <p:restoredTop sz="97382" autoAdjust="0"/>
  </p:normalViewPr>
  <p:slideViewPr>
    <p:cSldViewPr snapToGrid="0">
      <p:cViewPr>
        <p:scale>
          <a:sx n="125" d="100"/>
          <a:sy n="125" d="100"/>
        </p:scale>
        <p:origin x="504" y="90"/>
      </p:cViewPr>
      <p:guideLst/>
    </p:cSldViewPr>
  </p:slideViewPr>
  <p:notesTextViewPr>
    <p:cViewPr>
      <p:scale>
        <a:sx n="300" d="100"/>
        <a:sy n="3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3508"/>
          </a:xfrm>
          <a:prstGeom prst="rect">
            <a:avLst/>
          </a:prstGeom>
        </p:spPr>
        <p:txBody>
          <a:bodyPr vert="horz" lIns="99043" tIns="49521" rIns="99043" bIns="49521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1295" y="0"/>
            <a:ext cx="3076363" cy="513508"/>
          </a:xfrm>
          <a:prstGeom prst="rect">
            <a:avLst/>
          </a:prstGeom>
        </p:spPr>
        <p:txBody>
          <a:bodyPr vert="horz" lIns="99043" tIns="49521" rIns="99043" bIns="49521" rtlCol="0"/>
          <a:lstStyle>
            <a:lvl1pPr algn="r">
              <a:defRPr sz="1200"/>
            </a:lvl1pPr>
          </a:lstStyle>
          <a:p>
            <a:fld id="{74E50602-D9D8-4633-AD9A-D17E9F0111D3}" type="datetimeFigureOut">
              <a:rPr lang="fr-FR" smtClean="0"/>
              <a:t>12/05/2026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3" tIns="49521" rIns="99043" bIns="49521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709931" y="4925408"/>
            <a:ext cx="5679440" cy="4029879"/>
          </a:xfrm>
          <a:prstGeom prst="rect">
            <a:avLst/>
          </a:prstGeom>
        </p:spPr>
        <p:txBody>
          <a:bodyPr vert="horz" lIns="99043" tIns="49521" rIns="99043" bIns="49521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1" y="9721107"/>
            <a:ext cx="3076363" cy="513507"/>
          </a:xfrm>
          <a:prstGeom prst="rect">
            <a:avLst/>
          </a:prstGeom>
        </p:spPr>
        <p:txBody>
          <a:bodyPr vert="horz" lIns="99043" tIns="49521" rIns="99043" bIns="49521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1295" y="9721107"/>
            <a:ext cx="3076363" cy="513507"/>
          </a:xfrm>
          <a:prstGeom prst="rect">
            <a:avLst/>
          </a:prstGeom>
        </p:spPr>
        <p:txBody>
          <a:bodyPr vert="horz" lIns="99043" tIns="49521" rIns="99043" bIns="49521" rtlCol="0" anchor="b"/>
          <a:lstStyle>
            <a:lvl1pPr algn="r">
              <a:defRPr sz="1200"/>
            </a:lvl1pPr>
          </a:lstStyle>
          <a:p>
            <a:fld id="{47808CCC-6B83-45C9-8B77-B2436CA00EE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53982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808CCC-6B83-45C9-8B77-B2436CA00EEB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60701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808CCC-6B83-45C9-8B77-B2436CA00EEB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25293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EF903-9A27-15B9-6C75-E6413EB12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2B2EE6-CB8D-F30D-3913-E12993488E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163FFB-713D-4CD3-9CAD-4C8945287D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fr-FR" sz="1100" dirty="0">
              <a:latin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C974ED-3536-71E5-F6EC-C5255EE70B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1088555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42943-4966-275F-0755-A0CEBBDB1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D317CF-80BF-3564-BC1B-2D2BAD67C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19BA35-DA2B-A577-DD44-C7D7ED97A6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CF72BC-3C4B-085C-1CD1-170FD53244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9260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94DFB-B826-E9C4-F4E6-241D2F99B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9BB690-B5AF-0FEF-53F1-9ED18B7119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62913D-9427-E354-2664-4651433D39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fr-FR" sz="1100" dirty="0">
              <a:latin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8A7181-DE68-3582-D3E3-8D664D1734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3120118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19864-B4CF-F4A1-B5E1-55089A688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0532599-5B41-438D-8CE3-4928C35E6A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CE413BC-801C-1CBD-949E-86C6E1CA2A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1226F75-0DDD-FF51-B5D4-2D96F5432D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808CCC-6B83-45C9-8B77-B2436CA00EEB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41206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1E77F-C5D0-0DD0-3DC8-A7CFD1587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E12E5AD-8DF9-AFB1-C9C6-9E2BEDE5F2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8911757-E4AB-2517-C431-9E0F49AC74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73D893B-8A70-E50B-FC52-3535C9BAF9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808CCC-6B83-45C9-8B77-B2436CA00EEB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29057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_White vria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62B4ADC-2F3D-9A7B-F4CB-9D3FBC2D15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7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9997890B-37E7-8259-D78C-BF631660D3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here to add a title 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381792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62B4ADC-2F3D-9A7B-F4CB-9D3FBC2D15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501075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7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contenu 3">
            <a:extLst>
              <a:ext uri="{FF2B5EF4-FFF2-40B4-BE49-F238E27FC236}">
                <a16:creationId xmlns:a16="http://schemas.microsoft.com/office/drawing/2014/main" id="{14E6BA19-6303-EEAE-18EC-0686F94CEE2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83119" y="1335205"/>
            <a:ext cx="11425767" cy="48287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endParaRPr lang="fr-FR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9997890B-37E7-8259-D78C-BF631660D3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here to add a title 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100842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TEXT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0607D16-1B92-3382-E419-3AFAAEAAEC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7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FF4275CF-95CE-BCA6-96E1-1283473E8A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/>
        <p:txBody>
          <a:bodyPr/>
          <a:lstStyle>
            <a:lvl1pPr>
              <a:defRPr>
                <a:solidFill>
                  <a:srgbClr val="6A5D79"/>
                </a:solidFill>
              </a:defRPr>
            </a:lvl1pPr>
            <a:lvl2pPr marL="463735" indent="-218100">
              <a:defRPr kumimoji="0" lang="fr-FR" sz="1867" b="0" i="0" u="none" strike="noStrike" kern="1200" cap="none" spc="0" normalizeH="0" baseline="0" dirty="0" smtClean="0">
                <a:ln>
                  <a:noFill/>
                </a:ln>
                <a:solidFill>
                  <a:srgbClr val="474E67"/>
                </a:solidFill>
                <a:effectLst/>
                <a:uLnTx/>
                <a:uFillTx/>
                <a:latin typeface="+mn-lt"/>
                <a:ea typeface="+mn-ea"/>
                <a:cs typeface="Arial" pitchFamily="34" charset="0"/>
              </a:defRPr>
            </a:lvl2pPr>
            <a:lvl3pPr marL="681379" indent="-218100">
              <a:defRPr kumimoji="0" lang="fr-FR" sz="1600" b="0" i="0" u="none" strike="noStrike" kern="1200" cap="none" spc="0" normalizeH="0" baseline="0" dirty="0">
                <a:ln>
                  <a:noFill/>
                </a:ln>
                <a:solidFill>
                  <a:srgbClr val="5D6379"/>
                </a:solidFill>
                <a:effectLst/>
                <a:uLnTx/>
                <a:uFillTx/>
                <a:latin typeface="+mn-lt"/>
                <a:ea typeface="+mn-ea"/>
                <a:cs typeface="Arial" pitchFamily="34" charset="0"/>
              </a:defRPr>
            </a:lvl3pPr>
          </a:lstStyle>
          <a:p>
            <a:pPr lvl="0"/>
            <a:r>
              <a:rPr lang="en-US"/>
              <a:t>Click here to add text </a:t>
            </a:r>
            <a:endParaRPr lang="fr-FR"/>
          </a:p>
          <a:p>
            <a:pPr marL="463735" marR="0" lvl="1" indent="-218100" algn="l" defTabSz="1219692" rtl="0" eaLnBrk="1" fontAlgn="auto" latinLnBrk="0" hangingPunct="1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6A5D79"/>
              </a:buClr>
              <a:buSzTx/>
              <a:buFont typeface="Wingdings" pitchFamily="2" charset="2"/>
              <a:buChar char="§"/>
              <a:tabLst/>
              <a:defRPr/>
            </a:pPr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  <a:p>
            <a:pPr marL="681379" marR="0" lvl="2" indent="-218100" algn="l" defTabSz="1219692" rtl="0" eaLnBrk="1" fontAlgn="auto" latinLnBrk="0" hangingPunct="1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6A5D79"/>
              </a:buClr>
              <a:buSzTx/>
              <a:buFont typeface="Wingdings" pitchFamily="2" charset="2"/>
              <a:buChar char="§"/>
              <a:tabLst/>
              <a:defRPr/>
            </a:pPr>
            <a:r>
              <a:rPr lang="fr-FR" err="1"/>
              <a:t>Third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</p:txBody>
      </p:sp>
      <p:sp>
        <p:nvSpPr>
          <p:cNvPr id="7" name="Titre 6">
            <a:extLst>
              <a:ext uri="{FF2B5EF4-FFF2-40B4-BE49-F238E27FC236}">
                <a16:creationId xmlns:a16="http://schemas.microsoft.com/office/drawing/2014/main" id="{23B65914-3E95-9769-13F1-60E51F6D22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here to add a title 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054199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 15">
            <a:extLst>
              <a:ext uri="{FF2B5EF4-FFF2-40B4-BE49-F238E27FC236}">
                <a16:creationId xmlns:a16="http://schemas.microsoft.com/office/drawing/2014/main" id="{47F4591A-171D-4B6F-91D4-CD89F6E4B04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10716753" y="6447671"/>
            <a:ext cx="1090180" cy="230791"/>
          </a:xfrm>
          <a:prstGeom prst="rect">
            <a:avLst/>
          </a:prstGeom>
          <a:noFill/>
        </p:spPr>
      </p:pic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8B519F6C-EBB1-41F2-9E05-DEE79643C5DB}"/>
              </a:ext>
            </a:extLst>
          </p:cNvPr>
          <p:cNvCxnSpPr>
            <a:cxnSpLocks/>
          </p:cNvCxnSpPr>
          <p:nvPr userDrawn="1"/>
        </p:nvCxnSpPr>
        <p:spPr>
          <a:xfrm>
            <a:off x="675979" y="6480670"/>
            <a:ext cx="0" cy="18460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ZoneTexte 17">
            <a:extLst>
              <a:ext uri="{FF2B5EF4-FFF2-40B4-BE49-F238E27FC236}">
                <a16:creationId xmlns:a16="http://schemas.microsoft.com/office/drawing/2014/main" id="{7532A455-C781-4527-AD8C-3511FB0D154E}"/>
              </a:ext>
            </a:extLst>
          </p:cNvPr>
          <p:cNvSpPr txBox="1"/>
          <p:nvPr userDrawn="1"/>
        </p:nvSpPr>
        <p:spPr>
          <a:xfrm>
            <a:off x="383117" y="6665275"/>
            <a:ext cx="9476499" cy="1435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933" b="0" i="0" u="none" strike="noStrike" baseline="0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</a:rPr>
              <a:t>This document and the information therein are the property of Safran. They must not be copied or communicated to a third party without the prior written authorization of Safran</a:t>
            </a:r>
            <a:endParaRPr lang="fr-FR" sz="2133" dirty="0">
              <a:solidFill>
                <a:schemeClr val="bg2">
                  <a:lumMod val="60000"/>
                  <a:lumOff val="40000"/>
                </a:schemeClr>
              </a:solidFill>
              <a:latin typeface="+mn-lt"/>
            </a:endParaRPr>
          </a:p>
        </p:txBody>
      </p:sp>
      <p:sp>
        <p:nvSpPr>
          <p:cNvPr id="20" name="Espace réservé du numéro de diapositive 13">
            <a:extLst>
              <a:ext uri="{FF2B5EF4-FFF2-40B4-BE49-F238E27FC236}">
                <a16:creationId xmlns:a16="http://schemas.microsoft.com/office/drawing/2014/main" id="{CD93E076-75DB-4427-A260-9445BE8C8B75}"/>
              </a:ext>
            </a:extLst>
          </p:cNvPr>
          <p:cNvSpPr txBox="1">
            <a:spLocks/>
          </p:cNvSpPr>
          <p:nvPr userDrawn="1"/>
        </p:nvSpPr>
        <p:spPr>
          <a:xfrm>
            <a:off x="374581" y="6490246"/>
            <a:ext cx="251672" cy="164212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900" b="1" kern="1200">
                <a:solidFill>
                  <a:schemeClr val="tx2"/>
                </a:solidFill>
                <a:latin typeface="Segoe UI" panose="020B050204020402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E85CA73-2D89-4D6A-A923-B574D1DA086D}" type="slidenum">
              <a:rPr lang="fr-FR" sz="1067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pPr/>
              <a:t>‹N°›</a:t>
            </a:fld>
            <a:endParaRPr lang="fr-FR" sz="1067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Espace réservé du titre 2">
            <a:extLst>
              <a:ext uri="{FF2B5EF4-FFF2-40B4-BE49-F238E27FC236}">
                <a16:creationId xmlns:a16="http://schemas.microsoft.com/office/drawing/2014/main" id="{B9383F94-4300-4F00-9605-92CC0B158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35" y="256373"/>
            <a:ext cx="11413296" cy="569207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/>
          <a:p>
            <a:r>
              <a:rPr lang="en-US" dirty="0"/>
              <a:t>Click here to add a title </a:t>
            </a:r>
            <a:endParaRPr lang="fr-FR" dirty="0"/>
          </a:p>
        </p:txBody>
      </p: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7B4C35C0-4DF7-499F-A0E9-DE22F8DE2F62}"/>
              </a:ext>
            </a:extLst>
          </p:cNvPr>
          <p:cNvCxnSpPr>
            <a:cxnSpLocks/>
          </p:cNvCxnSpPr>
          <p:nvPr userDrawn="1"/>
        </p:nvCxnSpPr>
        <p:spPr>
          <a:xfrm>
            <a:off x="393637" y="974343"/>
            <a:ext cx="1327481" cy="0"/>
          </a:xfrm>
          <a:prstGeom prst="line">
            <a:avLst/>
          </a:prstGeom>
          <a:solidFill>
            <a:srgbClr val="484C6A"/>
          </a:solidFill>
          <a:ln w="12700" cap="flat" cmpd="sng" algn="ctr">
            <a:solidFill>
              <a:schemeClr val="accent2"/>
            </a:solidFill>
            <a:prstDash val="solid"/>
            <a:miter lim="800000"/>
          </a:ln>
          <a:effectLst/>
        </p:spPr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CA032F39-BF54-4A07-A2E9-9CECCF93C9A6}"/>
              </a:ext>
            </a:extLst>
          </p:cNvPr>
          <p:cNvSpPr/>
          <p:nvPr userDrawn="1"/>
        </p:nvSpPr>
        <p:spPr>
          <a:xfrm>
            <a:off x="393637" y="885850"/>
            <a:ext cx="672074" cy="95981"/>
          </a:xfrm>
          <a:prstGeom prst="rect">
            <a:avLst/>
          </a:prstGeom>
          <a:solidFill>
            <a:srgbClr val="484C6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880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399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33C5864-A815-9137-28E9-1104EAB284FF}"/>
              </a:ext>
            </a:extLst>
          </p:cNvPr>
          <p:cNvSpPr>
            <a:spLocks noGrp="1"/>
          </p:cNvSpPr>
          <p:nvPr userDrawn="1">
            <p:ph type="ftr" sz="quarter" idx="3"/>
          </p:nvPr>
        </p:nvSpPr>
        <p:spPr>
          <a:xfrm>
            <a:off x="675978" y="6492774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7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B7E8C8B3-8552-D897-BC35-19AAA48A5071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74582" y="1335207"/>
            <a:ext cx="11425765" cy="48287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here to add text </a:t>
            </a:r>
            <a:endParaRPr lang="fr-FR"/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  <a:p>
            <a:pPr lvl="2"/>
            <a:r>
              <a:rPr lang="fr-FR" err="1"/>
              <a:t>Third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</p:txBody>
      </p:sp>
      <p:sp>
        <p:nvSpPr>
          <p:cNvPr id="2" name="ZoneTexte 1"/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633212" y="63500"/>
            <a:ext cx="950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fr-FR" sz="1000">
                <a:solidFill>
                  <a:srgbClr val="FF8C00">
                    <a:alpha val="50000"/>
                  </a:srgbClr>
                </a:solidFill>
                <a:latin typeface="Aptos" panose="020B0004020202020204" pitchFamily="34" charset="0"/>
              </a:rPr>
              <a:t>C2 - Confidential</a:t>
            </a:r>
          </a:p>
        </p:txBody>
      </p:sp>
    </p:spTree>
    <p:extLst>
      <p:ext uri="{BB962C8B-B14F-4D97-AF65-F5344CB8AC3E}">
        <p14:creationId xmlns:p14="http://schemas.microsoft.com/office/powerpoint/2010/main" val="3599452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</p:sldLayoutIdLst>
  <p:transition>
    <p:fade/>
  </p:transition>
  <p:hf sldNum="0" hdr="0" ftr="0" dt="0"/>
  <p:txStyles>
    <p:titleStyle>
      <a:lvl1pPr algn="l" defTabSz="1219692" rtl="0" eaLnBrk="1" latinLnBrk="0" hangingPunct="1">
        <a:spcBef>
          <a:spcPct val="0"/>
        </a:spcBef>
        <a:buNone/>
        <a:defRPr sz="2932" b="0" i="0" kern="1200" cap="none" baseline="0">
          <a:solidFill>
            <a:srgbClr val="484C6A"/>
          </a:solidFill>
          <a:latin typeface="+mj-lt"/>
          <a:ea typeface="+mj-ea"/>
          <a:cs typeface="Arial" pitchFamily="34" charset="0"/>
        </a:defRPr>
      </a:lvl1pPr>
    </p:titleStyle>
    <p:bodyStyle>
      <a:lvl1pPr marL="243518" indent="-243518" algn="l" defTabSz="1219692" rtl="0" eaLnBrk="1" latinLnBrk="0" hangingPunct="1">
        <a:lnSpc>
          <a:spcPct val="90000"/>
        </a:lnSpc>
        <a:spcBef>
          <a:spcPts val="1067"/>
        </a:spcBef>
        <a:buClr>
          <a:srgbClr val="6A5D79"/>
        </a:buClr>
        <a:buFont typeface="Wingdings" pitchFamily="2" charset="2"/>
        <a:buChar char="§"/>
        <a:defRPr sz="2133" b="1" i="0" kern="1200" baseline="0">
          <a:solidFill>
            <a:srgbClr val="6A5D79"/>
          </a:solidFill>
          <a:latin typeface="+mn-lt"/>
          <a:ea typeface="+mn-ea"/>
          <a:cs typeface="Arial" pitchFamily="34" charset="0"/>
        </a:defRPr>
      </a:lvl1pPr>
      <a:lvl2pPr marL="463735" indent="-218100" algn="l" defTabSz="1219692" rtl="0" eaLnBrk="1" latinLnBrk="0" hangingPunct="1">
        <a:lnSpc>
          <a:spcPct val="90000"/>
        </a:lnSpc>
        <a:spcBef>
          <a:spcPts val="533"/>
        </a:spcBef>
        <a:buClr>
          <a:srgbClr val="6A5D79"/>
        </a:buClr>
        <a:buFont typeface="Wingdings" pitchFamily="2" charset="2"/>
        <a:buChar char="§"/>
        <a:defRPr kumimoji="0" lang="fr-FR" sz="1867" b="0" i="0" u="none" strike="noStrike" kern="1200" cap="none" spc="0" normalizeH="0" baseline="0" dirty="0">
          <a:ln>
            <a:noFill/>
          </a:ln>
          <a:solidFill>
            <a:srgbClr val="474E67"/>
          </a:solidFill>
          <a:effectLst/>
          <a:uLnTx/>
          <a:uFillTx/>
          <a:latin typeface="+mn-lt"/>
          <a:ea typeface="+mn-ea"/>
          <a:cs typeface="Arial" pitchFamily="34" charset="0"/>
        </a:defRPr>
      </a:lvl2pPr>
      <a:lvl3pPr marL="681379" indent="-218100" algn="l" defTabSz="1219692" rtl="0" eaLnBrk="1" latinLnBrk="0" hangingPunct="1">
        <a:lnSpc>
          <a:spcPct val="90000"/>
        </a:lnSpc>
        <a:spcBef>
          <a:spcPts val="533"/>
        </a:spcBef>
        <a:buClr>
          <a:srgbClr val="6A5D79"/>
        </a:buClr>
        <a:buFont typeface="Wingdings" pitchFamily="2" charset="2"/>
        <a:buChar char="§"/>
        <a:defRPr sz="1600" i="0" kern="1200" baseline="0">
          <a:solidFill>
            <a:srgbClr val="5D6379"/>
          </a:solidFill>
          <a:latin typeface="+mn-lt"/>
          <a:ea typeface="+mn-ea"/>
          <a:cs typeface="Arial" pitchFamily="34" charset="0"/>
        </a:defRPr>
      </a:lvl3pPr>
      <a:lvl4pPr marL="2134452" indent="-304919" algn="l" defTabSz="1219692" rtl="0" eaLnBrk="1" latinLnBrk="0" hangingPunct="1">
        <a:spcBef>
          <a:spcPct val="20000"/>
        </a:spcBef>
        <a:buFont typeface="Wingdings" pitchFamily="2" charset="2"/>
        <a:buChar char="§"/>
        <a:defRPr sz="1599" i="0" kern="1200">
          <a:solidFill>
            <a:schemeClr val="accent2"/>
          </a:solidFill>
          <a:latin typeface="+mj-lt"/>
          <a:ea typeface="+mn-ea"/>
          <a:cs typeface="Arial" pitchFamily="34" charset="0"/>
        </a:defRPr>
      </a:lvl4pPr>
      <a:lvl5pPr marL="2744290" indent="-304919" algn="l" defTabSz="1219692" rtl="0" eaLnBrk="1" latinLnBrk="0" hangingPunct="1">
        <a:spcBef>
          <a:spcPct val="20000"/>
        </a:spcBef>
        <a:buFont typeface="Wingdings" pitchFamily="2" charset="2"/>
        <a:buChar char="§"/>
        <a:defRPr sz="1599" i="0" kern="1200">
          <a:solidFill>
            <a:schemeClr val="accent2"/>
          </a:solidFill>
          <a:latin typeface="+mj-lt"/>
          <a:ea typeface="+mn-ea"/>
          <a:cs typeface="Arial" pitchFamily="34" charset="0"/>
        </a:defRPr>
      </a:lvl5pPr>
      <a:lvl6pPr marL="3354136" indent="-304919" algn="l" defTabSz="1219692" rtl="0" eaLnBrk="1" latinLnBrk="0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3972" indent="-304919" algn="l" defTabSz="1219692" rtl="0" eaLnBrk="1" latinLnBrk="0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3824" indent="-304919" algn="l" defTabSz="1219692" rtl="0" eaLnBrk="1" latinLnBrk="0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3662" indent="-304919" algn="l" defTabSz="1219692" rtl="0" eaLnBrk="1" latinLnBrk="0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1219692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1pPr>
      <a:lvl2pPr marL="609841" algn="l" defTabSz="1219692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2pPr>
      <a:lvl3pPr marL="1219692" algn="l" defTabSz="1219692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3pPr>
      <a:lvl4pPr marL="1829528" algn="l" defTabSz="1219692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4pPr>
      <a:lvl5pPr marL="2439371" algn="l" defTabSz="1219692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5pPr>
      <a:lvl6pPr marL="3049212" algn="l" defTabSz="1219692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6pPr>
      <a:lvl7pPr marL="3659053" algn="l" defTabSz="1219692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7pPr>
      <a:lvl8pPr marL="4268900" algn="l" defTabSz="1219692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8pPr>
      <a:lvl9pPr marL="4878742" algn="l" defTabSz="1219692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981">
          <p15:clr>
            <a:srgbClr val="F26B43"/>
          </p15:clr>
        </p15:guide>
        <p15:guide id="2" pos="5579">
          <p15:clr>
            <a:srgbClr val="F26B43"/>
          </p15:clr>
        </p15:guide>
        <p15:guide id="3" pos="181">
          <p15:clr>
            <a:srgbClr val="F26B43"/>
          </p15:clr>
        </p15:guide>
        <p15:guide id="4" orient="horz" pos="195">
          <p15:clr>
            <a:srgbClr val="F26B43"/>
          </p15:clr>
        </p15:guide>
        <p15:guide id="5" orient="horz" pos="3852">
          <p15:clr>
            <a:srgbClr val="F26B43"/>
          </p15:clr>
        </p15:guide>
        <p15:guide id="6" orient="horz" pos="285">
          <p15:clr>
            <a:srgbClr val="F26B43"/>
          </p15:clr>
        </p15:guide>
        <p15:guide id="8" pos="7491">
          <p15:clr>
            <a:srgbClr val="F26B43"/>
          </p15:clr>
        </p15:guide>
        <p15:guide id="9" pos="7391">
          <p15:clr>
            <a:srgbClr val="F26B43"/>
          </p15:clr>
        </p15:guide>
        <p15:guide id="10" orient="horz" pos="464">
          <p15:clr>
            <a:srgbClr val="F26B43"/>
          </p15:clr>
        </p15:guide>
        <p15:guide id="11" orient="horz" pos="2913">
          <p15:clr>
            <a:srgbClr val="F26B43"/>
          </p15:clr>
        </p15:guide>
        <p15:guide id="12" pos="2880">
          <p15:clr>
            <a:srgbClr val="F26B43"/>
          </p15:clr>
        </p15:guide>
        <p15:guide id="13" orient="horz" pos="63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EE4F7C-9523-C770-9A4C-03E1586A5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01_TITLE">
            <a:extLst>
              <a:ext uri="{FF2B5EF4-FFF2-40B4-BE49-F238E27FC236}">
                <a16:creationId xmlns:a16="http://schemas.microsoft.com/office/drawing/2014/main" id="{185C21F2-94AF-7299-346E-46F7DE129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Hook sens + factuel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C64BE9-96CD-5C1E-2475-759AF9A53B2B}"/>
              </a:ext>
            </a:extLst>
          </p:cNvPr>
          <p:cNvSpPr/>
          <p:nvPr/>
        </p:nvSpPr>
        <p:spPr>
          <a:xfrm>
            <a:off x="396137" y="-1381154"/>
            <a:ext cx="855670" cy="822599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682">
              <a:defRPr/>
            </a:pPr>
            <a:endParaRPr lang="fr-FR" sz="2399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86615E-CEED-B115-BDDF-74919E52B5F2}"/>
              </a:ext>
            </a:extLst>
          </p:cNvPr>
          <p:cNvSpPr/>
          <p:nvPr/>
        </p:nvSpPr>
        <p:spPr>
          <a:xfrm>
            <a:off x="1391845" y="-1381154"/>
            <a:ext cx="855670" cy="822599"/>
          </a:xfrm>
          <a:prstGeom prst="rect">
            <a:avLst/>
          </a:prstGeom>
          <a:solidFill>
            <a:srgbClr val="BABD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682">
              <a:defRPr/>
            </a:pPr>
            <a:endParaRPr lang="fr-FR" sz="2399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EFDF6F-62DF-F798-C0CF-34CADF53C406}"/>
              </a:ext>
            </a:extLst>
          </p:cNvPr>
          <p:cNvSpPr/>
          <p:nvPr/>
        </p:nvSpPr>
        <p:spPr>
          <a:xfrm>
            <a:off x="2385597" y="-1381154"/>
            <a:ext cx="855670" cy="822599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682">
              <a:defRPr/>
            </a:pPr>
            <a:endParaRPr lang="fr-FR" sz="2399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291974-EF41-113C-09BE-BA4BED29308B}"/>
              </a:ext>
            </a:extLst>
          </p:cNvPr>
          <p:cNvSpPr/>
          <p:nvPr/>
        </p:nvSpPr>
        <p:spPr>
          <a:xfrm>
            <a:off x="3381305" y="-1381154"/>
            <a:ext cx="855670" cy="822599"/>
          </a:xfrm>
          <a:prstGeom prst="rect">
            <a:avLst/>
          </a:prstGeom>
          <a:solidFill>
            <a:srgbClr val="BBB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682">
              <a:defRPr/>
            </a:pPr>
            <a:endParaRPr lang="fr-FR" sz="2399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1B2E8C-CF89-F648-CD93-0B9F6FD6B06C}"/>
              </a:ext>
            </a:extLst>
          </p:cNvPr>
          <p:cNvSpPr/>
          <p:nvPr/>
        </p:nvSpPr>
        <p:spPr>
          <a:xfrm>
            <a:off x="4471896" y="-1381154"/>
            <a:ext cx="855670" cy="822599"/>
          </a:xfrm>
          <a:prstGeom prst="rect">
            <a:avLst/>
          </a:prstGeom>
          <a:solidFill>
            <a:srgbClr val="A258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682">
              <a:defRPr/>
            </a:pPr>
            <a:endParaRPr lang="fr-FR" sz="2399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64113E-353F-1094-BDEE-66EF1F6B30FC}"/>
              </a:ext>
            </a:extLst>
          </p:cNvPr>
          <p:cNvSpPr/>
          <p:nvPr/>
        </p:nvSpPr>
        <p:spPr>
          <a:xfrm>
            <a:off x="5467602" y="-1381154"/>
            <a:ext cx="855670" cy="822599"/>
          </a:xfrm>
          <a:prstGeom prst="rect">
            <a:avLst/>
          </a:prstGeom>
          <a:solidFill>
            <a:srgbClr val="D5B3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682">
              <a:defRPr/>
            </a:pPr>
            <a:endParaRPr lang="fr-FR" sz="2399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F5D2E22-D2FC-AF12-40BD-3829F4255C00}"/>
              </a:ext>
            </a:extLst>
          </p:cNvPr>
          <p:cNvSpPr/>
          <p:nvPr/>
        </p:nvSpPr>
        <p:spPr>
          <a:xfrm>
            <a:off x="6461356" y="-1381154"/>
            <a:ext cx="855670" cy="822599"/>
          </a:xfrm>
          <a:prstGeom prst="rect">
            <a:avLst/>
          </a:prstGeom>
          <a:solidFill>
            <a:srgbClr val="D473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682">
              <a:defRPr/>
            </a:pPr>
            <a:endParaRPr lang="fr-FR" sz="2399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8545D9-0E91-6268-9E4A-5BEFA09D8205}"/>
              </a:ext>
            </a:extLst>
          </p:cNvPr>
          <p:cNvSpPr/>
          <p:nvPr/>
        </p:nvSpPr>
        <p:spPr>
          <a:xfrm>
            <a:off x="7457063" y="-1381154"/>
            <a:ext cx="855670" cy="822599"/>
          </a:xfrm>
          <a:prstGeom prst="rect">
            <a:avLst/>
          </a:prstGeom>
          <a:solidFill>
            <a:srgbClr val="F1D3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682">
              <a:defRPr/>
            </a:pPr>
            <a:endParaRPr lang="fr-FR" sz="2399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41A97F0-5CE5-10CC-E1A1-EADB01B5F29C}"/>
              </a:ext>
            </a:extLst>
          </p:cNvPr>
          <p:cNvSpPr/>
          <p:nvPr/>
        </p:nvSpPr>
        <p:spPr>
          <a:xfrm>
            <a:off x="8478924" y="-1381154"/>
            <a:ext cx="855670" cy="822599"/>
          </a:xfrm>
          <a:prstGeom prst="rect">
            <a:avLst/>
          </a:prstGeom>
          <a:solidFill>
            <a:srgbClr val="FDA8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682">
              <a:defRPr/>
            </a:pPr>
            <a:endParaRPr lang="fr-FR" sz="2399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3042F1A-B785-09EC-28F3-E712794C8D64}"/>
              </a:ext>
            </a:extLst>
          </p:cNvPr>
          <p:cNvSpPr/>
          <p:nvPr/>
        </p:nvSpPr>
        <p:spPr>
          <a:xfrm>
            <a:off x="9474630" y="-1381154"/>
            <a:ext cx="855670" cy="822599"/>
          </a:xfrm>
          <a:prstGeom prst="rect">
            <a:avLst/>
          </a:prstGeom>
          <a:solidFill>
            <a:srgbClr val="FEE3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682">
              <a:defRPr/>
            </a:pPr>
            <a:endParaRPr lang="fr-FR" sz="2399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3820589-3871-B717-B8CF-C7107B572084}"/>
              </a:ext>
            </a:extLst>
          </p:cNvPr>
          <p:cNvSpPr/>
          <p:nvPr/>
        </p:nvSpPr>
        <p:spPr>
          <a:xfrm>
            <a:off x="10470338" y="-1381154"/>
            <a:ext cx="855670" cy="822599"/>
          </a:xfrm>
          <a:prstGeom prst="rect">
            <a:avLst/>
          </a:prstGeom>
          <a:solidFill>
            <a:srgbClr val="FBCC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682">
              <a:defRPr/>
            </a:pPr>
            <a:endParaRPr lang="fr-FR" sz="2399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FBB8001-8F97-6A26-9EB1-A6545BE9CD79}"/>
              </a:ext>
            </a:extLst>
          </p:cNvPr>
          <p:cNvSpPr/>
          <p:nvPr/>
        </p:nvSpPr>
        <p:spPr>
          <a:xfrm>
            <a:off x="11466044" y="-1381154"/>
            <a:ext cx="855670" cy="822599"/>
          </a:xfrm>
          <a:prstGeom prst="rect">
            <a:avLst/>
          </a:prstGeom>
          <a:solidFill>
            <a:srgbClr val="FDEB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682">
              <a:defRPr/>
            </a:pPr>
            <a:endParaRPr lang="fr-FR" sz="2399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20" name="S01_STAT_1_VALUE">
            <a:extLst>
              <a:ext uri="{FF2B5EF4-FFF2-40B4-BE49-F238E27FC236}">
                <a16:creationId xmlns:a16="http://schemas.microsoft.com/office/drawing/2014/main" id="{FFA10157-5451-E793-4B00-E428D4524207}"/>
              </a:ext>
            </a:extLst>
          </p:cNvPr>
          <p:cNvSpPr txBox="1">
            <a:spLocks noGrp="1"/>
          </p:cNvSpPr>
          <p:nvPr/>
        </p:nvSpPr>
        <p:spPr>
          <a:xfrm>
            <a:off x="8711065" y="1143298"/>
            <a:ext cx="3403157" cy="7619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fr-FR" sz="4400" b="1" dirty="0">
                <a:solidFill>
                  <a:srgbClr val="6A5D79"/>
                </a:solidFill>
                <a:latin typeface="Segoe UI Black"/>
              </a:rPr>
              <a:t>260 M€</a:t>
            </a:r>
          </a:p>
        </p:txBody>
      </p:sp>
      <p:sp>
        <p:nvSpPr>
          <p:cNvPr id="22" name="S01_STAT_1_LABEL">
            <a:extLst>
              <a:ext uri="{FF2B5EF4-FFF2-40B4-BE49-F238E27FC236}">
                <a16:creationId xmlns:a16="http://schemas.microsoft.com/office/drawing/2014/main" id="{FA227750-5670-2BE5-A5DE-547C6B471D09}"/>
              </a:ext>
            </a:extLst>
          </p:cNvPr>
          <p:cNvSpPr txBox="1">
            <a:spLocks noGrp="1"/>
          </p:cNvSpPr>
          <p:nvPr/>
        </p:nvSpPr>
        <p:spPr>
          <a:xfrm>
            <a:off x="8711065" y="1905198"/>
            <a:ext cx="3403157" cy="2793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fr-FR" sz="1300" b="1" dirty="0">
                <a:solidFill>
                  <a:srgbClr val="070E1D"/>
                </a:solidFill>
                <a:latin typeface="Segoe UI"/>
              </a:rPr>
              <a:t>d'achats engagés par an</a:t>
            </a:r>
          </a:p>
        </p:txBody>
      </p:sp>
      <p:sp>
        <p:nvSpPr>
          <p:cNvPr id="23" name="S01_STAT_1_SUBLABEL">
            <a:extLst>
              <a:ext uri="{FF2B5EF4-FFF2-40B4-BE49-F238E27FC236}">
                <a16:creationId xmlns:a16="http://schemas.microsoft.com/office/drawing/2014/main" id="{8F384EE0-7505-D3BE-7F14-DC8760AD239A}"/>
              </a:ext>
            </a:extLst>
          </p:cNvPr>
          <p:cNvSpPr txBox="1">
            <a:spLocks noGrp="1"/>
          </p:cNvSpPr>
          <p:nvPr/>
        </p:nvSpPr>
        <p:spPr>
          <a:xfrm>
            <a:off x="8711065" y="2184562"/>
            <a:ext cx="3403157" cy="2539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fr-FR" sz="1000" dirty="0">
                <a:solidFill>
                  <a:schemeClr val="tx2"/>
                </a:solidFill>
                <a:latin typeface="Segoe UI"/>
              </a:rPr>
              <a:t>périmètre RTDI hors PCS</a:t>
            </a:r>
          </a:p>
        </p:txBody>
      </p:sp>
      <p:sp>
        <p:nvSpPr>
          <p:cNvPr id="31" name="S01_STAT_2_VALUE">
            <a:extLst>
              <a:ext uri="{FF2B5EF4-FFF2-40B4-BE49-F238E27FC236}">
                <a16:creationId xmlns:a16="http://schemas.microsoft.com/office/drawing/2014/main" id="{AABD50A8-FDF4-E16E-2D10-5B377E8C8BCA}"/>
              </a:ext>
            </a:extLst>
          </p:cNvPr>
          <p:cNvSpPr txBox="1">
            <a:spLocks noGrp="1"/>
          </p:cNvSpPr>
          <p:nvPr/>
        </p:nvSpPr>
        <p:spPr>
          <a:xfrm>
            <a:off x="8711065" y="2794083"/>
            <a:ext cx="3403157" cy="7619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fr-FR" sz="4400" b="1" dirty="0">
                <a:solidFill>
                  <a:srgbClr val="A25871"/>
                </a:solidFill>
                <a:latin typeface="Segoe UI Black"/>
              </a:rPr>
              <a:t>+14 M€</a:t>
            </a:r>
          </a:p>
        </p:txBody>
      </p:sp>
      <p:sp>
        <p:nvSpPr>
          <p:cNvPr id="32" name="S01_STAT_2_LABEL">
            <a:extLst>
              <a:ext uri="{FF2B5EF4-FFF2-40B4-BE49-F238E27FC236}">
                <a16:creationId xmlns:a16="http://schemas.microsoft.com/office/drawing/2014/main" id="{789042C4-7834-6142-5887-4D61F33E0BF8}"/>
              </a:ext>
            </a:extLst>
          </p:cNvPr>
          <p:cNvSpPr txBox="1">
            <a:spLocks noGrp="1"/>
          </p:cNvSpPr>
          <p:nvPr/>
        </p:nvSpPr>
        <p:spPr>
          <a:xfrm>
            <a:off x="8711065" y="3555983"/>
            <a:ext cx="3403157" cy="2793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fr-FR" sz="1300" b="1" dirty="0">
                <a:solidFill>
                  <a:srgbClr val="070E1D"/>
                </a:solidFill>
                <a:latin typeface="Segoe UI"/>
              </a:rPr>
              <a:t>d'écart à l’atterrissage en 2023</a:t>
            </a:r>
          </a:p>
        </p:txBody>
      </p:sp>
      <p:sp>
        <p:nvSpPr>
          <p:cNvPr id="34" name="S01_STAT_2_SUBLABEL">
            <a:extLst>
              <a:ext uri="{FF2B5EF4-FFF2-40B4-BE49-F238E27FC236}">
                <a16:creationId xmlns:a16="http://schemas.microsoft.com/office/drawing/2014/main" id="{6B8EE636-CF79-DEE8-AA54-8BDFBDF65732}"/>
              </a:ext>
            </a:extLst>
          </p:cNvPr>
          <p:cNvSpPr txBox="1">
            <a:spLocks noGrp="1"/>
          </p:cNvSpPr>
          <p:nvPr/>
        </p:nvSpPr>
        <p:spPr>
          <a:xfrm>
            <a:off x="8711065" y="3835347"/>
            <a:ext cx="3403157" cy="2539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fr-FR" sz="1000" dirty="0">
                <a:solidFill>
                  <a:schemeClr val="tx2"/>
                </a:solidFill>
                <a:latin typeface="Segoe UI"/>
              </a:rPr>
              <a:t>dépassement récurrent fin d'année</a:t>
            </a:r>
          </a:p>
        </p:txBody>
      </p:sp>
      <p:sp>
        <p:nvSpPr>
          <p:cNvPr id="38" name="S01_STAT_3_VALUE">
            <a:extLst>
              <a:ext uri="{FF2B5EF4-FFF2-40B4-BE49-F238E27FC236}">
                <a16:creationId xmlns:a16="http://schemas.microsoft.com/office/drawing/2014/main" id="{1C82941C-A1A9-3C2E-F226-530C86CBD6CA}"/>
              </a:ext>
            </a:extLst>
          </p:cNvPr>
          <p:cNvSpPr txBox="1">
            <a:spLocks noGrp="1"/>
          </p:cNvSpPr>
          <p:nvPr/>
        </p:nvSpPr>
        <p:spPr>
          <a:xfrm>
            <a:off x="8711065" y="4444868"/>
            <a:ext cx="3403157" cy="7619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fr-FR" sz="4400" b="1" dirty="0">
                <a:solidFill>
                  <a:srgbClr val="FDA85B"/>
                </a:solidFill>
                <a:latin typeface="Segoe UI Black"/>
              </a:rPr>
              <a:t>0–20 %</a:t>
            </a:r>
          </a:p>
        </p:txBody>
      </p:sp>
      <p:sp>
        <p:nvSpPr>
          <p:cNvPr id="39" name="S01_STAT_3_LABEL">
            <a:extLst>
              <a:ext uri="{FF2B5EF4-FFF2-40B4-BE49-F238E27FC236}">
                <a16:creationId xmlns:a16="http://schemas.microsoft.com/office/drawing/2014/main" id="{E59312B3-BA92-C82C-3147-32BEFEEB03F5}"/>
              </a:ext>
            </a:extLst>
          </p:cNvPr>
          <p:cNvSpPr txBox="1">
            <a:spLocks noGrp="1"/>
          </p:cNvSpPr>
          <p:nvPr/>
        </p:nvSpPr>
        <p:spPr>
          <a:xfrm>
            <a:off x="8711065" y="5206768"/>
            <a:ext cx="3403157" cy="2793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fr-FR" sz="1300" b="1" dirty="0">
                <a:solidFill>
                  <a:srgbClr val="070E1D"/>
                </a:solidFill>
                <a:latin typeface="Segoe UI"/>
              </a:rPr>
              <a:t>de projets à la cible</a:t>
            </a:r>
          </a:p>
        </p:txBody>
      </p:sp>
      <p:sp>
        <p:nvSpPr>
          <p:cNvPr id="40" name="S01_STAT_3_SUBLABEL">
            <a:extLst>
              <a:ext uri="{FF2B5EF4-FFF2-40B4-BE49-F238E27FC236}">
                <a16:creationId xmlns:a16="http://schemas.microsoft.com/office/drawing/2014/main" id="{3A21EFF3-8E01-339D-E24B-B730359346FF}"/>
              </a:ext>
            </a:extLst>
          </p:cNvPr>
          <p:cNvSpPr txBox="1">
            <a:spLocks noGrp="1"/>
          </p:cNvSpPr>
          <p:nvPr/>
        </p:nvSpPr>
        <p:spPr>
          <a:xfrm>
            <a:off x="8711065" y="5486132"/>
            <a:ext cx="3403157" cy="2539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fr-FR" sz="1000" dirty="0">
                <a:solidFill>
                  <a:schemeClr val="tx2"/>
                </a:solidFill>
                <a:latin typeface="Segoe UI"/>
              </a:rPr>
              <a:t>qualité de prévision à horizon 3 mois</a:t>
            </a:r>
          </a:p>
        </p:txBody>
      </p:sp>
      <p:sp>
        <p:nvSpPr>
          <p:cNvPr id="300" name="KpiAccent_300"/>
          <p:cNvSpPr>
            <a:spLocks noGrp="1"/>
          </p:cNvSpPr>
          <p:nvPr/>
        </p:nvSpPr>
        <p:spPr>
          <a:xfrm>
            <a:off x="8711066" y="1041711"/>
            <a:ext cx="406347" cy="25397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1" name="KpiAccent_301"/>
          <p:cNvSpPr>
            <a:spLocks noGrp="1"/>
          </p:cNvSpPr>
          <p:nvPr/>
        </p:nvSpPr>
        <p:spPr>
          <a:xfrm>
            <a:off x="8711066" y="2692496"/>
            <a:ext cx="406347" cy="25397"/>
          </a:xfrm>
          <a:prstGeom prst="rect">
            <a:avLst/>
          </a:prstGeom>
          <a:solidFill>
            <a:srgbClr val="A2587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2" name="KpiAccent_302"/>
          <p:cNvSpPr>
            <a:spLocks noGrp="1"/>
          </p:cNvSpPr>
          <p:nvPr/>
        </p:nvSpPr>
        <p:spPr>
          <a:xfrm>
            <a:off x="8711066" y="4343281"/>
            <a:ext cx="406347" cy="25397"/>
          </a:xfrm>
          <a:prstGeom prst="rect">
            <a:avLst/>
          </a:prstGeom>
          <a:solidFill>
            <a:srgbClr val="FDA85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0" name="LeftAccentBar"/>
          <p:cNvSpPr>
            <a:spLocks noGrp="1"/>
          </p:cNvSpPr>
          <p:nvPr/>
        </p:nvSpPr>
        <p:spPr>
          <a:xfrm>
            <a:off x="609520" y="1213713"/>
            <a:ext cx="38095" cy="2483677"/>
          </a:xfrm>
          <a:prstGeom prst="rect">
            <a:avLst/>
          </a:prstGeom>
          <a:solidFill>
            <a:srgbClr val="A2587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2" name="S01_MANIFESTO"/>
          <p:cNvSpPr txBox="1">
            <a:spLocks noGrp="1"/>
          </p:cNvSpPr>
          <p:nvPr/>
        </p:nvSpPr>
        <p:spPr>
          <a:xfrm>
            <a:off x="838091" y="1239111"/>
            <a:ext cx="7619008" cy="10294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15000"/>
              </a:lnSpc>
            </a:pPr>
            <a:r>
              <a:rPr lang="fr-FR" sz="2400" dirty="0">
                <a:solidFill>
                  <a:schemeClr val="tx2"/>
                </a:solidFill>
                <a:latin typeface="Segoe UI Light"/>
              </a:rPr>
              <a:t>Mieux planifier nos achats pour </a:t>
            </a:r>
            <a:r>
              <a:rPr lang="fr-FR" sz="2400" b="1" dirty="0">
                <a:solidFill>
                  <a:srgbClr val="A25871"/>
                </a:solidFill>
                <a:latin typeface="Segoe UI"/>
              </a:rPr>
              <a:t>reprendre la main</a:t>
            </a:r>
            <a:r>
              <a:rPr lang="fr-FR" sz="2400" dirty="0">
                <a:solidFill>
                  <a:srgbClr val="A25871"/>
                </a:solidFill>
                <a:latin typeface="Segoe UI Light"/>
              </a:rPr>
              <a:t> </a:t>
            </a:r>
            <a:r>
              <a:rPr lang="fr-FR" sz="2400" dirty="0">
                <a:solidFill>
                  <a:schemeClr val="tx2"/>
                </a:solidFill>
                <a:latin typeface="Segoe UI Light"/>
              </a:rPr>
              <a:t>sur la performance économique de nos projets.</a:t>
            </a:r>
          </a:p>
        </p:txBody>
      </p:sp>
      <p:sp>
        <p:nvSpPr>
          <p:cNvPr id="403" name="S01_BODY"/>
          <p:cNvSpPr txBox="1">
            <a:spLocks noGrp="1"/>
          </p:cNvSpPr>
          <p:nvPr/>
        </p:nvSpPr>
        <p:spPr>
          <a:xfrm>
            <a:off x="838091" y="2864498"/>
            <a:ext cx="7365041" cy="10158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</a:pPr>
            <a:r>
              <a:rPr lang="fr-FR" sz="1300" dirty="0">
                <a:solidFill>
                  <a:schemeClr val="tx2"/>
                </a:solidFill>
                <a:latin typeface="Segoe UI"/>
              </a:rPr>
              <a:t>Aujourd'hui, peu d'engagements sont planifiés et réceptionnés en cohérence avec les activités projet. </a:t>
            </a:r>
            <a:r>
              <a:rPr lang="fr-FR" sz="1300" b="1" dirty="0">
                <a:latin typeface="Segoe UI"/>
              </a:rPr>
              <a:t>L'atterrissage économique se subit plus qu'il ne se pilote</a:t>
            </a:r>
            <a:r>
              <a:rPr lang="fr-FR" sz="1300" b="1" dirty="0">
                <a:solidFill>
                  <a:schemeClr val="tx2"/>
                </a:solidFill>
                <a:latin typeface="Segoe UI"/>
              </a:rPr>
              <a:t>. </a:t>
            </a:r>
            <a:r>
              <a:rPr lang="fr-FR" sz="1300" dirty="0">
                <a:solidFill>
                  <a:schemeClr val="tx2"/>
                </a:solidFill>
                <a:latin typeface="Segoe UI"/>
              </a:rPr>
              <a:t>Beaucoup d’énergie est dépensée pour reconstituer les écarts, au détriment du cœur de mission des équipes.</a:t>
            </a:r>
            <a:endParaRPr lang="fr-FR" sz="1300" b="1" dirty="0">
              <a:solidFill>
                <a:schemeClr val="tx2"/>
              </a:solidFill>
              <a:latin typeface="Segoe UI"/>
            </a:endParaRP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D3044DEC-0947-AB36-D6B0-26FAFB6148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764" r="50887"/>
          <a:stretch>
            <a:fillRect/>
          </a:stretch>
        </p:blipFill>
        <p:spPr>
          <a:xfrm>
            <a:off x="481027" y="4201720"/>
            <a:ext cx="3990869" cy="1644953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9E4359C4-191D-28D0-3CD5-080E27C9CC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140" t="5551"/>
          <a:stretch>
            <a:fillRect/>
          </a:stretch>
        </p:blipFill>
        <p:spPr>
          <a:xfrm>
            <a:off x="4371651" y="4201719"/>
            <a:ext cx="4085448" cy="1644954"/>
          </a:xfrm>
          <a:prstGeom prst="rect">
            <a:avLst/>
          </a:prstGeom>
        </p:spPr>
      </p:pic>
      <p:sp>
        <p:nvSpPr>
          <p:cNvPr id="15" name="S01_TAKEAWAY">
            <a:extLst>
              <a:ext uri="{FF2B5EF4-FFF2-40B4-BE49-F238E27FC236}">
                <a16:creationId xmlns:a16="http://schemas.microsoft.com/office/drawing/2014/main" id="{0A0684F3-A133-ABD5-B0DC-611969B53D1D}"/>
              </a:ext>
            </a:extLst>
          </p:cNvPr>
          <p:cNvSpPr/>
          <p:nvPr/>
        </p:nvSpPr>
        <p:spPr>
          <a:xfrm>
            <a:off x="393634" y="6074571"/>
            <a:ext cx="11413297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hade val="30000"/>
                  <a:satMod val="115000"/>
                </a:srgbClr>
              </a:gs>
              <a:gs pos="50000">
                <a:srgbClr val="A25871">
                  <a:shade val="67500"/>
                  <a:satMod val="115000"/>
                </a:srgbClr>
              </a:gs>
              <a:gs pos="100000">
                <a:srgbClr val="A25871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09"/>
            <a:r>
              <a:rPr lang="fr-FR" sz="1599" b="1" dirty="0">
                <a:solidFill>
                  <a:srgbClr val="FFFFFF"/>
                </a:solidFill>
              </a:rPr>
              <a:t>Remonter une vision réaliste à 3 mois permettant de piloter les achats pour éclairer l’atterrissage des projets</a:t>
            </a:r>
            <a:endParaRPr lang="fr-FR" sz="14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1510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"/>
          <p:cNvSpPr/>
          <p:nvPr/>
        </p:nvSpPr>
        <p:spPr>
          <a:xfrm>
            <a:off x="609534" y="1695758"/>
            <a:ext cx="35278" cy="3564000"/>
          </a:xfrm>
          <a:prstGeom prst="rect">
            <a:avLst/>
          </a:prstGeom>
          <a:solidFill>
            <a:srgbClr val="6A5D79"/>
          </a:solidFill>
          <a:ln/>
        </p:spPr>
        <p:txBody>
          <a:bodyPr/>
          <a:lstStyle/>
          <a:p>
            <a:endParaRPr lang="fr-FR" sz="120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>
            <a:alphaModFix amt="90000"/>
          </a:blip>
          <a:srcRect/>
          <a:stretch/>
        </p:blipFill>
        <p:spPr>
          <a:xfrm>
            <a:off x="847990" y="1644959"/>
            <a:ext cx="720000" cy="720000"/>
          </a:xfrm>
          <a:prstGeom prst="rect">
            <a:avLst/>
          </a:prstGeom>
        </p:spPr>
      </p:pic>
      <p:sp>
        <p:nvSpPr>
          <p:cNvPr id="11" name="S02_COL_1_BODY"/>
          <p:cNvSpPr/>
          <p:nvPr/>
        </p:nvSpPr>
        <p:spPr>
          <a:xfrm>
            <a:off x="847988" y="4085994"/>
            <a:ext cx="3240000" cy="1125136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fr-FR" sz="1400" dirty="0">
                <a:solidFill>
                  <a:schemeClr val="tx2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Le pilote opérationnel vit le processus au quotidien. Sans son implication, le plan d'action risque de rester théorique, mal compris ou mal appliqué.</a:t>
            </a:r>
          </a:p>
        </p:txBody>
      </p:sp>
      <p:sp>
        <p:nvSpPr>
          <p:cNvPr id="12" name="Shape 8"/>
          <p:cNvSpPr/>
          <p:nvPr/>
        </p:nvSpPr>
        <p:spPr>
          <a:xfrm>
            <a:off x="4360223" y="1695759"/>
            <a:ext cx="3471444" cy="2919677"/>
          </a:xfrm>
          <a:prstGeom prst="roundRect">
            <a:avLst>
              <a:gd name="adj" fmla="val 174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FR" sz="1200"/>
          </a:p>
        </p:txBody>
      </p:sp>
      <p:sp>
        <p:nvSpPr>
          <p:cNvPr id="13" name="Shape 9"/>
          <p:cNvSpPr/>
          <p:nvPr/>
        </p:nvSpPr>
        <p:spPr>
          <a:xfrm>
            <a:off x="4360224" y="1695758"/>
            <a:ext cx="35278" cy="3564000"/>
          </a:xfrm>
          <a:prstGeom prst="rect">
            <a:avLst/>
          </a:prstGeom>
          <a:solidFill>
            <a:srgbClr val="A25871"/>
          </a:solidFill>
          <a:ln/>
        </p:spPr>
        <p:txBody>
          <a:bodyPr/>
          <a:lstStyle/>
          <a:p>
            <a:endParaRPr lang="fr-FR" sz="120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>
            <a:alphaModFix amt="90000"/>
          </a:blip>
          <a:srcRect/>
          <a:stretch/>
        </p:blipFill>
        <p:spPr>
          <a:xfrm>
            <a:off x="4598679" y="1644959"/>
            <a:ext cx="720000" cy="720000"/>
          </a:xfrm>
          <a:prstGeom prst="rect">
            <a:avLst/>
          </a:prstGeom>
        </p:spPr>
      </p:pic>
      <p:sp>
        <p:nvSpPr>
          <p:cNvPr id="15" name="S02_COL_2_TITLE"/>
          <p:cNvSpPr/>
          <p:nvPr/>
        </p:nvSpPr>
        <p:spPr>
          <a:xfrm>
            <a:off x="4598679" y="2546614"/>
            <a:ext cx="3240000" cy="957526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spAutoFit/>
          </a:bodyPr>
          <a:lstStyle/>
          <a:p>
            <a:r>
              <a:rPr lang="fr-FR" sz="2000" b="1" cap="small" dirty="0">
                <a:solidFill>
                  <a:srgbClr val="A25871"/>
                </a:solidFill>
              </a:rPr>
              <a:t>Seul un pilote investi peut engager durablement l'équipe</a:t>
            </a:r>
          </a:p>
        </p:txBody>
      </p:sp>
      <p:sp>
        <p:nvSpPr>
          <p:cNvPr id="16" name="S02_COL_2_BODY"/>
          <p:cNvSpPr/>
          <p:nvPr/>
        </p:nvSpPr>
        <p:spPr>
          <a:xfrm>
            <a:off x="4598679" y="4085994"/>
            <a:ext cx="3240000" cy="1125136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fr-FR" sz="1400" dirty="0">
                <a:solidFill>
                  <a:schemeClr val="tx2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Un pilote impliqué, visible et convaincu entraîne ses collègues. Il donne du sens, répond aux blocages concrets et rend le chantier légitime aux yeux de l'équipe.</a:t>
            </a:r>
          </a:p>
        </p:txBody>
      </p:sp>
      <p:sp>
        <p:nvSpPr>
          <p:cNvPr id="17" name="Shape 12"/>
          <p:cNvSpPr/>
          <p:nvPr/>
        </p:nvSpPr>
        <p:spPr>
          <a:xfrm>
            <a:off x="8111023" y="1695759"/>
            <a:ext cx="3471333" cy="2919677"/>
          </a:xfrm>
          <a:prstGeom prst="roundRect">
            <a:avLst>
              <a:gd name="adj" fmla="val 174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FR" sz="1200"/>
          </a:p>
        </p:txBody>
      </p:sp>
      <p:sp>
        <p:nvSpPr>
          <p:cNvPr id="18" name="Shape 13"/>
          <p:cNvSpPr/>
          <p:nvPr/>
        </p:nvSpPr>
        <p:spPr>
          <a:xfrm>
            <a:off x="8111023" y="1695758"/>
            <a:ext cx="35278" cy="3564000"/>
          </a:xfrm>
          <a:prstGeom prst="rect">
            <a:avLst/>
          </a:prstGeom>
          <a:solidFill>
            <a:srgbClr val="FDA85B"/>
          </a:solidFill>
          <a:ln/>
        </p:spPr>
        <p:txBody>
          <a:bodyPr/>
          <a:lstStyle/>
          <a:p>
            <a:endParaRPr lang="fr-FR" sz="120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5">
            <a:alphaModFix amt="90000"/>
          </a:blip>
          <a:srcRect/>
          <a:stretch/>
        </p:blipFill>
        <p:spPr>
          <a:xfrm>
            <a:off x="8349479" y="1644959"/>
            <a:ext cx="720000" cy="720000"/>
          </a:xfrm>
          <a:prstGeom prst="rect">
            <a:avLst/>
          </a:prstGeom>
        </p:spPr>
      </p:pic>
      <p:sp>
        <p:nvSpPr>
          <p:cNvPr id="20" name="S02_COL_3_TITLE"/>
          <p:cNvSpPr/>
          <p:nvPr/>
        </p:nvSpPr>
        <p:spPr>
          <a:xfrm>
            <a:off x="8349479" y="2546614"/>
            <a:ext cx="3240000" cy="957526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spAutoFit/>
          </a:bodyPr>
          <a:lstStyle/>
          <a:p>
            <a:r>
              <a:rPr lang="fr-FR" sz="2000" b="1" cap="small" dirty="0">
                <a:solidFill>
                  <a:srgbClr val="FDA85B"/>
                </a:solidFill>
              </a:rPr>
              <a:t>Un bon déploiement repose sur un ancrage dans la réalité opérationnelle</a:t>
            </a:r>
          </a:p>
        </p:txBody>
      </p:sp>
      <p:sp>
        <p:nvSpPr>
          <p:cNvPr id="21" name="S02_COL_3_BODY"/>
          <p:cNvSpPr/>
          <p:nvPr/>
        </p:nvSpPr>
        <p:spPr>
          <a:xfrm>
            <a:off x="8349478" y="4085994"/>
            <a:ext cx="3240000" cy="1125136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fr-FR" sz="1400" dirty="0">
                <a:solidFill>
                  <a:schemeClr val="tx2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Le pilote connaît les vraies contraintes, les ressources disponibles et les leviers concrets. Son investissement garantit des actions réalistes, adaptées et suivies.</a:t>
            </a:r>
          </a:p>
        </p:txBody>
      </p:sp>
      <p:sp>
        <p:nvSpPr>
          <p:cNvPr id="27" name="S02_TITLE">
            <a:extLst>
              <a:ext uri="{FF2B5EF4-FFF2-40B4-BE49-F238E27FC236}">
                <a16:creationId xmlns:a16="http://schemas.microsoft.com/office/drawing/2014/main" id="{07537338-81C9-615D-AD59-198DE11E4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Hook sens + vision</a:t>
            </a:r>
          </a:p>
        </p:txBody>
      </p:sp>
      <p:sp>
        <p:nvSpPr>
          <p:cNvPr id="30" name="S02_COL_1_TITLE">
            <a:extLst>
              <a:ext uri="{FF2B5EF4-FFF2-40B4-BE49-F238E27FC236}">
                <a16:creationId xmlns:a16="http://schemas.microsoft.com/office/drawing/2014/main" id="{4764CBAB-6FAD-C4D3-951A-01B9E45FFAB0}"/>
              </a:ext>
            </a:extLst>
          </p:cNvPr>
          <p:cNvSpPr/>
          <p:nvPr/>
        </p:nvSpPr>
        <p:spPr>
          <a:xfrm>
            <a:off x="847989" y="2546614"/>
            <a:ext cx="3240000" cy="957526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spAutoFit/>
          </a:bodyPr>
          <a:lstStyle/>
          <a:p>
            <a:r>
              <a:rPr lang="fr-FR" sz="2000" b="1" cap="small" dirty="0">
                <a:solidFill>
                  <a:srgbClr val="6A5D79"/>
                </a:solidFill>
              </a:rPr>
              <a:t>Le plan d’action doit vivre sur le terrain, pas dans les slides !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CE4E305-FC2F-85E4-DF81-FFD1F2D2084C}"/>
              </a:ext>
            </a:extLst>
          </p:cNvPr>
          <p:cNvSpPr/>
          <p:nvPr/>
        </p:nvSpPr>
        <p:spPr>
          <a:xfrm>
            <a:off x="396137" y="-1381154"/>
            <a:ext cx="855670" cy="822599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682">
              <a:defRPr/>
            </a:pPr>
            <a:endParaRPr lang="fr-FR" sz="2399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719529C-59C0-968E-7F83-CF0E68E08234}"/>
              </a:ext>
            </a:extLst>
          </p:cNvPr>
          <p:cNvSpPr/>
          <p:nvPr/>
        </p:nvSpPr>
        <p:spPr>
          <a:xfrm>
            <a:off x="1391845" y="-1381154"/>
            <a:ext cx="855670" cy="822599"/>
          </a:xfrm>
          <a:prstGeom prst="rect">
            <a:avLst/>
          </a:prstGeom>
          <a:solidFill>
            <a:srgbClr val="BABD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682">
              <a:defRPr/>
            </a:pPr>
            <a:endParaRPr lang="fr-FR" sz="2399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7F25876-050B-D69B-EB0D-02BF3D4CC3A1}"/>
              </a:ext>
            </a:extLst>
          </p:cNvPr>
          <p:cNvSpPr/>
          <p:nvPr/>
        </p:nvSpPr>
        <p:spPr>
          <a:xfrm>
            <a:off x="2385597" y="-1381154"/>
            <a:ext cx="855670" cy="822599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682">
              <a:defRPr/>
            </a:pPr>
            <a:endParaRPr lang="fr-FR" sz="2399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E0C6D9E-3F1D-27E7-3A56-A5037D0F38E7}"/>
              </a:ext>
            </a:extLst>
          </p:cNvPr>
          <p:cNvSpPr/>
          <p:nvPr/>
        </p:nvSpPr>
        <p:spPr>
          <a:xfrm>
            <a:off x="3381305" y="-1381154"/>
            <a:ext cx="855670" cy="822599"/>
          </a:xfrm>
          <a:prstGeom prst="rect">
            <a:avLst/>
          </a:prstGeom>
          <a:solidFill>
            <a:srgbClr val="BBB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682">
              <a:defRPr/>
            </a:pPr>
            <a:endParaRPr lang="fr-FR" sz="2399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132B50C-9675-1604-1DC3-10E0BC04E399}"/>
              </a:ext>
            </a:extLst>
          </p:cNvPr>
          <p:cNvSpPr/>
          <p:nvPr/>
        </p:nvSpPr>
        <p:spPr>
          <a:xfrm>
            <a:off x="4471896" y="-1381154"/>
            <a:ext cx="855670" cy="822599"/>
          </a:xfrm>
          <a:prstGeom prst="rect">
            <a:avLst/>
          </a:prstGeom>
          <a:solidFill>
            <a:srgbClr val="A258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682">
              <a:defRPr/>
            </a:pPr>
            <a:endParaRPr lang="fr-FR" sz="2399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9345464-A639-671A-209C-B7F23E0C0E5A}"/>
              </a:ext>
            </a:extLst>
          </p:cNvPr>
          <p:cNvSpPr/>
          <p:nvPr/>
        </p:nvSpPr>
        <p:spPr>
          <a:xfrm>
            <a:off x="5467602" y="-1381154"/>
            <a:ext cx="855670" cy="822599"/>
          </a:xfrm>
          <a:prstGeom prst="rect">
            <a:avLst/>
          </a:prstGeom>
          <a:solidFill>
            <a:srgbClr val="D5B3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682">
              <a:defRPr/>
            </a:pPr>
            <a:endParaRPr lang="fr-FR" sz="2399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2447FF7-6F58-410A-2D52-1AFA5A7F1484}"/>
              </a:ext>
            </a:extLst>
          </p:cNvPr>
          <p:cNvSpPr/>
          <p:nvPr/>
        </p:nvSpPr>
        <p:spPr>
          <a:xfrm>
            <a:off x="6461356" y="-1381154"/>
            <a:ext cx="855670" cy="822599"/>
          </a:xfrm>
          <a:prstGeom prst="rect">
            <a:avLst/>
          </a:prstGeom>
          <a:solidFill>
            <a:srgbClr val="D473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682">
              <a:defRPr/>
            </a:pPr>
            <a:endParaRPr lang="fr-FR" sz="2399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95B0CB0-7D04-3150-B5C3-7E649D22D7B6}"/>
              </a:ext>
            </a:extLst>
          </p:cNvPr>
          <p:cNvSpPr/>
          <p:nvPr/>
        </p:nvSpPr>
        <p:spPr>
          <a:xfrm>
            <a:off x="7457063" y="-1381154"/>
            <a:ext cx="855670" cy="822599"/>
          </a:xfrm>
          <a:prstGeom prst="rect">
            <a:avLst/>
          </a:prstGeom>
          <a:solidFill>
            <a:srgbClr val="F1D3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682">
              <a:defRPr/>
            </a:pPr>
            <a:endParaRPr lang="fr-FR" sz="2399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F2C2B1A-983B-1956-A40D-958C0A103335}"/>
              </a:ext>
            </a:extLst>
          </p:cNvPr>
          <p:cNvSpPr/>
          <p:nvPr/>
        </p:nvSpPr>
        <p:spPr>
          <a:xfrm>
            <a:off x="8478924" y="-1381154"/>
            <a:ext cx="855670" cy="822599"/>
          </a:xfrm>
          <a:prstGeom prst="rect">
            <a:avLst/>
          </a:prstGeom>
          <a:solidFill>
            <a:srgbClr val="FDA8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682">
              <a:defRPr/>
            </a:pPr>
            <a:endParaRPr lang="fr-FR" sz="2399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DCDA398-A2C0-A59A-C819-710C9AFE292C}"/>
              </a:ext>
            </a:extLst>
          </p:cNvPr>
          <p:cNvSpPr/>
          <p:nvPr/>
        </p:nvSpPr>
        <p:spPr>
          <a:xfrm>
            <a:off x="9474630" y="-1381154"/>
            <a:ext cx="855670" cy="822599"/>
          </a:xfrm>
          <a:prstGeom prst="rect">
            <a:avLst/>
          </a:prstGeom>
          <a:solidFill>
            <a:srgbClr val="FEE3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682">
              <a:defRPr/>
            </a:pPr>
            <a:endParaRPr lang="fr-FR" sz="2399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31DCDC6-5FC5-13A1-40F5-4266BC43399D}"/>
              </a:ext>
            </a:extLst>
          </p:cNvPr>
          <p:cNvSpPr/>
          <p:nvPr/>
        </p:nvSpPr>
        <p:spPr>
          <a:xfrm>
            <a:off x="10470338" y="-1381154"/>
            <a:ext cx="855670" cy="822599"/>
          </a:xfrm>
          <a:prstGeom prst="rect">
            <a:avLst/>
          </a:prstGeom>
          <a:solidFill>
            <a:srgbClr val="FBCC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682">
              <a:defRPr/>
            </a:pPr>
            <a:endParaRPr lang="fr-FR" sz="2399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D558A0F-4F05-AFDF-1F53-010A29AF9938}"/>
              </a:ext>
            </a:extLst>
          </p:cNvPr>
          <p:cNvSpPr/>
          <p:nvPr/>
        </p:nvSpPr>
        <p:spPr>
          <a:xfrm>
            <a:off x="11466044" y="-1381154"/>
            <a:ext cx="855670" cy="822599"/>
          </a:xfrm>
          <a:prstGeom prst="rect">
            <a:avLst/>
          </a:prstGeom>
          <a:solidFill>
            <a:srgbClr val="FDEB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682">
              <a:defRPr/>
            </a:pPr>
            <a:endParaRPr lang="fr-FR" sz="2399">
              <a:solidFill>
                <a:srgbClr val="FFFFFF"/>
              </a:solidFill>
              <a:latin typeface="Segoe U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03_TITLE">
            <a:extLst>
              <a:ext uri="{FF2B5EF4-FFF2-40B4-BE49-F238E27FC236}">
                <a16:creationId xmlns:a16="http://schemas.microsoft.com/office/drawing/2014/main" id="{BB1E2A32-6933-18C2-49B4-2FF5C4FA3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Liste en 6 points</a:t>
            </a:r>
          </a:p>
        </p:txBody>
      </p:sp>
      <p:sp>
        <p:nvSpPr>
          <p:cNvPr id="5" name="Larme 4">
            <a:extLst>
              <a:ext uri="{FF2B5EF4-FFF2-40B4-BE49-F238E27FC236}">
                <a16:creationId xmlns:a16="http://schemas.microsoft.com/office/drawing/2014/main" id="{64938373-33E4-A268-2397-EDF979D38CD4}"/>
              </a:ext>
            </a:extLst>
          </p:cNvPr>
          <p:cNvSpPr>
            <a:spLocks noChangeAspect="1"/>
          </p:cNvSpPr>
          <p:nvPr/>
        </p:nvSpPr>
        <p:spPr>
          <a:xfrm>
            <a:off x="1323683" y="1476993"/>
            <a:ext cx="876306" cy="863733"/>
          </a:xfrm>
          <a:prstGeom prst="teardrop">
            <a:avLst/>
          </a:prstGeom>
          <a:solidFill>
            <a:srgbClr val="BABD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799"/>
          </a:p>
        </p:txBody>
      </p:sp>
      <p:sp>
        <p:nvSpPr>
          <p:cNvPr id="6" name="Larme 5">
            <a:extLst>
              <a:ext uri="{FF2B5EF4-FFF2-40B4-BE49-F238E27FC236}">
                <a16:creationId xmlns:a16="http://schemas.microsoft.com/office/drawing/2014/main" id="{5DB00277-3B73-C7D5-9406-8FE2BD02E5C9}"/>
              </a:ext>
            </a:extLst>
          </p:cNvPr>
          <p:cNvSpPr>
            <a:spLocks noChangeAspect="1"/>
          </p:cNvSpPr>
          <p:nvPr/>
        </p:nvSpPr>
        <p:spPr>
          <a:xfrm>
            <a:off x="5542437" y="1476993"/>
            <a:ext cx="876306" cy="863733"/>
          </a:xfrm>
          <a:prstGeom prst="teardrop">
            <a:avLst/>
          </a:prstGeom>
          <a:solidFill>
            <a:srgbClr val="BBB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799"/>
          </a:p>
        </p:txBody>
      </p:sp>
      <p:sp>
        <p:nvSpPr>
          <p:cNvPr id="7" name="Larme 6">
            <a:extLst>
              <a:ext uri="{FF2B5EF4-FFF2-40B4-BE49-F238E27FC236}">
                <a16:creationId xmlns:a16="http://schemas.microsoft.com/office/drawing/2014/main" id="{61F81F4A-225F-7A15-68D8-47823051F3E4}"/>
              </a:ext>
            </a:extLst>
          </p:cNvPr>
          <p:cNvSpPr>
            <a:spLocks noChangeAspect="1"/>
          </p:cNvSpPr>
          <p:nvPr/>
        </p:nvSpPr>
        <p:spPr>
          <a:xfrm>
            <a:off x="9761191" y="1476993"/>
            <a:ext cx="876306" cy="863733"/>
          </a:xfrm>
          <a:prstGeom prst="teardrop">
            <a:avLst/>
          </a:prstGeom>
          <a:solidFill>
            <a:srgbClr val="D5B3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799"/>
          </a:p>
        </p:txBody>
      </p:sp>
      <p:sp>
        <p:nvSpPr>
          <p:cNvPr id="8" name="Larme 7">
            <a:extLst>
              <a:ext uri="{FF2B5EF4-FFF2-40B4-BE49-F238E27FC236}">
                <a16:creationId xmlns:a16="http://schemas.microsoft.com/office/drawing/2014/main" id="{53E67404-A470-ADA7-5064-9B6279A3EC41}"/>
              </a:ext>
            </a:extLst>
          </p:cNvPr>
          <p:cNvSpPr>
            <a:spLocks noChangeAspect="1"/>
          </p:cNvSpPr>
          <p:nvPr/>
        </p:nvSpPr>
        <p:spPr>
          <a:xfrm>
            <a:off x="1323683" y="4150100"/>
            <a:ext cx="876306" cy="863733"/>
          </a:xfrm>
          <a:prstGeom prst="teardrop">
            <a:avLst/>
          </a:prstGeom>
          <a:solidFill>
            <a:srgbClr val="F1D3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799"/>
          </a:p>
        </p:txBody>
      </p:sp>
      <p:sp>
        <p:nvSpPr>
          <p:cNvPr id="9" name="Larme 8">
            <a:extLst>
              <a:ext uri="{FF2B5EF4-FFF2-40B4-BE49-F238E27FC236}">
                <a16:creationId xmlns:a16="http://schemas.microsoft.com/office/drawing/2014/main" id="{098FBD2A-D3CB-DF4B-1500-8F4401609E09}"/>
              </a:ext>
            </a:extLst>
          </p:cNvPr>
          <p:cNvSpPr>
            <a:spLocks noChangeAspect="1"/>
          </p:cNvSpPr>
          <p:nvPr/>
        </p:nvSpPr>
        <p:spPr>
          <a:xfrm>
            <a:off x="5519156" y="4089697"/>
            <a:ext cx="876306" cy="863733"/>
          </a:xfrm>
          <a:prstGeom prst="teardrop">
            <a:avLst/>
          </a:prstGeom>
          <a:solidFill>
            <a:srgbClr val="FEE3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799"/>
          </a:p>
        </p:txBody>
      </p:sp>
      <p:sp>
        <p:nvSpPr>
          <p:cNvPr id="11" name="S03_FACTOR_1_LABEL">
            <a:extLst>
              <a:ext uri="{FF2B5EF4-FFF2-40B4-BE49-F238E27FC236}">
                <a16:creationId xmlns:a16="http://schemas.microsoft.com/office/drawing/2014/main" id="{D0BFE566-C47D-9E0D-C174-69FE94123F69}"/>
              </a:ext>
            </a:extLst>
          </p:cNvPr>
          <p:cNvSpPr txBox="1"/>
          <p:nvPr/>
        </p:nvSpPr>
        <p:spPr>
          <a:xfrm>
            <a:off x="513198" y="2479121"/>
            <a:ext cx="24972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b="1" cap="small" dirty="0">
                <a:solidFill>
                  <a:schemeClr val="accent6"/>
                </a:solidFill>
              </a:rPr>
              <a:t>Facteur</a:t>
            </a:r>
            <a:r>
              <a:rPr lang="fr-FR" sz="1400" cap="small" dirty="0">
                <a:solidFill>
                  <a:schemeClr val="accent6"/>
                </a:solidFill>
              </a:rPr>
              <a:t> </a:t>
            </a:r>
            <a:r>
              <a:rPr lang="fr-FR" sz="1400" cap="small" dirty="0" err="1">
                <a:solidFill>
                  <a:schemeClr val="accent6"/>
                </a:solidFill>
              </a:rPr>
              <a:t>xxxxx</a:t>
            </a:r>
            <a:endParaRPr lang="fr-FR" sz="1400" cap="small" dirty="0">
              <a:solidFill>
                <a:schemeClr val="accent6"/>
              </a:solidFill>
            </a:endParaRPr>
          </a:p>
        </p:txBody>
      </p:sp>
      <p:sp>
        <p:nvSpPr>
          <p:cNvPr id="17" name="S03_FACTOR_2_LABEL">
            <a:extLst>
              <a:ext uri="{FF2B5EF4-FFF2-40B4-BE49-F238E27FC236}">
                <a16:creationId xmlns:a16="http://schemas.microsoft.com/office/drawing/2014/main" id="{7FC73D90-5A1C-AC04-E511-714BB252E03F}"/>
              </a:ext>
            </a:extLst>
          </p:cNvPr>
          <p:cNvSpPr txBox="1"/>
          <p:nvPr/>
        </p:nvSpPr>
        <p:spPr>
          <a:xfrm>
            <a:off x="4808215" y="2500931"/>
            <a:ext cx="24972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b="1" cap="small" dirty="0">
                <a:solidFill>
                  <a:schemeClr val="accent6"/>
                </a:solidFill>
              </a:rPr>
              <a:t>Facteur</a:t>
            </a:r>
            <a:r>
              <a:rPr lang="fr-FR" sz="1400" cap="small" dirty="0">
                <a:solidFill>
                  <a:schemeClr val="accent6"/>
                </a:solidFill>
              </a:rPr>
              <a:t> </a:t>
            </a:r>
            <a:r>
              <a:rPr lang="fr-FR" sz="1400" cap="small" dirty="0" err="1">
                <a:solidFill>
                  <a:schemeClr val="accent6"/>
                </a:solidFill>
              </a:rPr>
              <a:t>xxxxx</a:t>
            </a:r>
            <a:endParaRPr lang="fr-FR" sz="1400" cap="small" dirty="0">
              <a:solidFill>
                <a:schemeClr val="accent6"/>
              </a:solidFill>
            </a:endParaRPr>
          </a:p>
        </p:txBody>
      </p:sp>
      <p:sp>
        <p:nvSpPr>
          <p:cNvPr id="18" name="S03_FACTOR_3_LABEL">
            <a:extLst>
              <a:ext uri="{FF2B5EF4-FFF2-40B4-BE49-F238E27FC236}">
                <a16:creationId xmlns:a16="http://schemas.microsoft.com/office/drawing/2014/main" id="{0FE3DC25-8959-026C-2C19-7D5E20CDC700}"/>
              </a:ext>
            </a:extLst>
          </p:cNvPr>
          <p:cNvSpPr txBox="1"/>
          <p:nvPr/>
        </p:nvSpPr>
        <p:spPr>
          <a:xfrm>
            <a:off x="8950706" y="2500930"/>
            <a:ext cx="24972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b="1" cap="small" dirty="0">
                <a:solidFill>
                  <a:schemeClr val="accent6"/>
                </a:solidFill>
              </a:rPr>
              <a:t>Facteur</a:t>
            </a:r>
            <a:r>
              <a:rPr lang="fr-FR" sz="1400" cap="small" dirty="0">
                <a:solidFill>
                  <a:schemeClr val="accent6"/>
                </a:solidFill>
              </a:rPr>
              <a:t> </a:t>
            </a:r>
            <a:r>
              <a:rPr lang="fr-FR" sz="1400" cap="small" dirty="0" err="1">
                <a:solidFill>
                  <a:schemeClr val="accent6"/>
                </a:solidFill>
              </a:rPr>
              <a:t>xxxxx</a:t>
            </a:r>
            <a:endParaRPr lang="fr-FR" sz="1400" cap="small" dirty="0">
              <a:solidFill>
                <a:schemeClr val="accent6"/>
              </a:solidFill>
            </a:endParaRPr>
          </a:p>
        </p:txBody>
      </p:sp>
      <p:sp>
        <p:nvSpPr>
          <p:cNvPr id="19" name="S03_FACTOR_4_LABEL">
            <a:extLst>
              <a:ext uri="{FF2B5EF4-FFF2-40B4-BE49-F238E27FC236}">
                <a16:creationId xmlns:a16="http://schemas.microsoft.com/office/drawing/2014/main" id="{F8DB7AC6-42CD-8AD2-ED0B-3D310014B6C7}"/>
              </a:ext>
            </a:extLst>
          </p:cNvPr>
          <p:cNvSpPr txBox="1"/>
          <p:nvPr/>
        </p:nvSpPr>
        <p:spPr>
          <a:xfrm>
            <a:off x="530094" y="5115381"/>
            <a:ext cx="24972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b="1" cap="small" dirty="0">
                <a:solidFill>
                  <a:schemeClr val="accent6"/>
                </a:solidFill>
              </a:rPr>
              <a:t>Facteur</a:t>
            </a:r>
            <a:r>
              <a:rPr lang="fr-FR" sz="1400" cap="small" dirty="0">
                <a:solidFill>
                  <a:schemeClr val="accent6"/>
                </a:solidFill>
              </a:rPr>
              <a:t> </a:t>
            </a:r>
            <a:r>
              <a:rPr lang="fr-FR" sz="1400" cap="small" dirty="0" err="1">
                <a:solidFill>
                  <a:schemeClr val="accent6"/>
                </a:solidFill>
              </a:rPr>
              <a:t>xxxxx</a:t>
            </a:r>
            <a:endParaRPr lang="fr-FR" sz="1400" cap="small" dirty="0">
              <a:solidFill>
                <a:schemeClr val="accent6"/>
              </a:solidFill>
            </a:endParaRPr>
          </a:p>
        </p:txBody>
      </p:sp>
      <p:sp>
        <p:nvSpPr>
          <p:cNvPr id="20" name="S03_FACTOR_5_LABEL">
            <a:extLst>
              <a:ext uri="{FF2B5EF4-FFF2-40B4-BE49-F238E27FC236}">
                <a16:creationId xmlns:a16="http://schemas.microsoft.com/office/drawing/2014/main" id="{34B71C2C-DD6F-140A-1A62-B84AA264D7D4}"/>
              </a:ext>
            </a:extLst>
          </p:cNvPr>
          <p:cNvSpPr txBox="1"/>
          <p:nvPr/>
        </p:nvSpPr>
        <p:spPr>
          <a:xfrm>
            <a:off x="4750997" y="5115381"/>
            <a:ext cx="24972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b="1" cap="small" dirty="0">
                <a:solidFill>
                  <a:schemeClr val="accent6"/>
                </a:solidFill>
              </a:rPr>
              <a:t>Facteur</a:t>
            </a:r>
            <a:r>
              <a:rPr lang="fr-FR" sz="1400" cap="small" dirty="0">
                <a:solidFill>
                  <a:schemeClr val="accent6"/>
                </a:solidFill>
              </a:rPr>
              <a:t> </a:t>
            </a:r>
            <a:r>
              <a:rPr lang="fr-FR" sz="1400" cap="small" dirty="0" err="1">
                <a:solidFill>
                  <a:schemeClr val="accent6"/>
                </a:solidFill>
              </a:rPr>
              <a:t>xxxxx</a:t>
            </a:r>
            <a:endParaRPr lang="fr-FR" sz="1400" cap="small" dirty="0">
              <a:solidFill>
                <a:schemeClr val="accent6"/>
              </a:solidFill>
            </a:endParaRPr>
          </a:p>
        </p:txBody>
      </p:sp>
      <p:sp>
        <p:nvSpPr>
          <p:cNvPr id="21" name="S03_FACTOR_6_LABEL">
            <a:extLst>
              <a:ext uri="{FF2B5EF4-FFF2-40B4-BE49-F238E27FC236}">
                <a16:creationId xmlns:a16="http://schemas.microsoft.com/office/drawing/2014/main" id="{BB3F1EF4-E1C7-C069-5D68-18C105B81727}"/>
              </a:ext>
            </a:extLst>
          </p:cNvPr>
          <p:cNvSpPr txBox="1"/>
          <p:nvPr/>
        </p:nvSpPr>
        <p:spPr>
          <a:xfrm>
            <a:off x="8839978" y="5115381"/>
            <a:ext cx="24972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b="1" cap="small" dirty="0">
                <a:solidFill>
                  <a:schemeClr val="accent6"/>
                </a:solidFill>
              </a:rPr>
              <a:t>Facteur</a:t>
            </a:r>
            <a:r>
              <a:rPr lang="fr-FR" sz="1400" cap="small" dirty="0">
                <a:solidFill>
                  <a:schemeClr val="accent6"/>
                </a:solidFill>
              </a:rPr>
              <a:t> </a:t>
            </a:r>
            <a:r>
              <a:rPr lang="fr-FR" sz="1400" cap="small" dirty="0" err="1">
                <a:solidFill>
                  <a:schemeClr val="accent6"/>
                </a:solidFill>
              </a:rPr>
              <a:t>xxxxx</a:t>
            </a:r>
            <a:endParaRPr lang="fr-FR" sz="1400" cap="small" dirty="0">
              <a:solidFill>
                <a:schemeClr val="accent6"/>
              </a:solidFill>
            </a:endParaRPr>
          </a:p>
        </p:txBody>
      </p:sp>
      <p:sp>
        <p:nvSpPr>
          <p:cNvPr id="22" name="Larme 21">
            <a:extLst>
              <a:ext uri="{FF2B5EF4-FFF2-40B4-BE49-F238E27FC236}">
                <a16:creationId xmlns:a16="http://schemas.microsoft.com/office/drawing/2014/main" id="{5189E740-F875-CAFD-2910-53C1EB8144AC}"/>
              </a:ext>
            </a:extLst>
          </p:cNvPr>
          <p:cNvSpPr>
            <a:spLocks noChangeAspect="1"/>
          </p:cNvSpPr>
          <p:nvPr/>
        </p:nvSpPr>
        <p:spPr>
          <a:xfrm>
            <a:off x="9650461" y="4089697"/>
            <a:ext cx="876306" cy="863733"/>
          </a:xfrm>
          <a:prstGeom prst="teardrop">
            <a:avLst/>
          </a:prstGeom>
          <a:solidFill>
            <a:srgbClr val="FEF4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799"/>
          </a:p>
        </p:txBody>
      </p:sp>
      <p:sp>
        <p:nvSpPr>
          <p:cNvPr id="3" name="S03_TAKEAWAY">
            <a:extLst>
              <a:ext uri="{FF2B5EF4-FFF2-40B4-BE49-F238E27FC236}">
                <a16:creationId xmlns:a16="http://schemas.microsoft.com/office/drawing/2014/main" id="{961A6A15-2CD1-1B70-0B91-646C48AF4A9A}"/>
              </a:ext>
            </a:extLst>
          </p:cNvPr>
          <p:cNvSpPr/>
          <p:nvPr/>
        </p:nvSpPr>
        <p:spPr>
          <a:xfrm>
            <a:off x="393634" y="6074571"/>
            <a:ext cx="11413297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hade val="30000"/>
                  <a:satMod val="115000"/>
                </a:srgbClr>
              </a:gs>
              <a:gs pos="50000">
                <a:srgbClr val="A25871">
                  <a:shade val="67500"/>
                  <a:satMod val="115000"/>
                </a:srgbClr>
              </a:gs>
              <a:gs pos="100000">
                <a:srgbClr val="A25871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599" b="1" dirty="0" err="1"/>
              <a:t>Take</a:t>
            </a:r>
            <a:r>
              <a:rPr lang="fr-FR" sz="1599" b="1" dirty="0"/>
              <a:t> </a:t>
            </a:r>
            <a:r>
              <a:rPr lang="fr-FR" sz="1599" b="1" dirty="0" err="1"/>
              <a:t>away</a:t>
            </a:r>
            <a:endParaRPr lang="fr-FR" sz="1599" b="1" dirty="0"/>
          </a:p>
        </p:txBody>
      </p:sp>
    </p:spTree>
    <p:extLst>
      <p:ext uri="{BB962C8B-B14F-4D97-AF65-F5344CB8AC3E}">
        <p14:creationId xmlns:p14="http://schemas.microsoft.com/office/powerpoint/2010/main" val="507565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B8A19-697C-684E-79FA-9787ED3F1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04_TITLE">
            <a:extLst>
              <a:ext uri="{FF2B5EF4-FFF2-40B4-BE49-F238E27FC236}">
                <a16:creationId xmlns:a16="http://schemas.microsoft.com/office/drawing/2014/main" id="{39E15A07-7556-A118-65D7-CD17CA4D1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Triptyque</a:t>
            </a:r>
          </a:p>
        </p:txBody>
      </p:sp>
      <p:sp>
        <p:nvSpPr>
          <p:cNvPr id="53" name="Forma libre 20">
            <a:extLst>
              <a:ext uri="{FF2B5EF4-FFF2-40B4-BE49-F238E27FC236}">
                <a16:creationId xmlns:a16="http://schemas.microsoft.com/office/drawing/2014/main" id="{C360098D-EE71-5FC9-AE45-EAB4808C67D7}"/>
              </a:ext>
            </a:extLst>
          </p:cNvPr>
          <p:cNvSpPr/>
          <p:nvPr/>
        </p:nvSpPr>
        <p:spPr>
          <a:xfrm>
            <a:off x="4660002" y="1424578"/>
            <a:ext cx="2166004" cy="3013863"/>
          </a:xfrm>
          <a:custGeom>
            <a:avLst/>
            <a:gdLst>
              <a:gd name="connsiteX0" fmla="*/ 49626 w 493563"/>
              <a:gd name="connsiteY0" fmla="*/ 687060 h 686762"/>
              <a:gd name="connsiteX1" fmla="*/ 32 w 493563"/>
              <a:gd name="connsiteY1" fmla="*/ 652915 h 686762"/>
              <a:gd name="connsiteX2" fmla="*/ 186097 w 493563"/>
              <a:gd name="connsiteY2" fmla="*/ 337973 h 686762"/>
              <a:gd name="connsiteX3" fmla="*/ 186207 w 493563"/>
              <a:gd name="connsiteY3" fmla="*/ 337767 h 686762"/>
              <a:gd name="connsiteX4" fmla="*/ 185071 w 493563"/>
              <a:gd name="connsiteY4" fmla="*/ 313731 h 686762"/>
              <a:gd name="connsiteX5" fmla="*/ 170758 w 493563"/>
              <a:gd name="connsiteY5" fmla="*/ 298327 h 686762"/>
              <a:gd name="connsiteX6" fmla="*/ 160399 w 493563"/>
              <a:gd name="connsiteY6" fmla="*/ 80347 h 686762"/>
              <a:gd name="connsiteX7" fmla="*/ 413554 w 493563"/>
              <a:gd name="connsiteY7" fmla="*/ 31285 h 686762"/>
              <a:gd name="connsiteX8" fmla="*/ 493782 w 493563"/>
              <a:gd name="connsiteY8" fmla="*/ 187341 h 686762"/>
              <a:gd name="connsiteX9" fmla="*/ 489013 w 493563"/>
              <a:gd name="connsiteY9" fmla="*/ 224310 h 686762"/>
              <a:gd name="connsiteX10" fmla="*/ 279406 w 493563"/>
              <a:gd name="connsiteY10" fmla="*/ 361881 h 686762"/>
              <a:gd name="connsiteX11" fmla="*/ 257314 w 493563"/>
              <a:gd name="connsiteY11" fmla="*/ 357998 h 686762"/>
              <a:gd name="connsiteX12" fmla="*/ 236564 w 493563"/>
              <a:gd name="connsiteY12" fmla="*/ 370649 h 686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93563" h="686762">
                <a:moveTo>
                  <a:pt x="49626" y="687060"/>
                </a:moveTo>
                <a:cubicBezTo>
                  <a:pt x="36018" y="671928"/>
                  <a:pt x="19024" y="660228"/>
                  <a:pt x="32" y="652915"/>
                </a:cubicBezTo>
                <a:lnTo>
                  <a:pt x="186097" y="337973"/>
                </a:lnTo>
                <a:cubicBezTo>
                  <a:pt x="186129" y="337902"/>
                  <a:pt x="186165" y="337833"/>
                  <a:pt x="186207" y="337767"/>
                </a:cubicBezTo>
                <a:cubicBezTo>
                  <a:pt x="193909" y="324636"/>
                  <a:pt x="185071" y="313731"/>
                  <a:pt x="185071" y="313731"/>
                </a:cubicBezTo>
                <a:lnTo>
                  <a:pt x="170758" y="298327"/>
                </a:lnTo>
                <a:cubicBezTo>
                  <a:pt x="120695" y="237603"/>
                  <a:pt x="114130" y="148914"/>
                  <a:pt x="160399" y="80347"/>
                </a:cubicBezTo>
                <a:cubicBezTo>
                  <a:pt x="216777" y="-3092"/>
                  <a:pt x="330097" y="-25094"/>
                  <a:pt x="413554" y="31285"/>
                </a:cubicBezTo>
                <a:cubicBezTo>
                  <a:pt x="465242" y="66144"/>
                  <a:pt x="495510" y="125020"/>
                  <a:pt x="493782" y="187341"/>
                </a:cubicBezTo>
                <a:cubicBezTo>
                  <a:pt x="493442" y="199793"/>
                  <a:pt x="491844" y="212179"/>
                  <a:pt x="489013" y="224310"/>
                </a:cubicBezTo>
                <a:cubicBezTo>
                  <a:pt x="466635" y="318465"/>
                  <a:pt x="374690" y="378811"/>
                  <a:pt x="279406" y="361881"/>
                </a:cubicBezTo>
                <a:lnTo>
                  <a:pt x="257314" y="357998"/>
                </a:lnTo>
                <a:cubicBezTo>
                  <a:pt x="245299" y="357998"/>
                  <a:pt x="240845" y="363511"/>
                  <a:pt x="236564" y="370649"/>
                </a:cubicBezTo>
                <a:close/>
              </a:path>
            </a:pathLst>
          </a:custGeom>
          <a:solidFill>
            <a:srgbClr val="BBB4C4"/>
          </a:solidFill>
          <a:ln w="641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450" b="0" i="0" u="none" strike="noStrike" kern="1200" cap="none" spc="0" normalizeH="0" baseline="0" noProof="0">
              <a:ln>
                <a:noFill/>
              </a:ln>
              <a:solidFill>
                <a:srgbClr val="7C7D7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Forma libre 21">
            <a:extLst>
              <a:ext uri="{FF2B5EF4-FFF2-40B4-BE49-F238E27FC236}">
                <a16:creationId xmlns:a16="http://schemas.microsoft.com/office/drawing/2014/main" id="{6033339B-99E9-9798-9AD6-97BE0494E0B5}"/>
              </a:ext>
            </a:extLst>
          </p:cNvPr>
          <p:cNvSpPr/>
          <p:nvPr/>
        </p:nvSpPr>
        <p:spPr>
          <a:xfrm>
            <a:off x="6177557" y="2624553"/>
            <a:ext cx="2326553" cy="2982881"/>
          </a:xfrm>
          <a:custGeom>
            <a:avLst/>
            <a:gdLst>
              <a:gd name="connsiteX0" fmla="*/ 52553 w 530147"/>
              <a:gd name="connsiteY0" fmla="*/ 32 h 679702"/>
              <a:gd name="connsiteX1" fmla="*/ 258579 w 530147"/>
              <a:gd name="connsiteY1" fmla="*/ 305546 h 679702"/>
              <a:gd name="connsiteX2" fmla="*/ 271627 w 530147"/>
              <a:gd name="connsiteY2" fmla="*/ 320045 h 679702"/>
              <a:gd name="connsiteX3" fmla="*/ 311420 w 530147"/>
              <a:gd name="connsiteY3" fmla="*/ 320327 h 679702"/>
              <a:gd name="connsiteX4" fmla="*/ 493057 w 530147"/>
              <a:gd name="connsiteY4" fmla="*/ 386917 h 679702"/>
              <a:gd name="connsiteX5" fmla="*/ 524127 w 530147"/>
              <a:gd name="connsiteY5" fmla="*/ 547254 h 679702"/>
              <a:gd name="connsiteX6" fmla="*/ 524018 w 530147"/>
              <a:gd name="connsiteY6" fmla="*/ 547639 h 679702"/>
              <a:gd name="connsiteX7" fmla="*/ 307723 w 530147"/>
              <a:gd name="connsiteY7" fmla="*/ 675069 h 679702"/>
              <a:gd name="connsiteX8" fmla="*/ 184294 w 530147"/>
              <a:gd name="connsiteY8" fmla="*/ 575071 h 679702"/>
              <a:gd name="connsiteX9" fmla="*/ 208362 w 530147"/>
              <a:gd name="connsiteY9" fmla="*/ 383098 h 679702"/>
              <a:gd name="connsiteX10" fmla="*/ 219177 w 530147"/>
              <a:gd name="connsiteY10" fmla="*/ 363798 h 679702"/>
              <a:gd name="connsiteX11" fmla="*/ 210872 w 530147"/>
              <a:gd name="connsiteY11" fmla="*/ 342027 h 679702"/>
              <a:gd name="connsiteX12" fmla="*/ 32 w 530147"/>
              <a:gd name="connsiteY12" fmla="*/ 29769 h 6797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30147" h="679702">
                <a:moveTo>
                  <a:pt x="52553" y="32"/>
                </a:moveTo>
                <a:lnTo>
                  <a:pt x="258579" y="305546"/>
                </a:lnTo>
                <a:cubicBezTo>
                  <a:pt x="262256" y="310995"/>
                  <a:pt x="266075" y="316617"/>
                  <a:pt x="271627" y="320045"/>
                </a:cubicBezTo>
                <a:cubicBezTo>
                  <a:pt x="283218" y="327252"/>
                  <a:pt x="298096" y="323151"/>
                  <a:pt x="311420" y="320327"/>
                </a:cubicBezTo>
                <a:cubicBezTo>
                  <a:pt x="377945" y="306207"/>
                  <a:pt x="451434" y="333164"/>
                  <a:pt x="493057" y="386917"/>
                </a:cubicBezTo>
                <a:cubicBezTo>
                  <a:pt x="527625" y="431563"/>
                  <a:pt x="538761" y="492884"/>
                  <a:pt x="524127" y="547254"/>
                </a:cubicBezTo>
                <a:lnTo>
                  <a:pt x="524018" y="547639"/>
                </a:lnTo>
                <a:cubicBezTo>
                  <a:pt x="499205" y="639235"/>
                  <a:pt x="400627" y="697963"/>
                  <a:pt x="307723" y="675069"/>
                </a:cubicBezTo>
                <a:cubicBezTo>
                  <a:pt x="254670" y="661988"/>
                  <a:pt x="207445" y="624768"/>
                  <a:pt x="184294" y="575071"/>
                </a:cubicBezTo>
                <a:cubicBezTo>
                  <a:pt x="155592" y="513455"/>
                  <a:pt x="165309" y="435729"/>
                  <a:pt x="208362" y="383098"/>
                </a:cubicBezTo>
                <a:cubicBezTo>
                  <a:pt x="213099" y="377322"/>
                  <a:pt x="218439" y="371257"/>
                  <a:pt x="219177" y="363798"/>
                </a:cubicBezTo>
                <a:cubicBezTo>
                  <a:pt x="219922" y="355917"/>
                  <a:pt x="215288" y="348600"/>
                  <a:pt x="210872" y="342027"/>
                </a:cubicBezTo>
                <a:lnTo>
                  <a:pt x="32" y="29769"/>
                </a:lnTo>
                <a:close/>
              </a:path>
            </a:pathLst>
          </a:custGeom>
          <a:solidFill>
            <a:srgbClr val="FEE3CA"/>
          </a:solidFill>
          <a:ln w="641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450" b="0" i="0" u="none" strike="noStrike" kern="1200" cap="none" spc="0" normalizeH="0" baseline="0" noProof="0">
              <a:ln>
                <a:noFill/>
              </a:ln>
              <a:solidFill>
                <a:srgbClr val="7C7D7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Forma libre 22">
            <a:extLst>
              <a:ext uri="{FF2B5EF4-FFF2-40B4-BE49-F238E27FC236}">
                <a16:creationId xmlns:a16="http://schemas.microsoft.com/office/drawing/2014/main" id="{866433FA-ECD8-0866-7C03-2EDAB5A654F2}"/>
              </a:ext>
            </a:extLst>
          </p:cNvPr>
          <p:cNvSpPr/>
          <p:nvPr/>
        </p:nvSpPr>
        <p:spPr>
          <a:xfrm>
            <a:off x="6010498" y="1188265"/>
            <a:ext cx="1050613" cy="1050626"/>
          </a:xfrm>
          <a:custGeom>
            <a:avLst/>
            <a:gdLst>
              <a:gd name="connsiteX0" fmla="*/ 184533 w 239400"/>
              <a:gd name="connsiteY0" fmla="*/ 84408 h 239404"/>
              <a:gd name="connsiteX1" fmla="*/ 189667 w 239400"/>
              <a:gd name="connsiteY1" fmla="*/ 69389 h 239404"/>
              <a:gd name="connsiteX2" fmla="*/ 164922 w 239400"/>
              <a:gd name="connsiteY2" fmla="*/ 44649 h 239404"/>
              <a:gd name="connsiteX3" fmla="*/ 149232 w 239400"/>
              <a:gd name="connsiteY3" fmla="*/ 50262 h 239404"/>
              <a:gd name="connsiteX4" fmla="*/ 3782 w 239400"/>
              <a:gd name="connsiteY4" fmla="*/ 39 h 239404"/>
              <a:gd name="connsiteX5" fmla="*/ 39 w 239400"/>
              <a:gd name="connsiteY5" fmla="*/ 3356 h 239404"/>
              <a:gd name="connsiteX6" fmla="*/ 3356 w 239400"/>
              <a:gd name="connsiteY6" fmla="*/ 7099 h 239404"/>
              <a:gd name="connsiteX7" fmla="*/ 3782 w 239400"/>
              <a:gd name="connsiteY7" fmla="*/ 7099 h 239404"/>
              <a:gd name="connsiteX8" fmla="*/ 144419 w 239400"/>
              <a:gd name="connsiteY8" fmla="*/ 55487 h 239404"/>
              <a:gd name="connsiteX9" fmla="*/ 151015 w 239400"/>
              <a:gd name="connsiteY9" fmla="*/ 89888 h 239404"/>
              <a:gd name="connsiteX10" fmla="*/ 164925 w 239400"/>
              <a:gd name="connsiteY10" fmla="*/ 94158 h 239404"/>
              <a:gd name="connsiteX11" fmla="*/ 179488 w 239400"/>
              <a:gd name="connsiteY11" fmla="*/ 89350 h 239404"/>
              <a:gd name="connsiteX12" fmla="*/ 232856 w 239400"/>
              <a:gd name="connsiteY12" fmla="*/ 236176 h 239404"/>
              <a:gd name="connsiteX13" fmla="*/ 236173 w 239400"/>
              <a:gd name="connsiteY13" fmla="*/ 239919 h 239404"/>
              <a:gd name="connsiteX14" fmla="*/ 239916 w 239400"/>
              <a:gd name="connsiteY14" fmla="*/ 236602 h 239404"/>
              <a:gd name="connsiteX15" fmla="*/ 239916 w 239400"/>
              <a:gd name="connsiteY15" fmla="*/ 236176 h 239404"/>
              <a:gd name="connsiteX16" fmla="*/ 184533 w 239400"/>
              <a:gd name="connsiteY16" fmla="*/ 84408 h 239404"/>
              <a:gd name="connsiteX17" fmla="*/ 164918 w 239400"/>
              <a:gd name="connsiteY17" fmla="*/ 87097 h 239404"/>
              <a:gd name="connsiteX18" fmla="*/ 147204 w 239400"/>
              <a:gd name="connsiteY18" fmla="*/ 69421 h 239404"/>
              <a:gd name="connsiteX19" fmla="*/ 164880 w 239400"/>
              <a:gd name="connsiteY19" fmla="*/ 51707 h 239404"/>
              <a:gd name="connsiteX20" fmla="*/ 182594 w 239400"/>
              <a:gd name="connsiteY20" fmla="*/ 69383 h 239404"/>
              <a:gd name="connsiteX21" fmla="*/ 182594 w 239400"/>
              <a:gd name="connsiteY21" fmla="*/ 69389 h 239404"/>
              <a:gd name="connsiteX22" fmla="*/ 164918 w 239400"/>
              <a:gd name="connsiteY22" fmla="*/ 87097 h 2394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239400" h="239404">
                <a:moveTo>
                  <a:pt x="184533" y="84408"/>
                </a:moveTo>
                <a:cubicBezTo>
                  <a:pt x="187867" y="80112"/>
                  <a:pt x="189674" y="74827"/>
                  <a:pt x="189667" y="69389"/>
                </a:cubicBezTo>
                <a:cubicBezTo>
                  <a:pt x="189666" y="55724"/>
                  <a:pt x="178587" y="44648"/>
                  <a:pt x="164922" y="44649"/>
                </a:cubicBezTo>
                <a:cubicBezTo>
                  <a:pt x="159200" y="44650"/>
                  <a:pt x="153656" y="46634"/>
                  <a:pt x="149232" y="50262"/>
                </a:cubicBezTo>
                <a:cubicBezTo>
                  <a:pt x="107760" y="17671"/>
                  <a:pt x="56528" y="-19"/>
                  <a:pt x="3782" y="39"/>
                </a:cubicBezTo>
                <a:cubicBezTo>
                  <a:pt x="1832" y="-79"/>
                  <a:pt x="157" y="1406"/>
                  <a:pt x="39" y="3356"/>
                </a:cubicBezTo>
                <a:cubicBezTo>
                  <a:pt x="-79" y="5306"/>
                  <a:pt x="1406" y="6981"/>
                  <a:pt x="3356" y="7099"/>
                </a:cubicBezTo>
                <a:cubicBezTo>
                  <a:pt x="3498" y="7108"/>
                  <a:pt x="3640" y="7108"/>
                  <a:pt x="3782" y="7099"/>
                </a:cubicBezTo>
                <a:cubicBezTo>
                  <a:pt x="54755" y="7036"/>
                  <a:pt x="104275" y="24074"/>
                  <a:pt x="144419" y="55487"/>
                </a:cubicBezTo>
                <a:cubicBezTo>
                  <a:pt x="136741" y="66808"/>
                  <a:pt x="139694" y="82210"/>
                  <a:pt x="151015" y="89888"/>
                </a:cubicBezTo>
                <a:cubicBezTo>
                  <a:pt x="155120" y="92672"/>
                  <a:pt x="159965" y="94159"/>
                  <a:pt x="164925" y="94158"/>
                </a:cubicBezTo>
                <a:cubicBezTo>
                  <a:pt x="170171" y="94169"/>
                  <a:pt x="175280" y="92482"/>
                  <a:pt x="179488" y="89350"/>
                </a:cubicBezTo>
                <a:cubicBezTo>
                  <a:pt x="214002" y="130486"/>
                  <a:pt x="232900" y="182479"/>
                  <a:pt x="232856" y="236176"/>
                </a:cubicBezTo>
                <a:cubicBezTo>
                  <a:pt x="232738" y="238126"/>
                  <a:pt x="234223" y="239802"/>
                  <a:pt x="236173" y="239919"/>
                </a:cubicBezTo>
                <a:cubicBezTo>
                  <a:pt x="238122" y="240037"/>
                  <a:pt x="239798" y="238552"/>
                  <a:pt x="239916" y="236602"/>
                </a:cubicBezTo>
                <a:cubicBezTo>
                  <a:pt x="239924" y="236460"/>
                  <a:pt x="239924" y="236318"/>
                  <a:pt x="239916" y="236176"/>
                </a:cubicBezTo>
                <a:cubicBezTo>
                  <a:pt x="239978" y="180630"/>
                  <a:pt x="220356" y="126858"/>
                  <a:pt x="184533" y="84408"/>
                </a:cubicBezTo>
                <a:close/>
                <a:moveTo>
                  <a:pt x="164918" y="87097"/>
                </a:moveTo>
                <a:cubicBezTo>
                  <a:pt x="155146" y="87108"/>
                  <a:pt x="147215" y="79194"/>
                  <a:pt x="147204" y="69421"/>
                </a:cubicBezTo>
                <a:cubicBezTo>
                  <a:pt x="147193" y="59648"/>
                  <a:pt x="155107" y="51717"/>
                  <a:pt x="164880" y="51707"/>
                </a:cubicBezTo>
                <a:cubicBezTo>
                  <a:pt x="174653" y="51696"/>
                  <a:pt x="182584" y="59610"/>
                  <a:pt x="182594" y="69383"/>
                </a:cubicBezTo>
                <a:cubicBezTo>
                  <a:pt x="182594" y="69385"/>
                  <a:pt x="182594" y="69387"/>
                  <a:pt x="182594" y="69389"/>
                </a:cubicBezTo>
                <a:cubicBezTo>
                  <a:pt x="182577" y="79149"/>
                  <a:pt x="174678" y="87062"/>
                  <a:pt x="164918" y="87097"/>
                </a:cubicBezTo>
                <a:close/>
              </a:path>
            </a:pathLst>
          </a:custGeom>
          <a:solidFill>
            <a:srgbClr val="BBB4C4"/>
          </a:solidFill>
          <a:ln w="641" cap="flat">
            <a:solidFill>
              <a:srgbClr val="BBB4C4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450" b="0" i="0" u="none" strike="noStrike" kern="1200" cap="none" spc="0" normalizeH="0" baseline="0" noProof="0">
              <a:ln>
                <a:noFill/>
              </a:ln>
              <a:solidFill>
                <a:srgbClr val="7C7D7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Forma libre 23">
            <a:extLst>
              <a:ext uri="{FF2B5EF4-FFF2-40B4-BE49-F238E27FC236}">
                <a16:creationId xmlns:a16="http://schemas.microsoft.com/office/drawing/2014/main" id="{600CC0F1-59D4-EBC0-B298-AFFFA96FA8BD}"/>
              </a:ext>
            </a:extLst>
          </p:cNvPr>
          <p:cNvSpPr/>
          <p:nvPr/>
        </p:nvSpPr>
        <p:spPr>
          <a:xfrm>
            <a:off x="6687571" y="1446108"/>
            <a:ext cx="92948" cy="92953"/>
          </a:xfrm>
          <a:custGeom>
            <a:avLst/>
            <a:gdLst>
              <a:gd name="connsiteX0" fmla="*/ 21238 w 21180"/>
              <a:gd name="connsiteY0" fmla="*/ 10636 h 21180"/>
              <a:gd name="connsiteX1" fmla="*/ 10635 w 21180"/>
              <a:gd name="connsiteY1" fmla="*/ 21239 h 21180"/>
              <a:gd name="connsiteX2" fmla="*/ 32 w 21180"/>
              <a:gd name="connsiteY2" fmla="*/ 10636 h 21180"/>
              <a:gd name="connsiteX3" fmla="*/ 10635 w 21180"/>
              <a:gd name="connsiteY3" fmla="*/ 32 h 21180"/>
              <a:gd name="connsiteX4" fmla="*/ 21238 w 21180"/>
              <a:gd name="connsiteY4" fmla="*/ 10636 h 21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180" h="21180">
                <a:moveTo>
                  <a:pt x="21238" y="10636"/>
                </a:moveTo>
                <a:cubicBezTo>
                  <a:pt x="21238" y="16491"/>
                  <a:pt x="16491" y="21239"/>
                  <a:pt x="10635" y="21239"/>
                </a:cubicBezTo>
                <a:cubicBezTo>
                  <a:pt x="4779" y="21239"/>
                  <a:pt x="32" y="16491"/>
                  <a:pt x="32" y="10636"/>
                </a:cubicBezTo>
                <a:cubicBezTo>
                  <a:pt x="32" y="4780"/>
                  <a:pt x="4779" y="32"/>
                  <a:pt x="10635" y="32"/>
                </a:cubicBezTo>
                <a:cubicBezTo>
                  <a:pt x="16491" y="32"/>
                  <a:pt x="21238" y="4780"/>
                  <a:pt x="21238" y="10636"/>
                </a:cubicBezTo>
                <a:close/>
              </a:path>
            </a:pathLst>
          </a:custGeom>
          <a:solidFill>
            <a:srgbClr val="BBB4C4"/>
          </a:solidFill>
          <a:ln w="641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450" b="0" i="0" u="none" strike="noStrike" kern="1200" cap="none" spc="0" normalizeH="0" baseline="0" noProof="0">
              <a:ln>
                <a:noFill/>
              </a:ln>
              <a:solidFill>
                <a:srgbClr val="7C7D7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Forma libre 24">
            <a:extLst>
              <a:ext uri="{FF2B5EF4-FFF2-40B4-BE49-F238E27FC236}">
                <a16:creationId xmlns:a16="http://schemas.microsoft.com/office/drawing/2014/main" id="{4F431A17-91F7-5B66-4EA6-C6B68920F307}"/>
              </a:ext>
            </a:extLst>
          </p:cNvPr>
          <p:cNvSpPr/>
          <p:nvPr/>
        </p:nvSpPr>
        <p:spPr>
          <a:xfrm>
            <a:off x="7708543" y="4787274"/>
            <a:ext cx="1050613" cy="1050626"/>
          </a:xfrm>
          <a:custGeom>
            <a:avLst/>
            <a:gdLst>
              <a:gd name="connsiteX0" fmla="*/ 239929 w 239400"/>
              <a:gd name="connsiteY0" fmla="*/ 3356 h 239404"/>
              <a:gd name="connsiteX1" fmla="*/ 236186 w 239400"/>
              <a:gd name="connsiteY1" fmla="*/ 39 h 239404"/>
              <a:gd name="connsiteX2" fmla="*/ 232869 w 239400"/>
              <a:gd name="connsiteY2" fmla="*/ 3356 h 239404"/>
              <a:gd name="connsiteX3" fmla="*/ 184443 w 239400"/>
              <a:gd name="connsiteY3" fmla="*/ 144040 h 239404"/>
              <a:gd name="connsiteX4" fmla="*/ 150083 w 239400"/>
              <a:gd name="connsiteY4" fmla="*/ 150608 h 239404"/>
              <a:gd name="connsiteX5" fmla="*/ 145811 w 239400"/>
              <a:gd name="connsiteY5" fmla="*/ 164508 h 239404"/>
              <a:gd name="connsiteX6" fmla="*/ 150619 w 239400"/>
              <a:gd name="connsiteY6" fmla="*/ 179071 h 239404"/>
              <a:gd name="connsiteX7" fmla="*/ 3782 w 239400"/>
              <a:gd name="connsiteY7" fmla="*/ 232491 h 239404"/>
              <a:gd name="connsiteX8" fmla="*/ 39 w 239400"/>
              <a:gd name="connsiteY8" fmla="*/ 235808 h 239404"/>
              <a:gd name="connsiteX9" fmla="*/ 3356 w 239400"/>
              <a:gd name="connsiteY9" fmla="*/ 239551 h 239404"/>
              <a:gd name="connsiteX10" fmla="*/ 3782 w 239400"/>
              <a:gd name="connsiteY10" fmla="*/ 239551 h 239404"/>
              <a:gd name="connsiteX11" fmla="*/ 155561 w 239400"/>
              <a:gd name="connsiteY11" fmla="*/ 184161 h 239404"/>
              <a:gd name="connsiteX12" fmla="*/ 170579 w 239400"/>
              <a:gd name="connsiteY12" fmla="*/ 189295 h 239404"/>
              <a:gd name="connsiteX13" fmla="*/ 195319 w 239400"/>
              <a:gd name="connsiteY13" fmla="*/ 164550 h 239404"/>
              <a:gd name="connsiteX14" fmla="*/ 189706 w 239400"/>
              <a:gd name="connsiteY14" fmla="*/ 148860 h 239404"/>
              <a:gd name="connsiteX15" fmla="*/ 239929 w 239400"/>
              <a:gd name="connsiteY15" fmla="*/ 3356 h 239404"/>
              <a:gd name="connsiteX16" fmla="*/ 170612 w 239400"/>
              <a:gd name="connsiteY16" fmla="*/ 182178 h 239404"/>
              <a:gd name="connsiteX17" fmla="*/ 152936 w 239400"/>
              <a:gd name="connsiteY17" fmla="*/ 164501 h 239404"/>
              <a:gd name="connsiteX18" fmla="*/ 170612 w 239400"/>
              <a:gd name="connsiteY18" fmla="*/ 146825 h 239404"/>
              <a:gd name="connsiteX19" fmla="*/ 188287 w 239400"/>
              <a:gd name="connsiteY19" fmla="*/ 164501 h 239404"/>
              <a:gd name="connsiteX20" fmla="*/ 188287 w 239400"/>
              <a:gd name="connsiteY20" fmla="*/ 164508 h 239404"/>
              <a:gd name="connsiteX21" fmla="*/ 170579 w 239400"/>
              <a:gd name="connsiteY21" fmla="*/ 182203 h 2394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239400" h="239404">
                <a:moveTo>
                  <a:pt x="239929" y="3356"/>
                </a:moveTo>
                <a:cubicBezTo>
                  <a:pt x="239811" y="1406"/>
                  <a:pt x="238135" y="-79"/>
                  <a:pt x="236186" y="39"/>
                </a:cubicBezTo>
                <a:cubicBezTo>
                  <a:pt x="234400" y="147"/>
                  <a:pt x="232976" y="1571"/>
                  <a:pt x="232869" y="3356"/>
                </a:cubicBezTo>
                <a:cubicBezTo>
                  <a:pt x="232919" y="54348"/>
                  <a:pt x="215868" y="103883"/>
                  <a:pt x="184443" y="144040"/>
                </a:cubicBezTo>
                <a:cubicBezTo>
                  <a:pt x="173141" y="136365"/>
                  <a:pt x="157758" y="139306"/>
                  <a:pt x="150083" y="150608"/>
                </a:cubicBezTo>
                <a:cubicBezTo>
                  <a:pt x="147299" y="154709"/>
                  <a:pt x="145811" y="159551"/>
                  <a:pt x="145811" y="164508"/>
                </a:cubicBezTo>
                <a:cubicBezTo>
                  <a:pt x="145800" y="169754"/>
                  <a:pt x="147487" y="174863"/>
                  <a:pt x="150619" y="179071"/>
                </a:cubicBezTo>
                <a:cubicBezTo>
                  <a:pt x="109486" y="213605"/>
                  <a:pt x="57489" y="232522"/>
                  <a:pt x="3782" y="232491"/>
                </a:cubicBezTo>
                <a:cubicBezTo>
                  <a:pt x="1832" y="232373"/>
                  <a:pt x="157" y="233858"/>
                  <a:pt x="39" y="235808"/>
                </a:cubicBezTo>
                <a:cubicBezTo>
                  <a:pt x="-79" y="237758"/>
                  <a:pt x="1406" y="239433"/>
                  <a:pt x="3356" y="239551"/>
                </a:cubicBezTo>
                <a:cubicBezTo>
                  <a:pt x="3498" y="239559"/>
                  <a:pt x="3640" y="239559"/>
                  <a:pt x="3782" y="239551"/>
                </a:cubicBezTo>
                <a:cubicBezTo>
                  <a:pt x="59333" y="239615"/>
                  <a:pt x="113108" y="219990"/>
                  <a:pt x="155561" y="184161"/>
                </a:cubicBezTo>
                <a:cubicBezTo>
                  <a:pt x="159858" y="187492"/>
                  <a:pt x="165142" y="189298"/>
                  <a:pt x="170579" y="189295"/>
                </a:cubicBezTo>
                <a:cubicBezTo>
                  <a:pt x="184244" y="189294"/>
                  <a:pt x="195320" y="178215"/>
                  <a:pt x="195319" y="164550"/>
                </a:cubicBezTo>
                <a:cubicBezTo>
                  <a:pt x="195318" y="158828"/>
                  <a:pt x="193335" y="153283"/>
                  <a:pt x="189706" y="148860"/>
                </a:cubicBezTo>
                <a:cubicBezTo>
                  <a:pt x="222310" y="107374"/>
                  <a:pt x="240000" y="56121"/>
                  <a:pt x="239929" y="3356"/>
                </a:cubicBezTo>
                <a:close/>
                <a:moveTo>
                  <a:pt x="170612" y="182178"/>
                </a:moveTo>
                <a:cubicBezTo>
                  <a:pt x="160849" y="182178"/>
                  <a:pt x="152936" y="174264"/>
                  <a:pt x="152936" y="164501"/>
                </a:cubicBezTo>
                <a:cubicBezTo>
                  <a:pt x="152936" y="154739"/>
                  <a:pt x="160849" y="146825"/>
                  <a:pt x="170612" y="146825"/>
                </a:cubicBezTo>
                <a:cubicBezTo>
                  <a:pt x="180374" y="146825"/>
                  <a:pt x="188287" y="154739"/>
                  <a:pt x="188287" y="164501"/>
                </a:cubicBezTo>
                <a:cubicBezTo>
                  <a:pt x="188287" y="164504"/>
                  <a:pt x="188287" y="164506"/>
                  <a:pt x="188287" y="164508"/>
                </a:cubicBezTo>
                <a:cubicBezTo>
                  <a:pt x="188249" y="174270"/>
                  <a:pt x="180341" y="182171"/>
                  <a:pt x="170579" y="182203"/>
                </a:cubicBezTo>
                <a:close/>
              </a:path>
            </a:pathLst>
          </a:custGeom>
          <a:solidFill>
            <a:srgbClr val="FEE3CA"/>
          </a:solidFill>
          <a:ln w="641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450" b="0" i="0" u="none" strike="noStrike" kern="1200" cap="none" spc="0" normalizeH="0" baseline="0" noProof="0">
              <a:ln>
                <a:noFill/>
              </a:ln>
              <a:solidFill>
                <a:srgbClr val="7C7D7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Forma libre 25">
            <a:extLst>
              <a:ext uri="{FF2B5EF4-FFF2-40B4-BE49-F238E27FC236}">
                <a16:creationId xmlns:a16="http://schemas.microsoft.com/office/drawing/2014/main" id="{5D525FB0-EC0B-8F57-B717-89903EBB9BCE}"/>
              </a:ext>
            </a:extLst>
          </p:cNvPr>
          <p:cNvSpPr/>
          <p:nvPr/>
        </p:nvSpPr>
        <p:spPr>
          <a:xfrm>
            <a:off x="8410432" y="5462626"/>
            <a:ext cx="92948" cy="92953"/>
          </a:xfrm>
          <a:custGeom>
            <a:avLst/>
            <a:gdLst>
              <a:gd name="connsiteX0" fmla="*/ 21238 w 21180"/>
              <a:gd name="connsiteY0" fmla="*/ 10635 h 21180"/>
              <a:gd name="connsiteX1" fmla="*/ 10635 w 21180"/>
              <a:gd name="connsiteY1" fmla="*/ 21239 h 21180"/>
              <a:gd name="connsiteX2" fmla="*/ 32 w 21180"/>
              <a:gd name="connsiteY2" fmla="*/ 10635 h 21180"/>
              <a:gd name="connsiteX3" fmla="*/ 10635 w 21180"/>
              <a:gd name="connsiteY3" fmla="*/ 32 h 21180"/>
              <a:gd name="connsiteX4" fmla="*/ 21238 w 21180"/>
              <a:gd name="connsiteY4" fmla="*/ 10635 h 21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180" h="21180">
                <a:moveTo>
                  <a:pt x="21238" y="10635"/>
                </a:moveTo>
                <a:cubicBezTo>
                  <a:pt x="21238" y="16491"/>
                  <a:pt x="16491" y="21239"/>
                  <a:pt x="10635" y="21239"/>
                </a:cubicBezTo>
                <a:cubicBezTo>
                  <a:pt x="4779" y="21239"/>
                  <a:pt x="32" y="16491"/>
                  <a:pt x="32" y="10635"/>
                </a:cubicBezTo>
                <a:cubicBezTo>
                  <a:pt x="32" y="4780"/>
                  <a:pt x="4779" y="32"/>
                  <a:pt x="10635" y="32"/>
                </a:cubicBezTo>
                <a:cubicBezTo>
                  <a:pt x="16491" y="32"/>
                  <a:pt x="21238" y="4780"/>
                  <a:pt x="21238" y="10635"/>
                </a:cubicBezTo>
                <a:close/>
              </a:path>
            </a:pathLst>
          </a:custGeom>
          <a:solidFill>
            <a:srgbClr val="FEE3CA"/>
          </a:solidFill>
          <a:ln w="641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450" b="0" i="0" u="none" strike="noStrike" kern="1200" cap="none" spc="0" normalizeH="0" baseline="0" noProof="0">
              <a:ln>
                <a:noFill/>
              </a:ln>
              <a:solidFill>
                <a:srgbClr val="7C7D7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Forma libre 26">
            <a:extLst>
              <a:ext uri="{FF2B5EF4-FFF2-40B4-BE49-F238E27FC236}">
                <a16:creationId xmlns:a16="http://schemas.microsoft.com/office/drawing/2014/main" id="{FCA61A7F-D277-4DF3-5B0B-03D6D4880330}"/>
              </a:ext>
            </a:extLst>
          </p:cNvPr>
          <p:cNvSpPr/>
          <p:nvPr/>
        </p:nvSpPr>
        <p:spPr>
          <a:xfrm>
            <a:off x="3432844" y="3771989"/>
            <a:ext cx="1050613" cy="1050626"/>
          </a:xfrm>
          <a:custGeom>
            <a:avLst/>
            <a:gdLst>
              <a:gd name="connsiteX0" fmla="*/ 236186 w 239400"/>
              <a:gd name="connsiteY0" fmla="*/ 33 h 239404"/>
              <a:gd name="connsiteX1" fmla="*/ 84407 w 239400"/>
              <a:gd name="connsiteY1" fmla="*/ 55384 h 239404"/>
              <a:gd name="connsiteX2" fmla="*/ 69420 w 239400"/>
              <a:gd name="connsiteY2" fmla="*/ 50295 h 239404"/>
              <a:gd name="connsiteX3" fmla="*/ 44649 w 239400"/>
              <a:gd name="connsiteY3" fmla="*/ 75008 h 239404"/>
              <a:gd name="connsiteX4" fmla="*/ 50262 w 239400"/>
              <a:gd name="connsiteY4" fmla="*/ 90730 h 239404"/>
              <a:gd name="connsiteX5" fmla="*/ 39 w 239400"/>
              <a:gd name="connsiteY5" fmla="*/ 236183 h 239404"/>
              <a:gd name="connsiteX6" fmla="*/ 3356 w 239400"/>
              <a:gd name="connsiteY6" fmla="*/ 239926 h 239404"/>
              <a:gd name="connsiteX7" fmla="*/ 7099 w 239400"/>
              <a:gd name="connsiteY7" fmla="*/ 236609 h 239404"/>
              <a:gd name="connsiteX8" fmla="*/ 7099 w 239400"/>
              <a:gd name="connsiteY8" fmla="*/ 236183 h 239404"/>
              <a:gd name="connsiteX9" fmla="*/ 55486 w 239400"/>
              <a:gd name="connsiteY9" fmla="*/ 95537 h 239404"/>
              <a:gd name="connsiteX10" fmla="*/ 89860 w 239400"/>
              <a:gd name="connsiteY10" fmla="*/ 88944 h 239404"/>
              <a:gd name="connsiteX11" fmla="*/ 89375 w 239400"/>
              <a:gd name="connsiteY11" fmla="*/ 60474 h 239404"/>
              <a:gd name="connsiteX12" fmla="*/ 236166 w 239400"/>
              <a:gd name="connsiteY12" fmla="*/ 7099 h 239404"/>
              <a:gd name="connsiteX13" fmla="*/ 239909 w 239400"/>
              <a:gd name="connsiteY13" fmla="*/ 3782 h 239404"/>
              <a:gd name="connsiteX14" fmla="*/ 236592 w 239400"/>
              <a:gd name="connsiteY14" fmla="*/ 39 h 239404"/>
              <a:gd name="connsiteX15" fmla="*/ 236166 w 239400"/>
              <a:gd name="connsiteY15" fmla="*/ 39 h 239404"/>
              <a:gd name="connsiteX16" fmla="*/ 69420 w 239400"/>
              <a:gd name="connsiteY16" fmla="*/ 92745 h 239404"/>
              <a:gd name="connsiteX17" fmla="*/ 51706 w 239400"/>
              <a:gd name="connsiteY17" fmla="*/ 75069 h 239404"/>
              <a:gd name="connsiteX18" fmla="*/ 69382 w 239400"/>
              <a:gd name="connsiteY18" fmla="*/ 57355 h 239404"/>
              <a:gd name="connsiteX19" fmla="*/ 87096 w 239400"/>
              <a:gd name="connsiteY19" fmla="*/ 75031 h 239404"/>
              <a:gd name="connsiteX20" fmla="*/ 87096 w 239400"/>
              <a:gd name="connsiteY20" fmla="*/ 75037 h 239404"/>
              <a:gd name="connsiteX21" fmla="*/ 69420 w 239400"/>
              <a:gd name="connsiteY21" fmla="*/ 92745 h 2394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239400" h="239404">
                <a:moveTo>
                  <a:pt x="236186" y="33"/>
                </a:moveTo>
                <a:cubicBezTo>
                  <a:pt x="180642" y="-28"/>
                  <a:pt x="126872" y="19581"/>
                  <a:pt x="84407" y="55384"/>
                </a:cubicBezTo>
                <a:cubicBezTo>
                  <a:pt x="80114" y="52072"/>
                  <a:pt x="74842" y="50281"/>
                  <a:pt x="69420" y="50295"/>
                </a:cubicBezTo>
                <a:cubicBezTo>
                  <a:pt x="55755" y="50278"/>
                  <a:pt x="44665" y="61343"/>
                  <a:pt x="44649" y="75008"/>
                </a:cubicBezTo>
                <a:cubicBezTo>
                  <a:pt x="44642" y="80741"/>
                  <a:pt x="46626" y="86298"/>
                  <a:pt x="50262" y="90730"/>
                </a:cubicBezTo>
                <a:cubicBezTo>
                  <a:pt x="17670" y="132203"/>
                  <a:pt x="-20" y="183436"/>
                  <a:pt x="39" y="236183"/>
                </a:cubicBezTo>
                <a:cubicBezTo>
                  <a:pt x="-79" y="238132"/>
                  <a:pt x="1406" y="239808"/>
                  <a:pt x="3356" y="239926"/>
                </a:cubicBezTo>
                <a:cubicBezTo>
                  <a:pt x="5306" y="240043"/>
                  <a:pt x="6981" y="238558"/>
                  <a:pt x="7099" y="236609"/>
                </a:cubicBezTo>
                <a:cubicBezTo>
                  <a:pt x="7108" y="236467"/>
                  <a:pt x="7108" y="236324"/>
                  <a:pt x="7099" y="236183"/>
                </a:cubicBezTo>
                <a:cubicBezTo>
                  <a:pt x="7037" y="185207"/>
                  <a:pt x="24075" y="135684"/>
                  <a:pt x="55486" y="95537"/>
                </a:cubicBezTo>
                <a:cubicBezTo>
                  <a:pt x="66799" y="103209"/>
                  <a:pt x="82188" y="100256"/>
                  <a:pt x="89860" y="88944"/>
                </a:cubicBezTo>
                <a:cubicBezTo>
                  <a:pt x="95720" y="80302"/>
                  <a:pt x="95525" y="68911"/>
                  <a:pt x="89375" y="60474"/>
                </a:cubicBezTo>
                <a:cubicBezTo>
                  <a:pt x="130496" y="25957"/>
                  <a:pt x="182478" y="7056"/>
                  <a:pt x="236166" y="7099"/>
                </a:cubicBezTo>
                <a:cubicBezTo>
                  <a:pt x="238116" y="7217"/>
                  <a:pt x="239792" y="5732"/>
                  <a:pt x="239909" y="3782"/>
                </a:cubicBezTo>
                <a:cubicBezTo>
                  <a:pt x="240027" y="1832"/>
                  <a:pt x="238542" y="156"/>
                  <a:pt x="236592" y="39"/>
                </a:cubicBezTo>
                <a:cubicBezTo>
                  <a:pt x="236450" y="30"/>
                  <a:pt x="236308" y="30"/>
                  <a:pt x="236166" y="39"/>
                </a:cubicBezTo>
                <a:close/>
                <a:moveTo>
                  <a:pt x="69420" y="92745"/>
                </a:moveTo>
                <a:cubicBezTo>
                  <a:pt x="59647" y="92756"/>
                  <a:pt x="51716" y="84842"/>
                  <a:pt x="51706" y="75069"/>
                </a:cubicBezTo>
                <a:cubicBezTo>
                  <a:pt x="51695" y="65296"/>
                  <a:pt x="59609" y="57365"/>
                  <a:pt x="69382" y="57355"/>
                </a:cubicBezTo>
                <a:cubicBezTo>
                  <a:pt x="79154" y="57344"/>
                  <a:pt x="87085" y="65258"/>
                  <a:pt x="87096" y="75031"/>
                </a:cubicBezTo>
                <a:cubicBezTo>
                  <a:pt x="87096" y="75033"/>
                  <a:pt x="87096" y="75035"/>
                  <a:pt x="87096" y="75037"/>
                </a:cubicBezTo>
                <a:cubicBezTo>
                  <a:pt x="87064" y="84792"/>
                  <a:pt x="79174" y="92696"/>
                  <a:pt x="69420" y="92745"/>
                </a:cubicBezTo>
                <a:close/>
              </a:path>
            </a:pathLst>
          </a:custGeom>
          <a:solidFill>
            <a:srgbClr val="D5B3BE"/>
          </a:solidFill>
          <a:ln w="641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450" b="0" i="0" u="none" strike="noStrike" kern="1200" cap="none" spc="0" normalizeH="0" baseline="0" noProof="0">
              <a:ln>
                <a:noFill/>
              </a:ln>
              <a:solidFill>
                <a:srgbClr val="7C7D7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Forma libre 27">
            <a:extLst>
              <a:ext uri="{FF2B5EF4-FFF2-40B4-BE49-F238E27FC236}">
                <a16:creationId xmlns:a16="http://schemas.microsoft.com/office/drawing/2014/main" id="{4A79FB05-97B3-E401-A18D-32E5A9A8A3E8}"/>
              </a:ext>
            </a:extLst>
          </p:cNvPr>
          <p:cNvSpPr/>
          <p:nvPr/>
        </p:nvSpPr>
        <p:spPr>
          <a:xfrm>
            <a:off x="3690735" y="4054674"/>
            <a:ext cx="92948" cy="92953"/>
          </a:xfrm>
          <a:custGeom>
            <a:avLst/>
            <a:gdLst>
              <a:gd name="connsiteX0" fmla="*/ 21238 w 21180"/>
              <a:gd name="connsiteY0" fmla="*/ 10636 h 21180"/>
              <a:gd name="connsiteX1" fmla="*/ 10635 w 21180"/>
              <a:gd name="connsiteY1" fmla="*/ 21239 h 21180"/>
              <a:gd name="connsiteX2" fmla="*/ 32 w 21180"/>
              <a:gd name="connsiteY2" fmla="*/ 10636 h 21180"/>
              <a:gd name="connsiteX3" fmla="*/ 10635 w 21180"/>
              <a:gd name="connsiteY3" fmla="*/ 32 h 21180"/>
              <a:gd name="connsiteX4" fmla="*/ 21238 w 21180"/>
              <a:gd name="connsiteY4" fmla="*/ 10636 h 21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180" h="21180">
                <a:moveTo>
                  <a:pt x="21238" y="10636"/>
                </a:moveTo>
                <a:cubicBezTo>
                  <a:pt x="21238" y="16491"/>
                  <a:pt x="16491" y="21239"/>
                  <a:pt x="10635" y="21239"/>
                </a:cubicBezTo>
                <a:cubicBezTo>
                  <a:pt x="4780" y="21239"/>
                  <a:pt x="32" y="16491"/>
                  <a:pt x="32" y="10636"/>
                </a:cubicBezTo>
                <a:cubicBezTo>
                  <a:pt x="32" y="4780"/>
                  <a:pt x="4779" y="32"/>
                  <a:pt x="10635" y="32"/>
                </a:cubicBezTo>
                <a:cubicBezTo>
                  <a:pt x="16491" y="32"/>
                  <a:pt x="21238" y="4780"/>
                  <a:pt x="21238" y="10636"/>
                </a:cubicBezTo>
                <a:close/>
              </a:path>
            </a:pathLst>
          </a:custGeom>
          <a:solidFill>
            <a:srgbClr val="D5B3BE"/>
          </a:solidFill>
          <a:ln w="641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450" b="0" i="0" u="none" strike="noStrike" kern="1200" cap="none" spc="0" normalizeH="0" baseline="0" noProof="0">
              <a:ln>
                <a:noFill/>
              </a:ln>
              <a:solidFill>
                <a:srgbClr val="7C7D7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Forma libre 28">
            <a:extLst>
              <a:ext uri="{FF2B5EF4-FFF2-40B4-BE49-F238E27FC236}">
                <a16:creationId xmlns:a16="http://schemas.microsoft.com/office/drawing/2014/main" id="{E9611F9F-BC45-1C2E-9FB1-FDC1E4215EB2}"/>
              </a:ext>
            </a:extLst>
          </p:cNvPr>
          <p:cNvSpPr/>
          <p:nvPr/>
        </p:nvSpPr>
        <p:spPr>
          <a:xfrm>
            <a:off x="5475377" y="1673287"/>
            <a:ext cx="1101313" cy="1101326"/>
          </a:xfrm>
          <a:custGeom>
            <a:avLst/>
            <a:gdLst>
              <a:gd name="connsiteX0" fmla="*/ 212378 w 250953"/>
              <a:gd name="connsiteY0" fmla="*/ 216686 h 250957"/>
              <a:gd name="connsiteX1" fmla="*/ 160069 w 250953"/>
              <a:gd name="connsiteY1" fmla="*/ 246519 h 250957"/>
              <a:gd name="connsiteX2" fmla="*/ 149601 w 250953"/>
              <a:gd name="connsiteY2" fmla="*/ 249028 h 250957"/>
              <a:gd name="connsiteX3" fmla="*/ 2347 w 250953"/>
              <a:gd name="connsiteY3" fmla="*/ 149602 h 250957"/>
              <a:gd name="connsiteX4" fmla="*/ 101779 w 250953"/>
              <a:gd name="connsiteY4" fmla="*/ 2346 h 250957"/>
              <a:gd name="connsiteX5" fmla="*/ 249084 w 250953"/>
              <a:gd name="connsiteY5" fmla="*/ 101772 h 250957"/>
              <a:gd name="connsiteX6" fmla="*/ 212378 w 250953"/>
              <a:gd name="connsiteY6" fmla="*/ 216686 h 2509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0953" h="250957">
                <a:moveTo>
                  <a:pt x="212378" y="216686"/>
                </a:moveTo>
                <a:cubicBezTo>
                  <a:pt x="197643" y="230758"/>
                  <a:pt x="179683" y="241001"/>
                  <a:pt x="160069" y="246519"/>
                </a:cubicBezTo>
                <a:cubicBezTo>
                  <a:pt x="156636" y="247514"/>
                  <a:pt x="153176" y="248361"/>
                  <a:pt x="149601" y="249028"/>
                </a:cubicBezTo>
                <a:cubicBezTo>
                  <a:pt x="81491" y="262250"/>
                  <a:pt x="15537" y="217713"/>
                  <a:pt x="2347" y="149602"/>
                </a:cubicBezTo>
                <a:cubicBezTo>
                  <a:pt x="-10842" y="81490"/>
                  <a:pt x="33668" y="15529"/>
                  <a:pt x="101779" y="2346"/>
                </a:cubicBezTo>
                <a:cubicBezTo>
                  <a:pt x="169889" y="-10837"/>
                  <a:pt x="235850" y="33661"/>
                  <a:pt x="249084" y="101772"/>
                </a:cubicBezTo>
                <a:cubicBezTo>
                  <a:pt x="257262" y="143831"/>
                  <a:pt x="243423" y="187156"/>
                  <a:pt x="212378" y="216686"/>
                </a:cubicBezTo>
                <a:close/>
              </a:path>
            </a:pathLst>
          </a:custGeom>
          <a:solidFill>
            <a:srgbClr val="FFFFFF"/>
          </a:solidFill>
          <a:ln w="641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450" b="0" i="0" u="none" strike="noStrike" kern="1200" cap="none" spc="0" normalizeH="0" baseline="0" noProof="0" dirty="0">
              <a:ln>
                <a:noFill/>
              </a:ln>
              <a:solidFill>
                <a:srgbClr val="7C7D7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Forma libre 29">
            <a:extLst>
              <a:ext uri="{FF2B5EF4-FFF2-40B4-BE49-F238E27FC236}">
                <a16:creationId xmlns:a16="http://schemas.microsoft.com/office/drawing/2014/main" id="{915BF516-C269-3FA5-DB33-7B10B3F53744}"/>
              </a:ext>
            </a:extLst>
          </p:cNvPr>
          <p:cNvSpPr/>
          <p:nvPr/>
        </p:nvSpPr>
        <p:spPr>
          <a:xfrm>
            <a:off x="3666511" y="4015319"/>
            <a:ext cx="3503915" cy="1585799"/>
          </a:xfrm>
          <a:custGeom>
            <a:avLst/>
            <a:gdLst>
              <a:gd name="connsiteX0" fmla="*/ 798534 w 798430"/>
              <a:gd name="connsiteY0" fmla="*/ 211313 h 361352"/>
              <a:gd name="connsiteX1" fmla="*/ 395018 w 798430"/>
              <a:gd name="connsiteY1" fmla="*/ 211525 h 361352"/>
              <a:gd name="connsiteX2" fmla="*/ 371200 w 798430"/>
              <a:gd name="connsiteY2" fmla="*/ 215093 h 361352"/>
              <a:gd name="connsiteX3" fmla="*/ 355360 w 798430"/>
              <a:gd name="connsiteY3" fmla="*/ 231428 h 361352"/>
              <a:gd name="connsiteX4" fmla="*/ 346098 w 798430"/>
              <a:gd name="connsiteY4" fmla="*/ 251890 h 361352"/>
              <a:gd name="connsiteX5" fmla="*/ 162261 w 798430"/>
              <a:gd name="connsiteY5" fmla="*/ 360546 h 361352"/>
              <a:gd name="connsiteX6" fmla="*/ 135612 w 798430"/>
              <a:gd name="connsiteY6" fmla="*/ 355636 h 361352"/>
              <a:gd name="connsiteX7" fmla="*/ 3518 w 798430"/>
              <a:gd name="connsiteY7" fmla="*/ 217712 h 361352"/>
              <a:gd name="connsiteX8" fmla="*/ 77463 w 798430"/>
              <a:gd name="connsiteY8" fmla="*/ 32742 h 361352"/>
              <a:gd name="connsiteX9" fmla="*/ 253964 w 798430"/>
              <a:gd name="connsiteY9" fmla="*/ 14854 h 361352"/>
              <a:gd name="connsiteX10" fmla="*/ 227277 w 798430"/>
              <a:gd name="connsiteY10" fmla="*/ 62215 h 361352"/>
              <a:gd name="connsiteX11" fmla="*/ 275985 w 798430"/>
              <a:gd name="connsiteY11" fmla="*/ 95764 h 361352"/>
              <a:gd name="connsiteX12" fmla="*/ 304868 w 798430"/>
              <a:gd name="connsiteY12" fmla="*/ 48961 h 361352"/>
              <a:gd name="connsiteX13" fmla="*/ 351881 w 798430"/>
              <a:gd name="connsiteY13" fmla="*/ 121001 h 361352"/>
              <a:gd name="connsiteX14" fmla="*/ 368427 w 798430"/>
              <a:gd name="connsiteY14" fmla="*/ 148599 h 361352"/>
              <a:gd name="connsiteX15" fmla="*/ 385757 w 798430"/>
              <a:gd name="connsiteY15" fmla="*/ 151359 h 361352"/>
              <a:gd name="connsiteX16" fmla="*/ 798450 w 798430"/>
              <a:gd name="connsiteY16" fmla="*/ 151603 h 361352"/>
              <a:gd name="connsiteX17" fmla="*/ 798534 w 798430"/>
              <a:gd name="connsiteY17" fmla="*/ 211313 h 361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798430" h="361352">
                <a:moveTo>
                  <a:pt x="798534" y="211313"/>
                </a:moveTo>
                <a:lnTo>
                  <a:pt x="395018" y="211525"/>
                </a:lnTo>
                <a:cubicBezTo>
                  <a:pt x="386925" y="211525"/>
                  <a:pt x="378517" y="211595"/>
                  <a:pt x="371200" y="215093"/>
                </a:cubicBezTo>
                <a:cubicBezTo>
                  <a:pt x="364140" y="218527"/>
                  <a:pt x="359249" y="224496"/>
                  <a:pt x="355360" y="231428"/>
                </a:cubicBezTo>
                <a:cubicBezTo>
                  <a:pt x="351721" y="237847"/>
                  <a:pt x="348942" y="245138"/>
                  <a:pt x="346098" y="251890"/>
                </a:cubicBezTo>
                <a:cubicBezTo>
                  <a:pt x="316164" y="321914"/>
                  <a:pt x="238047" y="368113"/>
                  <a:pt x="162261" y="360546"/>
                </a:cubicBezTo>
                <a:cubicBezTo>
                  <a:pt x="153258" y="359640"/>
                  <a:pt x="144346" y="357998"/>
                  <a:pt x="135612" y="355636"/>
                </a:cubicBezTo>
                <a:cubicBezTo>
                  <a:pt x="71134" y="338306"/>
                  <a:pt x="17195" y="283385"/>
                  <a:pt x="3518" y="217712"/>
                </a:cubicBezTo>
                <a:cubicBezTo>
                  <a:pt x="-10833" y="148786"/>
                  <a:pt x="20167" y="73177"/>
                  <a:pt x="77463" y="32742"/>
                </a:cubicBezTo>
                <a:cubicBezTo>
                  <a:pt x="128289" y="-3201"/>
                  <a:pt x="196759" y="-10068"/>
                  <a:pt x="253964" y="14854"/>
                </a:cubicBezTo>
                <a:cubicBezTo>
                  <a:pt x="245056" y="30617"/>
                  <a:pt x="236160" y="46404"/>
                  <a:pt x="227277" y="62215"/>
                </a:cubicBezTo>
                <a:cubicBezTo>
                  <a:pt x="245419" y="70341"/>
                  <a:pt x="261926" y="81710"/>
                  <a:pt x="275985" y="95764"/>
                </a:cubicBezTo>
                <a:cubicBezTo>
                  <a:pt x="285600" y="80141"/>
                  <a:pt x="295227" y="64541"/>
                  <a:pt x="304868" y="48961"/>
                </a:cubicBezTo>
                <a:cubicBezTo>
                  <a:pt x="326598" y="68425"/>
                  <a:pt x="342814" y="93273"/>
                  <a:pt x="351881" y="121001"/>
                </a:cubicBezTo>
                <a:cubicBezTo>
                  <a:pt x="355309" y="131495"/>
                  <a:pt x="358595" y="143587"/>
                  <a:pt x="368427" y="148599"/>
                </a:cubicBezTo>
                <a:cubicBezTo>
                  <a:pt x="373690" y="151321"/>
                  <a:pt x="379878" y="151359"/>
                  <a:pt x="385757" y="151359"/>
                </a:cubicBezTo>
                <a:cubicBezTo>
                  <a:pt x="523325" y="151462"/>
                  <a:pt x="660890" y="151543"/>
                  <a:pt x="798450" y="151603"/>
                </a:cubicBezTo>
                <a:cubicBezTo>
                  <a:pt x="794857" y="171347"/>
                  <a:pt x="794885" y="191580"/>
                  <a:pt x="798534" y="211313"/>
                </a:cubicBezTo>
                <a:close/>
              </a:path>
            </a:pathLst>
          </a:custGeom>
          <a:solidFill>
            <a:srgbClr val="D5B3BE"/>
          </a:solidFill>
          <a:ln w="641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450" b="0" i="0" u="none" strike="noStrike" kern="1200" cap="none" spc="0" normalizeH="0" baseline="0" noProof="0">
              <a:ln>
                <a:noFill/>
              </a:ln>
              <a:solidFill>
                <a:srgbClr val="7C7D7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Forma libre 30">
            <a:extLst>
              <a:ext uri="{FF2B5EF4-FFF2-40B4-BE49-F238E27FC236}">
                <a16:creationId xmlns:a16="http://schemas.microsoft.com/office/drawing/2014/main" id="{4C3F913F-DF76-DA00-B1C1-1FBADDBB6B68}"/>
              </a:ext>
            </a:extLst>
          </p:cNvPr>
          <p:cNvSpPr/>
          <p:nvPr/>
        </p:nvSpPr>
        <p:spPr>
          <a:xfrm>
            <a:off x="3891224" y="4252236"/>
            <a:ext cx="1129479" cy="1129496"/>
          </a:xfrm>
          <a:custGeom>
            <a:avLst/>
            <a:gdLst>
              <a:gd name="connsiteX0" fmla="*/ 257853 w 257371"/>
              <a:gd name="connsiteY0" fmla="*/ 128977 h 257375"/>
              <a:gd name="connsiteX1" fmla="*/ 128943 w 257371"/>
              <a:gd name="connsiteY1" fmla="*/ 257889 h 257375"/>
              <a:gd name="connsiteX2" fmla="*/ 32 w 257371"/>
              <a:gd name="connsiteY2" fmla="*/ 128977 h 257375"/>
              <a:gd name="connsiteX3" fmla="*/ 128943 w 257371"/>
              <a:gd name="connsiteY3" fmla="*/ 32 h 257375"/>
              <a:gd name="connsiteX4" fmla="*/ 257853 w 257371"/>
              <a:gd name="connsiteY4" fmla="*/ 128855 h 257375"/>
              <a:gd name="connsiteX5" fmla="*/ 257853 w 257371"/>
              <a:gd name="connsiteY5" fmla="*/ 128977 h 257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7371" h="257375">
                <a:moveTo>
                  <a:pt x="257853" y="128977"/>
                </a:moveTo>
                <a:cubicBezTo>
                  <a:pt x="257853" y="200169"/>
                  <a:pt x="200134" y="257889"/>
                  <a:pt x="128943" y="257889"/>
                </a:cubicBezTo>
                <a:cubicBezTo>
                  <a:pt x="57752" y="257889"/>
                  <a:pt x="32" y="200169"/>
                  <a:pt x="32" y="128977"/>
                </a:cubicBezTo>
                <a:cubicBezTo>
                  <a:pt x="32" y="57785"/>
                  <a:pt x="57758" y="32"/>
                  <a:pt x="128943" y="32"/>
                </a:cubicBezTo>
                <a:cubicBezTo>
                  <a:pt x="200113" y="8"/>
                  <a:pt x="257829" y="57683"/>
                  <a:pt x="257853" y="128855"/>
                </a:cubicBezTo>
                <a:cubicBezTo>
                  <a:pt x="257853" y="128896"/>
                  <a:pt x="257853" y="128936"/>
                  <a:pt x="257853" y="128977"/>
                </a:cubicBezTo>
                <a:close/>
              </a:path>
            </a:pathLst>
          </a:custGeom>
          <a:solidFill>
            <a:srgbClr val="FFFFFF"/>
          </a:solidFill>
          <a:ln w="641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450" b="0" i="0" u="none" strike="noStrike" kern="1200" cap="none" spc="0" normalizeH="0" baseline="0" noProof="0">
              <a:ln>
                <a:noFill/>
              </a:ln>
              <a:solidFill>
                <a:srgbClr val="7C7D7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Forma libre 31">
            <a:extLst>
              <a:ext uri="{FF2B5EF4-FFF2-40B4-BE49-F238E27FC236}">
                <a16:creationId xmlns:a16="http://schemas.microsoft.com/office/drawing/2014/main" id="{796EFA96-C0F2-5D5D-7544-81BE4F13A225}"/>
              </a:ext>
            </a:extLst>
          </p:cNvPr>
          <p:cNvSpPr/>
          <p:nvPr/>
        </p:nvSpPr>
        <p:spPr>
          <a:xfrm>
            <a:off x="7158089" y="4259223"/>
            <a:ext cx="1101313" cy="1101326"/>
          </a:xfrm>
          <a:custGeom>
            <a:avLst/>
            <a:gdLst>
              <a:gd name="connsiteX0" fmla="*/ 251384 w 250953"/>
              <a:gd name="connsiteY0" fmla="*/ 125652 h 250957"/>
              <a:gd name="connsiteX1" fmla="*/ 125766 w 250953"/>
              <a:gd name="connsiteY1" fmla="*/ 251388 h 250957"/>
              <a:gd name="connsiteX2" fmla="*/ 32 w 250953"/>
              <a:gd name="connsiteY2" fmla="*/ 125768 h 250957"/>
              <a:gd name="connsiteX3" fmla="*/ 125650 w 250953"/>
              <a:gd name="connsiteY3" fmla="*/ 32 h 250957"/>
              <a:gd name="connsiteX4" fmla="*/ 125727 w 250953"/>
              <a:gd name="connsiteY4" fmla="*/ 32 h 250957"/>
              <a:gd name="connsiteX5" fmla="*/ 251384 w 250953"/>
              <a:gd name="connsiteY5" fmla="*/ 125652 h 2509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0953" h="250957">
                <a:moveTo>
                  <a:pt x="251384" y="125652"/>
                </a:moveTo>
                <a:cubicBezTo>
                  <a:pt x="251416" y="195062"/>
                  <a:pt x="195175" y="251356"/>
                  <a:pt x="125766" y="251388"/>
                </a:cubicBezTo>
                <a:cubicBezTo>
                  <a:pt x="56357" y="251419"/>
                  <a:pt x="64" y="195178"/>
                  <a:pt x="32" y="125768"/>
                </a:cubicBezTo>
                <a:cubicBezTo>
                  <a:pt x="1" y="56358"/>
                  <a:pt x="56242" y="64"/>
                  <a:pt x="125650" y="32"/>
                </a:cubicBezTo>
                <a:cubicBezTo>
                  <a:pt x="125676" y="32"/>
                  <a:pt x="125702" y="32"/>
                  <a:pt x="125727" y="32"/>
                </a:cubicBezTo>
                <a:cubicBezTo>
                  <a:pt x="195134" y="32"/>
                  <a:pt x="251384" y="56289"/>
                  <a:pt x="251384" y="125652"/>
                </a:cubicBezTo>
                <a:close/>
              </a:path>
            </a:pathLst>
          </a:custGeom>
          <a:solidFill>
            <a:srgbClr val="FFFFFF"/>
          </a:solidFill>
          <a:ln w="641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450" b="0" i="0" u="none" strike="noStrike" kern="1200" cap="none" spc="0" normalizeH="0" baseline="0" noProof="0">
              <a:ln>
                <a:noFill/>
              </a:ln>
              <a:solidFill>
                <a:srgbClr val="7C7D7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S04_TOP_LABEL">
            <a:extLst>
              <a:ext uri="{FF2B5EF4-FFF2-40B4-BE49-F238E27FC236}">
                <a16:creationId xmlns:a16="http://schemas.microsoft.com/office/drawing/2014/main" id="{E965683A-9F0C-80FE-6CE9-344A56C12229}"/>
              </a:ext>
            </a:extLst>
          </p:cNvPr>
          <p:cNvSpPr txBox="1"/>
          <p:nvPr/>
        </p:nvSpPr>
        <p:spPr>
          <a:xfrm>
            <a:off x="7061111" y="640058"/>
            <a:ext cx="2187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schemeClr val="accent6"/>
                </a:solidFill>
                <a:ea typeface="Lato" panose="020F0502020204030203" pitchFamily="34" charset="0"/>
                <a:cs typeface="Poppins Medium" pitchFamily="2" charset="77"/>
              </a:rPr>
              <a:t>x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ea typeface="Lato" panose="020F0502020204030203" pitchFamily="34" charset="0"/>
                <a:cs typeface="Poppins Medium" pitchFamily="2" charset="77"/>
              </a:rPr>
              <a:t>xx</a:t>
            </a:r>
          </a:p>
        </p:txBody>
      </p:sp>
      <p:sp>
        <p:nvSpPr>
          <p:cNvPr id="6" name="S04_TAKEAWAY">
            <a:extLst>
              <a:ext uri="{FF2B5EF4-FFF2-40B4-BE49-F238E27FC236}">
                <a16:creationId xmlns:a16="http://schemas.microsoft.com/office/drawing/2014/main" id="{B5EAC36C-9FD9-CA7C-CEAC-D9C3AFE57BA5}"/>
              </a:ext>
            </a:extLst>
          </p:cNvPr>
          <p:cNvSpPr/>
          <p:nvPr/>
        </p:nvSpPr>
        <p:spPr>
          <a:xfrm>
            <a:off x="393634" y="6074571"/>
            <a:ext cx="11413297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hade val="30000"/>
                  <a:satMod val="115000"/>
                </a:srgbClr>
              </a:gs>
              <a:gs pos="50000">
                <a:srgbClr val="A25871">
                  <a:shade val="67500"/>
                  <a:satMod val="115000"/>
                </a:srgbClr>
              </a:gs>
              <a:gs pos="100000">
                <a:srgbClr val="A25871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599" b="1" dirty="0" err="1"/>
              <a:t>Take</a:t>
            </a:r>
            <a:r>
              <a:rPr lang="fr-FR" sz="1599" b="1" dirty="0"/>
              <a:t> </a:t>
            </a:r>
            <a:r>
              <a:rPr lang="fr-FR" sz="1599" b="1" dirty="0" err="1"/>
              <a:t>away</a:t>
            </a:r>
            <a:endParaRPr lang="fr-FR" sz="1599" b="1" dirty="0"/>
          </a:p>
        </p:txBody>
      </p:sp>
      <p:sp>
        <p:nvSpPr>
          <p:cNvPr id="2" name="S04_TOP_SUBLABEL">
            <a:extLst>
              <a:ext uri="{FF2B5EF4-FFF2-40B4-BE49-F238E27FC236}">
                <a16:creationId xmlns:a16="http://schemas.microsoft.com/office/drawing/2014/main" id="{4CCC14D1-5C9A-30BD-78E7-7A3004BA21C6}"/>
              </a:ext>
            </a:extLst>
          </p:cNvPr>
          <p:cNvSpPr txBox="1"/>
          <p:nvPr/>
        </p:nvSpPr>
        <p:spPr>
          <a:xfrm>
            <a:off x="7061111" y="917056"/>
            <a:ext cx="21877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schemeClr val="tx2"/>
                </a:solidFill>
                <a:ea typeface="Lato" panose="020F0502020204030203" pitchFamily="34" charset="0"/>
                <a:cs typeface="Poppins Medium" pitchFamily="2" charset="77"/>
              </a:rPr>
              <a:t>xxx</a:t>
            </a:r>
            <a:endParaRPr kumimoji="0" lang="en-US" sz="140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ea typeface="Lato" panose="020F0502020204030203" pitchFamily="34" charset="0"/>
              <a:cs typeface="Poppins Medium" pitchFamily="2" charset="77"/>
            </a:endParaRPr>
          </a:p>
        </p:txBody>
      </p:sp>
      <p:sp>
        <p:nvSpPr>
          <p:cNvPr id="7" name="S04_RIGHT_LABEL">
            <a:extLst>
              <a:ext uri="{FF2B5EF4-FFF2-40B4-BE49-F238E27FC236}">
                <a16:creationId xmlns:a16="http://schemas.microsoft.com/office/drawing/2014/main" id="{EE301DF2-2370-3695-F44F-72663A8CC16F}"/>
              </a:ext>
            </a:extLst>
          </p:cNvPr>
          <p:cNvSpPr txBox="1"/>
          <p:nvPr/>
        </p:nvSpPr>
        <p:spPr>
          <a:xfrm>
            <a:off x="8927811" y="4262787"/>
            <a:ext cx="2187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schemeClr val="accent6"/>
                </a:solidFill>
                <a:ea typeface="Lato" panose="020F0502020204030203" pitchFamily="34" charset="0"/>
                <a:cs typeface="Poppins Medium" pitchFamily="2" charset="77"/>
              </a:rPr>
              <a:t>x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ea typeface="Lato" panose="020F0502020204030203" pitchFamily="34" charset="0"/>
                <a:cs typeface="Poppins Medium" pitchFamily="2" charset="77"/>
              </a:rPr>
              <a:t>xx</a:t>
            </a:r>
          </a:p>
        </p:txBody>
      </p:sp>
      <p:sp>
        <p:nvSpPr>
          <p:cNvPr id="8" name="S04_RIGHT_SUBLABEL">
            <a:extLst>
              <a:ext uri="{FF2B5EF4-FFF2-40B4-BE49-F238E27FC236}">
                <a16:creationId xmlns:a16="http://schemas.microsoft.com/office/drawing/2014/main" id="{DDE6C88B-A79D-815E-9687-1E7FB26465D9}"/>
              </a:ext>
            </a:extLst>
          </p:cNvPr>
          <p:cNvSpPr txBox="1"/>
          <p:nvPr/>
        </p:nvSpPr>
        <p:spPr>
          <a:xfrm>
            <a:off x="8927811" y="4539785"/>
            <a:ext cx="21877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schemeClr val="tx2"/>
                </a:solidFill>
                <a:ea typeface="Lato" panose="020F0502020204030203" pitchFamily="34" charset="0"/>
                <a:cs typeface="Poppins Medium" pitchFamily="2" charset="77"/>
              </a:rPr>
              <a:t>xxx</a:t>
            </a:r>
            <a:endParaRPr kumimoji="0" lang="en-US" sz="140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ea typeface="Lato" panose="020F0502020204030203" pitchFamily="34" charset="0"/>
              <a:cs typeface="Poppins Medium" pitchFamily="2" charset="77"/>
            </a:endParaRPr>
          </a:p>
        </p:txBody>
      </p:sp>
      <p:sp>
        <p:nvSpPr>
          <p:cNvPr id="9" name="S04_LEFT_LABEL">
            <a:extLst>
              <a:ext uri="{FF2B5EF4-FFF2-40B4-BE49-F238E27FC236}">
                <a16:creationId xmlns:a16="http://schemas.microsoft.com/office/drawing/2014/main" id="{56FD35A3-BAB7-78B9-C9B1-489CEABC4170}"/>
              </a:ext>
            </a:extLst>
          </p:cNvPr>
          <p:cNvSpPr txBox="1"/>
          <p:nvPr/>
        </p:nvSpPr>
        <p:spPr>
          <a:xfrm>
            <a:off x="1010031" y="4262787"/>
            <a:ext cx="2187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schemeClr val="accent6"/>
                </a:solidFill>
                <a:ea typeface="Lato" panose="020F0502020204030203" pitchFamily="34" charset="0"/>
                <a:cs typeface="Poppins Medium" pitchFamily="2" charset="77"/>
              </a:rPr>
              <a:t>x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ea typeface="Lato" panose="020F0502020204030203" pitchFamily="34" charset="0"/>
                <a:cs typeface="Poppins Medium" pitchFamily="2" charset="77"/>
              </a:rPr>
              <a:t>xx</a:t>
            </a:r>
          </a:p>
        </p:txBody>
      </p:sp>
      <p:sp>
        <p:nvSpPr>
          <p:cNvPr id="10" name="S04_LEFT_SUBLABEL">
            <a:extLst>
              <a:ext uri="{FF2B5EF4-FFF2-40B4-BE49-F238E27FC236}">
                <a16:creationId xmlns:a16="http://schemas.microsoft.com/office/drawing/2014/main" id="{4E7880FC-77B6-A50A-5533-D0FCFCB25DC0}"/>
              </a:ext>
            </a:extLst>
          </p:cNvPr>
          <p:cNvSpPr txBox="1"/>
          <p:nvPr/>
        </p:nvSpPr>
        <p:spPr>
          <a:xfrm>
            <a:off x="1010031" y="4539785"/>
            <a:ext cx="21877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schemeClr val="tx2"/>
                </a:solidFill>
                <a:ea typeface="Lato" panose="020F0502020204030203" pitchFamily="34" charset="0"/>
                <a:cs typeface="Poppins Medium" pitchFamily="2" charset="77"/>
              </a:rPr>
              <a:t>xxx</a:t>
            </a:r>
            <a:endParaRPr kumimoji="0" lang="en-US" sz="140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ea typeface="Lato" panose="020F0502020204030203" pitchFamily="34" charset="0"/>
              <a:cs typeface="Poppins Medium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910258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>
            <a:off x="609534" y="2419659"/>
            <a:ext cx="152356" cy="152356"/>
          </a:xfrm>
          <a:prstGeom prst="ellipse">
            <a:avLst/>
          </a:prstGeom>
          <a:solidFill>
            <a:srgbClr val="6A5D79"/>
          </a:solidFill>
          <a:ln/>
        </p:spPr>
        <p:txBody>
          <a:bodyPr/>
          <a:lstStyle/>
          <a:p>
            <a:endParaRPr lang="fr-FR" sz="1200"/>
          </a:p>
        </p:txBody>
      </p:sp>
      <p:sp>
        <p:nvSpPr>
          <p:cNvPr id="8" name="Shape 5"/>
          <p:cNvSpPr/>
          <p:nvPr/>
        </p:nvSpPr>
        <p:spPr>
          <a:xfrm>
            <a:off x="761890" y="2486356"/>
            <a:ext cx="2457539" cy="18962"/>
          </a:xfrm>
          <a:prstGeom prst="rect">
            <a:avLst/>
          </a:prstGeom>
          <a:solidFill>
            <a:srgbClr val="BBB4C4"/>
          </a:solidFill>
          <a:ln/>
        </p:spPr>
        <p:txBody>
          <a:bodyPr/>
          <a:lstStyle/>
          <a:p>
            <a:endParaRPr lang="fr-FR" sz="1200"/>
          </a:p>
        </p:txBody>
      </p:sp>
      <p:sp>
        <p:nvSpPr>
          <p:cNvPr id="11" name="S05_STEP_1_PERIOD"/>
          <p:cNvSpPr/>
          <p:nvPr/>
        </p:nvSpPr>
        <p:spPr>
          <a:xfrm>
            <a:off x="609535" y="3194117"/>
            <a:ext cx="2688191" cy="222955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200" b="1" kern="0" spc="96" dirty="0">
                <a:solidFill>
                  <a:srgbClr val="6A5D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T1 — AVR › JUIN</a:t>
            </a:r>
            <a:endParaRPr lang="en-US" sz="1200" dirty="0">
              <a:solidFill>
                <a:srgbClr val="6A5D79"/>
              </a:solidFill>
            </a:endParaRPr>
          </a:p>
        </p:txBody>
      </p:sp>
      <p:sp>
        <p:nvSpPr>
          <p:cNvPr id="12" name="S05_STEP_1_TITLE"/>
          <p:cNvSpPr/>
          <p:nvPr/>
        </p:nvSpPr>
        <p:spPr>
          <a:xfrm>
            <a:off x="609535" y="3455172"/>
            <a:ext cx="2688191" cy="289432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10000"/>
          </a:bodyPr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2D2D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Cadrage</a:t>
            </a:r>
            <a:endParaRPr lang="en-US" sz="1600" dirty="0"/>
          </a:p>
        </p:txBody>
      </p:sp>
      <p:sp>
        <p:nvSpPr>
          <p:cNvPr id="13" name="S05_STEP_1_BODY"/>
          <p:cNvSpPr/>
          <p:nvPr/>
        </p:nvSpPr>
        <p:spPr>
          <a:xfrm>
            <a:off x="609535" y="3795382"/>
            <a:ext cx="2688191" cy="454933"/>
          </a:xfrm>
          <a:prstGeom prst="rect">
            <a:avLst/>
          </a:prstGeom>
          <a:noFill/>
          <a:ln/>
        </p:spPr>
        <p:txBody>
          <a:bodyPr wrap="square" lIns="16933" tIns="0" rIns="16933" bIns="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chemeClr val="tx2"/>
                </a:solidFill>
                <a:latin typeface="Segoe UI Light" panose="020B0502040204020203" pitchFamily="34" charset="0"/>
                <a:ea typeface="Segoe UI" pitchFamily="34" charset="-122"/>
                <a:cs typeface="Segoe UI Light" panose="020B0502040204020203" pitchFamily="34" charset="0"/>
              </a:rPr>
              <a:t>Audit fin du périmètre, identification des prescripteurs clés, lancement du comité.</a:t>
            </a:r>
            <a:endParaRPr lang="en-US" sz="1200" dirty="0">
              <a:solidFill>
                <a:schemeClr val="tx2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3397140" y="2419659"/>
            <a:ext cx="152356" cy="152356"/>
          </a:xfrm>
          <a:prstGeom prst="ellipse">
            <a:avLst/>
          </a:prstGeom>
          <a:solidFill>
            <a:srgbClr val="A25871"/>
          </a:solidFill>
          <a:ln/>
        </p:spPr>
        <p:txBody>
          <a:bodyPr/>
          <a:lstStyle/>
          <a:p>
            <a:endParaRPr lang="fr-FR" sz="1200"/>
          </a:p>
        </p:txBody>
      </p:sp>
      <p:sp>
        <p:nvSpPr>
          <p:cNvPr id="15" name="Shape 12"/>
          <p:cNvSpPr/>
          <p:nvPr/>
        </p:nvSpPr>
        <p:spPr>
          <a:xfrm>
            <a:off x="3549496" y="2486356"/>
            <a:ext cx="2457649" cy="18962"/>
          </a:xfrm>
          <a:prstGeom prst="rect">
            <a:avLst/>
          </a:prstGeom>
          <a:solidFill>
            <a:srgbClr val="D5B3BE"/>
          </a:solidFill>
          <a:ln/>
        </p:spPr>
        <p:txBody>
          <a:bodyPr/>
          <a:lstStyle/>
          <a:p>
            <a:endParaRPr lang="fr-FR" sz="1200"/>
          </a:p>
        </p:txBody>
      </p:sp>
      <p:sp>
        <p:nvSpPr>
          <p:cNvPr id="16" name="S05_STEP_2_NUMBER"/>
          <p:cNvSpPr/>
          <p:nvPr/>
        </p:nvSpPr>
        <p:spPr>
          <a:xfrm>
            <a:off x="3397140" y="2749727"/>
            <a:ext cx="330178" cy="330178"/>
          </a:xfrm>
          <a:prstGeom prst="ellipse">
            <a:avLst/>
          </a:prstGeom>
          <a:solidFill>
            <a:srgbClr val="A25871"/>
          </a:solidFill>
          <a:ln/>
        </p:spPr>
        <p:txBody>
          <a:bodyPr anchor="ctr" anchorCtr="0"/>
          <a:lstStyle/>
          <a:p>
            <a:pPr algn="ctr"/>
            <a:r>
              <a:rPr lang="fr-FR" sz="1200" b="1" dirty="0">
                <a:solidFill>
                  <a:schemeClr val="bg1"/>
                </a:solidFill>
                <a:latin typeface="+mj-lt"/>
              </a:rPr>
              <a:t>2</a:t>
            </a:r>
          </a:p>
        </p:txBody>
      </p:sp>
      <p:sp>
        <p:nvSpPr>
          <p:cNvPr id="18" name="S05_STEP_2_PERIOD"/>
          <p:cNvSpPr/>
          <p:nvPr/>
        </p:nvSpPr>
        <p:spPr>
          <a:xfrm>
            <a:off x="3397140" y="3194117"/>
            <a:ext cx="2688305" cy="222955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200" b="1" kern="0" spc="96" dirty="0">
                <a:solidFill>
                  <a:srgbClr val="A258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T2 — JUIL › SEPT</a:t>
            </a:r>
            <a:endParaRPr lang="en-US" sz="1200" dirty="0">
              <a:solidFill>
                <a:srgbClr val="A25871"/>
              </a:solidFill>
            </a:endParaRPr>
          </a:p>
        </p:txBody>
      </p:sp>
      <p:sp>
        <p:nvSpPr>
          <p:cNvPr id="19" name="S05_STEP_2_TITLE"/>
          <p:cNvSpPr/>
          <p:nvPr/>
        </p:nvSpPr>
        <p:spPr>
          <a:xfrm>
            <a:off x="3397140" y="3455172"/>
            <a:ext cx="2688305" cy="289432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10000"/>
          </a:bodyPr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2D2D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Conception</a:t>
            </a:r>
            <a:endParaRPr lang="en-US" sz="1600" dirty="0"/>
          </a:p>
        </p:txBody>
      </p:sp>
      <p:sp>
        <p:nvSpPr>
          <p:cNvPr id="20" name="S05_STEP_2_BODY"/>
          <p:cNvSpPr/>
          <p:nvPr/>
        </p:nvSpPr>
        <p:spPr>
          <a:xfrm>
            <a:off x="3397140" y="3795382"/>
            <a:ext cx="2688305" cy="694998"/>
          </a:xfrm>
          <a:prstGeom prst="rect">
            <a:avLst/>
          </a:prstGeom>
          <a:noFill/>
          <a:ln/>
        </p:spPr>
        <p:txBody>
          <a:bodyPr wrap="square" lIns="16933" tIns="0" rIns="16933" bIns="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chemeClr val="tx2"/>
                </a:solidFill>
                <a:latin typeface="Segoe UI Light" panose="020B0502040204020203" pitchFamily="34" charset="0"/>
                <a:ea typeface="Segoe UI" pitchFamily="34" charset="-122"/>
                <a:cs typeface="Segoe UI Light" panose="020B0502040204020203" pitchFamily="34" charset="0"/>
              </a:rPr>
              <a:t>Co-construction du référentiel BI, définition des seuils d'alerte, validation budgétaire.</a:t>
            </a:r>
            <a:endParaRPr lang="en-US" sz="1200" dirty="0">
              <a:solidFill>
                <a:schemeClr val="tx2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6184856" y="2419659"/>
            <a:ext cx="152356" cy="152356"/>
          </a:xfrm>
          <a:prstGeom prst="ellipse">
            <a:avLst/>
          </a:prstGeom>
          <a:solidFill>
            <a:srgbClr val="D4737A"/>
          </a:solidFill>
          <a:ln/>
        </p:spPr>
        <p:txBody>
          <a:bodyPr/>
          <a:lstStyle/>
          <a:p>
            <a:endParaRPr lang="fr-FR" sz="1200"/>
          </a:p>
        </p:txBody>
      </p:sp>
      <p:sp>
        <p:nvSpPr>
          <p:cNvPr id="22" name="Shape 19"/>
          <p:cNvSpPr/>
          <p:nvPr/>
        </p:nvSpPr>
        <p:spPr>
          <a:xfrm>
            <a:off x="6337212" y="2486356"/>
            <a:ext cx="2457539" cy="18962"/>
          </a:xfrm>
          <a:prstGeom prst="rect">
            <a:avLst/>
          </a:prstGeom>
          <a:solidFill>
            <a:srgbClr val="F1D3D5"/>
          </a:solidFill>
          <a:ln/>
        </p:spPr>
        <p:txBody>
          <a:bodyPr/>
          <a:lstStyle/>
          <a:p>
            <a:endParaRPr lang="fr-FR" sz="1200"/>
          </a:p>
        </p:txBody>
      </p:sp>
      <p:sp>
        <p:nvSpPr>
          <p:cNvPr id="23" name="S05_STEP_3_NUMBER"/>
          <p:cNvSpPr/>
          <p:nvPr/>
        </p:nvSpPr>
        <p:spPr>
          <a:xfrm>
            <a:off x="6184856" y="2749727"/>
            <a:ext cx="330178" cy="330178"/>
          </a:xfrm>
          <a:prstGeom prst="ellipse">
            <a:avLst/>
          </a:prstGeom>
          <a:solidFill>
            <a:srgbClr val="D4737A"/>
          </a:solidFill>
          <a:ln/>
        </p:spPr>
        <p:txBody>
          <a:bodyPr anchor="ctr" anchorCtr="0"/>
          <a:lstStyle/>
          <a:p>
            <a:pPr algn="ctr"/>
            <a:r>
              <a:rPr lang="fr-FR" sz="1200" b="1" dirty="0">
                <a:solidFill>
                  <a:schemeClr val="bg1"/>
                </a:solidFill>
                <a:latin typeface="+mj-lt"/>
              </a:rPr>
              <a:t>3</a:t>
            </a:r>
          </a:p>
        </p:txBody>
      </p:sp>
      <p:sp>
        <p:nvSpPr>
          <p:cNvPr id="25" name="S05_STEP_3_PERIOD"/>
          <p:cNvSpPr/>
          <p:nvPr/>
        </p:nvSpPr>
        <p:spPr>
          <a:xfrm>
            <a:off x="6184857" y="3194117"/>
            <a:ext cx="2688191" cy="222955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200" b="1" kern="0" spc="96" dirty="0">
                <a:solidFill>
                  <a:srgbClr val="D473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T3 — OCT › DÉC</a:t>
            </a:r>
            <a:endParaRPr lang="en-US" sz="1200" dirty="0">
              <a:solidFill>
                <a:srgbClr val="D4737A"/>
              </a:solidFill>
            </a:endParaRPr>
          </a:p>
        </p:txBody>
      </p:sp>
      <p:sp>
        <p:nvSpPr>
          <p:cNvPr id="26" name="S05_STEP_3_TITLE"/>
          <p:cNvSpPr/>
          <p:nvPr/>
        </p:nvSpPr>
        <p:spPr>
          <a:xfrm>
            <a:off x="6184857" y="3455172"/>
            <a:ext cx="2688191" cy="289432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10000"/>
          </a:bodyPr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2D2D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Déploiement</a:t>
            </a:r>
            <a:endParaRPr lang="en-US" sz="1600" dirty="0"/>
          </a:p>
        </p:txBody>
      </p:sp>
      <p:sp>
        <p:nvSpPr>
          <p:cNvPr id="27" name="S05_STEP_3_BODY"/>
          <p:cNvSpPr/>
          <p:nvPr/>
        </p:nvSpPr>
        <p:spPr>
          <a:xfrm>
            <a:off x="6184857" y="3795382"/>
            <a:ext cx="2688191" cy="454933"/>
          </a:xfrm>
          <a:prstGeom prst="rect">
            <a:avLst/>
          </a:prstGeom>
          <a:noFill/>
          <a:ln/>
        </p:spPr>
        <p:txBody>
          <a:bodyPr wrap="square" lIns="16933" tIns="0" rIns="16933" bIns="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chemeClr val="tx2"/>
                </a:solidFill>
                <a:latin typeface="Segoe UI Light" panose="020B0502040204020203" pitchFamily="34" charset="0"/>
                <a:ea typeface="Segoe UI" pitchFamily="34" charset="-122"/>
                <a:cs typeface="Segoe UI Light" panose="020B0502040204020203" pitchFamily="34" charset="0"/>
              </a:rPr>
              <a:t>Bascule progressive sur les segments prioritaires, formation des pilotes terrain.</a:t>
            </a:r>
            <a:endParaRPr lang="en-US" sz="1200" dirty="0">
              <a:solidFill>
                <a:schemeClr val="tx2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8972463" y="2419659"/>
            <a:ext cx="152356" cy="152356"/>
          </a:xfrm>
          <a:prstGeom prst="ellipse">
            <a:avLst/>
          </a:prstGeom>
          <a:solidFill>
            <a:srgbClr val="FDA85B"/>
          </a:solidFill>
          <a:ln/>
        </p:spPr>
        <p:txBody>
          <a:bodyPr/>
          <a:lstStyle/>
          <a:p>
            <a:endParaRPr lang="fr-FR" sz="1200"/>
          </a:p>
        </p:txBody>
      </p:sp>
      <p:sp>
        <p:nvSpPr>
          <p:cNvPr id="29" name="S05_STEP_4_NUMBER"/>
          <p:cNvSpPr/>
          <p:nvPr/>
        </p:nvSpPr>
        <p:spPr>
          <a:xfrm>
            <a:off x="8972463" y="2749727"/>
            <a:ext cx="330178" cy="330178"/>
          </a:xfrm>
          <a:prstGeom prst="ellipse">
            <a:avLst/>
          </a:prstGeom>
          <a:solidFill>
            <a:srgbClr val="FDA85B"/>
          </a:solidFill>
          <a:ln/>
        </p:spPr>
        <p:txBody>
          <a:bodyPr anchor="ctr" anchorCtr="0"/>
          <a:lstStyle/>
          <a:p>
            <a:pPr algn="ctr"/>
            <a:r>
              <a:rPr lang="fr-FR" sz="1200" b="1" dirty="0">
                <a:solidFill>
                  <a:schemeClr val="bg1"/>
                </a:solidFill>
                <a:latin typeface="+mj-lt"/>
              </a:rPr>
              <a:t>4</a:t>
            </a:r>
          </a:p>
        </p:txBody>
      </p:sp>
      <p:sp>
        <p:nvSpPr>
          <p:cNvPr id="31" name="S05_STEP_4_PERIOD"/>
          <p:cNvSpPr/>
          <p:nvPr/>
        </p:nvSpPr>
        <p:spPr>
          <a:xfrm>
            <a:off x="8972463" y="3194117"/>
            <a:ext cx="2688305" cy="222955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200" b="1" kern="0" spc="96" dirty="0">
                <a:solidFill>
                  <a:srgbClr val="FDA8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2027 — S1</a:t>
            </a:r>
            <a:endParaRPr lang="en-US" sz="1200" dirty="0">
              <a:solidFill>
                <a:srgbClr val="FDA85B"/>
              </a:solidFill>
            </a:endParaRPr>
          </a:p>
        </p:txBody>
      </p:sp>
      <p:sp>
        <p:nvSpPr>
          <p:cNvPr id="32" name="S05_STEP_4_TITLE"/>
          <p:cNvSpPr/>
          <p:nvPr/>
        </p:nvSpPr>
        <p:spPr>
          <a:xfrm>
            <a:off x="8972463" y="3455172"/>
            <a:ext cx="2688305" cy="289432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10000"/>
          </a:bodyPr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2D2D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Consolidation</a:t>
            </a:r>
            <a:endParaRPr lang="en-US" sz="1600" dirty="0"/>
          </a:p>
        </p:txBody>
      </p:sp>
      <p:sp>
        <p:nvSpPr>
          <p:cNvPr id="33" name="S05_STEP_4_BODY"/>
          <p:cNvSpPr/>
          <p:nvPr/>
        </p:nvSpPr>
        <p:spPr>
          <a:xfrm>
            <a:off x="8972463" y="3795382"/>
            <a:ext cx="2688305" cy="454933"/>
          </a:xfrm>
          <a:prstGeom prst="rect">
            <a:avLst/>
          </a:prstGeom>
          <a:noFill/>
          <a:ln/>
        </p:spPr>
        <p:txBody>
          <a:bodyPr wrap="square" lIns="16933" tIns="0" rIns="16933" bIns="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chemeClr val="tx2"/>
                </a:solidFill>
                <a:latin typeface="Segoe UI Light" panose="020B0502040204020203" pitchFamily="34" charset="0"/>
                <a:ea typeface="Segoe UI" pitchFamily="34" charset="-122"/>
                <a:cs typeface="Segoe UI Light" panose="020B0502040204020203" pitchFamily="34" charset="0"/>
              </a:rPr>
              <a:t>Bilan, ajustements et extension du modèle à l'ensemble des </a:t>
            </a:r>
            <a:r>
              <a:rPr lang="en-US" sz="1200" dirty="0" err="1">
                <a:solidFill>
                  <a:schemeClr val="tx2"/>
                </a:solidFill>
                <a:latin typeface="Segoe UI Light" panose="020B0502040204020203" pitchFamily="34" charset="0"/>
                <a:ea typeface="Segoe UI" pitchFamily="34" charset="-122"/>
                <a:cs typeface="Segoe UI Light" panose="020B0502040204020203" pitchFamily="34" charset="0"/>
              </a:rPr>
              <a:t>entités</a:t>
            </a:r>
            <a:r>
              <a:rPr lang="en-US" sz="1200" dirty="0">
                <a:solidFill>
                  <a:schemeClr val="tx2"/>
                </a:solidFill>
                <a:latin typeface="Segoe UI Light" panose="020B0502040204020203" pitchFamily="34" charset="0"/>
                <a:ea typeface="Segoe UI" pitchFamily="34" charset="-122"/>
                <a:cs typeface="Segoe UI Light" panose="020B0502040204020203" pitchFamily="34" charset="0"/>
              </a:rPr>
              <a:t> RTDI.</a:t>
            </a:r>
            <a:endParaRPr lang="en-US" sz="1200" dirty="0">
              <a:solidFill>
                <a:schemeClr val="tx2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6" name="S05_TITLE">
            <a:extLst>
              <a:ext uri="{FF2B5EF4-FFF2-40B4-BE49-F238E27FC236}">
                <a16:creationId xmlns:a16="http://schemas.microsoft.com/office/drawing/2014/main" id="{CEC0622F-1FFD-B99A-0875-F250A313A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Timeline horizontale</a:t>
            </a:r>
          </a:p>
        </p:txBody>
      </p:sp>
      <p:sp>
        <p:nvSpPr>
          <p:cNvPr id="50" name="S05_STEP_1_NUMBER"/>
          <p:cNvSpPr/>
          <p:nvPr/>
        </p:nvSpPr>
        <p:spPr>
          <a:xfrm>
            <a:off x="609534" y="2749727"/>
            <a:ext cx="330178" cy="330178"/>
          </a:xfrm>
          <a:prstGeom prst="ellipse">
            <a:avLst/>
          </a:prstGeom>
          <a:solidFill>
            <a:srgbClr val="6A5D79"/>
          </a:solidFill>
          <a:ln/>
        </p:spPr>
        <p:txBody>
          <a:bodyPr anchor="ctr" anchorCtr="0"/>
          <a:lstStyle/>
          <a:p>
            <a:pPr algn="ctr"/>
            <a:r>
              <a:rPr lang="fr-FR" sz="1200" b="1" dirty="0">
                <a:solidFill>
                  <a:schemeClr val="bg1"/>
                </a:solidFill>
                <a:latin typeface="+mj-lt"/>
              </a:rPr>
              <a:t>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58427-7ACD-E1DD-31DC-78BC87715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Image 0" descr="preencoded.png">
            <a:extLst>
              <a:ext uri="{FF2B5EF4-FFF2-40B4-BE49-F238E27FC236}">
                <a16:creationId xmlns:a16="http://schemas.microsoft.com/office/drawing/2014/main" id="{762A8532-56AC-794C-6E60-BC997C6BD1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024" y="268224"/>
            <a:ext cx="499872" cy="499872"/>
          </a:xfrm>
          <a:prstGeom prst="rect">
            <a:avLst/>
          </a:prstGeom>
        </p:spPr>
      </p:pic>
      <p:sp>
        <p:nvSpPr>
          <p:cNvPr id="5" name="S06_TITLE">
            <a:extLst>
              <a:ext uri="{FF2B5EF4-FFF2-40B4-BE49-F238E27FC236}">
                <a16:creationId xmlns:a16="http://schemas.microsoft.com/office/drawing/2014/main" id="{0988C2BA-7570-D5E5-B016-7AAD8C30A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35" y="256373"/>
            <a:ext cx="11413296" cy="569207"/>
          </a:xfrm>
        </p:spPr>
        <p:txBody>
          <a:bodyPr/>
          <a:lstStyle/>
          <a:p>
            <a:r>
              <a:rPr lang="fr-FR" dirty="0"/>
              <a:t>Tableau</a:t>
            </a:r>
          </a:p>
        </p:txBody>
      </p:sp>
      <p:sp>
        <p:nvSpPr>
          <p:cNvPr id="2" name="Shape 4">
            <a:extLst>
              <a:ext uri="{FF2B5EF4-FFF2-40B4-BE49-F238E27FC236}">
                <a16:creationId xmlns:a16="http://schemas.microsoft.com/office/drawing/2014/main" id="{599D0EB5-BC8E-6661-6FAB-DCA3E96F6AB0}"/>
              </a:ext>
            </a:extLst>
          </p:cNvPr>
          <p:cNvSpPr/>
          <p:nvPr/>
        </p:nvSpPr>
        <p:spPr>
          <a:xfrm>
            <a:off x="389352" y="1777921"/>
            <a:ext cx="11413297" cy="2501582"/>
          </a:xfrm>
          <a:prstGeom prst="roundRect">
            <a:avLst>
              <a:gd name="adj" fmla="val 211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FR" sz="1400"/>
          </a:p>
        </p:txBody>
      </p:sp>
      <p:sp>
        <p:nvSpPr>
          <p:cNvPr id="3" name="Shape 5">
            <a:extLst>
              <a:ext uri="{FF2B5EF4-FFF2-40B4-BE49-F238E27FC236}">
                <a16:creationId xmlns:a16="http://schemas.microsoft.com/office/drawing/2014/main" id="{E2310574-21F4-AC67-0CBA-F39EE8B5E2D2}"/>
              </a:ext>
            </a:extLst>
          </p:cNvPr>
          <p:cNvSpPr/>
          <p:nvPr/>
        </p:nvSpPr>
        <p:spPr>
          <a:xfrm>
            <a:off x="389352" y="1777921"/>
            <a:ext cx="3625322" cy="465091"/>
          </a:xfrm>
          <a:prstGeom prst="rect">
            <a:avLst/>
          </a:prstGeom>
          <a:solidFill>
            <a:srgbClr val="6A5D79"/>
          </a:solidFill>
          <a:ln/>
        </p:spPr>
        <p:txBody>
          <a:bodyPr/>
          <a:lstStyle/>
          <a:p>
            <a:endParaRPr lang="fr-FR" sz="1400"/>
          </a:p>
        </p:txBody>
      </p:sp>
      <p:sp>
        <p:nvSpPr>
          <p:cNvPr id="4" name="S06_HEADER_C1">
            <a:extLst>
              <a:ext uri="{FF2B5EF4-FFF2-40B4-BE49-F238E27FC236}">
                <a16:creationId xmlns:a16="http://schemas.microsoft.com/office/drawing/2014/main" id="{92A09F60-74AE-7F14-1B16-604A8CA24D04}"/>
              </a:ext>
            </a:extLst>
          </p:cNvPr>
          <p:cNvSpPr/>
          <p:nvPr/>
        </p:nvSpPr>
        <p:spPr>
          <a:xfrm>
            <a:off x="547868" y="1896808"/>
            <a:ext cx="3417050" cy="2537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600" b="1" kern="0" spc="78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SEGMENT</a:t>
            </a:r>
            <a:endParaRPr lang="en-US" sz="1600" dirty="0"/>
          </a:p>
        </p:txBody>
      </p:sp>
      <p:sp>
        <p:nvSpPr>
          <p:cNvPr id="6" name="Shape 7">
            <a:extLst>
              <a:ext uri="{FF2B5EF4-FFF2-40B4-BE49-F238E27FC236}">
                <a16:creationId xmlns:a16="http://schemas.microsoft.com/office/drawing/2014/main" id="{3524358F-D3F1-B22A-4579-70AE990FA061}"/>
              </a:ext>
            </a:extLst>
          </p:cNvPr>
          <p:cNvSpPr/>
          <p:nvPr/>
        </p:nvSpPr>
        <p:spPr>
          <a:xfrm>
            <a:off x="4014674" y="1777921"/>
            <a:ext cx="2083046" cy="465091"/>
          </a:xfrm>
          <a:prstGeom prst="rect">
            <a:avLst/>
          </a:prstGeom>
          <a:solidFill>
            <a:srgbClr val="6A5D79"/>
          </a:solidFill>
          <a:ln/>
        </p:spPr>
        <p:txBody>
          <a:bodyPr/>
          <a:lstStyle/>
          <a:p>
            <a:endParaRPr lang="fr-FR" sz="1400"/>
          </a:p>
        </p:txBody>
      </p:sp>
      <p:sp>
        <p:nvSpPr>
          <p:cNvPr id="7" name="S06_HEADER_C2">
            <a:extLst>
              <a:ext uri="{FF2B5EF4-FFF2-40B4-BE49-F238E27FC236}">
                <a16:creationId xmlns:a16="http://schemas.microsoft.com/office/drawing/2014/main" id="{6D3CA3C8-3342-45CD-350A-5A149A5CF3F0}"/>
              </a:ext>
            </a:extLst>
          </p:cNvPr>
          <p:cNvSpPr/>
          <p:nvPr/>
        </p:nvSpPr>
        <p:spPr>
          <a:xfrm>
            <a:off x="4173190" y="1896808"/>
            <a:ext cx="1828506" cy="2537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600" b="1" kern="0" spc="78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ENGAGÉ 2024</a:t>
            </a:r>
            <a:endParaRPr lang="en-US" sz="1600" dirty="0"/>
          </a:p>
        </p:txBody>
      </p:sp>
      <p:sp>
        <p:nvSpPr>
          <p:cNvPr id="8" name="Shape 9">
            <a:extLst>
              <a:ext uri="{FF2B5EF4-FFF2-40B4-BE49-F238E27FC236}">
                <a16:creationId xmlns:a16="http://schemas.microsoft.com/office/drawing/2014/main" id="{EA617126-FAA5-4EA3-3C93-CBFD9D57ED67}"/>
              </a:ext>
            </a:extLst>
          </p:cNvPr>
          <p:cNvSpPr/>
          <p:nvPr/>
        </p:nvSpPr>
        <p:spPr>
          <a:xfrm>
            <a:off x="6097721" y="1777921"/>
            <a:ext cx="1756589" cy="465091"/>
          </a:xfrm>
          <a:prstGeom prst="rect">
            <a:avLst/>
          </a:prstGeom>
          <a:solidFill>
            <a:srgbClr val="6A5D79"/>
          </a:solidFill>
          <a:ln/>
        </p:spPr>
        <p:txBody>
          <a:bodyPr/>
          <a:lstStyle/>
          <a:p>
            <a:endParaRPr lang="fr-FR" sz="1400"/>
          </a:p>
        </p:txBody>
      </p:sp>
      <p:sp>
        <p:nvSpPr>
          <p:cNvPr id="9" name="S06_HEADER_C3">
            <a:extLst>
              <a:ext uri="{FF2B5EF4-FFF2-40B4-BE49-F238E27FC236}">
                <a16:creationId xmlns:a16="http://schemas.microsoft.com/office/drawing/2014/main" id="{5099682E-7210-5152-E365-17A3451DD90C}"/>
              </a:ext>
            </a:extLst>
          </p:cNvPr>
          <p:cNvSpPr/>
          <p:nvPr/>
        </p:nvSpPr>
        <p:spPr>
          <a:xfrm>
            <a:off x="6256237" y="1896808"/>
            <a:ext cx="1492395" cy="2537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600" b="1" kern="0" spc="78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CIBLE 2025</a:t>
            </a:r>
            <a:endParaRPr lang="en-US" sz="1600" dirty="0"/>
          </a:p>
        </p:txBody>
      </p:sp>
      <p:sp>
        <p:nvSpPr>
          <p:cNvPr id="10" name="Shape 11">
            <a:extLst>
              <a:ext uri="{FF2B5EF4-FFF2-40B4-BE49-F238E27FC236}">
                <a16:creationId xmlns:a16="http://schemas.microsoft.com/office/drawing/2014/main" id="{69A18B18-0A5E-C389-2F8E-1C7E2AF6D50B}"/>
              </a:ext>
            </a:extLst>
          </p:cNvPr>
          <p:cNvSpPr/>
          <p:nvPr/>
        </p:nvSpPr>
        <p:spPr>
          <a:xfrm>
            <a:off x="7854309" y="1777921"/>
            <a:ext cx="2318459" cy="465091"/>
          </a:xfrm>
          <a:prstGeom prst="rect">
            <a:avLst/>
          </a:prstGeom>
          <a:solidFill>
            <a:srgbClr val="6A5D79"/>
          </a:solidFill>
          <a:ln/>
        </p:spPr>
        <p:txBody>
          <a:bodyPr/>
          <a:lstStyle/>
          <a:p>
            <a:endParaRPr lang="fr-FR" sz="1400"/>
          </a:p>
        </p:txBody>
      </p:sp>
      <p:sp>
        <p:nvSpPr>
          <p:cNvPr id="11" name="S06_HEADER_C4">
            <a:extLst>
              <a:ext uri="{FF2B5EF4-FFF2-40B4-BE49-F238E27FC236}">
                <a16:creationId xmlns:a16="http://schemas.microsoft.com/office/drawing/2014/main" id="{ED6454EC-23BF-C136-A4DE-72853CDEBDCA}"/>
              </a:ext>
            </a:extLst>
          </p:cNvPr>
          <p:cNvSpPr/>
          <p:nvPr/>
        </p:nvSpPr>
        <p:spPr>
          <a:xfrm>
            <a:off x="8012825" y="1896808"/>
            <a:ext cx="2070980" cy="2537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600" b="1" kern="0" spc="78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ÉCART PROJETÉ</a:t>
            </a:r>
            <a:endParaRPr lang="en-US" sz="1600" dirty="0"/>
          </a:p>
        </p:txBody>
      </p:sp>
      <p:sp>
        <p:nvSpPr>
          <p:cNvPr id="12" name="Shape 13">
            <a:extLst>
              <a:ext uri="{FF2B5EF4-FFF2-40B4-BE49-F238E27FC236}">
                <a16:creationId xmlns:a16="http://schemas.microsoft.com/office/drawing/2014/main" id="{66E50F4A-F92E-2BE4-93BE-83343CD6AE89}"/>
              </a:ext>
            </a:extLst>
          </p:cNvPr>
          <p:cNvSpPr/>
          <p:nvPr/>
        </p:nvSpPr>
        <p:spPr>
          <a:xfrm>
            <a:off x="10172767" y="1777921"/>
            <a:ext cx="1629881" cy="465091"/>
          </a:xfrm>
          <a:prstGeom prst="rect">
            <a:avLst/>
          </a:prstGeom>
          <a:solidFill>
            <a:srgbClr val="6A5D79"/>
          </a:solidFill>
          <a:ln/>
        </p:spPr>
        <p:txBody>
          <a:bodyPr/>
          <a:lstStyle/>
          <a:p>
            <a:endParaRPr lang="fr-FR" sz="1400"/>
          </a:p>
        </p:txBody>
      </p:sp>
      <p:sp>
        <p:nvSpPr>
          <p:cNvPr id="13" name="S06_HEADER_C5">
            <a:extLst>
              <a:ext uri="{FF2B5EF4-FFF2-40B4-BE49-F238E27FC236}">
                <a16:creationId xmlns:a16="http://schemas.microsoft.com/office/drawing/2014/main" id="{737A533A-548F-2B23-75A0-F456DAFCCCAA}"/>
              </a:ext>
            </a:extLst>
          </p:cNvPr>
          <p:cNvSpPr/>
          <p:nvPr/>
        </p:nvSpPr>
        <p:spPr>
          <a:xfrm>
            <a:off x="10331283" y="1896808"/>
            <a:ext cx="1365688" cy="2537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600" b="1" kern="0" spc="78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PRIORITÉ</a:t>
            </a:r>
            <a:endParaRPr lang="en-US" sz="1600" dirty="0"/>
          </a:p>
        </p:txBody>
      </p:sp>
      <p:sp>
        <p:nvSpPr>
          <p:cNvPr id="14" name="Shape 15">
            <a:extLst>
              <a:ext uri="{FF2B5EF4-FFF2-40B4-BE49-F238E27FC236}">
                <a16:creationId xmlns:a16="http://schemas.microsoft.com/office/drawing/2014/main" id="{40B9255B-029B-34D4-679A-78C03BECB34D}"/>
              </a:ext>
            </a:extLst>
          </p:cNvPr>
          <p:cNvSpPr/>
          <p:nvPr/>
        </p:nvSpPr>
        <p:spPr>
          <a:xfrm>
            <a:off x="389352" y="2741127"/>
            <a:ext cx="3625322" cy="7338"/>
          </a:xfrm>
          <a:prstGeom prst="rect">
            <a:avLst/>
          </a:prstGeom>
          <a:solidFill>
            <a:srgbClr val="D8DBE8"/>
          </a:solidFill>
          <a:ln/>
        </p:spPr>
        <p:txBody>
          <a:bodyPr/>
          <a:lstStyle/>
          <a:p>
            <a:endParaRPr lang="fr-FR" sz="1400"/>
          </a:p>
        </p:txBody>
      </p:sp>
      <p:sp>
        <p:nvSpPr>
          <p:cNvPr id="15" name="S06_R1C1">
            <a:extLst>
              <a:ext uri="{FF2B5EF4-FFF2-40B4-BE49-F238E27FC236}">
                <a16:creationId xmlns:a16="http://schemas.microsoft.com/office/drawing/2014/main" id="{16CCC57E-D46B-FE27-FEBE-C75067A75343}"/>
              </a:ext>
            </a:extLst>
          </p:cNvPr>
          <p:cNvSpPr/>
          <p:nvPr/>
        </p:nvSpPr>
        <p:spPr>
          <a:xfrm>
            <a:off x="547868" y="2361899"/>
            <a:ext cx="3417050" cy="286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D2D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Études &amp; essais</a:t>
            </a:r>
            <a:endParaRPr lang="en-US" sz="1400" dirty="0"/>
          </a:p>
        </p:txBody>
      </p:sp>
      <p:sp>
        <p:nvSpPr>
          <p:cNvPr id="16" name="Shape 17">
            <a:extLst>
              <a:ext uri="{FF2B5EF4-FFF2-40B4-BE49-F238E27FC236}">
                <a16:creationId xmlns:a16="http://schemas.microsoft.com/office/drawing/2014/main" id="{72358BA9-5D85-65F7-80E5-CF2B888865FB}"/>
              </a:ext>
            </a:extLst>
          </p:cNvPr>
          <p:cNvSpPr/>
          <p:nvPr/>
        </p:nvSpPr>
        <p:spPr>
          <a:xfrm>
            <a:off x="4014674" y="2741127"/>
            <a:ext cx="2083046" cy="7338"/>
          </a:xfrm>
          <a:prstGeom prst="rect">
            <a:avLst/>
          </a:prstGeom>
          <a:solidFill>
            <a:srgbClr val="D8DBE8"/>
          </a:solidFill>
          <a:ln/>
        </p:spPr>
        <p:txBody>
          <a:bodyPr/>
          <a:lstStyle/>
          <a:p>
            <a:endParaRPr lang="fr-FR" sz="1400">
              <a:solidFill>
                <a:schemeClr val="tx2"/>
              </a:solidFill>
            </a:endParaRPr>
          </a:p>
        </p:txBody>
      </p:sp>
      <p:sp>
        <p:nvSpPr>
          <p:cNvPr id="17" name="S06_R1C2">
            <a:extLst>
              <a:ext uri="{FF2B5EF4-FFF2-40B4-BE49-F238E27FC236}">
                <a16:creationId xmlns:a16="http://schemas.microsoft.com/office/drawing/2014/main" id="{2E98F1AA-2FF7-88D6-1F16-5FA85728CBF9}"/>
              </a:ext>
            </a:extLst>
          </p:cNvPr>
          <p:cNvSpPr/>
          <p:nvPr/>
        </p:nvSpPr>
        <p:spPr>
          <a:xfrm>
            <a:off x="4173190" y="2361899"/>
            <a:ext cx="1828506" cy="286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chemeClr val="tx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62 M€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18" name="Shape 19">
            <a:extLst>
              <a:ext uri="{FF2B5EF4-FFF2-40B4-BE49-F238E27FC236}">
                <a16:creationId xmlns:a16="http://schemas.microsoft.com/office/drawing/2014/main" id="{60AEECAC-A140-BB8C-EFC2-4A7E683FC396}"/>
              </a:ext>
            </a:extLst>
          </p:cNvPr>
          <p:cNvSpPr/>
          <p:nvPr/>
        </p:nvSpPr>
        <p:spPr>
          <a:xfrm>
            <a:off x="6097721" y="2741127"/>
            <a:ext cx="1756589" cy="7338"/>
          </a:xfrm>
          <a:prstGeom prst="rect">
            <a:avLst/>
          </a:prstGeom>
          <a:solidFill>
            <a:srgbClr val="D8DBE8"/>
          </a:solidFill>
          <a:ln/>
        </p:spPr>
        <p:txBody>
          <a:bodyPr/>
          <a:lstStyle/>
          <a:p>
            <a:endParaRPr lang="fr-FR" sz="1400">
              <a:solidFill>
                <a:schemeClr val="tx2"/>
              </a:solidFill>
            </a:endParaRPr>
          </a:p>
        </p:txBody>
      </p:sp>
      <p:sp>
        <p:nvSpPr>
          <p:cNvPr id="19" name="S06_R1C3">
            <a:extLst>
              <a:ext uri="{FF2B5EF4-FFF2-40B4-BE49-F238E27FC236}">
                <a16:creationId xmlns:a16="http://schemas.microsoft.com/office/drawing/2014/main" id="{844CE150-5B6C-593F-708E-E8CAD171C6D3}"/>
              </a:ext>
            </a:extLst>
          </p:cNvPr>
          <p:cNvSpPr/>
          <p:nvPr/>
        </p:nvSpPr>
        <p:spPr>
          <a:xfrm>
            <a:off x="6256237" y="2361899"/>
            <a:ext cx="1492395" cy="286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chemeClr val="tx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58 M€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20" name="Shape 21">
            <a:extLst>
              <a:ext uri="{FF2B5EF4-FFF2-40B4-BE49-F238E27FC236}">
                <a16:creationId xmlns:a16="http://schemas.microsoft.com/office/drawing/2014/main" id="{23E5E955-E4F8-4F27-102E-8D731F1CEF90}"/>
              </a:ext>
            </a:extLst>
          </p:cNvPr>
          <p:cNvSpPr/>
          <p:nvPr/>
        </p:nvSpPr>
        <p:spPr>
          <a:xfrm>
            <a:off x="7854309" y="2741127"/>
            <a:ext cx="2318459" cy="7338"/>
          </a:xfrm>
          <a:prstGeom prst="rect">
            <a:avLst/>
          </a:prstGeom>
          <a:solidFill>
            <a:srgbClr val="D8DBE8"/>
          </a:solidFill>
          <a:ln/>
        </p:spPr>
        <p:txBody>
          <a:bodyPr/>
          <a:lstStyle/>
          <a:p>
            <a:endParaRPr lang="fr-FR" sz="1400"/>
          </a:p>
        </p:txBody>
      </p:sp>
      <p:sp>
        <p:nvSpPr>
          <p:cNvPr id="21" name="S06_R1C4">
            <a:extLst>
              <a:ext uri="{FF2B5EF4-FFF2-40B4-BE49-F238E27FC236}">
                <a16:creationId xmlns:a16="http://schemas.microsoft.com/office/drawing/2014/main" id="{9CCFEE38-CB4A-6081-F99C-E795044E25DD}"/>
              </a:ext>
            </a:extLst>
          </p:cNvPr>
          <p:cNvSpPr/>
          <p:nvPr/>
        </p:nvSpPr>
        <p:spPr>
          <a:xfrm>
            <a:off x="8012825" y="2361899"/>
            <a:ext cx="2070980" cy="286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A5D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−4 M€</a:t>
            </a:r>
            <a:endParaRPr lang="en-US" sz="1400" dirty="0">
              <a:solidFill>
                <a:srgbClr val="6A5D79"/>
              </a:solidFill>
            </a:endParaRPr>
          </a:p>
        </p:txBody>
      </p:sp>
      <p:sp>
        <p:nvSpPr>
          <p:cNvPr id="22" name="Shape 23">
            <a:extLst>
              <a:ext uri="{FF2B5EF4-FFF2-40B4-BE49-F238E27FC236}">
                <a16:creationId xmlns:a16="http://schemas.microsoft.com/office/drawing/2014/main" id="{C1CA898D-DA76-93D9-45F4-10AE6380EFAA}"/>
              </a:ext>
            </a:extLst>
          </p:cNvPr>
          <p:cNvSpPr/>
          <p:nvPr/>
        </p:nvSpPr>
        <p:spPr>
          <a:xfrm>
            <a:off x="10172767" y="2741127"/>
            <a:ext cx="1629881" cy="7338"/>
          </a:xfrm>
          <a:prstGeom prst="rect">
            <a:avLst/>
          </a:prstGeom>
          <a:solidFill>
            <a:srgbClr val="D8DBE8"/>
          </a:solidFill>
          <a:ln/>
        </p:spPr>
        <p:txBody>
          <a:bodyPr/>
          <a:lstStyle/>
          <a:p>
            <a:endParaRPr lang="fr-FR" sz="1400">
              <a:solidFill>
                <a:schemeClr val="tx2"/>
              </a:solidFill>
            </a:endParaRPr>
          </a:p>
        </p:txBody>
      </p:sp>
      <p:sp>
        <p:nvSpPr>
          <p:cNvPr id="23" name="S06_R1C5">
            <a:extLst>
              <a:ext uri="{FF2B5EF4-FFF2-40B4-BE49-F238E27FC236}">
                <a16:creationId xmlns:a16="http://schemas.microsoft.com/office/drawing/2014/main" id="{62D912A7-551F-6F44-F2DF-39BDEC11521E}"/>
              </a:ext>
            </a:extLst>
          </p:cNvPr>
          <p:cNvSpPr/>
          <p:nvPr/>
        </p:nvSpPr>
        <p:spPr>
          <a:xfrm>
            <a:off x="10331283" y="2361899"/>
            <a:ext cx="1365688" cy="286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Haute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24" name="Shape 25">
            <a:extLst>
              <a:ext uri="{FF2B5EF4-FFF2-40B4-BE49-F238E27FC236}">
                <a16:creationId xmlns:a16="http://schemas.microsoft.com/office/drawing/2014/main" id="{B2588052-0B35-8B01-4261-C01F7FD1B1B5}"/>
              </a:ext>
            </a:extLst>
          </p:cNvPr>
          <p:cNvSpPr/>
          <p:nvPr/>
        </p:nvSpPr>
        <p:spPr>
          <a:xfrm>
            <a:off x="389352" y="2748465"/>
            <a:ext cx="3625322" cy="509123"/>
          </a:xfrm>
          <a:prstGeom prst="rect">
            <a:avLst/>
          </a:prstGeom>
          <a:solidFill>
            <a:srgbClr val="F4F5F9"/>
          </a:solidFill>
          <a:ln/>
        </p:spPr>
        <p:txBody>
          <a:bodyPr/>
          <a:lstStyle/>
          <a:p>
            <a:endParaRPr lang="fr-FR" sz="1400"/>
          </a:p>
        </p:txBody>
      </p:sp>
      <p:sp>
        <p:nvSpPr>
          <p:cNvPr id="25" name="Shape 26">
            <a:extLst>
              <a:ext uri="{FF2B5EF4-FFF2-40B4-BE49-F238E27FC236}">
                <a16:creationId xmlns:a16="http://schemas.microsoft.com/office/drawing/2014/main" id="{35C0011D-C244-307F-6343-BD03CFFB676F}"/>
              </a:ext>
            </a:extLst>
          </p:cNvPr>
          <p:cNvSpPr/>
          <p:nvPr/>
        </p:nvSpPr>
        <p:spPr>
          <a:xfrm>
            <a:off x="389352" y="3250249"/>
            <a:ext cx="3625322" cy="7338"/>
          </a:xfrm>
          <a:prstGeom prst="rect">
            <a:avLst/>
          </a:prstGeom>
          <a:solidFill>
            <a:srgbClr val="D8DBE8"/>
          </a:solidFill>
          <a:ln/>
        </p:spPr>
        <p:txBody>
          <a:bodyPr/>
          <a:lstStyle/>
          <a:p>
            <a:endParaRPr lang="fr-FR" sz="1400"/>
          </a:p>
        </p:txBody>
      </p:sp>
      <p:sp>
        <p:nvSpPr>
          <p:cNvPr id="26" name="S06_R2C1">
            <a:extLst>
              <a:ext uri="{FF2B5EF4-FFF2-40B4-BE49-F238E27FC236}">
                <a16:creationId xmlns:a16="http://schemas.microsoft.com/office/drawing/2014/main" id="{6EA58AC2-8188-E7B7-53C5-B10FE399C2E2}"/>
              </a:ext>
            </a:extLst>
          </p:cNvPr>
          <p:cNvSpPr/>
          <p:nvPr/>
        </p:nvSpPr>
        <p:spPr>
          <a:xfrm>
            <a:off x="547868" y="2867352"/>
            <a:ext cx="3417050" cy="2904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D2D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Prestations IT</a:t>
            </a:r>
            <a:endParaRPr lang="en-US" sz="1400" dirty="0"/>
          </a:p>
        </p:txBody>
      </p:sp>
      <p:sp>
        <p:nvSpPr>
          <p:cNvPr id="27" name="Shape 28">
            <a:extLst>
              <a:ext uri="{FF2B5EF4-FFF2-40B4-BE49-F238E27FC236}">
                <a16:creationId xmlns:a16="http://schemas.microsoft.com/office/drawing/2014/main" id="{31F4E4BB-11CA-07C5-1BCE-D00E641993A6}"/>
              </a:ext>
            </a:extLst>
          </p:cNvPr>
          <p:cNvSpPr/>
          <p:nvPr/>
        </p:nvSpPr>
        <p:spPr>
          <a:xfrm>
            <a:off x="4014674" y="2748465"/>
            <a:ext cx="2083046" cy="509123"/>
          </a:xfrm>
          <a:prstGeom prst="rect">
            <a:avLst/>
          </a:prstGeom>
          <a:solidFill>
            <a:srgbClr val="F4F5F9"/>
          </a:solidFill>
          <a:ln/>
        </p:spPr>
        <p:txBody>
          <a:bodyPr/>
          <a:lstStyle/>
          <a:p>
            <a:endParaRPr lang="fr-FR" sz="1400">
              <a:solidFill>
                <a:schemeClr val="tx2"/>
              </a:solidFill>
            </a:endParaRPr>
          </a:p>
        </p:txBody>
      </p:sp>
      <p:sp>
        <p:nvSpPr>
          <p:cNvPr id="28" name="Shape 29">
            <a:extLst>
              <a:ext uri="{FF2B5EF4-FFF2-40B4-BE49-F238E27FC236}">
                <a16:creationId xmlns:a16="http://schemas.microsoft.com/office/drawing/2014/main" id="{172069D0-8B17-52CC-D3C6-261EBBBBB15A}"/>
              </a:ext>
            </a:extLst>
          </p:cNvPr>
          <p:cNvSpPr/>
          <p:nvPr/>
        </p:nvSpPr>
        <p:spPr>
          <a:xfrm>
            <a:off x="4014674" y="3250249"/>
            <a:ext cx="2083046" cy="7338"/>
          </a:xfrm>
          <a:prstGeom prst="rect">
            <a:avLst/>
          </a:prstGeom>
          <a:solidFill>
            <a:srgbClr val="D8DBE8"/>
          </a:solidFill>
          <a:ln/>
        </p:spPr>
        <p:txBody>
          <a:bodyPr/>
          <a:lstStyle/>
          <a:p>
            <a:endParaRPr lang="fr-FR" sz="1400">
              <a:solidFill>
                <a:schemeClr val="tx2"/>
              </a:solidFill>
            </a:endParaRPr>
          </a:p>
        </p:txBody>
      </p:sp>
      <p:sp>
        <p:nvSpPr>
          <p:cNvPr id="29" name="S06_R2C2">
            <a:extLst>
              <a:ext uri="{FF2B5EF4-FFF2-40B4-BE49-F238E27FC236}">
                <a16:creationId xmlns:a16="http://schemas.microsoft.com/office/drawing/2014/main" id="{02E58DFC-A636-A84B-7D09-48387DF82F32}"/>
              </a:ext>
            </a:extLst>
          </p:cNvPr>
          <p:cNvSpPr/>
          <p:nvPr/>
        </p:nvSpPr>
        <p:spPr>
          <a:xfrm>
            <a:off x="4173190" y="2867352"/>
            <a:ext cx="1828506" cy="2904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chemeClr val="tx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48 M€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0" name="Shape 31">
            <a:extLst>
              <a:ext uri="{FF2B5EF4-FFF2-40B4-BE49-F238E27FC236}">
                <a16:creationId xmlns:a16="http://schemas.microsoft.com/office/drawing/2014/main" id="{7EFA233E-6642-B7E5-D798-909B1811DB58}"/>
              </a:ext>
            </a:extLst>
          </p:cNvPr>
          <p:cNvSpPr/>
          <p:nvPr/>
        </p:nvSpPr>
        <p:spPr>
          <a:xfrm>
            <a:off x="6097721" y="2748465"/>
            <a:ext cx="1756589" cy="509123"/>
          </a:xfrm>
          <a:prstGeom prst="rect">
            <a:avLst/>
          </a:prstGeom>
          <a:solidFill>
            <a:srgbClr val="F4F5F9"/>
          </a:solidFill>
          <a:ln/>
        </p:spPr>
        <p:txBody>
          <a:bodyPr/>
          <a:lstStyle/>
          <a:p>
            <a:endParaRPr lang="fr-FR" sz="1400">
              <a:solidFill>
                <a:schemeClr val="tx2"/>
              </a:solidFill>
            </a:endParaRPr>
          </a:p>
        </p:txBody>
      </p:sp>
      <p:sp>
        <p:nvSpPr>
          <p:cNvPr id="31" name="Shape 32">
            <a:extLst>
              <a:ext uri="{FF2B5EF4-FFF2-40B4-BE49-F238E27FC236}">
                <a16:creationId xmlns:a16="http://schemas.microsoft.com/office/drawing/2014/main" id="{5001717A-4474-3A08-9A9C-F7D3D7058E30}"/>
              </a:ext>
            </a:extLst>
          </p:cNvPr>
          <p:cNvSpPr/>
          <p:nvPr/>
        </p:nvSpPr>
        <p:spPr>
          <a:xfrm>
            <a:off x="6097721" y="3250249"/>
            <a:ext cx="1756589" cy="7338"/>
          </a:xfrm>
          <a:prstGeom prst="rect">
            <a:avLst/>
          </a:prstGeom>
          <a:solidFill>
            <a:srgbClr val="D8DBE8"/>
          </a:solidFill>
          <a:ln/>
        </p:spPr>
        <p:txBody>
          <a:bodyPr/>
          <a:lstStyle/>
          <a:p>
            <a:endParaRPr lang="fr-FR" sz="1400">
              <a:solidFill>
                <a:schemeClr val="tx2"/>
              </a:solidFill>
            </a:endParaRPr>
          </a:p>
        </p:txBody>
      </p:sp>
      <p:sp>
        <p:nvSpPr>
          <p:cNvPr id="32" name="S06_R2C3">
            <a:extLst>
              <a:ext uri="{FF2B5EF4-FFF2-40B4-BE49-F238E27FC236}">
                <a16:creationId xmlns:a16="http://schemas.microsoft.com/office/drawing/2014/main" id="{74D8A542-A0DD-B33B-F006-5D5BE713BB22}"/>
              </a:ext>
            </a:extLst>
          </p:cNvPr>
          <p:cNvSpPr/>
          <p:nvPr/>
        </p:nvSpPr>
        <p:spPr>
          <a:xfrm>
            <a:off x="6256237" y="2867352"/>
            <a:ext cx="1492395" cy="2904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chemeClr val="tx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45 M€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3" name="Shape 34">
            <a:extLst>
              <a:ext uri="{FF2B5EF4-FFF2-40B4-BE49-F238E27FC236}">
                <a16:creationId xmlns:a16="http://schemas.microsoft.com/office/drawing/2014/main" id="{9B4482CE-E76E-BCBE-A65D-E596566F7D4D}"/>
              </a:ext>
            </a:extLst>
          </p:cNvPr>
          <p:cNvSpPr/>
          <p:nvPr/>
        </p:nvSpPr>
        <p:spPr>
          <a:xfrm>
            <a:off x="7854309" y="2748465"/>
            <a:ext cx="2318459" cy="509123"/>
          </a:xfrm>
          <a:prstGeom prst="rect">
            <a:avLst/>
          </a:prstGeom>
          <a:solidFill>
            <a:srgbClr val="F4F5F9"/>
          </a:solidFill>
          <a:ln/>
        </p:spPr>
        <p:txBody>
          <a:bodyPr/>
          <a:lstStyle/>
          <a:p>
            <a:endParaRPr lang="fr-FR" sz="1400"/>
          </a:p>
        </p:txBody>
      </p:sp>
      <p:sp>
        <p:nvSpPr>
          <p:cNvPr id="34" name="Shape 35">
            <a:extLst>
              <a:ext uri="{FF2B5EF4-FFF2-40B4-BE49-F238E27FC236}">
                <a16:creationId xmlns:a16="http://schemas.microsoft.com/office/drawing/2014/main" id="{87A56DDC-4F57-9360-92BF-E96F2094FD8A}"/>
              </a:ext>
            </a:extLst>
          </p:cNvPr>
          <p:cNvSpPr/>
          <p:nvPr/>
        </p:nvSpPr>
        <p:spPr>
          <a:xfrm>
            <a:off x="7854309" y="3250249"/>
            <a:ext cx="2318459" cy="7338"/>
          </a:xfrm>
          <a:prstGeom prst="rect">
            <a:avLst/>
          </a:prstGeom>
          <a:solidFill>
            <a:srgbClr val="D8DBE8"/>
          </a:solidFill>
          <a:ln/>
        </p:spPr>
        <p:txBody>
          <a:bodyPr/>
          <a:lstStyle/>
          <a:p>
            <a:endParaRPr lang="fr-FR" sz="1400"/>
          </a:p>
        </p:txBody>
      </p:sp>
      <p:sp>
        <p:nvSpPr>
          <p:cNvPr id="35" name="S06_R2C4">
            <a:extLst>
              <a:ext uri="{FF2B5EF4-FFF2-40B4-BE49-F238E27FC236}">
                <a16:creationId xmlns:a16="http://schemas.microsoft.com/office/drawing/2014/main" id="{BF1A3700-C0BA-137D-4BD8-1E9E1FAEDEF5}"/>
              </a:ext>
            </a:extLst>
          </p:cNvPr>
          <p:cNvSpPr/>
          <p:nvPr/>
        </p:nvSpPr>
        <p:spPr>
          <a:xfrm>
            <a:off x="8012825" y="2867352"/>
            <a:ext cx="2070980" cy="2904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A5D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−3 M€</a:t>
            </a:r>
            <a:endParaRPr lang="en-US" sz="1400" dirty="0">
              <a:solidFill>
                <a:srgbClr val="6A5D79"/>
              </a:solidFill>
            </a:endParaRPr>
          </a:p>
        </p:txBody>
      </p:sp>
      <p:sp>
        <p:nvSpPr>
          <p:cNvPr id="36" name="Shape 37">
            <a:extLst>
              <a:ext uri="{FF2B5EF4-FFF2-40B4-BE49-F238E27FC236}">
                <a16:creationId xmlns:a16="http://schemas.microsoft.com/office/drawing/2014/main" id="{5F2B31CB-A1C8-C150-9F69-6469E9C258BC}"/>
              </a:ext>
            </a:extLst>
          </p:cNvPr>
          <p:cNvSpPr/>
          <p:nvPr/>
        </p:nvSpPr>
        <p:spPr>
          <a:xfrm>
            <a:off x="10172767" y="2748465"/>
            <a:ext cx="1629881" cy="509123"/>
          </a:xfrm>
          <a:prstGeom prst="rect">
            <a:avLst/>
          </a:prstGeom>
          <a:solidFill>
            <a:srgbClr val="F4F5F9"/>
          </a:solidFill>
          <a:ln/>
        </p:spPr>
        <p:txBody>
          <a:bodyPr/>
          <a:lstStyle/>
          <a:p>
            <a:endParaRPr lang="fr-FR" sz="1400">
              <a:solidFill>
                <a:schemeClr val="tx2"/>
              </a:solidFill>
            </a:endParaRPr>
          </a:p>
        </p:txBody>
      </p:sp>
      <p:sp>
        <p:nvSpPr>
          <p:cNvPr id="37" name="Shape 38">
            <a:extLst>
              <a:ext uri="{FF2B5EF4-FFF2-40B4-BE49-F238E27FC236}">
                <a16:creationId xmlns:a16="http://schemas.microsoft.com/office/drawing/2014/main" id="{D2E94F18-22BA-D4FB-BC94-6F9C3E4521E0}"/>
              </a:ext>
            </a:extLst>
          </p:cNvPr>
          <p:cNvSpPr/>
          <p:nvPr/>
        </p:nvSpPr>
        <p:spPr>
          <a:xfrm>
            <a:off x="10172767" y="3250249"/>
            <a:ext cx="1629881" cy="7338"/>
          </a:xfrm>
          <a:prstGeom prst="rect">
            <a:avLst/>
          </a:prstGeom>
          <a:solidFill>
            <a:srgbClr val="D8DBE8"/>
          </a:solidFill>
          <a:ln/>
        </p:spPr>
        <p:txBody>
          <a:bodyPr/>
          <a:lstStyle/>
          <a:p>
            <a:endParaRPr lang="fr-FR" sz="1400">
              <a:solidFill>
                <a:schemeClr val="tx2"/>
              </a:solidFill>
            </a:endParaRPr>
          </a:p>
        </p:txBody>
      </p:sp>
      <p:sp>
        <p:nvSpPr>
          <p:cNvPr id="38" name="S06_R2C5">
            <a:extLst>
              <a:ext uri="{FF2B5EF4-FFF2-40B4-BE49-F238E27FC236}">
                <a16:creationId xmlns:a16="http://schemas.microsoft.com/office/drawing/2014/main" id="{5447C70E-BAFC-B4D6-2CCE-9F1172644678}"/>
              </a:ext>
            </a:extLst>
          </p:cNvPr>
          <p:cNvSpPr/>
          <p:nvPr/>
        </p:nvSpPr>
        <p:spPr>
          <a:xfrm>
            <a:off x="10331283" y="2867352"/>
            <a:ext cx="1365688" cy="2904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Haute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9" name="Shape 40">
            <a:extLst>
              <a:ext uri="{FF2B5EF4-FFF2-40B4-BE49-F238E27FC236}">
                <a16:creationId xmlns:a16="http://schemas.microsoft.com/office/drawing/2014/main" id="{F6CF6B8F-AA85-855E-D41F-435905C71536}"/>
              </a:ext>
            </a:extLst>
          </p:cNvPr>
          <p:cNvSpPr/>
          <p:nvPr/>
        </p:nvSpPr>
        <p:spPr>
          <a:xfrm>
            <a:off x="389352" y="3759372"/>
            <a:ext cx="3625322" cy="7338"/>
          </a:xfrm>
          <a:prstGeom prst="rect">
            <a:avLst/>
          </a:prstGeom>
          <a:solidFill>
            <a:srgbClr val="D8DBE8"/>
          </a:solidFill>
          <a:ln/>
        </p:spPr>
        <p:txBody>
          <a:bodyPr/>
          <a:lstStyle/>
          <a:p>
            <a:endParaRPr lang="fr-FR" sz="1400"/>
          </a:p>
        </p:txBody>
      </p:sp>
      <p:sp>
        <p:nvSpPr>
          <p:cNvPr id="40" name="S06_R3C1">
            <a:extLst>
              <a:ext uri="{FF2B5EF4-FFF2-40B4-BE49-F238E27FC236}">
                <a16:creationId xmlns:a16="http://schemas.microsoft.com/office/drawing/2014/main" id="{BB97D8A5-464D-EB16-B635-808CFBCA30BB}"/>
              </a:ext>
            </a:extLst>
          </p:cNvPr>
          <p:cNvSpPr/>
          <p:nvPr/>
        </p:nvSpPr>
        <p:spPr>
          <a:xfrm>
            <a:off x="547868" y="3376475"/>
            <a:ext cx="3417050" cy="2904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D2D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Sous-traitance technique</a:t>
            </a:r>
            <a:endParaRPr lang="en-US" sz="1400" dirty="0"/>
          </a:p>
        </p:txBody>
      </p:sp>
      <p:sp>
        <p:nvSpPr>
          <p:cNvPr id="41" name="Shape 42">
            <a:extLst>
              <a:ext uri="{FF2B5EF4-FFF2-40B4-BE49-F238E27FC236}">
                <a16:creationId xmlns:a16="http://schemas.microsoft.com/office/drawing/2014/main" id="{35D83715-75CB-45BF-BAE7-ECE724A99E2F}"/>
              </a:ext>
            </a:extLst>
          </p:cNvPr>
          <p:cNvSpPr/>
          <p:nvPr/>
        </p:nvSpPr>
        <p:spPr>
          <a:xfrm>
            <a:off x="4014674" y="3759372"/>
            <a:ext cx="2083046" cy="7338"/>
          </a:xfrm>
          <a:prstGeom prst="rect">
            <a:avLst/>
          </a:prstGeom>
          <a:solidFill>
            <a:srgbClr val="D8DBE8"/>
          </a:solidFill>
          <a:ln/>
        </p:spPr>
        <p:txBody>
          <a:bodyPr/>
          <a:lstStyle/>
          <a:p>
            <a:endParaRPr lang="fr-FR" sz="1400">
              <a:solidFill>
                <a:schemeClr val="tx2"/>
              </a:solidFill>
            </a:endParaRPr>
          </a:p>
        </p:txBody>
      </p:sp>
      <p:sp>
        <p:nvSpPr>
          <p:cNvPr id="42" name="S06_R3C2">
            <a:extLst>
              <a:ext uri="{FF2B5EF4-FFF2-40B4-BE49-F238E27FC236}">
                <a16:creationId xmlns:a16="http://schemas.microsoft.com/office/drawing/2014/main" id="{CC1312AF-C058-4B33-3B89-EEB2694CB49E}"/>
              </a:ext>
            </a:extLst>
          </p:cNvPr>
          <p:cNvSpPr/>
          <p:nvPr/>
        </p:nvSpPr>
        <p:spPr>
          <a:xfrm>
            <a:off x="4173190" y="3376475"/>
            <a:ext cx="1828506" cy="2904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chemeClr val="tx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54 M€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43" name="Shape 44">
            <a:extLst>
              <a:ext uri="{FF2B5EF4-FFF2-40B4-BE49-F238E27FC236}">
                <a16:creationId xmlns:a16="http://schemas.microsoft.com/office/drawing/2014/main" id="{96A343B0-B6B8-AD7D-25B5-E3FAC1FB0709}"/>
              </a:ext>
            </a:extLst>
          </p:cNvPr>
          <p:cNvSpPr/>
          <p:nvPr/>
        </p:nvSpPr>
        <p:spPr>
          <a:xfrm>
            <a:off x="6097721" y="3759372"/>
            <a:ext cx="1756589" cy="7338"/>
          </a:xfrm>
          <a:prstGeom prst="rect">
            <a:avLst/>
          </a:prstGeom>
          <a:solidFill>
            <a:srgbClr val="D8DBE8"/>
          </a:solidFill>
          <a:ln/>
        </p:spPr>
        <p:txBody>
          <a:bodyPr/>
          <a:lstStyle/>
          <a:p>
            <a:endParaRPr lang="fr-FR" sz="1400">
              <a:solidFill>
                <a:schemeClr val="tx2"/>
              </a:solidFill>
            </a:endParaRPr>
          </a:p>
        </p:txBody>
      </p:sp>
      <p:sp>
        <p:nvSpPr>
          <p:cNvPr id="44" name="S06_R3C3">
            <a:extLst>
              <a:ext uri="{FF2B5EF4-FFF2-40B4-BE49-F238E27FC236}">
                <a16:creationId xmlns:a16="http://schemas.microsoft.com/office/drawing/2014/main" id="{EE264970-8E3D-9BBF-7C0D-84A1F09EADF8}"/>
              </a:ext>
            </a:extLst>
          </p:cNvPr>
          <p:cNvSpPr/>
          <p:nvPr/>
        </p:nvSpPr>
        <p:spPr>
          <a:xfrm>
            <a:off x="6256237" y="3376475"/>
            <a:ext cx="1492395" cy="2904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chemeClr val="tx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52 M€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45" name="Shape 46">
            <a:extLst>
              <a:ext uri="{FF2B5EF4-FFF2-40B4-BE49-F238E27FC236}">
                <a16:creationId xmlns:a16="http://schemas.microsoft.com/office/drawing/2014/main" id="{D9823347-F315-EC69-1571-118CBB48B59A}"/>
              </a:ext>
            </a:extLst>
          </p:cNvPr>
          <p:cNvSpPr/>
          <p:nvPr/>
        </p:nvSpPr>
        <p:spPr>
          <a:xfrm>
            <a:off x="7854309" y="3759372"/>
            <a:ext cx="2318459" cy="7338"/>
          </a:xfrm>
          <a:prstGeom prst="rect">
            <a:avLst/>
          </a:prstGeom>
          <a:solidFill>
            <a:srgbClr val="D8DBE8"/>
          </a:solidFill>
          <a:ln/>
        </p:spPr>
        <p:txBody>
          <a:bodyPr/>
          <a:lstStyle/>
          <a:p>
            <a:endParaRPr lang="fr-FR" sz="1400"/>
          </a:p>
        </p:txBody>
      </p:sp>
      <p:sp>
        <p:nvSpPr>
          <p:cNvPr id="46" name="S06_R3C4">
            <a:extLst>
              <a:ext uri="{FF2B5EF4-FFF2-40B4-BE49-F238E27FC236}">
                <a16:creationId xmlns:a16="http://schemas.microsoft.com/office/drawing/2014/main" id="{E18991F4-98FF-E86D-9D16-8836418AFA22}"/>
              </a:ext>
            </a:extLst>
          </p:cNvPr>
          <p:cNvSpPr/>
          <p:nvPr/>
        </p:nvSpPr>
        <p:spPr>
          <a:xfrm>
            <a:off x="8012825" y="3376475"/>
            <a:ext cx="2070980" cy="2904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A5D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−2 M€</a:t>
            </a:r>
            <a:endParaRPr lang="en-US" sz="1400" dirty="0">
              <a:solidFill>
                <a:srgbClr val="6A5D79"/>
              </a:solidFill>
            </a:endParaRPr>
          </a:p>
        </p:txBody>
      </p:sp>
      <p:sp>
        <p:nvSpPr>
          <p:cNvPr id="47" name="Shape 48">
            <a:extLst>
              <a:ext uri="{FF2B5EF4-FFF2-40B4-BE49-F238E27FC236}">
                <a16:creationId xmlns:a16="http://schemas.microsoft.com/office/drawing/2014/main" id="{7ADF00C8-4E35-7E99-E330-A708E9D85C53}"/>
              </a:ext>
            </a:extLst>
          </p:cNvPr>
          <p:cNvSpPr/>
          <p:nvPr/>
        </p:nvSpPr>
        <p:spPr>
          <a:xfrm>
            <a:off x="10172767" y="3759372"/>
            <a:ext cx="1629881" cy="7338"/>
          </a:xfrm>
          <a:prstGeom prst="rect">
            <a:avLst/>
          </a:prstGeom>
          <a:solidFill>
            <a:srgbClr val="D8DBE8"/>
          </a:solidFill>
          <a:ln/>
        </p:spPr>
        <p:txBody>
          <a:bodyPr/>
          <a:lstStyle/>
          <a:p>
            <a:endParaRPr lang="fr-FR" sz="1400">
              <a:solidFill>
                <a:schemeClr val="tx2"/>
              </a:solidFill>
            </a:endParaRPr>
          </a:p>
        </p:txBody>
      </p:sp>
      <p:sp>
        <p:nvSpPr>
          <p:cNvPr id="48" name="S06_R3C5">
            <a:extLst>
              <a:ext uri="{FF2B5EF4-FFF2-40B4-BE49-F238E27FC236}">
                <a16:creationId xmlns:a16="http://schemas.microsoft.com/office/drawing/2014/main" id="{A33D87E9-8B4C-F527-FF30-448126FD11CB}"/>
              </a:ext>
            </a:extLst>
          </p:cNvPr>
          <p:cNvSpPr/>
          <p:nvPr/>
        </p:nvSpPr>
        <p:spPr>
          <a:xfrm>
            <a:off x="10331283" y="3376475"/>
            <a:ext cx="1365688" cy="2904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Moyenne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49" name="Shape 50">
            <a:extLst>
              <a:ext uri="{FF2B5EF4-FFF2-40B4-BE49-F238E27FC236}">
                <a16:creationId xmlns:a16="http://schemas.microsoft.com/office/drawing/2014/main" id="{F2927583-46F5-DFF3-C0E7-D93EC13CA4C1}"/>
              </a:ext>
            </a:extLst>
          </p:cNvPr>
          <p:cNvSpPr/>
          <p:nvPr/>
        </p:nvSpPr>
        <p:spPr>
          <a:xfrm>
            <a:off x="389352" y="3766710"/>
            <a:ext cx="3625322" cy="509123"/>
          </a:xfrm>
          <a:prstGeom prst="rect">
            <a:avLst/>
          </a:prstGeom>
          <a:solidFill>
            <a:srgbClr val="F4F5F9"/>
          </a:solidFill>
          <a:ln/>
        </p:spPr>
        <p:txBody>
          <a:bodyPr/>
          <a:lstStyle/>
          <a:p>
            <a:endParaRPr lang="fr-FR" sz="1400"/>
          </a:p>
        </p:txBody>
      </p:sp>
      <p:sp>
        <p:nvSpPr>
          <p:cNvPr id="50" name="Shape 51">
            <a:extLst>
              <a:ext uri="{FF2B5EF4-FFF2-40B4-BE49-F238E27FC236}">
                <a16:creationId xmlns:a16="http://schemas.microsoft.com/office/drawing/2014/main" id="{71EB601A-BC87-21C0-5582-409303315EF7}"/>
              </a:ext>
            </a:extLst>
          </p:cNvPr>
          <p:cNvSpPr/>
          <p:nvPr/>
        </p:nvSpPr>
        <p:spPr>
          <a:xfrm>
            <a:off x="389352" y="4268495"/>
            <a:ext cx="3625322" cy="7338"/>
          </a:xfrm>
          <a:prstGeom prst="rect">
            <a:avLst/>
          </a:prstGeom>
          <a:solidFill>
            <a:srgbClr val="D8DBE8"/>
          </a:solidFill>
          <a:ln/>
        </p:spPr>
        <p:txBody>
          <a:bodyPr/>
          <a:lstStyle/>
          <a:p>
            <a:endParaRPr lang="fr-FR" sz="1400"/>
          </a:p>
        </p:txBody>
      </p:sp>
      <p:sp>
        <p:nvSpPr>
          <p:cNvPr id="51" name="S06_R4C1">
            <a:extLst>
              <a:ext uri="{FF2B5EF4-FFF2-40B4-BE49-F238E27FC236}">
                <a16:creationId xmlns:a16="http://schemas.microsoft.com/office/drawing/2014/main" id="{8BE44BAF-DFD1-B84A-CC66-B1469C989379}"/>
              </a:ext>
            </a:extLst>
          </p:cNvPr>
          <p:cNvSpPr/>
          <p:nvPr/>
        </p:nvSpPr>
        <p:spPr>
          <a:xfrm>
            <a:off x="547868" y="3885597"/>
            <a:ext cx="3417050" cy="2904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D2D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Achats indirects</a:t>
            </a:r>
            <a:endParaRPr lang="en-US" sz="1400" dirty="0"/>
          </a:p>
        </p:txBody>
      </p:sp>
      <p:sp>
        <p:nvSpPr>
          <p:cNvPr id="52" name="Shape 53">
            <a:extLst>
              <a:ext uri="{FF2B5EF4-FFF2-40B4-BE49-F238E27FC236}">
                <a16:creationId xmlns:a16="http://schemas.microsoft.com/office/drawing/2014/main" id="{929E8364-17C5-1D48-E701-FB15BAFE3263}"/>
              </a:ext>
            </a:extLst>
          </p:cNvPr>
          <p:cNvSpPr/>
          <p:nvPr/>
        </p:nvSpPr>
        <p:spPr>
          <a:xfrm>
            <a:off x="4014674" y="3766710"/>
            <a:ext cx="2083046" cy="509123"/>
          </a:xfrm>
          <a:prstGeom prst="rect">
            <a:avLst/>
          </a:prstGeom>
          <a:solidFill>
            <a:srgbClr val="F4F5F9"/>
          </a:solidFill>
          <a:ln/>
        </p:spPr>
        <p:txBody>
          <a:bodyPr/>
          <a:lstStyle/>
          <a:p>
            <a:endParaRPr lang="fr-FR" sz="1400">
              <a:solidFill>
                <a:schemeClr val="tx2"/>
              </a:solidFill>
            </a:endParaRPr>
          </a:p>
        </p:txBody>
      </p:sp>
      <p:sp>
        <p:nvSpPr>
          <p:cNvPr id="53" name="Shape 54">
            <a:extLst>
              <a:ext uri="{FF2B5EF4-FFF2-40B4-BE49-F238E27FC236}">
                <a16:creationId xmlns:a16="http://schemas.microsoft.com/office/drawing/2014/main" id="{06381D55-9020-64C8-B2DA-C9BF8C639252}"/>
              </a:ext>
            </a:extLst>
          </p:cNvPr>
          <p:cNvSpPr/>
          <p:nvPr/>
        </p:nvSpPr>
        <p:spPr>
          <a:xfrm>
            <a:off x="4014674" y="4268495"/>
            <a:ext cx="2083046" cy="7338"/>
          </a:xfrm>
          <a:prstGeom prst="rect">
            <a:avLst/>
          </a:prstGeom>
          <a:solidFill>
            <a:srgbClr val="D8DBE8"/>
          </a:solidFill>
          <a:ln/>
        </p:spPr>
        <p:txBody>
          <a:bodyPr/>
          <a:lstStyle/>
          <a:p>
            <a:endParaRPr lang="fr-FR" sz="1400">
              <a:solidFill>
                <a:schemeClr val="tx2"/>
              </a:solidFill>
            </a:endParaRPr>
          </a:p>
        </p:txBody>
      </p:sp>
      <p:sp>
        <p:nvSpPr>
          <p:cNvPr id="54" name="S06_R4C2">
            <a:extLst>
              <a:ext uri="{FF2B5EF4-FFF2-40B4-BE49-F238E27FC236}">
                <a16:creationId xmlns:a16="http://schemas.microsoft.com/office/drawing/2014/main" id="{41079DBB-7C8B-3558-BD69-71749801D40E}"/>
              </a:ext>
            </a:extLst>
          </p:cNvPr>
          <p:cNvSpPr/>
          <p:nvPr/>
        </p:nvSpPr>
        <p:spPr>
          <a:xfrm>
            <a:off x="4173190" y="3885597"/>
            <a:ext cx="1828506" cy="2904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chemeClr val="tx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38 M€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55" name="Shape 56">
            <a:extLst>
              <a:ext uri="{FF2B5EF4-FFF2-40B4-BE49-F238E27FC236}">
                <a16:creationId xmlns:a16="http://schemas.microsoft.com/office/drawing/2014/main" id="{FA9F31E3-D59A-0C83-4492-CD27A1A085FF}"/>
              </a:ext>
            </a:extLst>
          </p:cNvPr>
          <p:cNvSpPr/>
          <p:nvPr/>
        </p:nvSpPr>
        <p:spPr>
          <a:xfrm>
            <a:off x="6097721" y="3766710"/>
            <a:ext cx="1756589" cy="509123"/>
          </a:xfrm>
          <a:prstGeom prst="rect">
            <a:avLst/>
          </a:prstGeom>
          <a:solidFill>
            <a:srgbClr val="F4F5F9"/>
          </a:solidFill>
          <a:ln/>
        </p:spPr>
        <p:txBody>
          <a:bodyPr/>
          <a:lstStyle/>
          <a:p>
            <a:endParaRPr lang="fr-FR" sz="1400">
              <a:solidFill>
                <a:schemeClr val="tx2"/>
              </a:solidFill>
            </a:endParaRPr>
          </a:p>
        </p:txBody>
      </p:sp>
      <p:sp>
        <p:nvSpPr>
          <p:cNvPr id="56" name="Shape 57">
            <a:extLst>
              <a:ext uri="{FF2B5EF4-FFF2-40B4-BE49-F238E27FC236}">
                <a16:creationId xmlns:a16="http://schemas.microsoft.com/office/drawing/2014/main" id="{0FA32A2E-7697-F03C-08C1-16DD1769A59F}"/>
              </a:ext>
            </a:extLst>
          </p:cNvPr>
          <p:cNvSpPr/>
          <p:nvPr/>
        </p:nvSpPr>
        <p:spPr>
          <a:xfrm>
            <a:off x="6097721" y="4268495"/>
            <a:ext cx="1756589" cy="7338"/>
          </a:xfrm>
          <a:prstGeom prst="rect">
            <a:avLst/>
          </a:prstGeom>
          <a:solidFill>
            <a:srgbClr val="D8DBE8"/>
          </a:solidFill>
          <a:ln/>
        </p:spPr>
        <p:txBody>
          <a:bodyPr/>
          <a:lstStyle/>
          <a:p>
            <a:endParaRPr lang="fr-FR" sz="1400">
              <a:solidFill>
                <a:schemeClr val="tx2"/>
              </a:solidFill>
            </a:endParaRPr>
          </a:p>
        </p:txBody>
      </p:sp>
      <p:sp>
        <p:nvSpPr>
          <p:cNvPr id="57" name="S06_R4C3">
            <a:extLst>
              <a:ext uri="{FF2B5EF4-FFF2-40B4-BE49-F238E27FC236}">
                <a16:creationId xmlns:a16="http://schemas.microsoft.com/office/drawing/2014/main" id="{B283A7E7-9B00-D3AC-127C-B218DA88EEEA}"/>
              </a:ext>
            </a:extLst>
          </p:cNvPr>
          <p:cNvSpPr/>
          <p:nvPr/>
        </p:nvSpPr>
        <p:spPr>
          <a:xfrm>
            <a:off x="6256237" y="3885597"/>
            <a:ext cx="1492395" cy="2904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chemeClr val="tx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36 M€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58" name="Shape 59">
            <a:extLst>
              <a:ext uri="{FF2B5EF4-FFF2-40B4-BE49-F238E27FC236}">
                <a16:creationId xmlns:a16="http://schemas.microsoft.com/office/drawing/2014/main" id="{8B5EEA2A-7698-7D8B-5E86-9ACEA8C91540}"/>
              </a:ext>
            </a:extLst>
          </p:cNvPr>
          <p:cNvSpPr/>
          <p:nvPr/>
        </p:nvSpPr>
        <p:spPr>
          <a:xfrm>
            <a:off x="7854309" y="3766710"/>
            <a:ext cx="2318459" cy="509123"/>
          </a:xfrm>
          <a:prstGeom prst="rect">
            <a:avLst/>
          </a:prstGeom>
          <a:solidFill>
            <a:srgbClr val="F4F5F9"/>
          </a:solidFill>
          <a:ln/>
        </p:spPr>
        <p:txBody>
          <a:bodyPr/>
          <a:lstStyle/>
          <a:p>
            <a:endParaRPr lang="fr-FR" sz="1400"/>
          </a:p>
        </p:txBody>
      </p:sp>
      <p:sp>
        <p:nvSpPr>
          <p:cNvPr id="59" name="Shape 60">
            <a:extLst>
              <a:ext uri="{FF2B5EF4-FFF2-40B4-BE49-F238E27FC236}">
                <a16:creationId xmlns:a16="http://schemas.microsoft.com/office/drawing/2014/main" id="{6C66057E-89AE-8E53-0143-182FB37F965F}"/>
              </a:ext>
            </a:extLst>
          </p:cNvPr>
          <p:cNvSpPr/>
          <p:nvPr/>
        </p:nvSpPr>
        <p:spPr>
          <a:xfrm>
            <a:off x="7854309" y="4268495"/>
            <a:ext cx="2318459" cy="7338"/>
          </a:xfrm>
          <a:prstGeom prst="rect">
            <a:avLst/>
          </a:prstGeom>
          <a:solidFill>
            <a:srgbClr val="D8DBE8"/>
          </a:solidFill>
          <a:ln/>
        </p:spPr>
        <p:txBody>
          <a:bodyPr/>
          <a:lstStyle/>
          <a:p>
            <a:endParaRPr lang="fr-FR" sz="1400"/>
          </a:p>
        </p:txBody>
      </p:sp>
      <p:sp>
        <p:nvSpPr>
          <p:cNvPr id="60" name="S06_R4C4">
            <a:extLst>
              <a:ext uri="{FF2B5EF4-FFF2-40B4-BE49-F238E27FC236}">
                <a16:creationId xmlns:a16="http://schemas.microsoft.com/office/drawing/2014/main" id="{C2A5A346-07C9-55DF-E76E-EC1740CB26A7}"/>
              </a:ext>
            </a:extLst>
          </p:cNvPr>
          <p:cNvSpPr/>
          <p:nvPr/>
        </p:nvSpPr>
        <p:spPr>
          <a:xfrm>
            <a:off x="8012825" y="3885597"/>
            <a:ext cx="2070980" cy="2904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A5D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−2 M€</a:t>
            </a:r>
            <a:endParaRPr lang="en-US" sz="1400" dirty="0">
              <a:solidFill>
                <a:srgbClr val="6A5D79"/>
              </a:solidFill>
            </a:endParaRPr>
          </a:p>
        </p:txBody>
      </p:sp>
      <p:sp>
        <p:nvSpPr>
          <p:cNvPr id="61" name="Shape 62">
            <a:extLst>
              <a:ext uri="{FF2B5EF4-FFF2-40B4-BE49-F238E27FC236}">
                <a16:creationId xmlns:a16="http://schemas.microsoft.com/office/drawing/2014/main" id="{BA1B2632-DD4D-92EB-C7CF-A02BBB8E9E79}"/>
              </a:ext>
            </a:extLst>
          </p:cNvPr>
          <p:cNvSpPr/>
          <p:nvPr/>
        </p:nvSpPr>
        <p:spPr>
          <a:xfrm>
            <a:off x="10172767" y="3766710"/>
            <a:ext cx="1629881" cy="509123"/>
          </a:xfrm>
          <a:prstGeom prst="rect">
            <a:avLst/>
          </a:prstGeom>
          <a:solidFill>
            <a:srgbClr val="F4F5F9"/>
          </a:solidFill>
          <a:ln/>
        </p:spPr>
        <p:txBody>
          <a:bodyPr/>
          <a:lstStyle/>
          <a:p>
            <a:endParaRPr lang="fr-FR" sz="1400">
              <a:solidFill>
                <a:schemeClr val="tx2"/>
              </a:solidFill>
            </a:endParaRPr>
          </a:p>
        </p:txBody>
      </p:sp>
      <p:sp>
        <p:nvSpPr>
          <p:cNvPr id="62" name="Shape 63">
            <a:extLst>
              <a:ext uri="{FF2B5EF4-FFF2-40B4-BE49-F238E27FC236}">
                <a16:creationId xmlns:a16="http://schemas.microsoft.com/office/drawing/2014/main" id="{084A49CB-C0A9-4E7D-06F2-CBE0E8826309}"/>
              </a:ext>
            </a:extLst>
          </p:cNvPr>
          <p:cNvSpPr/>
          <p:nvPr/>
        </p:nvSpPr>
        <p:spPr>
          <a:xfrm>
            <a:off x="10172767" y="4268495"/>
            <a:ext cx="1629881" cy="7338"/>
          </a:xfrm>
          <a:prstGeom prst="rect">
            <a:avLst/>
          </a:prstGeom>
          <a:solidFill>
            <a:srgbClr val="D8DBE8"/>
          </a:solidFill>
          <a:ln/>
        </p:spPr>
        <p:txBody>
          <a:bodyPr/>
          <a:lstStyle/>
          <a:p>
            <a:endParaRPr lang="fr-FR" sz="1400">
              <a:solidFill>
                <a:schemeClr val="tx2"/>
              </a:solidFill>
            </a:endParaRPr>
          </a:p>
        </p:txBody>
      </p:sp>
      <p:sp>
        <p:nvSpPr>
          <p:cNvPr id="63" name="S06_R4C5">
            <a:extLst>
              <a:ext uri="{FF2B5EF4-FFF2-40B4-BE49-F238E27FC236}">
                <a16:creationId xmlns:a16="http://schemas.microsoft.com/office/drawing/2014/main" id="{19972329-9358-7841-741B-6929AB347811}"/>
              </a:ext>
            </a:extLst>
          </p:cNvPr>
          <p:cNvSpPr/>
          <p:nvPr/>
        </p:nvSpPr>
        <p:spPr>
          <a:xfrm>
            <a:off x="10331283" y="3885597"/>
            <a:ext cx="1365688" cy="2904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Faible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899" name="S06_TAKEAWAY">
            <a:extLst>
              <a:ext uri="{FF2B5EF4-FFF2-40B4-BE49-F238E27FC236}">
                <a16:creationId xmlns:a16="http://schemas.microsoft.com/office/drawing/2014/main" id="{1B06C838-7214-23E8-2769-81F6CD29D92F}"/>
              </a:ext>
            </a:extLst>
          </p:cNvPr>
          <p:cNvSpPr/>
          <p:nvPr/>
        </p:nvSpPr>
        <p:spPr>
          <a:xfrm>
            <a:off x="393634" y="6074571"/>
            <a:ext cx="11413297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hade val="30000"/>
                  <a:satMod val="115000"/>
                </a:srgbClr>
              </a:gs>
              <a:gs pos="50000">
                <a:srgbClr val="A25871">
                  <a:shade val="67500"/>
                  <a:satMod val="115000"/>
                </a:srgbClr>
              </a:gs>
              <a:gs pos="100000">
                <a:srgbClr val="A25871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599" b="1" dirty="0" err="1"/>
              <a:t>Take</a:t>
            </a:r>
            <a:r>
              <a:rPr lang="fr-FR" sz="1599" b="1" dirty="0"/>
              <a:t> </a:t>
            </a:r>
            <a:r>
              <a:rPr lang="fr-FR" sz="1599" b="1" dirty="0" err="1"/>
              <a:t>away</a:t>
            </a:r>
            <a:endParaRPr lang="fr-FR" sz="1599" b="1" dirty="0"/>
          </a:p>
        </p:txBody>
      </p:sp>
      <p:sp>
        <p:nvSpPr>
          <p:cNvPr id="903" name="Rectangle 902">
            <a:extLst>
              <a:ext uri="{FF2B5EF4-FFF2-40B4-BE49-F238E27FC236}">
                <a16:creationId xmlns:a16="http://schemas.microsoft.com/office/drawing/2014/main" id="{CAFC75B3-11BB-3F5B-25F9-1374FE724A26}"/>
              </a:ext>
            </a:extLst>
          </p:cNvPr>
          <p:cNvSpPr/>
          <p:nvPr/>
        </p:nvSpPr>
        <p:spPr>
          <a:xfrm>
            <a:off x="396137" y="-1381154"/>
            <a:ext cx="855670" cy="822599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682">
              <a:defRPr/>
            </a:pPr>
            <a:endParaRPr lang="fr-FR" sz="2399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905" name="Rectangle 904">
            <a:extLst>
              <a:ext uri="{FF2B5EF4-FFF2-40B4-BE49-F238E27FC236}">
                <a16:creationId xmlns:a16="http://schemas.microsoft.com/office/drawing/2014/main" id="{EFE9A7CC-E043-217E-E719-D185064A4F8B}"/>
              </a:ext>
            </a:extLst>
          </p:cNvPr>
          <p:cNvSpPr/>
          <p:nvPr/>
        </p:nvSpPr>
        <p:spPr>
          <a:xfrm>
            <a:off x="1391845" y="-1381154"/>
            <a:ext cx="855670" cy="822599"/>
          </a:xfrm>
          <a:prstGeom prst="rect">
            <a:avLst/>
          </a:prstGeom>
          <a:solidFill>
            <a:srgbClr val="BABD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682">
              <a:defRPr/>
            </a:pPr>
            <a:endParaRPr lang="fr-FR" sz="2399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907" name="Rectangle 906">
            <a:extLst>
              <a:ext uri="{FF2B5EF4-FFF2-40B4-BE49-F238E27FC236}">
                <a16:creationId xmlns:a16="http://schemas.microsoft.com/office/drawing/2014/main" id="{077E01CB-F9EF-CAAC-B0B0-241115130629}"/>
              </a:ext>
            </a:extLst>
          </p:cNvPr>
          <p:cNvSpPr/>
          <p:nvPr/>
        </p:nvSpPr>
        <p:spPr>
          <a:xfrm>
            <a:off x="2385597" y="-1381154"/>
            <a:ext cx="855670" cy="822599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682">
              <a:defRPr/>
            </a:pPr>
            <a:endParaRPr lang="fr-FR" sz="2399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909" name="Rectangle 908">
            <a:extLst>
              <a:ext uri="{FF2B5EF4-FFF2-40B4-BE49-F238E27FC236}">
                <a16:creationId xmlns:a16="http://schemas.microsoft.com/office/drawing/2014/main" id="{59A0312B-9978-E765-3AD2-6C0C49F53B50}"/>
              </a:ext>
            </a:extLst>
          </p:cNvPr>
          <p:cNvSpPr/>
          <p:nvPr/>
        </p:nvSpPr>
        <p:spPr>
          <a:xfrm>
            <a:off x="3381305" y="-1381154"/>
            <a:ext cx="855670" cy="822599"/>
          </a:xfrm>
          <a:prstGeom prst="rect">
            <a:avLst/>
          </a:prstGeom>
          <a:solidFill>
            <a:srgbClr val="BBB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682">
              <a:defRPr/>
            </a:pPr>
            <a:endParaRPr lang="fr-FR" sz="2399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914" name="Rectangle 913">
            <a:extLst>
              <a:ext uri="{FF2B5EF4-FFF2-40B4-BE49-F238E27FC236}">
                <a16:creationId xmlns:a16="http://schemas.microsoft.com/office/drawing/2014/main" id="{7EE199F9-4803-31FE-B536-BF6B2466D2D8}"/>
              </a:ext>
            </a:extLst>
          </p:cNvPr>
          <p:cNvSpPr/>
          <p:nvPr/>
        </p:nvSpPr>
        <p:spPr>
          <a:xfrm>
            <a:off x="4471896" y="-1381154"/>
            <a:ext cx="855670" cy="822599"/>
          </a:xfrm>
          <a:prstGeom prst="rect">
            <a:avLst/>
          </a:prstGeom>
          <a:solidFill>
            <a:srgbClr val="A258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682">
              <a:defRPr/>
            </a:pPr>
            <a:endParaRPr lang="fr-FR" sz="2399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916" name="Rectangle 915">
            <a:extLst>
              <a:ext uri="{FF2B5EF4-FFF2-40B4-BE49-F238E27FC236}">
                <a16:creationId xmlns:a16="http://schemas.microsoft.com/office/drawing/2014/main" id="{983D2674-B993-0B0F-23CE-C31729259F80}"/>
              </a:ext>
            </a:extLst>
          </p:cNvPr>
          <p:cNvSpPr/>
          <p:nvPr/>
        </p:nvSpPr>
        <p:spPr>
          <a:xfrm>
            <a:off x="5467602" y="-1381154"/>
            <a:ext cx="855670" cy="822599"/>
          </a:xfrm>
          <a:prstGeom prst="rect">
            <a:avLst/>
          </a:prstGeom>
          <a:solidFill>
            <a:srgbClr val="D5B3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682">
              <a:defRPr/>
            </a:pPr>
            <a:endParaRPr lang="fr-FR" sz="2399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918" name="Rectangle 917">
            <a:extLst>
              <a:ext uri="{FF2B5EF4-FFF2-40B4-BE49-F238E27FC236}">
                <a16:creationId xmlns:a16="http://schemas.microsoft.com/office/drawing/2014/main" id="{06801FAA-B7C9-E819-0340-1B4E497B4C10}"/>
              </a:ext>
            </a:extLst>
          </p:cNvPr>
          <p:cNvSpPr/>
          <p:nvPr/>
        </p:nvSpPr>
        <p:spPr>
          <a:xfrm>
            <a:off x="6461356" y="-1381154"/>
            <a:ext cx="855670" cy="822599"/>
          </a:xfrm>
          <a:prstGeom prst="rect">
            <a:avLst/>
          </a:prstGeom>
          <a:solidFill>
            <a:srgbClr val="D473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682">
              <a:defRPr/>
            </a:pPr>
            <a:endParaRPr lang="fr-FR" sz="2399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920" name="Rectangle 919">
            <a:extLst>
              <a:ext uri="{FF2B5EF4-FFF2-40B4-BE49-F238E27FC236}">
                <a16:creationId xmlns:a16="http://schemas.microsoft.com/office/drawing/2014/main" id="{CF24B741-B561-C567-45BD-687DE0C94BDC}"/>
              </a:ext>
            </a:extLst>
          </p:cNvPr>
          <p:cNvSpPr/>
          <p:nvPr/>
        </p:nvSpPr>
        <p:spPr>
          <a:xfrm>
            <a:off x="7457063" y="-1381154"/>
            <a:ext cx="855670" cy="822599"/>
          </a:xfrm>
          <a:prstGeom prst="rect">
            <a:avLst/>
          </a:prstGeom>
          <a:solidFill>
            <a:srgbClr val="F1D3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682">
              <a:defRPr/>
            </a:pPr>
            <a:endParaRPr lang="fr-FR" sz="2399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922" name="Rectangle 921">
            <a:extLst>
              <a:ext uri="{FF2B5EF4-FFF2-40B4-BE49-F238E27FC236}">
                <a16:creationId xmlns:a16="http://schemas.microsoft.com/office/drawing/2014/main" id="{0738C842-C5C7-E2E0-38CF-C2DACE8CC5F3}"/>
              </a:ext>
            </a:extLst>
          </p:cNvPr>
          <p:cNvSpPr/>
          <p:nvPr/>
        </p:nvSpPr>
        <p:spPr>
          <a:xfrm>
            <a:off x="8478924" y="-1381154"/>
            <a:ext cx="855670" cy="822599"/>
          </a:xfrm>
          <a:prstGeom prst="rect">
            <a:avLst/>
          </a:prstGeom>
          <a:solidFill>
            <a:srgbClr val="FDA8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682">
              <a:defRPr/>
            </a:pPr>
            <a:endParaRPr lang="fr-FR" sz="2399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924" name="Rectangle 923">
            <a:extLst>
              <a:ext uri="{FF2B5EF4-FFF2-40B4-BE49-F238E27FC236}">
                <a16:creationId xmlns:a16="http://schemas.microsoft.com/office/drawing/2014/main" id="{5C6FC216-4170-A3D2-67E2-EA31D3FB47E2}"/>
              </a:ext>
            </a:extLst>
          </p:cNvPr>
          <p:cNvSpPr/>
          <p:nvPr/>
        </p:nvSpPr>
        <p:spPr>
          <a:xfrm>
            <a:off x="9474630" y="-1381154"/>
            <a:ext cx="855670" cy="822599"/>
          </a:xfrm>
          <a:prstGeom prst="rect">
            <a:avLst/>
          </a:prstGeom>
          <a:solidFill>
            <a:srgbClr val="FEE3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682">
              <a:defRPr/>
            </a:pPr>
            <a:endParaRPr lang="fr-FR" sz="2399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926" name="Rectangle 925">
            <a:extLst>
              <a:ext uri="{FF2B5EF4-FFF2-40B4-BE49-F238E27FC236}">
                <a16:creationId xmlns:a16="http://schemas.microsoft.com/office/drawing/2014/main" id="{7C69C080-4485-493B-2693-30563912D693}"/>
              </a:ext>
            </a:extLst>
          </p:cNvPr>
          <p:cNvSpPr/>
          <p:nvPr/>
        </p:nvSpPr>
        <p:spPr>
          <a:xfrm>
            <a:off x="10470338" y="-1381154"/>
            <a:ext cx="855670" cy="822599"/>
          </a:xfrm>
          <a:prstGeom prst="rect">
            <a:avLst/>
          </a:prstGeom>
          <a:solidFill>
            <a:srgbClr val="FBCC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682">
              <a:defRPr/>
            </a:pPr>
            <a:endParaRPr lang="fr-FR" sz="2399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931" name="Rectangle 930">
            <a:extLst>
              <a:ext uri="{FF2B5EF4-FFF2-40B4-BE49-F238E27FC236}">
                <a16:creationId xmlns:a16="http://schemas.microsoft.com/office/drawing/2014/main" id="{A1B35C38-D080-1D27-5922-233391D6625E}"/>
              </a:ext>
            </a:extLst>
          </p:cNvPr>
          <p:cNvSpPr/>
          <p:nvPr/>
        </p:nvSpPr>
        <p:spPr>
          <a:xfrm>
            <a:off x="11466044" y="-1381154"/>
            <a:ext cx="855670" cy="822599"/>
          </a:xfrm>
          <a:prstGeom prst="rect">
            <a:avLst/>
          </a:prstGeom>
          <a:solidFill>
            <a:srgbClr val="FDEB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682">
              <a:defRPr/>
            </a:pPr>
            <a:endParaRPr lang="fr-FR" sz="2399">
              <a:solidFill>
                <a:srgbClr val="FFFFFF"/>
              </a:solidFill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417276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07_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Dashboard</a:t>
            </a:r>
          </a:p>
        </p:txBody>
      </p:sp>
      <p:sp>
        <p:nvSpPr>
          <p:cNvPr id="10" name="S07_KPI_1_CARD"/>
          <p:cNvSpPr/>
          <p:nvPr/>
        </p:nvSpPr>
        <p:spPr>
          <a:xfrm>
            <a:off x="383120" y="1333709"/>
            <a:ext cx="1800000" cy="1600000"/>
          </a:xfrm>
          <a:prstGeom prst="roundRect">
            <a:avLst>
              <a:gd name="adj" fmla="val 8000"/>
            </a:avLst>
          </a:prstGeom>
          <a:solidFill>
            <a:srgbClr val="BABDD0"/>
          </a:solidFill>
          <a:ln>
            <a:noFill/>
          </a:ln>
        </p:spPr>
        <p:txBody>
          <a:bodyPr rtlCol="0" anchor="ctr"/>
          <a:lstStyle/>
          <a:p>
            <a:pPr algn="ctr"/>
            <a:endParaRPr lang="fr-FR" sz="1100" b="1" dirty="0">
              <a:solidFill>
                <a:srgbClr val="484C6A"/>
              </a:solidFill>
            </a:endParaRPr>
          </a:p>
        </p:txBody>
      </p:sp>
      <p:sp>
        <p:nvSpPr>
          <p:cNvPr id="11" name="S07_KPI_2_CARD"/>
          <p:cNvSpPr/>
          <p:nvPr/>
        </p:nvSpPr>
        <p:spPr>
          <a:xfrm>
            <a:off x="2263120" y="1333709"/>
            <a:ext cx="1800000" cy="1600000"/>
          </a:xfrm>
          <a:prstGeom prst="roundRect">
            <a:avLst>
              <a:gd name="adj" fmla="val 8000"/>
            </a:avLst>
          </a:prstGeom>
          <a:solidFill>
            <a:srgbClr val="BBB4C4"/>
          </a:solidFill>
          <a:ln>
            <a:noFill/>
          </a:ln>
        </p:spPr>
        <p:txBody>
          <a:bodyPr rtlCol="0" anchor="ctr"/>
          <a:lstStyle/>
          <a:p>
            <a:pPr algn="ctr"/>
            <a:endParaRPr lang="fr-FR" sz="1100" b="1" dirty="0">
              <a:solidFill>
                <a:srgbClr val="6A5D79"/>
              </a:solidFill>
            </a:endParaRPr>
          </a:p>
        </p:txBody>
      </p:sp>
      <p:sp>
        <p:nvSpPr>
          <p:cNvPr id="12" name="S07_KPI_3_CARD"/>
          <p:cNvSpPr/>
          <p:nvPr/>
        </p:nvSpPr>
        <p:spPr>
          <a:xfrm>
            <a:off x="4143120" y="1333709"/>
            <a:ext cx="1800000" cy="1600000"/>
          </a:xfrm>
          <a:prstGeom prst="roundRect">
            <a:avLst>
              <a:gd name="adj" fmla="val 8000"/>
            </a:avLst>
          </a:prstGeom>
          <a:solidFill>
            <a:srgbClr val="D5B3BE"/>
          </a:solidFill>
          <a:ln>
            <a:noFill/>
          </a:ln>
        </p:spPr>
        <p:txBody>
          <a:bodyPr rtlCol="0" anchor="ctr"/>
          <a:lstStyle/>
          <a:p>
            <a:pPr algn="ctr"/>
            <a:endParaRPr lang="fr-FR" sz="1100" b="1" dirty="0">
              <a:solidFill>
                <a:srgbClr val="A25871"/>
              </a:solidFill>
            </a:endParaRPr>
          </a:p>
        </p:txBody>
      </p:sp>
      <p:sp>
        <p:nvSpPr>
          <p:cNvPr id="13" name="S07_KPI_4_CARD"/>
          <p:cNvSpPr/>
          <p:nvPr/>
        </p:nvSpPr>
        <p:spPr>
          <a:xfrm>
            <a:off x="6023120" y="1333709"/>
            <a:ext cx="1800000" cy="1600000"/>
          </a:xfrm>
          <a:prstGeom prst="roundRect">
            <a:avLst>
              <a:gd name="adj" fmla="val 8000"/>
            </a:avLst>
          </a:prstGeom>
          <a:solidFill>
            <a:srgbClr val="F1D3D5"/>
          </a:solidFill>
          <a:ln>
            <a:noFill/>
          </a:ln>
        </p:spPr>
        <p:txBody>
          <a:bodyPr rtlCol="0" anchor="ctr"/>
          <a:lstStyle/>
          <a:p>
            <a:pPr algn="ctr"/>
            <a:endParaRPr lang="fr-FR" sz="1100" b="1" dirty="0">
              <a:solidFill>
                <a:srgbClr val="D4737A"/>
              </a:solidFill>
            </a:endParaRPr>
          </a:p>
        </p:txBody>
      </p:sp>
      <p:sp>
        <p:nvSpPr>
          <p:cNvPr id="30" name="S07_BAR_1_LABEL"/>
          <p:cNvSpPr/>
          <p:nvPr/>
        </p:nvSpPr>
        <p:spPr>
          <a:xfrm>
            <a:off x="383120" y="3633869"/>
            <a:ext cx="2500000" cy="350000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r>
              <a:rPr lang="fr-FR" sz="1100" b="1" dirty="0">
                <a:solidFill>
                  <a:schemeClr val="accent6"/>
                </a:solidFill>
              </a:rPr>
              <a:t>xxx</a:t>
            </a:r>
          </a:p>
        </p:txBody>
      </p:sp>
      <p:sp>
        <p:nvSpPr>
          <p:cNvPr id="31" name="Track 1"/>
          <p:cNvSpPr/>
          <p:nvPr/>
        </p:nvSpPr>
        <p:spPr>
          <a:xfrm>
            <a:off x="2983120" y="3700000"/>
            <a:ext cx="8600000" cy="2800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32" name="Fill 1"/>
          <p:cNvSpPr/>
          <p:nvPr/>
        </p:nvSpPr>
        <p:spPr>
          <a:xfrm>
            <a:off x="2983120" y="3700000"/>
            <a:ext cx="7568000" cy="280000"/>
          </a:xfrm>
          <a:prstGeom prst="roundRect">
            <a:avLst>
              <a:gd name="adj" fmla="val 50000"/>
            </a:avLst>
          </a:prstGeom>
          <a:solidFill>
            <a:srgbClr val="6A5D79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33" name="S07_BAR_2_LABEL"/>
          <p:cNvSpPr/>
          <p:nvPr/>
        </p:nvSpPr>
        <p:spPr>
          <a:xfrm>
            <a:off x="383120" y="4103709"/>
            <a:ext cx="2500000" cy="350000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r>
              <a:rPr lang="fr-FR" sz="1100" b="1" dirty="0">
                <a:solidFill>
                  <a:schemeClr val="accent6"/>
                </a:solidFill>
              </a:rPr>
              <a:t>xxx</a:t>
            </a:r>
          </a:p>
        </p:txBody>
      </p:sp>
      <p:sp>
        <p:nvSpPr>
          <p:cNvPr id="34" name="Track 2"/>
          <p:cNvSpPr/>
          <p:nvPr/>
        </p:nvSpPr>
        <p:spPr>
          <a:xfrm>
            <a:off x="2983120" y="4150000"/>
            <a:ext cx="8600000" cy="2800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35" name="Fill 2"/>
          <p:cNvSpPr/>
          <p:nvPr/>
        </p:nvSpPr>
        <p:spPr>
          <a:xfrm>
            <a:off x="2983120" y="4150000"/>
            <a:ext cx="6020000" cy="280000"/>
          </a:xfrm>
          <a:prstGeom prst="roundRect">
            <a:avLst>
              <a:gd name="adj" fmla="val 50000"/>
            </a:avLst>
          </a:prstGeom>
          <a:solidFill>
            <a:srgbClr val="A2587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36" name="S07_BAR_3_LABEL"/>
          <p:cNvSpPr/>
          <p:nvPr/>
        </p:nvSpPr>
        <p:spPr>
          <a:xfrm>
            <a:off x="383120" y="4563979"/>
            <a:ext cx="2500000" cy="350000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r>
              <a:rPr lang="fr-FR" sz="1100" b="1" dirty="0">
                <a:solidFill>
                  <a:schemeClr val="accent6"/>
                </a:solidFill>
              </a:rPr>
              <a:t>xxx</a:t>
            </a:r>
          </a:p>
        </p:txBody>
      </p:sp>
      <p:sp>
        <p:nvSpPr>
          <p:cNvPr id="37" name="Track 3"/>
          <p:cNvSpPr/>
          <p:nvPr/>
        </p:nvSpPr>
        <p:spPr>
          <a:xfrm>
            <a:off x="2983120" y="4600000"/>
            <a:ext cx="8600000" cy="2800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38" name="Fill 3"/>
          <p:cNvSpPr/>
          <p:nvPr/>
        </p:nvSpPr>
        <p:spPr>
          <a:xfrm>
            <a:off x="2983120" y="4600000"/>
            <a:ext cx="4730000" cy="280000"/>
          </a:xfrm>
          <a:prstGeom prst="roundRect">
            <a:avLst>
              <a:gd name="adj" fmla="val 50000"/>
            </a:avLst>
          </a:prstGeom>
          <a:solidFill>
            <a:srgbClr val="D4737A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805D45-A59F-70FB-4287-ABA17C23C46F}"/>
              </a:ext>
            </a:extLst>
          </p:cNvPr>
          <p:cNvSpPr/>
          <p:nvPr/>
        </p:nvSpPr>
        <p:spPr>
          <a:xfrm>
            <a:off x="395395" y="-1381335"/>
            <a:ext cx="855781" cy="822707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804">
              <a:defRPr/>
            </a:pPr>
            <a:endParaRPr lang="fr-FR" sz="2399" noProof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7310E93-BB24-0F60-3CEB-B183E1D58FC2}"/>
              </a:ext>
            </a:extLst>
          </p:cNvPr>
          <p:cNvSpPr/>
          <p:nvPr/>
        </p:nvSpPr>
        <p:spPr>
          <a:xfrm>
            <a:off x="1391231" y="-1381335"/>
            <a:ext cx="855781" cy="822707"/>
          </a:xfrm>
          <a:prstGeom prst="rect">
            <a:avLst/>
          </a:prstGeom>
          <a:solidFill>
            <a:srgbClr val="BABD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804">
              <a:defRPr/>
            </a:pPr>
            <a:endParaRPr lang="fr-FR" sz="2399" noProof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6438EB-5382-F434-2CBD-0092F7D0D2E1}"/>
              </a:ext>
            </a:extLst>
          </p:cNvPr>
          <p:cNvSpPr/>
          <p:nvPr/>
        </p:nvSpPr>
        <p:spPr>
          <a:xfrm>
            <a:off x="2385114" y="-1381335"/>
            <a:ext cx="855781" cy="822707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804">
              <a:defRPr/>
            </a:pPr>
            <a:endParaRPr lang="fr-FR" sz="2399" noProof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B8EB2C-BE78-27B1-5F87-24617E462710}"/>
              </a:ext>
            </a:extLst>
          </p:cNvPr>
          <p:cNvSpPr/>
          <p:nvPr/>
        </p:nvSpPr>
        <p:spPr>
          <a:xfrm>
            <a:off x="3380950" y="-1381335"/>
            <a:ext cx="855781" cy="822707"/>
          </a:xfrm>
          <a:prstGeom prst="rect">
            <a:avLst/>
          </a:prstGeom>
          <a:solidFill>
            <a:srgbClr val="BBB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804">
              <a:defRPr/>
            </a:pPr>
            <a:endParaRPr lang="fr-FR" sz="2399" noProof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E02C4BC-07C4-8BC0-806B-6F336DE08ED5}"/>
              </a:ext>
            </a:extLst>
          </p:cNvPr>
          <p:cNvSpPr/>
          <p:nvPr/>
        </p:nvSpPr>
        <p:spPr>
          <a:xfrm>
            <a:off x="4471683" y="-1381335"/>
            <a:ext cx="855781" cy="822707"/>
          </a:xfrm>
          <a:prstGeom prst="rect">
            <a:avLst/>
          </a:prstGeom>
          <a:solidFill>
            <a:srgbClr val="A258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804">
              <a:defRPr/>
            </a:pPr>
            <a:endParaRPr lang="fr-FR" sz="2399" noProof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C017DF7-C44C-7A24-96D2-F48767B89EF1}"/>
              </a:ext>
            </a:extLst>
          </p:cNvPr>
          <p:cNvSpPr/>
          <p:nvPr/>
        </p:nvSpPr>
        <p:spPr>
          <a:xfrm>
            <a:off x="5467519" y="-1381335"/>
            <a:ext cx="855781" cy="822707"/>
          </a:xfrm>
          <a:prstGeom prst="rect">
            <a:avLst/>
          </a:prstGeom>
          <a:solidFill>
            <a:srgbClr val="D5B3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804">
              <a:defRPr/>
            </a:pPr>
            <a:endParaRPr lang="fr-FR" sz="2399" noProof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F73028C-9A3D-7529-67F5-1A3B244967E4}"/>
              </a:ext>
            </a:extLst>
          </p:cNvPr>
          <p:cNvSpPr/>
          <p:nvPr/>
        </p:nvSpPr>
        <p:spPr>
          <a:xfrm>
            <a:off x="6461402" y="-1381335"/>
            <a:ext cx="855781" cy="822707"/>
          </a:xfrm>
          <a:prstGeom prst="rect">
            <a:avLst/>
          </a:prstGeom>
          <a:solidFill>
            <a:srgbClr val="D473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804">
              <a:defRPr/>
            </a:pPr>
            <a:endParaRPr lang="fr-FR" sz="2399" noProof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67785EE-07D2-A468-2071-D2AF529A89F3}"/>
              </a:ext>
            </a:extLst>
          </p:cNvPr>
          <p:cNvSpPr/>
          <p:nvPr/>
        </p:nvSpPr>
        <p:spPr>
          <a:xfrm>
            <a:off x="7457239" y="-1381335"/>
            <a:ext cx="855781" cy="822707"/>
          </a:xfrm>
          <a:prstGeom prst="rect">
            <a:avLst/>
          </a:prstGeom>
          <a:solidFill>
            <a:srgbClr val="F1D3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804">
              <a:defRPr/>
            </a:pPr>
            <a:endParaRPr lang="fr-FR" sz="2399" noProof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9545F5D-2BF8-53AF-460E-C57F5DB31995}"/>
              </a:ext>
            </a:extLst>
          </p:cNvPr>
          <p:cNvSpPr/>
          <p:nvPr/>
        </p:nvSpPr>
        <p:spPr>
          <a:xfrm>
            <a:off x="8479232" y="-1381335"/>
            <a:ext cx="855781" cy="822707"/>
          </a:xfrm>
          <a:prstGeom prst="rect">
            <a:avLst/>
          </a:prstGeom>
          <a:solidFill>
            <a:srgbClr val="FDA8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804">
              <a:defRPr/>
            </a:pPr>
            <a:endParaRPr lang="fr-FR" sz="2399" noProof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9F4D813-9ED0-2C73-6AE3-E179E25CF220}"/>
              </a:ext>
            </a:extLst>
          </p:cNvPr>
          <p:cNvSpPr/>
          <p:nvPr/>
        </p:nvSpPr>
        <p:spPr>
          <a:xfrm>
            <a:off x="9475070" y="-1381335"/>
            <a:ext cx="855781" cy="822707"/>
          </a:xfrm>
          <a:prstGeom prst="rect">
            <a:avLst/>
          </a:prstGeom>
          <a:solidFill>
            <a:srgbClr val="FEE3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804">
              <a:defRPr/>
            </a:pPr>
            <a:endParaRPr lang="fr-FR" sz="2399" noProof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761F564-F010-130F-56E5-8DDDB6FCC3C5}"/>
              </a:ext>
            </a:extLst>
          </p:cNvPr>
          <p:cNvSpPr/>
          <p:nvPr/>
        </p:nvSpPr>
        <p:spPr>
          <a:xfrm>
            <a:off x="10470906" y="-1381335"/>
            <a:ext cx="855781" cy="822707"/>
          </a:xfrm>
          <a:prstGeom prst="rect">
            <a:avLst/>
          </a:prstGeom>
          <a:solidFill>
            <a:srgbClr val="FBCC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804">
              <a:defRPr/>
            </a:pPr>
            <a:endParaRPr lang="fr-FR" sz="2399" noProof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73E2F17-8D7A-EC8B-D003-C0EF9694015D}"/>
              </a:ext>
            </a:extLst>
          </p:cNvPr>
          <p:cNvSpPr/>
          <p:nvPr/>
        </p:nvSpPr>
        <p:spPr>
          <a:xfrm>
            <a:off x="11466743" y="-1381335"/>
            <a:ext cx="855781" cy="822707"/>
          </a:xfrm>
          <a:prstGeom prst="rect">
            <a:avLst/>
          </a:prstGeom>
          <a:solidFill>
            <a:srgbClr val="FEF4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804">
              <a:defRPr/>
            </a:pPr>
            <a:endParaRPr lang="fr-FR" sz="2399" noProof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24" name="S07_KPI_5_CARD">
            <a:extLst>
              <a:ext uri="{FF2B5EF4-FFF2-40B4-BE49-F238E27FC236}">
                <a16:creationId xmlns:a16="http://schemas.microsoft.com/office/drawing/2014/main" id="{E1957E53-E574-33EF-C3E5-03A20290136F}"/>
              </a:ext>
            </a:extLst>
          </p:cNvPr>
          <p:cNvSpPr/>
          <p:nvPr/>
        </p:nvSpPr>
        <p:spPr>
          <a:xfrm>
            <a:off x="7903120" y="1333709"/>
            <a:ext cx="1800000" cy="1600000"/>
          </a:xfrm>
          <a:prstGeom prst="roundRect">
            <a:avLst>
              <a:gd name="adj" fmla="val 8000"/>
            </a:avLst>
          </a:prstGeom>
          <a:solidFill>
            <a:srgbClr val="FEE3CA"/>
          </a:solidFill>
          <a:ln>
            <a:noFill/>
          </a:ln>
        </p:spPr>
        <p:txBody>
          <a:bodyPr rtlCol="0" anchor="ctr"/>
          <a:lstStyle/>
          <a:p>
            <a:pPr algn="ctr"/>
            <a:endParaRPr lang="fr-FR" sz="1100" b="1" dirty="0">
              <a:solidFill>
                <a:srgbClr val="FDA85B"/>
              </a:solidFill>
            </a:endParaRPr>
          </a:p>
        </p:txBody>
      </p:sp>
      <p:sp>
        <p:nvSpPr>
          <p:cNvPr id="25" name="S07_KPI_6_CARD">
            <a:extLst>
              <a:ext uri="{FF2B5EF4-FFF2-40B4-BE49-F238E27FC236}">
                <a16:creationId xmlns:a16="http://schemas.microsoft.com/office/drawing/2014/main" id="{621CC44E-734D-9349-77BF-A428F187710C}"/>
              </a:ext>
            </a:extLst>
          </p:cNvPr>
          <p:cNvSpPr/>
          <p:nvPr/>
        </p:nvSpPr>
        <p:spPr>
          <a:xfrm>
            <a:off x="9783120" y="1333709"/>
            <a:ext cx="1800000" cy="1600000"/>
          </a:xfrm>
          <a:prstGeom prst="roundRect">
            <a:avLst>
              <a:gd name="adj" fmla="val 8000"/>
            </a:avLst>
          </a:prstGeom>
          <a:solidFill>
            <a:srgbClr val="FEF4DA"/>
          </a:solidFill>
          <a:ln>
            <a:noFill/>
          </a:ln>
        </p:spPr>
        <p:txBody>
          <a:bodyPr rtlCol="0" anchor="ctr"/>
          <a:lstStyle/>
          <a:p>
            <a:pPr algn="ctr"/>
            <a:endParaRPr lang="fr-FR" sz="1100" b="1" dirty="0">
              <a:solidFill>
                <a:srgbClr val="FBCC58"/>
              </a:solidFill>
            </a:endParaRPr>
          </a:p>
        </p:txBody>
      </p:sp>
      <p:sp>
        <p:nvSpPr>
          <p:cNvPr id="27" name="S07_BAR_4_LABEL">
            <a:extLst>
              <a:ext uri="{FF2B5EF4-FFF2-40B4-BE49-F238E27FC236}">
                <a16:creationId xmlns:a16="http://schemas.microsoft.com/office/drawing/2014/main" id="{5E3713F5-73E2-76A3-CB5C-94A6BC9716EF}"/>
              </a:ext>
            </a:extLst>
          </p:cNvPr>
          <p:cNvSpPr/>
          <p:nvPr/>
        </p:nvSpPr>
        <p:spPr>
          <a:xfrm>
            <a:off x="383120" y="5024249"/>
            <a:ext cx="2500000" cy="350000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r>
              <a:rPr lang="fr-FR" sz="1100" b="1" dirty="0">
                <a:solidFill>
                  <a:schemeClr val="accent6"/>
                </a:solidFill>
              </a:rPr>
              <a:t>xxx</a:t>
            </a:r>
          </a:p>
        </p:txBody>
      </p:sp>
      <p:sp>
        <p:nvSpPr>
          <p:cNvPr id="28" name="Track 1">
            <a:extLst>
              <a:ext uri="{FF2B5EF4-FFF2-40B4-BE49-F238E27FC236}">
                <a16:creationId xmlns:a16="http://schemas.microsoft.com/office/drawing/2014/main" id="{8DAA17A3-3808-F7CA-454A-4C6904F0602F}"/>
              </a:ext>
            </a:extLst>
          </p:cNvPr>
          <p:cNvSpPr/>
          <p:nvPr/>
        </p:nvSpPr>
        <p:spPr>
          <a:xfrm>
            <a:off x="2983120" y="5054571"/>
            <a:ext cx="8600000" cy="2800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9" name="Fill 1">
            <a:extLst>
              <a:ext uri="{FF2B5EF4-FFF2-40B4-BE49-F238E27FC236}">
                <a16:creationId xmlns:a16="http://schemas.microsoft.com/office/drawing/2014/main" id="{9AA47556-FF86-156D-6FB0-AD3FF876A908}"/>
              </a:ext>
            </a:extLst>
          </p:cNvPr>
          <p:cNvSpPr/>
          <p:nvPr/>
        </p:nvSpPr>
        <p:spPr>
          <a:xfrm>
            <a:off x="2983120" y="5054571"/>
            <a:ext cx="7568000" cy="280000"/>
          </a:xfrm>
          <a:prstGeom prst="roundRect">
            <a:avLst>
              <a:gd name="adj" fmla="val 50000"/>
            </a:avLst>
          </a:prstGeom>
          <a:solidFill>
            <a:srgbClr val="FDA85B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39" name="S07_BAR_5_LABEL">
            <a:extLst>
              <a:ext uri="{FF2B5EF4-FFF2-40B4-BE49-F238E27FC236}">
                <a16:creationId xmlns:a16="http://schemas.microsoft.com/office/drawing/2014/main" id="{D94AFD20-2550-6029-99C2-6B81B0F1DF0C}"/>
              </a:ext>
            </a:extLst>
          </p:cNvPr>
          <p:cNvSpPr/>
          <p:nvPr/>
        </p:nvSpPr>
        <p:spPr>
          <a:xfrm>
            <a:off x="383120" y="5465592"/>
            <a:ext cx="2500000" cy="350000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r>
              <a:rPr lang="fr-FR" sz="1100" b="1" dirty="0">
                <a:solidFill>
                  <a:schemeClr val="accent6"/>
                </a:solidFill>
              </a:rPr>
              <a:t>xxx</a:t>
            </a:r>
          </a:p>
        </p:txBody>
      </p:sp>
      <p:sp>
        <p:nvSpPr>
          <p:cNvPr id="40" name="Track 2">
            <a:extLst>
              <a:ext uri="{FF2B5EF4-FFF2-40B4-BE49-F238E27FC236}">
                <a16:creationId xmlns:a16="http://schemas.microsoft.com/office/drawing/2014/main" id="{7E99EC36-325C-93A8-1423-FEC01F7C817E}"/>
              </a:ext>
            </a:extLst>
          </p:cNvPr>
          <p:cNvSpPr/>
          <p:nvPr/>
        </p:nvSpPr>
        <p:spPr>
          <a:xfrm>
            <a:off x="2983120" y="5504571"/>
            <a:ext cx="8600000" cy="2800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41" name="Fill 2">
            <a:extLst>
              <a:ext uri="{FF2B5EF4-FFF2-40B4-BE49-F238E27FC236}">
                <a16:creationId xmlns:a16="http://schemas.microsoft.com/office/drawing/2014/main" id="{DF87FBBE-D414-3C89-4040-E19FEC6FDF70}"/>
              </a:ext>
            </a:extLst>
          </p:cNvPr>
          <p:cNvSpPr/>
          <p:nvPr/>
        </p:nvSpPr>
        <p:spPr>
          <a:xfrm>
            <a:off x="2983120" y="5504571"/>
            <a:ext cx="6020000" cy="280000"/>
          </a:xfrm>
          <a:prstGeom prst="roundRect">
            <a:avLst>
              <a:gd name="adj" fmla="val 50000"/>
            </a:avLst>
          </a:prstGeom>
          <a:solidFill>
            <a:srgbClr val="FBCC58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4" name="S07_SECTION_LABEL">
            <a:extLst>
              <a:ext uri="{FF2B5EF4-FFF2-40B4-BE49-F238E27FC236}">
                <a16:creationId xmlns:a16="http://schemas.microsoft.com/office/drawing/2014/main" id="{39357F2E-1F5C-7F78-CD29-596FD8E62F5A}"/>
              </a:ext>
            </a:extLst>
          </p:cNvPr>
          <p:cNvSpPr/>
          <p:nvPr/>
        </p:nvSpPr>
        <p:spPr>
          <a:xfrm>
            <a:off x="393633" y="3059254"/>
            <a:ext cx="11189487" cy="42010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prstDash val="solid"/>
          </a:ln>
        </p:spPr>
        <p:txBody>
          <a:bodyPr anchor="ctr" anchorCtr="0"/>
          <a:lstStyle/>
          <a:p>
            <a:pPr algn="ctr"/>
            <a:r>
              <a:rPr lang="en-US" sz="1200" b="1" i="1" dirty="0">
                <a:solidFill>
                  <a:schemeClr val="accent6"/>
                </a:solidFill>
                <a:ea typeface="Calibri" pitchFamily="34" charset="-122"/>
                <a:cs typeface="Calibri" pitchFamily="34" charset="-120"/>
              </a:rPr>
              <a:t>Texte</a:t>
            </a:r>
            <a:endParaRPr lang="en-US" sz="1200" b="1" dirty="0">
              <a:solidFill>
                <a:schemeClr val="accent6"/>
              </a:solidFill>
            </a:endParaRPr>
          </a:p>
        </p:txBody>
      </p:sp>
      <p:sp>
        <p:nvSpPr>
          <p:cNvPr id="20" name="S07_TAKEAWAY">
            <a:extLst>
              <a:ext uri="{FF2B5EF4-FFF2-40B4-BE49-F238E27FC236}">
                <a16:creationId xmlns:a16="http://schemas.microsoft.com/office/drawing/2014/main" id="{D3AF6742-457B-127B-3549-D2D09D2A83C6}"/>
              </a:ext>
            </a:extLst>
          </p:cNvPr>
          <p:cNvSpPr/>
          <p:nvPr/>
        </p:nvSpPr>
        <p:spPr>
          <a:xfrm>
            <a:off x="393634" y="6074571"/>
            <a:ext cx="11413297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hade val="30000"/>
                  <a:satMod val="115000"/>
                </a:srgbClr>
              </a:gs>
              <a:gs pos="50000">
                <a:srgbClr val="A25871">
                  <a:shade val="67500"/>
                  <a:satMod val="115000"/>
                </a:srgbClr>
              </a:gs>
              <a:gs pos="100000">
                <a:srgbClr val="A25871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599" b="1" dirty="0" err="1"/>
              <a:t>Take</a:t>
            </a:r>
            <a:r>
              <a:rPr lang="fr-FR" sz="1599" b="1" dirty="0"/>
              <a:t> </a:t>
            </a:r>
            <a:r>
              <a:rPr lang="fr-FR" sz="1599" b="1" dirty="0" err="1"/>
              <a:t>away</a:t>
            </a:r>
            <a:endParaRPr lang="fr-FR" sz="1599" b="1" dirty="0"/>
          </a:p>
        </p:txBody>
      </p:sp>
      <p:sp>
        <p:nvSpPr>
          <p:cNvPr id="2" name="S07_KPI_1_SUBLABEL">
            <a:extLst>
              <a:ext uri="{FF2B5EF4-FFF2-40B4-BE49-F238E27FC236}">
                <a16:creationId xmlns:a16="http://schemas.microsoft.com/office/drawing/2014/main" id="{A908C4CE-9F79-AE01-F82A-D9CB927A6108}"/>
              </a:ext>
            </a:extLst>
          </p:cNvPr>
          <p:cNvSpPr txBox="1"/>
          <p:nvPr/>
        </p:nvSpPr>
        <p:spPr>
          <a:xfrm>
            <a:off x="956726" y="2284288"/>
            <a:ext cx="588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solidFill>
                  <a:srgbClr val="474E67"/>
                </a:solidFill>
              </a:rPr>
              <a:t>xxx</a:t>
            </a:r>
          </a:p>
        </p:txBody>
      </p:sp>
      <p:sp>
        <p:nvSpPr>
          <p:cNvPr id="22" name="S07_KPI_2_SUBLABEL">
            <a:extLst>
              <a:ext uri="{FF2B5EF4-FFF2-40B4-BE49-F238E27FC236}">
                <a16:creationId xmlns:a16="http://schemas.microsoft.com/office/drawing/2014/main" id="{A1185426-B23A-D93E-57B0-5D10FE240567}"/>
              </a:ext>
            </a:extLst>
          </p:cNvPr>
          <p:cNvSpPr txBox="1"/>
          <p:nvPr/>
        </p:nvSpPr>
        <p:spPr>
          <a:xfrm>
            <a:off x="2868670" y="2284288"/>
            <a:ext cx="588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solidFill>
                  <a:srgbClr val="474E67"/>
                </a:solidFill>
              </a:rPr>
              <a:t>xxx</a:t>
            </a:r>
          </a:p>
        </p:txBody>
      </p:sp>
      <p:sp>
        <p:nvSpPr>
          <p:cNvPr id="23" name="S07_KPI_3_SUBLABEL">
            <a:extLst>
              <a:ext uri="{FF2B5EF4-FFF2-40B4-BE49-F238E27FC236}">
                <a16:creationId xmlns:a16="http://schemas.microsoft.com/office/drawing/2014/main" id="{1F8BFFC6-BB95-7527-2783-EA20018297E5}"/>
              </a:ext>
            </a:extLst>
          </p:cNvPr>
          <p:cNvSpPr txBox="1"/>
          <p:nvPr/>
        </p:nvSpPr>
        <p:spPr>
          <a:xfrm>
            <a:off x="4748670" y="2284288"/>
            <a:ext cx="588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solidFill>
                  <a:srgbClr val="474E67"/>
                </a:solidFill>
              </a:rPr>
              <a:t>xxx</a:t>
            </a:r>
          </a:p>
        </p:txBody>
      </p:sp>
      <p:sp>
        <p:nvSpPr>
          <p:cNvPr id="26" name="S07_KPI_4_SUBLABEL">
            <a:extLst>
              <a:ext uri="{FF2B5EF4-FFF2-40B4-BE49-F238E27FC236}">
                <a16:creationId xmlns:a16="http://schemas.microsoft.com/office/drawing/2014/main" id="{72E44DB9-5BC3-A39B-F418-B60CBB1B9B1D}"/>
              </a:ext>
            </a:extLst>
          </p:cNvPr>
          <p:cNvSpPr txBox="1"/>
          <p:nvPr/>
        </p:nvSpPr>
        <p:spPr>
          <a:xfrm>
            <a:off x="6633576" y="2284288"/>
            <a:ext cx="588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solidFill>
                  <a:srgbClr val="474E67"/>
                </a:solidFill>
              </a:rPr>
              <a:t>xxx</a:t>
            </a:r>
          </a:p>
        </p:txBody>
      </p:sp>
      <p:sp>
        <p:nvSpPr>
          <p:cNvPr id="42" name="S07_KPI_5_SUBLABEL">
            <a:extLst>
              <a:ext uri="{FF2B5EF4-FFF2-40B4-BE49-F238E27FC236}">
                <a16:creationId xmlns:a16="http://schemas.microsoft.com/office/drawing/2014/main" id="{1FDAEC1E-8644-E4BE-7691-4DC8F534B17B}"/>
              </a:ext>
            </a:extLst>
          </p:cNvPr>
          <p:cNvSpPr txBox="1"/>
          <p:nvPr/>
        </p:nvSpPr>
        <p:spPr>
          <a:xfrm>
            <a:off x="8508670" y="2284288"/>
            <a:ext cx="588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solidFill>
                  <a:srgbClr val="474E67"/>
                </a:solidFill>
              </a:rPr>
              <a:t>xxx</a:t>
            </a:r>
          </a:p>
        </p:txBody>
      </p:sp>
      <p:sp>
        <p:nvSpPr>
          <p:cNvPr id="43" name="S07_KPI_6_SUBLABEL">
            <a:extLst>
              <a:ext uri="{FF2B5EF4-FFF2-40B4-BE49-F238E27FC236}">
                <a16:creationId xmlns:a16="http://schemas.microsoft.com/office/drawing/2014/main" id="{86C8CAD5-2B9B-7F44-1839-741C9C6452DD}"/>
              </a:ext>
            </a:extLst>
          </p:cNvPr>
          <p:cNvSpPr txBox="1"/>
          <p:nvPr/>
        </p:nvSpPr>
        <p:spPr>
          <a:xfrm>
            <a:off x="10388670" y="2284288"/>
            <a:ext cx="588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solidFill>
                  <a:srgbClr val="474E67"/>
                </a:solidFill>
              </a:rPr>
              <a:t>xxx</a:t>
            </a:r>
          </a:p>
        </p:txBody>
      </p:sp>
      <p:sp>
        <p:nvSpPr>
          <p:cNvPr id="47" name="S07_KPI_1_LABEL">
            <a:extLst>
              <a:ext uri="{FF2B5EF4-FFF2-40B4-BE49-F238E27FC236}">
                <a16:creationId xmlns:a16="http://schemas.microsoft.com/office/drawing/2014/main" id="{1BF2E058-8104-9017-14FB-0FEB4C802CF6}"/>
              </a:ext>
            </a:extLst>
          </p:cNvPr>
          <p:cNvSpPr txBox="1"/>
          <p:nvPr/>
        </p:nvSpPr>
        <p:spPr>
          <a:xfrm>
            <a:off x="421527" y="1719758"/>
            <a:ext cx="1728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3600" b="1" dirty="0">
                <a:solidFill>
                  <a:srgbClr val="484C6A"/>
                </a:solidFill>
              </a:rPr>
              <a:t>KPI1</a:t>
            </a:r>
          </a:p>
        </p:txBody>
      </p:sp>
      <p:sp>
        <p:nvSpPr>
          <p:cNvPr id="48" name="S07_KPI_2_LABEL">
            <a:extLst>
              <a:ext uri="{FF2B5EF4-FFF2-40B4-BE49-F238E27FC236}">
                <a16:creationId xmlns:a16="http://schemas.microsoft.com/office/drawing/2014/main" id="{32C80643-730D-1853-D941-58610A54033F}"/>
              </a:ext>
            </a:extLst>
          </p:cNvPr>
          <p:cNvSpPr txBox="1"/>
          <p:nvPr/>
        </p:nvSpPr>
        <p:spPr>
          <a:xfrm>
            <a:off x="2293527" y="1719758"/>
            <a:ext cx="1728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3600" b="1" dirty="0">
                <a:solidFill>
                  <a:srgbClr val="6A5D79"/>
                </a:solidFill>
              </a:rPr>
              <a:t>KPI2</a:t>
            </a:r>
          </a:p>
        </p:txBody>
      </p:sp>
      <p:sp>
        <p:nvSpPr>
          <p:cNvPr id="49" name="S07_KPI_3_LABEL">
            <a:extLst>
              <a:ext uri="{FF2B5EF4-FFF2-40B4-BE49-F238E27FC236}">
                <a16:creationId xmlns:a16="http://schemas.microsoft.com/office/drawing/2014/main" id="{F4AA0334-6515-482E-4320-67D23FA5D33B}"/>
              </a:ext>
            </a:extLst>
          </p:cNvPr>
          <p:cNvSpPr txBox="1"/>
          <p:nvPr/>
        </p:nvSpPr>
        <p:spPr>
          <a:xfrm>
            <a:off x="4179120" y="1719758"/>
            <a:ext cx="1728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3600" b="1" dirty="0">
                <a:solidFill>
                  <a:srgbClr val="A25871"/>
                </a:solidFill>
              </a:rPr>
              <a:t>KPI3</a:t>
            </a:r>
          </a:p>
        </p:txBody>
      </p:sp>
      <p:sp>
        <p:nvSpPr>
          <p:cNvPr id="50" name="S07_KPI_4_LABEL">
            <a:extLst>
              <a:ext uri="{FF2B5EF4-FFF2-40B4-BE49-F238E27FC236}">
                <a16:creationId xmlns:a16="http://schemas.microsoft.com/office/drawing/2014/main" id="{F4242099-0271-0943-A7EE-9D4CF5F356D6}"/>
              </a:ext>
            </a:extLst>
          </p:cNvPr>
          <p:cNvSpPr txBox="1"/>
          <p:nvPr/>
        </p:nvSpPr>
        <p:spPr>
          <a:xfrm>
            <a:off x="6059120" y="1719758"/>
            <a:ext cx="1728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3600" b="1" dirty="0">
                <a:solidFill>
                  <a:srgbClr val="D4737A"/>
                </a:solidFill>
              </a:rPr>
              <a:t>KPI4</a:t>
            </a:r>
          </a:p>
        </p:txBody>
      </p:sp>
      <p:sp>
        <p:nvSpPr>
          <p:cNvPr id="51" name="S07_KPI_5_LABEL">
            <a:extLst>
              <a:ext uri="{FF2B5EF4-FFF2-40B4-BE49-F238E27FC236}">
                <a16:creationId xmlns:a16="http://schemas.microsoft.com/office/drawing/2014/main" id="{B9612B2D-7171-9A33-56B1-05D25C3B1BE5}"/>
              </a:ext>
            </a:extLst>
          </p:cNvPr>
          <p:cNvSpPr txBox="1"/>
          <p:nvPr/>
        </p:nvSpPr>
        <p:spPr>
          <a:xfrm>
            <a:off x="7939120" y="1719758"/>
            <a:ext cx="1728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3600" b="1" dirty="0">
                <a:solidFill>
                  <a:srgbClr val="FDA85B"/>
                </a:solidFill>
              </a:rPr>
              <a:t>KPI5</a:t>
            </a:r>
          </a:p>
        </p:txBody>
      </p:sp>
      <p:sp>
        <p:nvSpPr>
          <p:cNvPr id="54" name="S07_KPI_6_LABEL">
            <a:extLst>
              <a:ext uri="{FF2B5EF4-FFF2-40B4-BE49-F238E27FC236}">
                <a16:creationId xmlns:a16="http://schemas.microsoft.com/office/drawing/2014/main" id="{0838BC1D-96F4-7FF9-9817-74D3BCC70FEA}"/>
              </a:ext>
            </a:extLst>
          </p:cNvPr>
          <p:cNvSpPr txBox="1"/>
          <p:nvPr/>
        </p:nvSpPr>
        <p:spPr>
          <a:xfrm>
            <a:off x="9819120" y="1719758"/>
            <a:ext cx="1728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3600" b="1" dirty="0">
                <a:solidFill>
                  <a:srgbClr val="FBCC58"/>
                </a:solidFill>
              </a:rPr>
              <a:t>KPI6</a:t>
            </a:r>
          </a:p>
        </p:txBody>
      </p:sp>
    </p:spTree>
    <p:extLst>
      <p:ext uri="{BB962C8B-B14F-4D97-AF65-F5344CB8AC3E}">
        <p14:creationId xmlns:p14="http://schemas.microsoft.com/office/powerpoint/2010/main" val="2265733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8_TITLE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Comparatif quantitatif</a:t>
            </a:r>
            <a:endParaRPr lang="fr-FR" sz="2930" b="1" dirty="0">
              <a:solidFill>
                <a:srgbClr val="474A69"/>
              </a:solidFill>
              <a:latin typeface="Segoe UI Black"/>
            </a:endParaRPr>
          </a:p>
        </p:txBody>
      </p:sp>
      <p:sp>
        <p:nvSpPr>
          <p:cNvPr id="62" name="S08_SUBTITLE"/>
          <p:cNvSpPr txBox="1"/>
          <p:nvPr/>
        </p:nvSpPr>
        <p:spPr>
          <a:xfrm>
            <a:off x="389352" y="1455219"/>
            <a:ext cx="11413296" cy="350000"/>
          </a:xfrm>
          <a:prstGeom prst="rect">
            <a:avLst/>
          </a:prstGeom>
          <a:noFill/>
        </p:spPr>
        <p:txBody>
          <a:bodyPr lIns="0" anchor="ctr"/>
          <a:lstStyle/>
          <a:p>
            <a:r>
              <a:rPr lang="fr-FR" sz="2130" b="1" dirty="0">
                <a:solidFill>
                  <a:srgbClr val="685D79"/>
                </a:solidFill>
                <a:latin typeface="Segoe UI Black"/>
              </a:rPr>
              <a:t>Titre</a:t>
            </a:r>
          </a:p>
        </p:txBody>
      </p:sp>
      <p:sp>
        <p:nvSpPr>
          <p:cNvPr id="63" name="LegendPer"/>
          <p:cNvSpPr/>
          <p:nvPr/>
        </p:nvSpPr>
        <p:spPr>
          <a:xfrm>
            <a:off x="7500000" y="2230566"/>
            <a:ext cx="280000" cy="280000"/>
          </a:xfrm>
          <a:prstGeom prst="rect">
            <a:avLst/>
          </a:prstGeom>
          <a:solidFill>
            <a:srgbClr val="D5B3BE"/>
          </a:solidFill>
          <a:ln>
            <a:noFill/>
          </a:ln>
        </p:spPr>
        <p:txBody>
          <a:bodyPr/>
          <a:lstStyle/>
          <a:p>
            <a:endParaRPr lang="fr-FR" dirty="0"/>
          </a:p>
        </p:txBody>
      </p:sp>
      <p:sp>
        <p:nvSpPr>
          <p:cNvPr id="64" name="S08_LEGEND_1"/>
          <p:cNvSpPr txBox="1"/>
          <p:nvPr/>
        </p:nvSpPr>
        <p:spPr>
          <a:xfrm>
            <a:off x="7850000" y="2210566"/>
            <a:ext cx="2000000" cy="320000"/>
          </a:xfrm>
          <a:prstGeom prst="rect">
            <a:avLst/>
          </a:prstGeom>
          <a:noFill/>
        </p:spPr>
        <p:txBody>
          <a:bodyPr lIns="100000" anchor="ctr"/>
          <a:lstStyle/>
          <a:p>
            <a:r>
              <a:rPr lang="fr-FR" sz="1000" dirty="0">
                <a:solidFill>
                  <a:schemeClr val="tx2"/>
                </a:solidFill>
                <a:latin typeface="Segoe UI"/>
              </a:rPr>
              <a:t>xxx</a:t>
            </a:r>
          </a:p>
        </p:txBody>
      </p:sp>
      <p:sp>
        <p:nvSpPr>
          <p:cNvPr id="65" name="LegendNonPer"/>
          <p:cNvSpPr/>
          <p:nvPr/>
        </p:nvSpPr>
        <p:spPr>
          <a:xfrm>
            <a:off x="9900000" y="2230566"/>
            <a:ext cx="280000" cy="280000"/>
          </a:xfrm>
          <a:prstGeom prst="rect">
            <a:avLst/>
          </a:prstGeom>
          <a:solidFill>
            <a:srgbClr val="FEE3CA"/>
          </a:solidFill>
          <a:ln>
            <a:noFill/>
          </a:ln>
        </p:spPr>
        <p:txBody>
          <a:bodyPr/>
          <a:lstStyle/>
          <a:p>
            <a:endParaRPr lang="fr-FR" dirty="0"/>
          </a:p>
        </p:txBody>
      </p:sp>
      <p:sp>
        <p:nvSpPr>
          <p:cNvPr id="66" name="S08_LEGEND_2"/>
          <p:cNvSpPr txBox="1"/>
          <p:nvPr/>
        </p:nvSpPr>
        <p:spPr>
          <a:xfrm>
            <a:off x="10250000" y="2210566"/>
            <a:ext cx="2000000" cy="320000"/>
          </a:xfrm>
          <a:prstGeom prst="rect">
            <a:avLst/>
          </a:prstGeom>
          <a:noFill/>
        </p:spPr>
        <p:txBody>
          <a:bodyPr lIns="100000" anchor="ctr"/>
          <a:lstStyle/>
          <a:p>
            <a:r>
              <a:rPr lang="fr-FR" sz="1000" dirty="0">
                <a:solidFill>
                  <a:schemeClr val="tx2"/>
                </a:solidFill>
                <a:latin typeface="Segoe UI"/>
              </a:rPr>
              <a:t>xxx</a:t>
            </a:r>
          </a:p>
        </p:txBody>
      </p:sp>
      <p:sp>
        <p:nvSpPr>
          <p:cNvPr id="70" name="S08_ROW_1_LABEL"/>
          <p:cNvSpPr txBox="1"/>
          <p:nvPr/>
        </p:nvSpPr>
        <p:spPr>
          <a:xfrm>
            <a:off x="389352" y="2897434"/>
            <a:ext cx="3800000" cy="350000"/>
          </a:xfrm>
          <a:prstGeom prst="rect">
            <a:avLst/>
          </a:prstGeom>
          <a:noFill/>
        </p:spPr>
        <p:txBody>
          <a:bodyPr lIns="0" anchor="ctr"/>
          <a:lstStyle/>
          <a:p>
            <a:r>
              <a:rPr lang="fr-FR" sz="1200" b="1" dirty="0">
                <a:solidFill>
                  <a:schemeClr val="accent6"/>
                </a:solidFill>
                <a:latin typeface="Segoe UI"/>
              </a:rPr>
              <a:t>xxx</a:t>
            </a:r>
          </a:p>
        </p:txBody>
      </p:sp>
      <p:sp>
        <p:nvSpPr>
          <p:cNvPr id="71" name="S08_ROW_1_VALUE_1"/>
          <p:cNvSpPr/>
          <p:nvPr/>
        </p:nvSpPr>
        <p:spPr>
          <a:xfrm>
            <a:off x="4300000" y="2917434"/>
            <a:ext cx="4400000" cy="300000"/>
          </a:xfrm>
          <a:prstGeom prst="roundRect">
            <a:avLst>
              <a:gd name="adj" fmla="val 30000"/>
            </a:avLst>
          </a:prstGeom>
          <a:solidFill>
            <a:srgbClr val="D5B3BE"/>
          </a:solidFill>
          <a:ln>
            <a:noFill/>
          </a:ln>
        </p:spPr>
        <p:txBody>
          <a:bodyPr anchor="ctr"/>
          <a:lstStyle/>
          <a:p>
            <a:pPr algn="r"/>
            <a:r>
              <a:rPr lang="fr-FR" sz="1200" b="1" dirty="0">
                <a:solidFill>
                  <a:schemeClr val="tx2"/>
                </a:solidFill>
                <a:latin typeface="Segoe UI"/>
              </a:rPr>
              <a:t>xx</a:t>
            </a:r>
          </a:p>
        </p:txBody>
      </p:sp>
      <p:sp>
        <p:nvSpPr>
          <p:cNvPr id="72" name="S08_ROW_1_VALUE_2"/>
          <p:cNvSpPr/>
          <p:nvPr/>
        </p:nvSpPr>
        <p:spPr>
          <a:xfrm>
            <a:off x="8800000" y="2917434"/>
            <a:ext cx="2640000" cy="300000"/>
          </a:xfrm>
          <a:prstGeom prst="roundRect">
            <a:avLst>
              <a:gd name="adj" fmla="val 30000"/>
            </a:avLst>
          </a:prstGeom>
          <a:solidFill>
            <a:srgbClr val="FEE3CA"/>
          </a:solidFill>
          <a:ln w="12700">
            <a:noFill/>
          </a:ln>
        </p:spPr>
        <p:txBody>
          <a:bodyPr anchor="ctr"/>
          <a:lstStyle/>
          <a:p>
            <a:pPr algn="r"/>
            <a:r>
              <a:rPr lang="fr-FR" sz="1200" b="1" dirty="0">
                <a:solidFill>
                  <a:schemeClr val="tx2"/>
                </a:solidFill>
              </a:rPr>
              <a:t>xx</a:t>
            </a:r>
          </a:p>
        </p:txBody>
      </p:sp>
      <p:sp>
        <p:nvSpPr>
          <p:cNvPr id="73" name="S08_ROW_2_LABEL"/>
          <p:cNvSpPr txBox="1"/>
          <p:nvPr/>
        </p:nvSpPr>
        <p:spPr>
          <a:xfrm>
            <a:off x="389352" y="3367434"/>
            <a:ext cx="3800000" cy="350000"/>
          </a:xfrm>
          <a:prstGeom prst="rect">
            <a:avLst/>
          </a:prstGeom>
          <a:noFill/>
        </p:spPr>
        <p:txBody>
          <a:bodyPr lIns="0" anchor="ctr"/>
          <a:lstStyle/>
          <a:p>
            <a:r>
              <a:rPr lang="fr-FR" sz="1200" b="1" dirty="0">
                <a:solidFill>
                  <a:schemeClr val="accent6"/>
                </a:solidFill>
              </a:rPr>
              <a:t>xxx</a:t>
            </a:r>
          </a:p>
        </p:txBody>
      </p:sp>
      <p:sp>
        <p:nvSpPr>
          <p:cNvPr id="74" name="S08_ROW_2_VALUE_1"/>
          <p:cNvSpPr/>
          <p:nvPr/>
        </p:nvSpPr>
        <p:spPr>
          <a:xfrm>
            <a:off x="4300000" y="3387434"/>
            <a:ext cx="3520000" cy="300000"/>
          </a:xfrm>
          <a:prstGeom prst="roundRect">
            <a:avLst>
              <a:gd name="adj" fmla="val 30000"/>
            </a:avLst>
          </a:prstGeom>
          <a:solidFill>
            <a:srgbClr val="D5B3BE"/>
          </a:solidFill>
          <a:ln>
            <a:noFill/>
          </a:ln>
        </p:spPr>
        <p:txBody>
          <a:bodyPr anchor="ctr"/>
          <a:lstStyle/>
          <a:p>
            <a:pPr algn="r"/>
            <a:r>
              <a:rPr lang="fr-FR" sz="1200" b="1" dirty="0">
                <a:solidFill>
                  <a:schemeClr val="tx2"/>
                </a:solidFill>
              </a:rPr>
              <a:t>xx</a:t>
            </a:r>
          </a:p>
        </p:txBody>
      </p:sp>
      <p:sp>
        <p:nvSpPr>
          <p:cNvPr id="75" name="S08_ROW_2_VALUE_2"/>
          <p:cNvSpPr/>
          <p:nvPr/>
        </p:nvSpPr>
        <p:spPr>
          <a:xfrm>
            <a:off x="8800000" y="3387434"/>
            <a:ext cx="1760000" cy="300000"/>
          </a:xfrm>
          <a:prstGeom prst="roundRect">
            <a:avLst>
              <a:gd name="adj" fmla="val 30000"/>
            </a:avLst>
          </a:prstGeom>
          <a:solidFill>
            <a:srgbClr val="FEE3CA"/>
          </a:solidFill>
          <a:ln w="12700">
            <a:noFill/>
          </a:ln>
        </p:spPr>
        <p:txBody>
          <a:bodyPr anchor="ctr"/>
          <a:lstStyle/>
          <a:p>
            <a:pPr algn="r"/>
            <a:r>
              <a:rPr lang="fr-FR" sz="1200" b="1" dirty="0">
                <a:solidFill>
                  <a:schemeClr val="tx2"/>
                </a:solidFill>
              </a:rPr>
              <a:t>xx</a:t>
            </a:r>
          </a:p>
        </p:txBody>
      </p:sp>
      <p:sp>
        <p:nvSpPr>
          <p:cNvPr id="76" name="S08_ROW_3_LABEL"/>
          <p:cNvSpPr txBox="1"/>
          <p:nvPr/>
        </p:nvSpPr>
        <p:spPr>
          <a:xfrm>
            <a:off x="389352" y="3837434"/>
            <a:ext cx="3800000" cy="350000"/>
          </a:xfrm>
          <a:prstGeom prst="rect">
            <a:avLst/>
          </a:prstGeom>
          <a:noFill/>
        </p:spPr>
        <p:txBody>
          <a:bodyPr lIns="0" anchor="ctr"/>
          <a:lstStyle/>
          <a:p>
            <a:r>
              <a:rPr lang="fr-FR" sz="1200" b="1" dirty="0">
                <a:solidFill>
                  <a:schemeClr val="accent6"/>
                </a:solidFill>
              </a:rPr>
              <a:t>xxx</a:t>
            </a:r>
          </a:p>
        </p:txBody>
      </p:sp>
      <p:sp>
        <p:nvSpPr>
          <p:cNvPr id="77" name="S08_ROW_3_VALUE_1"/>
          <p:cNvSpPr/>
          <p:nvPr/>
        </p:nvSpPr>
        <p:spPr>
          <a:xfrm>
            <a:off x="4300000" y="3857434"/>
            <a:ext cx="4400000" cy="300000"/>
          </a:xfrm>
          <a:prstGeom prst="roundRect">
            <a:avLst>
              <a:gd name="adj" fmla="val 30000"/>
            </a:avLst>
          </a:prstGeom>
          <a:solidFill>
            <a:srgbClr val="D5B3BE"/>
          </a:solidFill>
          <a:ln>
            <a:noFill/>
          </a:ln>
        </p:spPr>
        <p:txBody>
          <a:bodyPr anchor="ctr"/>
          <a:lstStyle/>
          <a:p>
            <a:pPr algn="r"/>
            <a:r>
              <a:rPr lang="fr-FR" sz="1200" b="1" dirty="0">
                <a:solidFill>
                  <a:schemeClr val="tx2"/>
                </a:solidFill>
              </a:rPr>
              <a:t>xx</a:t>
            </a:r>
          </a:p>
        </p:txBody>
      </p:sp>
      <p:sp>
        <p:nvSpPr>
          <p:cNvPr id="78" name="S08_ROW_3_VALUE_2"/>
          <p:cNvSpPr/>
          <p:nvPr/>
        </p:nvSpPr>
        <p:spPr>
          <a:xfrm>
            <a:off x="8800000" y="3857434"/>
            <a:ext cx="2640000" cy="300000"/>
          </a:xfrm>
          <a:prstGeom prst="roundRect">
            <a:avLst>
              <a:gd name="adj" fmla="val 30000"/>
            </a:avLst>
          </a:prstGeom>
          <a:solidFill>
            <a:srgbClr val="FEE3CA"/>
          </a:solidFill>
          <a:ln w="12700">
            <a:noFill/>
          </a:ln>
        </p:spPr>
        <p:txBody>
          <a:bodyPr anchor="ctr"/>
          <a:lstStyle/>
          <a:p>
            <a:pPr algn="r"/>
            <a:r>
              <a:rPr lang="fr-FR" sz="1200" b="1" dirty="0">
                <a:solidFill>
                  <a:schemeClr val="tx2"/>
                </a:solidFill>
              </a:rPr>
              <a:t>xx</a:t>
            </a:r>
          </a:p>
        </p:txBody>
      </p:sp>
      <p:sp>
        <p:nvSpPr>
          <p:cNvPr id="79" name="S08_ROW_4_LABEL"/>
          <p:cNvSpPr txBox="1"/>
          <p:nvPr/>
        </p:nvSpPr>
        <p:spPr>
          <a:xfrm>
            <a:off x="389352" y="4307434"/>
            <a:ext cx="3800000" cy="350000"/>
          </a:xfrm>
          <a:prstGeom prst="rect">
            <a:avLst/>
          </a:prstGeom>
          <a:noFill/>
        </p:spPr>
        <p:txBody>
          <a:bodyPr lIns="0" anchor="ctr"/>
          <a:lstStyle/>
          <a:p>
            <a:r>
              <a:rPr lang="fr-FR" sz="1200" b="1" dirty="0">
                <a:solidFill>
                  <a:schemeClr val="accent6"/>
                </a:solidFill>
              </a:rPr>
              <a:t>xxx</a:t>
            </a:r>
          </a:p>
        </p:txBody>
      </p:sp>
      <p:sp>
        <p:nvSpPr>
          <p:cNvPr id="80" name="S08_ROW_4_VALUE_1"/>
          <p:cNvSpPr/>
          <p:nvPr/>
        </p:nvSpPr>
        <p:spPr>
          <a:xfrm>
            <a:off x="4300000" y="4327434"/>
            <a:ext cx="4400000" cy="300000"/>
          </a:xfrm>
          <a:prstGeom prst="roundRect">
            <a:avLst>
              <a:gd name="adj" fmla="val 30000"/>
            </a:avLst>
          </a:prstGeom>
          <a:solidFill>
            <a:srgbClr val="D5B3BE"/>
          </a:solidFill>
          <a:ln>
            <a:noFill/>
          </a:ln>
        </p:spPr>
        <p:txBody>
          <a:bodyPr anchor="ctr"/>
          <a:lstStyle/>
          <a:p>
            <a:pPr algn="r"/>
            <a:r>
              <a:rPr lang="fr-FR" sz="1200" b="1" dirty="0">
                <a:solidFill>
                  <a:schemeClr val="tx2"/>
                </a:solidFill>
              </a:rPr>
              <a:t>xx</a:t>
            </a:r>
          </a:p>
        </p:txBody>
      </p:sp>
      <p:sp>
        <p:nvSpPr>
          <p:cNvPr id="81" name="S08_ROW_4_VALUE_2"/>
          <p:cNvSpPr/>
          <p:nvPr/>
        </p:nvSpPr>
        <p:spPr>
          <a:xfrm>
            <a:off x="8800000" y="4327434"/>
            <a:ext cx="1760000" cy="300000"/>
          </a:xfrm>
          <a:prstGeom prst="roundRect">
            <a:avLst>
              <a:gd name="adj" fmla="val 30000"/>
            </a:avLst>
          </a:prstGeom>
          <a:solidFill>
            <a:srgbClr val="FEE3CA"/>
          </a:solidFill>
          <a:ln w="12700">
            <a:noFill/>
          </a:ln>
        </p:spPr>
        <p:txBody>
          <a:bodyPr anchor="ctr"/>
          <a:lstStyle/>
          <a:p>
            <a:pPr algn="r"/>
            <a:r>
              <a:rPr lang="fr-FR" sz="1200" b="1" dirty="0">
                <a:solidFill>
                  <a:schemeClr val="tx2"/>
                </a:solidFill>
              </a:rPr>
              <a:t>xx</a:t>
            </a:r>
          </a:p>
        </p:txBody>
      </p:sp>
      <p:sp>
        <p:nvSpPr>
          <p:cNvPr id="82" name="S08_ROW_5_LABEL"/>
          <p:cNvSpPr txBox="1"/>
          <p:nvPr/>
        </p:nvSpPr>
        <p:spPr>
          <a:xfrm>
            <a:off x="389352" y="4777434"/>
            <a:ext cx="3800000" cy="350000"/>
          </a:xfrm>
          <a:prstGeom prst="rect">
            <a:avLst/>
          </a:prstGeom>
          <a:noFill/>
        </p:spPr>
        <p:txBody>
          <a:bodyPr lIns="0" anchor="ctr"/>
          <a:lstStyle/>
          <a:p>
            <a:r>
              <a:rPr lang="fr-FR" sz="1200" b="1" dirty="0">
                <a:solidFill>
                  <a:schemeClr val="accent6"/>
                </a:solidFill>
              </a:rPr>
              <a:t>xxx</a:t>
            </a:r>
          </a:p>
        </p:txBody>
      </p:sp>
      <p:sp>
        <p:nvSpPr>
          <p:cNvPr id="83" name="S08_ROW_5_VALUE_1"/>
          <p:cNvSpPr/>
          <p:nvPr/>
        </p:nvSpPr>
        <p:spPr>
          <a:xfrm>
            <a:off x="4300000" y="4797434"/>
            <a:ext cx="1760000" cy="300000"/>
          </a:xfrm>
          <a:prstGeom prst="roundRect">
            <a:avLst>
              <a:gd name="adj" fmla="val 30000"/>
            </a:avLst>
          </a:prstGeom>
          <a:solidFill>
            <a:srgbClr val="D5B3BE"/>
          </a:solidFill>
          <a:ln>
            <a:noFill/>
          </a:ln>
        </p:spPr>
        <p:txBody>
          <a:bodyPr anchor="ctr"/>
          <a:lstStyle/>
          <a:p>
            <a:pPr algn="r"/>
            <a:r>
              <a:rPr lang="fr-FR" sz="1200" b="1" dirty="0">
                <a:solidFill>
                  <a:schemeClr val="tx2"/>
                </a:solidFill>
              </a:rPr>
              <a:t>xx</a:t>
            </a:r>
          </a:p>
        </p:txBody>
      </p:sp>
      <p:sp>
        <p:nvSpPr>
          <p:cNvPr id="84" name="S08_ROW_5_VALUE_2"/>
          <p:cNvSpPr txBox="1"/>
          <p:nvPr/>
        </p:nvSpPr>
        <p:spPr>
          <a:xfrm>
            <a:off x="8800000" y="4797434"/>
            <a:ext cx="880000" cy="300000"/>
          </a:xfrm>
          <a:prstGeom prst="rect">
            <a:avLst/>
          </a:prstGeom>
          <a:solidFill>
            <a:srgbClr val="FEE3CA"/>
          </a:solidFill>
          <a:ln w="12700">
            <a:noFill/>
          </a:ln>
        </p:spPr>
        <p:txBody>
          <a:bodyPr anchor="ctr"/>
          <a:lstStyle/>
          <a:p>
            <a:pPr algn="r"/>
            <a:r>
              <a:rPr lang="fr-FR" sz="1200" b="1" dirty="0">
                <a:solidFill>
                  <a:schemeClr val="tx2"/>
                </a:solidFill>
              </a:rPr>
              <a:t>xx</a:t>
            </a:r>
          </a:p>
        </p:txBody>
      </p:sp>
      <p:sp>
        <p:nvSpPr>
          <p:cNvPr id="3" name="S08_TAKEAWAY">
            <a:extLst>
              <a:ext uri="{FF2B5EF4-FFF2-40B4-BE49-F238E27FC236}">
                <a16:creationId xmlns:a16="http://schemas.microsoft.com/office/drawing/2014/main" id="{590CA828-362B-D46E-10C4-86479E044921}"/>
              </a:ext>
            </a:extLst>
          </p:cNvPr>
          <p:cNvSpPr/>
          <p:nvPr/>
        </p:nvSpPr>
        <p:spPr>
          <a:xfrm>
            <a:off x="393634" y="6074571"/>
            <a:ext cx="11413297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hade val="30000"/>
                  <a:satMod val="115000"/>
                </a:srgbClr>
              </a:gs>
              <a:gs pos="50000">
                <a:srgbClr val="A25871">
                  <a:shade val="67500"/>
                  <a:satMod val="115000"/>
                </a:srgbClr>
              </a:gs>
              <a:gs pos="100000">
                <a:srgbClr val="A25871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599" b="1" dirty="0" err="1"/>
              <a:t>Take</a:t>
            </a:r>
            <a:r>
              <a:rPr lang="fr-FR" sz="1599" b="1" dirty="0"/>
              <a:t> </a:t>
            </a:r>
            <a:r>
              <a:rPr lang="fr-FR" sz="1599" b="1" dirty="0" err="1"/>
              <a:t>away</a:t>
            </a:r>
            <a:endParaRPr lang="fr-FR" sz="1599" b="1" dirty="0"/>
          </a:p>
        </p:txBody>
      </p:sp>
    </p:spTree>
    <p:extLst>
      <p:ext uri="{BB962C8B-B14F-4D97-AF65-F5344CB8AC3E}">
        <p14:creationId xmlns:p14="http://schemas.microsoft.com/office/powerpoint/2010/main" val="3711050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9_TITLE">
            <a:extLst>
              <a:ext uri="{FF2B5EF4-FFF2-40B4-BE49-F238E27FC236}">
                <a16:creationId xmlns:a16="http://schemas.microsoft.com/office/drawing/2014/main" id="{3D93C5DE-3115-8AA4-8B9E-A7B6D986C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Risques &amp; Opportunités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7D5D7F-D510-F204-87BC-1B3112AAC814}"/>
              </a:ext>
            </a:extLst>
          </p:cNvPr>
          <p:cNvSpPr/>
          <p:nvPr/>
        </p:nvSpPr>
        <p:spPr>
          <a:xfrm>
            <a:off x="395395" y="-1381335"/>
            <a:ext cx="855781" cy="822707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804">
              <a:defRPr/>
            </a:pPr>
            <a:endParaRPr lang="fr-FR" sz="2399" noProof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C1BB22-5266-2561-2CA3-BBA0A69F3DE9}"/>
              </a:ext>
            </a:extLst>
          </p:cNvPr>
          <p:cNvSpPr/>
          <p:nvPr/>
        </p:nvSpPr>
        <p:spPr>
          <a:xfrm>
            <a:off x="1391231" y="-1381335"/>
            <a:ext cx="855781" cy="822707"/>
          </a:xfrm>
          <a:prstGeom prst="rect">
            <a:avLst/>
          </a:prstGeom>
          <a:solidFill>
            <a:srgbClr val="BABD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804">
              <a:defRPr/>
            </a:pPr>
            <a:endParaRPr lang="fr-FR" sz="2399" noProof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D6C17F-CA9A-1448-58D5-9372D345738E}"/>
              </a:ext>
            </a:extLst>
          </p:cNvPr>
          <p:cNvSpPr/>
          <p:nvPr/>
        </p:nvSpPr>
        <p:spPr>
          <a:xfrm>
            <a:off x="2385114" y="-1381335"/>
            <a:ext cx="855781" cy="822707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804">
              <a:defRPr/>
            </a:pPr>
            <a:endParaRPr lang="fr-FR" sz="2399" noProof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02E00E-A27B-052F-9BE5-088365EDBFF7}"/>
              </a:ext>
            </a:extLst>
          </p:cNvPr>
          <p:cNvSpPr/>
          <p:nvPr/>
        </p:nvSpPr>
        <p:spPr>
          <a:xfrm>
            <a:off x="3380950" y="-1381335"/>
            <a:ext cx="855781" cy="822707"/>
          </a:xfrm>
          <a:prstGeom prst="rect">
            <a:avLst/>
          </a:prstGeom>
          <a:solidFill>
            <a:srgbClr val="BBB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804">
              <a:defRPr/>
            </a:pPr>
            <a:endParaRPr lang="fr-FR" sz="2399" noProof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F8AD35-2C82-AB34-8175-2F82DB383E1E}"/>
              </a:ext>
            </a:extLst>
          </p:cNvPr>
          <p:cNvSpPr/>
          <p:nvPr/>
        </p:nvSpPr>
        <p:spPr>
          <a:xfrm>
            <a:off x="4471683" y="-1381335"/>
            <a:ext cx="855781" cy="822707"/>
          </a:xfrm>
          <a:prstGeom prst="rect">
            <a:avLst/>
          </a:prstGeom>
          <a:solidFill>
            <a:srgbClr val="A258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804">
              <a:defRPr/>
            </a:pPr>
            <a:endParaRPr lang="fr-FR" sz="2399" noProof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3D21A60-0FA5-670D-0995-AB92CCE3B1C6}"/>
              </a:ext>
            </a:extLst>
          </p:cNvPr>
          <p:cNvSpPr/>
          <p:nvPr/>
        </p:nvSpPr>
        <p:spPr>
          <a:xfrm>
            <a:off x="5467519" y="-1381335"/>
            <a:ext cx="855781" cy="822707"/>
          </a:xfrm>
          <a:prstGeom prst="rect">
            <a:avLst/>
          </a:prstGeom>
          <a:solidFill>
            <a:srgbClr val="D5B3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804">
              <a:defRPr/>
            </a:pPr>
            <a:endParaRPr lang="fr-FR" sz="2399" noProof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00EDE92-1D71-92A5-0509-B5CFB90E8A61}"/>
              </a:ext>
            </a:extLst>
          </p:cNvPr>
          <p:cNvSpPr/>
          <p:nvPr/>
        </p:nvSpPr>
        <p:spPr>
          <a:xfrm>
            <a:off x="6461402" y="-1381335"/>
            <a:ext cx="855781" cy="822707"/>
          </a:xfrm>
          <a:prstGeom prst="rect">
            <a:avLst/>
          </a:prstGeom>
          <a:solidFill>
            <a:srgbClr val="D473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804">
              <a:defRPr/>
            </a:pPr>
            <a:endParaRPr lang="fr-FR" sz="2399" noProof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26F7D68-D027-E3CC-0D79-146C737C98B7}"/>
              </a:ext>
            </a:extLst>
          </p:cNvPr>
          <p:cNvSpPr/>
          <p:nvPr/>
        </p:nvSpPr>
        <p:spPr>
          <a:xfrm>
            <a:off x="7457239" y="-1381335"/>
            <a:ext cx="855781" cy="822707"/>
          </a:xfrm>
          <a:prstGeom prst="rect">
            <a:avLst/>
          </a:prstGeom>
          <a:solidFill>
            <a:srgbClr val="F1D3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804">
              <a:defRPr/>
            </a:pPr>
            <a:endParaRPr lang="fr-FR" sz="2399" noProof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751A65-9E83-A646-2309-A3D09F833573}"/>
              </a:ext>
            </a:extLst>
          </p:cNvPr>
          <p:cNvSpPr/>
          <p:nvPr/>
        </p:nvSpPr>
        <p:spPr>
          <a:xfrm>
            <a:off x="8479232" y="-1381335"/>
            <a:ext cx="855781" cy="822707"/>
          </a:xfrm>
          <a:prstGeom prst="rect">
            <a:avLst/>
          </a:prstGeom>
          <a:solidFill>
            <a:srgbClr val="FDA8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804">
              <a:defRPr/>
            </a:pPr>
            <a:endParaRPr lang="fr-FR" sz="2399" noProof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6C01775-5B1E-CE5F-A6CC-C0CF8B33582E}"/>
              </a:ext>
            </a:extLst>
          </p:cNvPr>
          <p:cNvSpPr/>
          <p:nvPr/>
        </p:nvSpPr>
        <p:spPr>
          <a:xfrm>
            <a:off x="9475070" y="-1381335"/>
            <a:ext cx="855781" cy="822707"/>
          </a:xfrm>
          <a:prstGeom prst="rect">
            <a:avLst/>
          </a:prstGeom>
          <a:solidFill>
            <a:srgbClr val="FEE3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804">
              <a:defRPr/>
            </a:pPr>
            <a:endParaRPr lang="fr-FR" sz="2399" noProof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F7DCB00-7122-CD3F-A12D-7ED43C9ACCF5}"/>
              </a:ext>
            </a:extLst>
          </p:cNvPr>
          <p:cNvSpPr/>
          <p:nvPr/>
        </p:nvSpPr>
        <p:spPr>
          <a:xfrm>
            <a:off x="10470906" y="-1381335"/>
            <a:ext cx="855781" cy="822707"/>
          </a:xfrm>
          <a:prstGeom prst="rect">
            <a:avLst/>
          </a:prstGeom>
          <a:solidFill>
            <a:srgbClr val="FBCC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804">
              <a:defRPr/>
            </a:pPr>
            <a:endParaRPr lang="fr-FR" sz="2399" noProof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DB0A388-992A-374E-22BE-E4F2C30E3AA0}"/>
              </a:ext>
            </a:extLst>
          </p:cNvPr>
          <p:cNvSpPr/>
          <p:nvPr/>
        </p:nvSpPr>
        <p:spPr>
          <a:xfrm>
            <a:off x="11466743" y="-1381335"/>
            <a:ext cx="855781" cy="822707"/>
          </a:xfrm>
          <a:prstGeom prst="rect">
            <a:avLst/>
          </a:prstGeom>
          <a:solidFill>
            <a:srgbClr val="FEF4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804">
              <a:defRPr/>
            </a:pPr>
            <a:endParaRPr lang="fr-FR" sz="2399" noProof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F54772C9-CF3A-81C3-5044-DCE99B9A50B9}"/>
              </a:ext>
            </a:extLst>
          </p:cNvPr>
          <p:cNvSpPr/>
          <p:nvPr/>
        </p:nvSpPr>
        <p:spPr>
          <a:xfrm>
            <a:off x="108831" y="1326243"/>
            <a:ext cx="3924000" cy="230595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7" name="S09_RISK_1_TITLE">
            <a:extLst>
              <a:ext uri="{FF2B5EF4-FFF2-40B4-BE49-F238E27FC236}">
                <a16:creationId xmlns:a16="http://schemas.microsoft.com/office/drawing/2014/main" id="{9A2F7545-F6C1-151D-A851-EE1407A5BFC2}"/>
              </a:ext>
            </a:extLst>
          </p:cNvPr>
          <p:cNvSpPr txBox="1"/>
          <p:nvPr/>
        </p:nvSpPr>
        <p:spPr>
          <a:xfrm>
            <a:off x="581692" y="1434069"/>
            <a:ext cx="33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/>
              <a:t>Non-embarquement des parties prenantes</a:t>
            </a:r>
          </a:p>
        </p:txBody>
      </p: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21ACBC8F-FD39-7FD4-2073-F0EC18E85E4C}"/>
              </a:ext>
            </a:extLst>
          </p:cNvPr>
          <p:cNvCxnSpPr>
            <a:cxnSpLocks/>
          </p:cNvCxnSpPr>
          <p:nvPr/>
        </p:nvCxnSpPr>
        <p:spPr>
          <a:xfrm>
            <a:off x="204883" y="2717800"/>
            <a:ext cx="3731896" cy="0"/>
          </a:xfrm>
          <a:prstGeom prst="line">
            <a:avLst/>
          </a:prstGeom>
          <a:ln>
            <a:solidFill>
              <a:schemeClr val="tx2">
                <a:lumMod val="20000"/>
                <a:lumOff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S09_RISK_1_ACTION_TAG">
            <a:extLst>
              <a:ext uri="{FF2B5EF4-FFF2-40B4-BE49-F238E27FC236}">
                <a16:creationId xmlns:a16="http://schemas.microsoft.com/office/drawing/2014/main" id="{BA5A66EC-CDDF-494F-DE17-EE944FAAC5ED}"/>
              </a:ext>
            </a:extLst>
          </p:cNvPr>
          <p:cNvSpPr/>
          <p:nvPr/>
        </p:nvSpPr>
        <p:spPr>
          <a:xfrm>
            <a:off x="197796" y="2785673"/>
            <a:ext cx="615950" cy="190800"/>
          </a:xfrm>
          <a:prstGeom prst="roundRect">
            <a:avLst/>
          </a:prstGeom>
          <a:solidFill>
            <a:srgbClr val="DDE7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cap="small" dirty="0">
                <a:solidFill>
                  <a:srgbClr val="8DAC95"/>
                </a:solidFill>
              </a:rPr>
              <a:t>Parade</a:t>
            </a:r>
          </a:p>
        </p:txBody>
      </p:sp>
      <p:sp>
        <p:nvSpPr>
          <p:cNvPr id="21" name="S09_RISK_1_ICON">
            <a:extLst>
              <a:ext uri="{FF2B5EF4-FFF2-40B4-BE49-F238E27FC236}">
                <a16:creationId xmlns:a16="http://schemas.microsoft.com/office/drawing/2014/main" id="{2D160227-13CA-D372-14BF-FFE0224E2078}"/>
              </a:ext>
            </a:extLst>
          </p:cNvPr>
          <p:cNvSpPr/>
          <p:nvPr/>
        </p:nvSpPr>
        <p:spPr>
          <a:xfrm>
            <a:off x="197796" y="1503112"/>
            <a:ext cx="324000" cy="360000"/>
          </a:xfrm>
          <a:prstGeom prst="roundRect">
            <a:avLst/>
          </a:prstGeom>
          <a:solidFill>
            <a:srgbClr val="BBB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6A5D79"/>
                </a:solidFill>
                <a:sym typeface="Wingdings" panose="05000000000000000000" pitchFamily="2" charset="2"/>
              </a:rPr>
              <a:t></a:t>
            </a:r>
            <a:endParaRPr lang="fr-FR" b="1" dirty="0">
              <a:solidFill>
                <a:srgbClr val="6A5D79"/>
              </a:solidFill>
            </a:endParaRPr>
          </a:p>
        </p:txBody>
      </p:sp>
      <p:sp>
        <p:nvSpPr>
          <p:cNvPr id="22" name="S09_RISK_1_LEVEL">
            <a:extLst>
              <a:ext uri="{FF2B5EF4-FFF2-40B4-BE49-F238E27FC236}">
                <a16:creationId xmlns:a16="http://schemas.microsoft.com/office/drawing/2014/main" id="{A593EED5-8753-BF08-1C6A-775E7203657B}"/>
              </a:ext>
            </a:extLst>
          </p:cNvPr>
          <p:cNvSpPr/>
          <p:nvPr/>
        </p:nvSpPr>
        <p:spPr>
          <a:xfrm>
            <a:off x="659124" y="1711068"/>
            <a:ext cx="894606" cy="190800"/>
          </a:xfrm>
          <a:prstGeom prst="roundRect">
            <a:avLst/>
          </a:prstGeom>
          <a:solidFill>
            <a:srgbClr val="FF97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fr-FR" sz="1000" cap="small" dirty="0">
                <a:solidFill>
                  <a:srgbClr val="C00000"/>
                </a:solidFill>
              </a:rPr>
              <a:t>Risque élevé</a:t>
            </a:r>
          </a:p>
        </p:txBody>
      </p:sp>
      <p:sp>
        <p:nvSpPr>
          <p:cNvPr id="23" name="S09_RISK_1_ACTION_BODY">
            <a:extLst>
              <a:ext uri="{FF2B5EF4-FFF2-40B4-BE49-F238E27FC236}">
                <a16:creationId xmlns:a16="http://schemas.microsoft.com/office/drawing/2014/main" id="{286A44DC-E91D-F784-6CC2-C9E6FE494AC1}"/>
              </a:ext>
            </a:extLst>
          </p:cNvPr>
          <p:cNvSpPr txBox="1"/>
          <p:nvPr/>
        </p:nvSpPr>
        <p:spPr>
          <a:xfrm>
            <a:off x="887635" y="2785673"/>
            <a:ext cx="3171339" cy="353943"/>
          </a:xfrm>
          <a:prstGeom prst="rect">
            <a:avLst/>
          </a:prstGeom>
          <a:noFill/>
        </p:spPr>
        <p:txBody>
          <a:bodyPr wrap="square" tIns="0" rtlCol="0">
            <a:spAutoFit/>
          </a:bodyPr>
          <a:lstStyle/>
          <a:p>
            <a:r>
              <a:rPr lang="fr-FR" sz="1000" dirty="0">
                <a:solidFill>
                  <a:schemeClr val="accent6"/>
                </a:solidFill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xxxxxxxxxxxxxxsxxxxxxxxxxxxxxxxxxxxxxxxxxxxxxxxxxxxxxxxxxxxxxxxxxxxxxx</a:t>
            </a:r>
          </a:p>
        </p:txBody>
      </p:sp>
      <p:sp>
        <p:nvSpPr>
          <p:cNvPr id="24" name="S09_RISK_1_BODY">
            <a:extLst>
              <a:ext uri="{FF2B5EF4-FFF2-40B4-BE49-F238E27FC236}">
                <a16:creationId xmlns:a16="http://schemas.microsoft.com/office/drawing/2014/main" id="{9488011C-274A-539B-402F-08C48D2907DD}"/>
              </a:ext>
            </a:extLst>
          </p:cNvPr>
          <p:cNvSpPr txBox="1"/>
          <p:nvPr/>
        </p:nvSpPr>
        <p:spPr>
          <a:xfrm>
            <a:off x="152034" y="2017000"/>
            <a:ext cx="31713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 err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xxxxxx</a:t>
            </a:r>
            <a:endParaRPr lang="fr-FR" sz="1000" dirty="0">
              <a:solidFill>
                <a:schemeClr val="tx2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Rectangle : coins arrondis 37">
            <a:extLst>
              <a:ext uri="{FF2B5EF4-FFF2-40B4-BE49-F238E27FC236}">
                <a16:creationId xmlns:a16="http://schemas.microsoft.com/office/drawing/2014/main" id="{500C7399-3FEA-E071-2BA3-A00CD438CF02}"/>
              </a:ext>
            </a:extLst>
          </p:cNvPr>
          <p:cNvSpPr/>
          <p:nvPr/>
        </p:nvSpPr>
        <p:spPr>
          <a:xfrm>
            <a:off x="4120928" y="1326243"/>
            <a:ext cx="3924000" cy="230595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S09_RISK_2_TITLE">
            <a:extLst>
              <a:ext uri="{FF2B5EF4-FFF2-40B4-BE49-F238E27FC236}">
                <a16:creationId xmlns:a16="http://schemas.microsoft.com/office/drawing/2014/main" id="{85515962-3B99-F060-42AF-8065808F55E0}"/>
              </a:ext>
            </a:extLst>
          </p:cNvPr>
          <p:cNvSpPr txBox="1"/>
          <p:nvPr/>
        </p:nvSpPr>
        <p:spPr>
          <a:xfrm>
            <a:off x="4593789" y="1434069"/>
            <a:ext cx="33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/>
              <a:t>Non-embarquement des parties prenantes</a:t>
            </a:r>
          </a:p>
        </p:txBody>
      </p:sp>
      <p:cxnSp>
        <p:nvCxnSpPr>
          <p:cNvPr id="40" name="Connecteur droit 39">
            <a:extLst>
              <a:ext uri="{FF2B5EF4-FFF2-40B4-BE49-F238E27FC236}">
                <a16:creationId xmlns:a16="http://schemas.microsoft.com/office/drawing/2014/main" id="{EAA1FA84-9244-7C08-A248-8FA8FF9F7A4E}"/>
              </a:ext>
            </a:extLst>
          </p:cNvPr>
          <p:cNvCxnSpPr>
            <a:cxnSpLocks/>
          </p:cNvCxnSpPr>
          <p:nvPr/>
        </p:nvCxnSpPr>
        <p:spPr>
          <a:xfrm>
            <a:off x="4216328" y="2717800"/>
            <a:ext cx="3733200" cy="0"/>
          </a:xfrm>
          <a:prstGeom prst="line">
            <a:avLst/>
          </a:prstGeom>
          <a:ln>
            <a:solidFill>
              <a:schemeClr val="tx2">
                <a:lumMod val="20000"/>
                <a:lumOff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S09_RISK_2_ACTION_TAG">
            <a:extLst>
              <a:ext uri="{FF2B5EF4-FFF2-40B4-BE49-F238E27FC236}">
                <a16:creationId xmlns:a16="http://schemas.microsoft.com/office/drawing/2014/main" id="{6B7792CE-EB55-03BF-9A54-BED25E260785}"/>
              </a:ext>
            </a:extLst>
          </p:cNvPr>
          <p:cNvSpPr/>
          <p:nvPr/>
        </p:nvSpPr>
        <p:spPr>
          <a:xfrm>
            <a:off x="4209893" y="2785673"/>
            <a:ext cx="615950" cy="190800"/>
          </a:xfrm>
          <a:prstGeom prst="roundRect">
            <a:avLst/>
          </a:prstGeom>
          <a:solidFill>
            <a:srgbClr val="DDE7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cap="small" dirty="0">
                <a:solidFill>
                  <a:srgbClr val="8DAC95"/>
                </a:solidFill>
              </a:rPr>
              <a:t>Parade</a:t>
            </a:r>
          </a:p>
        </p:txBody>
      </p:sp>
      <p:sp>
        <p:nvSpPr>
          <p:cNvPr id="42" name="S09_RISK_2_ICON">
            <a:extLst>
              <a:ext uri="{FF2B5EF4-FFF2-40B4-BE49-F238E27FC236}">
                <a16:creationId xmlns:a16="http://schemas.microsoft.com/office/drawing/2014/main" id="{4DBEF32C-B215-5270-9E3E-D8537A8516A3}"/>
              </a:ext>
            </a:extLst>
          </p:cNvPr>
          <p:cNvSpPr/>
          <p:nvPr/>
        </p:nvSpPr>
        <p:spPr>
          <a:xfrm>
            <a:off x="4209893" y="1503112"/>
            <a:ext cx="324000" cy="360000"/>
          </a:xfrm>
          <a:prstGeom prst="roundRect">
            <a:avLst/>
          </a:prstGeom>
          <a:solidFill>
            <a:srgbClr val="BBB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6A5D79"/>
                </a:solidFill>
                <a:sym typeface="Wingdings" panose="05000000000000000000" pitchFamily="2" charset="2"/>
              </a:rPr>
              <a:t></a:t>
            </a:r>
            <a:endParaRPr lang="fr-FR" b="1" dirty="0">
              <a:solidFill>
                <a:srgbClr val="6A5D79"/>
              </a:solidFill>
            </a:endParaRPr>
          </a:p>
        </p:txBody>
      </p:sp>
      <p:sp>
        <p:nvSpPr>
          <p:cNvPr id="43" name="S09_RISK_2_LEVEL">
            <a:extLst>
              <a:ext uri="{FF2B5EF4-FFF2-40B4-BE49-F238E27FC236}">
                <a16:creationId xmlns:a16="http://schemas.microsoft.com/office/drawing/2014/main" id="{A8BCE97B-7DC4-30AB-6435-38AC40AADC46}"/>
              </a:ext>
            </a:extLst>
          </p:cNvPr>
          <p:cNvSpPr/>
          <p:nvPr/>
        </p:nvSpPr>
        <p:spPr>
          <a:xfrm>
            <a:off x="4671221" y="1711068"/>
            <a:ext cx="894606" cy="190800"/>
          </a:xfrm>
          <a:prstGeom prst="roundRect">
            <a:avLst/>
          </a:prstGeom>
          <a:solidFill>
            <a:srgbClr val="FF97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fr-FR" sz="1000" cap="small" dirty="0">
                <a:solidFill>
                  <a:srgbClr val="C00000"/>
                </a:solidFill>
              </a:rPr>
              <a:t>Risque élevé</a:t>
            </a:r>
          </a:p>
        </p:txBody>
      </p:sp>
      <p:sp>
        <p:nvSpPr>
          <p:cNvPr id="44" name="S09_RISK_2_ACTION_BODY">
            <a:extLst>
              <a:ext uri="{FF2B5EF4-FFF2-40B4-BE49-F238E27FC236}">
                <a16:creationId xmlns:a16="http://schemas.microsoft.com/office/drawing/2014/main" id="{87881A28-1116-594F-E0D8-33B8E123B7FF}"/>
              </a:ext>
            </a:extLst>
          </p:cNvPr>
          <p:cNvSpPr txBox="1"/>
          <p:nvPr/>
        </p:nvSpPr>
        <p:spPr>
          <a:xfrm>
            <a:off x="4899732" y="2785673"/>
            <a:ext cx="3171339" cy="353943"/>
          </a:xfrm>
          <a:prstGeom prst="rect">
            <a:avLst/>
          </a:prstGeom>
          <a:noFill/>
        </p:spPr>
        <p:txBody>
          <a:bodyPr wrap="square" tIns="0" rtlCol="0">
            <a:spAutoFit/>
          </a:bodyPr>
          <a:lstStyle/>
          <a:p>
            <a:r>
              <a:rPr lang="fr-FR" sz="1000" dirty="0">
                <a:solidFill>
                  <a:schemeClr val="accent6"/>
                </a:solidFill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xxxxxxxxxxxxxxxxxxxxxxxxxxxxxxxxxxxxxxxxxxxxxxxxxxxxxxxxxxxxxxxxxxxxx</a:t>
            </a:r>
          </a:p>
        </p:txBody>
      </p:sp>
      <p:sp>
        <p:nvSpPr>
          <p:cNvPr id="45" name="S09_RISK_2_BODY">
            <a:extLst>
              <a:ext uri="{FF2B5EF4-FFF2-40B4-BE49-F238E27FC236}">
                <a16:creationId xmlns:a16="http://schemas.microsoft.com/office/drawing/2014/main" id="{F4E58941-99C7-11CC-B257-6D950FD719B2}"/>
              </a:ext>
            </a:extLst>
          </p:cNvPr>
          <p:cNvSpPr txBox="1"/>
          <p:nvPr/>
        </p:nvSpPr>
        <p:spPr>
          <a:xfrm>
            <a:off x="4164131" y="2017000"/>
            <a:ext cx="31713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 err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xxxxxx</a:t>
            </a:r>
            <a:endParaRPr lang="fr-FR" sz="1000" dirty="0">
              <a:solidFill>
                <a:schemeClr val="tx2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7" name="Rectangle : coins arrondis 46">
            <a:extLst>
              <a:ext uri="{FF2B5EF4-FFF2-40B4-BE49-F238E27FC236}">
                <a16:creationId xmlns:a16="http://schemas.microsoft.com/office/drawing/2014/main" id="{0C0C7E83-9CD6-7E51-F6A0-D80B2F5AF823}"/>
              </a:ext>
            </a:extLst>
          </p:cNvPr>
          <p:cNvSpPr/>
          <p:nvPr/>
        </p:nvSpPr>
        <p:spPr>
          <a:xfrm>
            <a:off x="8133026" y="1326243"/>
            <a:ext cx="3924000" cy="230595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8" name="S09_RISK_3_TITLE">
            <a:extLst>
              <a:ext uri="{FF2B5EF4-FFF2-40B4-BE49-F238E27FC236}">
                <a16:creationId xmlns:a16="http://schemas.microsoft.com/office/drawing/2014/main" id="{1C921B4A-DF6F-E558-4370-10E6A76965DD}"/>
              </a:ext>
            </a:extLst>
          </p:cNvPr>
          <p:cNvSpPr txBox="1"/>
          <p:nvPr/>
        </p:nvSpPr>
        <p:spPr>
          <a:xfrm>
            <a:off x="8605887" y="1434069"/>
            <a:ext cx="33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/>
              <a:t>Non-embarquement des parties prenantes</a:t>
            </a:r>
          </a:p>
        </p:txBody>
      </p:sp>
      <p:cxnSp>
        <p:nvCxnSpPr>
          <p:cNvPr id="49" name="Connecteur droit 48">
            <a:extLst>
              <a:ext uri="{FF2B5EF4-FFF2-40B4-BE49-F238E27FC236}">
                <a16:creationId xmlns:a16="http://schemas.microsoft.com/office/drawing/2014/main" id="{F2356C31-443C-1E81-F771-9D200F336C0D}"/>
              </a:ext>
            </a:extLst>
          </p:cNvPr>
          <p:cNvCxnSpPr>
            <a:cxnSpLocks/>
          </p:cNvCxnSpPr>
          <p:nvPr/>
        </p:nvCxnSpPr>
        <p:spPr>
          <a:xfrm>
            <a:off x="8228426" y="2717800"/>
            <a:ext cx="3733200" cy="0"/>
          </a:xfrm>
          <a:prstGeom prst="line">
            <a:avLst/>
          </a:prstGeom>
          <a:ln>
            <a:solidFill>
              <a:schemeClr val="tx2">
                <a:lumMod val="20000"/>
                <a:lumOff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S09_RISK_3_ACTION_TAG">
            <a:extLst>
              <a:ext uri="{FF2B5EF4-FFF2-40B4-BE49-F238E27FC236}">
                <a16:creationId xmlns:a16="http://schemas.microsoft.com/office/drawing/2014/main" id="{5E1E4C8E-38B3-FD95-3DCB-BF0A112181A6}"/>
              </a:ext>
            </a:extLst>
          </p:cNvPr>
          <p:cNvSpPr/>
          <p:nvPr/>
        </p:nvSpPr>
        <p:spPr>
          <a:xfrm>
            <a:off x="8221991" y="2785673"/>
            <a:ext cx="615950" cy="190800"/>
          </a:xfrm>
          <a:prstGeom prst="roundRect">
            <a:avLst/>
          </a:prstGeom>
          <a:solidFill>
            <a:srgbClr val="DDE7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cap="small" dirty="0">
                <a:solidFill>
                  <a:srgbClr val="8DAC95"/>
                </a:solidFill>
              </a:rPr>
              <a:t>Parade</a:t>
            </a:r>
          </a:p>
        </p:txBody>
      </p:sp>
      <p:sp>
        <p:nvSpPr>
          <p:cNvPr id="51" name="S09_RISK_3_ICON">
            <a:extLst>
              <a:ext uri="{FF2B5EF4-FFF2-40B4-BE49-F238E27FC236}">
                <a16:creationId xmlns:a16="http://schemas.microsoft.com/office/drawing/2014/main" id="{365A26F0-43B5-DB91-B8BA-7403F9CCBF8A}"/>
              </a:ext>
            </a:extLst>
          </p:cNvPr>
          <p:cNvSpPr/>
          <p:nvPr/>
        </p:nvSpPr>
        <p:spPr>
          <a:xfrm>
            <a:off x="8221991" y="1503112"/>
            <a:ext cx="324000" cy="360000"/>
          </a:xfrm>
          <a:prstGeom prst="roundRect">
            <a:avLst/>
          </a:prstGeom>
          <a:solidFill>
            <a:srgbClr val="BBB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6A5D79"/>
                </a:solidFill>
                <a:sym typeface="Wingdings" panose="05000000000000000000" pitchFamily="2" charset="2"/>
              </a:rPr>
              <a:t></a:t>
            </a:r>
            <a:endParaRPr lang="fr-FR" b="1" dirty="0">
              <a:solidFill>
                <a:srgbClr val="6A5D79"/>
              </a:solidFill>
            </a:endParaRPr>
          </a:p>
        </p:txBody>
      </p:sp>
      <p:sp>
        <p:nvSpPr>
          <p:cNvPr id="52" name="S09_RISK_3_LEVEL">
            <a:extLst>
              <a:ext uri="{FF2B5EF4-FFF2-40B4-BE49-F238E27FC236}">
                <a16:creationId xmlns:a16="http://schemas.microsoft.com/office/drawing/2014/main" id="{8B55C528-4979-A76F-A303-2BD99E2A3F99}"/>
              </a:ext>
            </a:extLst>
          </p:cNvPr>
          <p:cNvSpPr/>
          <p:nvPr/>
        </p:nvSpPr>
        <p:spPr>
          <a:xfrm>
            <a:off x="8683319" y="1711068"/>
            <a:ext cx="894606" cy="190800"/>
          </a:xfrm>
          <a:prstGeom prst="roundRect">
            <a:avLst/>
          </a:prstGeom>
          <a:solidFill>
            <a:srgbClr val="FEE3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fr-FR" sz="1000" cap="small" dirty="0">
                <a:solidFill>
                  <a:srgbClr val="FDA85B"/>
                </a:solidFill>
              </a:rPr>
              <a:t>Risque moyen</a:t>
            </a:r>
          </a:p>
        </p:txBody>
      </p:sp>
      <p:sp>
        <p:nvSpPr>
          <p:cNvPr id="53" name="S09_RISK_3_ACTION_BODY">
            <a:extLst>
              <a:ext uri="{FF2B5EF4-FFF2-40B4-BE49-F238E27FC236}">
                <a16:creationId xmlns:a16="http://schemas.microsoft.com/office/drawing/2014/main" id="{7FF91803-5AD8-1636-EE00-0540350B1D66}"/>
              </a:ext>
            </a:extLst>
          </p:cNvPr>
          <p:cNvSpPr txBox="1"/>
          <p:nvPr/>
        </p:nvSpPr>
        <p:spPr>
          <a:xfrm>
            <a:off x="8911830" y="2785673"/>
            <a:ext cx="3171339" cy="353943"/>
          </a:xfrm>
          <a:prstGeom prst="rect">
            <a:avLst/>
          </a:prstGeom>
          <a:noFill/>
        </p:spPr>
        <p:txBody>
          <a:bodyPr wrap="square" tIns="0" rtlCol="0">
            <a:spAutoFit/>
          </a:bodyPr>
          <a:lstStyle/>
          <a:p>
            <a:r>
              <a:rPr lang="fr-FR" sz="1000" dirty="0">
                <a:solidFill>
                  <a:schemeClr val="accent6"/>
                </a:solidFill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xxxxxxxxxxxxxxxxxxxxxxxxxxxxxxxxxxxxxxxxxxxxxxxxxxxxxxxxxxxxxxxxxxxxxs</a:t>
            </a:r>
          </a:p>
        </p:txBody>
      </p:sp>
      <p:sp>
        <p:nvSpPr>
          <p:cNvPr id="54" name="S09_RISK_3_BODY">
            <a:extLst>
              <a:ext uri="{FF2B5EF4-FFF2-40B4-BE49-F238E27FC236}">
                <a16:creationId xmlns:a16="http://schemas.microsoft.com/office/drawing/2014/main" id="{04EB4915-234A-EC6B-892E-36916E7E1FE6}"/>
              </a:ext>
            </a:extLst>
          </p:cNvPr>
          <p:cNvSpPr txBox="1"/>
          <p:nvPr/>
        </p:nvSpPr>
        <p:spPr>
          <a:xfrm>
            <a:off x="8176229" y="2017000"/>
            <a:ext cx="31713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 err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xxxxxx</a:t>
            </a:r>
            <a:endParaRPr lang="fr-FR" sz="1000" dirty="0">
              <a:solidFill>
                <a:schemeClr val="tx2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9" name="Rectangle : coins arrondis 58">
            <a:extLst>
              <a:ext uri="{FF2B5EF4-FFF2-40B4-BE49-F238E27FC236}">
                <a16:creationId xmlns:a16="http://schemas.microsoft.com/office/drawing/2014/main" id="{B668AC00-89D0-E8BA-1AB6-A698A942B4AB}"/>
              </a:ext>
            </a:extLst>
          </p:cNvPr>
          <p:cNvSpPr/>
          <p:nvPr/>
        </p:nvSpPr>
        <p:spPr>
          <a:xfrm>
            <a:off x="108831" y="3802743"/>
            <a:ext cx="3924000" cy="230595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0" name="S09_OPP_1_TITLE">
            <a:extLst>
              <a:ext uri="{FF2B5EF4-FFF2-40B4-BE49-F238E27FC236}">
                <a16:creationId xmlns:a16="http://schemas.microsoft.com/office/drawing/2014/main" id="{7F349950-DA06-B994-2415-C38EC993BF5E}"/>
              </a:ext>
            </a:extLst>
          </p:cNvPr>
          <p:cNvSpPr txBox="1"/>
          <p:nvPr/>
        </p:nvSpPr>
        <p:spPr>
          <a:xfrm>
            <a:off x="581692" y="3910569"/>
            <a:ext cx="33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/>
              <a:t>Accostage avec un projet en cours</a:t>
            </a:r>
          </a:p>
        </p:txBody>
      </p:sp>
      <p:cxnSp>
        <p:nvCxnSpPr>
          <p:cNvPr id="61" name="Connecteur droit 60">
            <a:extLst>
              <a:ext uri="{FF2B5EF4-FFF2-40B4-BE49-F238E27FC236}">
                <a16:creationId xmlns:a16="http://schemas.microsoft.com/office/drawing/2014/main" id="{3343BE67-B8B5-27B9-F66A-624A8773C24D}"/>
              </a:ext>
            </a:extLst>
          </p:cNvPr>
          <p:cNvCxnSpPr>
            <a:cxnSpLocks/>
          </p:cNvCxnSpPr>
          <p:nvPr/>
        </p:nvCxnSpPr>
        <p:spPr>
          <a:xfrm>
            <a:off x="204231" y="5194300"/>
            <a:ext cx="3733200" cy="0"/>
          </a:xfrm>
          <a:prstGeom prst="line">
            <a:avLst/>
          </a:prstGeom>
          <a:ln>
            <a:solidFill>
              <a:schemeClr val="tx2">
                <a:lumMod val="20000"/>
                <a:lumOff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S09_OPP_1_ACTION_TAG">
            <a:extLst>
              <a:ext uri="{FF2B5EF4-FFF2-40B4-BE49-F238E27FC236}">
                <a16:creationId xmlns:a16="http://schemas.microsoft.com/office/drawing/2014/main" id="{DAA93126-D7B7-6F36-86CB-CEF7A110ED63}"/>
              </a:ext>
            </a:extLst>
          </p:cNvPr>
          <p:cNvSpPr/>
          <p:nvPr/>
        </p:nvSpPr>
        <p:spPr>
          <a:xfrm>
            <a:off x="197796" y="5262173"/>
            <a:ext cx="615950" cy="190800"/>
          </a:xfrm>
          <a:prstGeom prst="roundRect">
            <a:avLst/>
          </a:prstGeom>
          <a:solidFill>
            <a:srgbClr val="DDE7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cap="small" dirty="0">
                <a:solidFill>
                  <a:srgbClr val="8DAC95"/>
                </a:solidFill>
              </a:rPr>
              <a:t>Levier</a:t>
            </a:r>
          </a:p>
        </p:txBody>
      </p:sp>
      <p:sp>
        <p:nvSpPr>
          <p:cNvPr id="63" name="S09_OPP_1_ICON">
            <a:extLst>
              <a:ext uri="{FF2B5EF4-FFF2-40B4-BE49-F238E27FC236}">
                <a16:creationId xmlns:a16="http://schemas.microsoft.com/office/drawing/2014/main" id="{D7879AD0-BF17-ACBF-3296-23901CB79778}"/>
              </a:ext>
            </a:extLst>
          </p:cNvPr>
          <p:cNvSpPr/>
          <p:nvPr/>
        </p:nvSpPr>
        <p:spPr>
          <a:xfrm>
            <a:off x="197796" y="3979612"/>
            <a:ext cx="324000" cy="360000"/>
          </a:xfrm>
          <a:prstGeom prst="roundRect">
            <a:avLst/>
          </a:prstGeom>
          <a:solidFill>
            <a:srgbClr val="FEF4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FBCC58"/>
                </a:solidFill>
                <a:sym typeface="Wingdings" panose="05000000000000000000" pitchFamily="2" charset="2"/>
              </a:rPr>
              <a:t></a:t>
            </a:r>
            <a:endParaRPr lang="fr-FR" b="1" dirty="0">
              <a:solidFill>
                <a:srgbClr val="FBCC58"/>
              </a:solidFill>
            </a:endParaRPr>
          </a:p>
        </p:txBody>
      </p:sp>
      <p:sp>
        <p:nvSpPr>
          <p:cNvPr id="64" name="S09_OPP_1_LEVEL">
            <a:extLst>
              <a:ext uri="{FF2B5EF4-FFF2-40B4-BE49-F238E27FC236}">
                <a16:creationId xmlns:a16="http://schemas.microsoft.com/office/drawing/2014/main" id="{E3973406-FCA3-53BC-C7C7-1AE3C38F1F81}"/>
              </a:ext>
            </a:extLst>
          </p:cNvPr>
          <p:cNvSpPr/>
          <p:nvPr/>
        </p:nvSpPr>
        <p:spPr>
          <a:xfrm>
            <a:off x="659124" y="4187568"/>
            <a:ext cx="894606" cy="190800"/>
          </a:xfrm>
          <a:prstGeom prst="roundRect">
            <a:avLst/>
          </a:prstGeom>
          <a:solidFill>
            <a:srgbClr val="69FF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fr-FR" sz="1000" cap="small" dirty="0">
                <a:solidFill>
                  <a:srgbClr val="00B050"/>
                </a:solidFill>
              </a:rPr>
              <a:t>Gain élevé</a:t>
            </a:r>
          </a:p>
        </p:txBody>
      </p:sp>
      <p:sp>
        <p:nvSpPr>
          <p:cNvPr id="65" name="S09_OPP_1_ACTION_BODY">
            <a:extLst>
              <a:ext uri="{FF2B5EF4-FFF2-40B4-BE49-F238E27FC236}">
                <a16:creationId xmlns:a16="http://schemas.microsoft.com/office/drawing/2014/main" id="{52537540-902B-39D8-6435-E161631B63D4}"/>
              </a:ext>
            </a:extLst>
          </p:cNvPr>
          <p:cNvSpPr txBox="1"/>
          <p:nvPr/>
        </p:nvSpPr>
        <p:spPr>
          <a:xfrm>
            <a:off x="887635" y="5262173"/>
            <a:ext cx="3171339" cy="353943"/>
          </a:xfrm>
          <a:prstGeom prst="rect">
            <a:avLst/>
          </a:prstGeom>
          <a:noFill/>
        </p:spPr>
        <p:txBody>
          <a:bodyPr wrap="square" tIns="0" rtlCol="0">
            <a:spAutoFit/>
          </a:bodyPr>
          <a:lstStyle/>
          <a:p>
            <a:r>
              <a:rPr lang="fr-FR" sz="1000" dirty="0">
                <a:solidFill>
                  <a:schemeClr val="accent6"/>
                </a:solidFill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xxxxxxxxxxxxxxxxxxxxxxxxxxxxxxxxxxxxxxxxxxxxxxxxxxxxxxxxxxxxxxxxxxxxx</a:t>
            </a:r>
          </a:p>
        </p:txBody>
      </p:sp>
      <p:sp>
        <p:nvSpPr>
          <p:cNvPr id="66" name="S09_OPP_1_BODY">
            <a:extLst>
              <a:ext uri="{FF2B5EF4-FFF2-40B4-BE49-F238E27FC236}">
                <a16:creationId xmlns:a16="http://schemas.microsoft.com/office/drawing/2014/main" id="{73AB9A0F-028C-3CBF-6DED-AE89D7CC9B15}"/>
              </a:ext>
            </a:extLst>
          </p:cNvPr>
          <p:cNvSpPr txBox="1"/>
          <p:nvPr/>
        </p:nvSpPr>
        <p:spPr>
          <a:xfrm>
            <a:off x="152034" y="4493500"/>
            <a:ext cx="31713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 err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xxxxxx</a:t>
            </a:r>
            <a:endParaRPr lang="fr-FR" sz="1000" dirty="0">
              <a:solidFill>
                <a:schemeClr val="tx2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8" name="Rectangle : coins arrondis 67">
            <a:extLst>
              <a:ext uri="{FF2B5EF4-FFF2-40B4-BE49-F238E27FC236}">
                <a16:creationId xmlns:a16="http://schemas.microsoft.com/office/drawing/2014/main" id="{13BCC72B-A59E-85FD-AEDD-8EF2C5CB9774}"/>
              </a:ext>
            </a:extLst>
          </p:cNvPr>
          <p:cNvSpPr/>
          <p:nvPr/>
        </p:nvSpPr>
        <p:spPr>
          <a:xfrm>
            <a:off x="4120928" y="3802743"/>
            <a:ext cx="3924000" cy="230595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9" name="S09_OPP_2_TITLE">
            <a:extLst>
              <a:ext uri="{FF2B5EF4-FFF2-40B4-BE49-F238E27FC236}">
                <a16:creationId xmlns:a16="http://schemas.microsoft.com/office/drawing/2014/main" id="{F620DF6B-8036-FCCA-4B5D-B7591553BEC3}"/>
              </a:ext>
            </a:extLst>
          </p:cNvPr>
          <p:cNvSpPr txBox="1"/>
          <p:nvPr/>
        </p:nvSpPr>
        <p:spPr>
          <a:xfrm>
            <a:off x="4593789" y="3910569"/>
            <a:ext cx="33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/>
              <a:t>Accostage avec un projet en cours</a:t>
            </a:r>
          </a:p>
        </p:txBody>
      </p:sp>
      <p:cxnSp>
        <p:nvCxnSpPr>
          <p:cNvPr id="70" name="Connecteur droit 69">
            <a:extLst>
              <a:ext uri="{FF2B5EF4-FFF2-40B4-BE49-F238E27FC236}">
                <a16:creationId xmlns:a16="http://schemas.microsoft.com/office/drawing/2014/main" id="{4C9445EF-97C7-5E9D-1229-E2F0E73AB5BB}"/>
              </a:ext>
            </a:extLst>
          </p:cNvPr>
          <p:cNvCxnSpPr>
            <a:cxnSpLocks/>
          </p:cNvCxnSpPr>
          <p:nvPr/>
        </p:nvCxnSpPr>
        <p:spPr>
          <a:xfrm>
            <a:off x="4216328" y="5194300"/>
            <a:ext cx="3733200" cy="0"/>
          </a:xfrm>
          <a:prstGeom prst="line">
            <a:avLst/>
          </a:prstGeom>
          <a:ln>
            <a:solidFill>
              <a:schemeClr val="tx2">
                <a:lumMod val="20000"/>
                <a:lumOff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S09_OPP_2_ACTION_TAG">
            <a:extLst>
              <a:ext uri="{FF2B5EF4-FFF2-40B4-BE49-F238E27FC236}">
                <a16:creationId xmlns:a16="http://schemas.microsoft.com/office/drawing/2014/main" id="{D7EE1296-558D-A92C-C334-DF7AA78220C1}"/>
              </a:ext>
            </a:extLst>
          </p:cNvPr>
          <p:cNvSpPr/>
          <p:nvPr/>
        </p:nvSpPr>
        <p:spPr>
          <a:xfrm>
            <a:off x="4209893" y="5262173"/>
            <a:ext cx="615950" cy="190800"/>
          </a:xfrm>
          <a:prstGeom prst="roundRect">
            <a:avLst/>
          </a:prstGeom>
          <a:solidFill>
            <a:srgbClr val="DDE7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cap="small" dirty="0">
                <a:solidFill>
                  <a:srgbClr val="8DAC95"/>
                </a:solidFill>
              </a:rPr>
              <a:t>Levier</a:t>
            </a:r>
          </a:p>
        </p:txBody>
      </p:sp>
      <p:sp>
        <p:nvSpPr>
          <p:cNvPr id="72" name="S09_OPP_2_ICON">
            <a:extLst>
              <a:ext uri="{FF2B5EF4-FFF2-40B4-BE49-F238E27FC236}">
                <a16:creationId xmlns:a16="http://schemas.microsoft.com/office/drawing/2014/main" id="{6CB281FB-E377-46B2-DC4F-A249FE1060FE}"/>
              </a:ext>
            </a:extLst>
          </p:cNvPr>
          <p:cNvSpPr/>
          <p:nvPr/>
        </p:nvSpPr>
        <p:spPr>
          <a:xfrm>
            <a:off x="4209893" y="3979612"/>
            <a:ext cx="324000" cy="360000"/>
          </a:xfrm>
          <a:prstGeom prst="roundRect">
            <a:avLst/>
          </a:prstGeom>
          <a:solidFill>
            <a:srgbClr val="FEF4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FBCC58"/>
                </a:solidFill>
                <a:sym typeface="Wingdings" panose="05000000000000000000" pitchFamily="2" charset="2"/>
              </a:rPr>
              <a:t></a:t>
            </a:r>
            <a:endParaRPr lang="fr-FR" b="1" dirty="0">
              <a:solidFill>
                <a:srgbClr val="FBCC58"/>
              </a:solidFill>
            </a:endParaRPr>
          </a:p>
        </p:txBody>
      </p:sp>
      <p:sp>
        <p:nvSpPr>
          <p:cNvPr id="73" name="S09_OPP_2_LEVEL">
            <a:extLst>
              <a:ext uri="{FF2B5EF4-FFF2-40B4-BE49-F238E27FC236}">
                <a16:creationId xmlns:a16="http://schemas.microsoft.com/office/drawing/2014/main" id="{B7F6FE57-6A68-09BF-9AFF-D981C26EE1BB}"/>
              </a:ext>
            </a:extLst>
          </p:cNvPr>
          <p:cNvSpPr/>
          <p:nvPr/>
        </p:nvSpPr>
        <p:spPr>
          <a:xfrm>
            <a:off x="4671221" y="4187568"/>
            <a:ext cx="894606" cy="190800"/>
          </a:xfrm>
          <a:prstGeom prst="roundRect">
            <a:avLst/>
          </a:prstGeom>
          <a:solidFill>
            <a:srgbClr val="69FF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fr-FR" sz="1000" cap="small" dirty="0">
                <a:solidFill>
                  <a:srgbClr val="00B050"/>
                </a:solidFill>
              </a:rPr>
              <a:t>Gain élevé</a:t>
            </a:r>
          </a:p>
        </p:txBody>
      </p:sp>
      <p:sp>
        <p:nvSpPr>
          <p:cNvPr id="74" name="S09_OPP_2_ACTION_BODY">
            <a:extLst>
              <a:ext uri="{FF2B5EF4-FFF2-40B4-BE49-F238E27FC236}">
                <a16:creationId xmlns:a16="http://schemas.microsoft.com/office/drawing/2014/main" id="{C73CBA9B-99C4-BEC9-7334-B3C39F62F6C0}"/>
              </a:ext>
            </a:extLst>
          </p:cNvPr>
          <p:cNvSpPr txBox="1"/>
          <p:nvPr/>
        </p:nvSpPr>
        <p:spPr>
          <a:xfrm>
            <a:off x="4899732" y="5262173"/>
            <a:ext cx="3171339" cy="353943"/>
          </a:xfrm>
          <a:prstGeom prst="rect">
            <a:avLst/>
          </a:prstGeom>
          <a:noFill/>
        </p:spPr>
        <p:txBody>
          <a:bodyPr wrap="square" tIns="0" rtlCol="0">
            <a:spAutoFit/>
          </a:bodyPr>
          <a:lstStyle/>
          <a:p>
            <a:r>
              <a:rPr lang="fr-FR" sz="1000" dirty="0">
                <a:solidFill>
                  <a:schemeClr val="accent6"/>
                </a:solidFill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xxxxxxxxxxxxxxxxxxxxxxxxxxxxxxxxxxxxxxxxxxxxxxxxxxxxxxxxxxxxxxxxxxxxx</a:t>
            </a:r>
          </a:p>
        </p:txBody>
      </p:sp>
      <p:sp>
        <p:nvSpPr>
          <p:cNvPr id="75" name="S09_OPP_2_BODY">
            <a:extLst>
              <a:ext uri="{FF2B5EF4-FFF2-40B4-BE49-F238E27FC236}">
                <a16:creationId xmlns:a16="http://schemas.microsoft.com/office/drawing/2014/main" id="{E69EE915-1B30-B646-5051-54821306C85C}"/>
              </a:ext>
            </a:extLst>
          </p:cNvPr>
          <p:cNvSpPr txBox="1"/>
          <p:nvPr/>
        </p:nvSpPr>
        <p:spPr>
          <a:xfrm>
            <a:off x="4164131" y="4493500"/>
            <a:ext cx="31713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 err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xxxxxx</a:t>
            </a:r>
            <a:endParaRPr lang="fr-FR" sz="1000" dirty="0">
              <a:solidFill>
                <a:schemeClr val="tx2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7" name="Rectangle : coins arrondis 76">
            <a:extLst>
              <a:ext uri="{FF2B5EF4-FFF2-40B4-BE49-F238E27FC236}">
                <a16:creationId xmlns:a16="http://schemas.microsoft.com/office/drawing/2014/main" id="{BD2943F6-32EF-E38F-07C9-AEFBD34AE35D}"/>
              </a:ext>
            </a:extLst>
          </p:cNvPr>
          <p:cNvSpPr/>
          <p:nvPr/>
        </p:nvSpPr>
        <p:spPr>
          <a:xfrm>
            <a:off x="8133026" y="3802743"/>
            <a:ext cx="3924000" cy="230595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8" name="S09_OPP_3_TITLE">
            <a:extLst>
              <a:ext uri="{FF2B5EF4-FFF2-40B4-BE49-F238E27FC236}">
                <a16:creationId xmlns:a16="http://schemas.microsoft.com/office/drawing/2014/main" id="{F10284C7-6EB2-CA1E-1BDE-D9B47AE8EAFD}"/>
              </a:ext>
            </a:extLst>
          </p:cNvPr>
          <p:cNvSpPr txBox="1"/>
          <p:nvPr/>
        </p:nvSpPr>
        <p:spPr>
          <a:xfrm>
            <a:off x="8605887" y="3910569"/>
            <a:ext cx="33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/>
              <a:t>Accostage avec un projet en cours</a:t>
            </a:r>
          </a:p>
        </p:txBody>
      </p:sp>
      <p:cxnSp>
        <p:nvCxnSpPr>
          <p:cNvPr id="79" name="Connecteur droit 78">
            <a:extLst>
              <a:ext uri="{FF2B5EF4-FFF2-40B4-BE49-F238E27FC236}">
                <a16:creationId xmlns:a16="http://schemas.microsoft.com/office/drawing/2014/main" id="{56B684ED-3CE0-EF3D-0347-603FD3298968}"/>
              </a:ext>
            </a:extLst>
          </p:cNvPr>
          <p:cNvCxnSpPr>
            <a:cxnSpLocks/>
          </p:cNvCxnSpPr>
          <p:nvPr/>
        </p:nvCxnSpPr>
        <p:spPr>
          <a:xfrm>
            <a:off x="8228426" y="5194300"/>
            <a:ext cx="3733200" cy="0"/>
          </a:xfrm>
          <a:prstGeom prst="line">
            <a:avLst/>
          </a:prstGeom>
          <a:ln>
            <a:solidFill>
              <a:schemeClr val="tx2">
                <a:lumMod val="20000"/>
                <a:lumOff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S09_OPP_3_ACTION_TAG">
            <a:extLst>
              <a:ext uri="{FF2B5EF4-FFF2-40B4-BE49-F238E27FC236}">
                <a16:creationId xmlns:a16="http://schemas.microsoft.com/office/drawing/2014/main" id="{9A989F28-F52A-6A8A-A148-5B7F9AB29676}"/>
              </a:ext>
            </a:extLst>
          </p:cNvPr>
          <p:cNvSpPr/>
          <p:nvPr/>
        </p:nvSpPr>
        <p:spPr>
          <a:xfrm>
            <a:off x="8221991" y="5262173"/>
            <a:ext cx="615950" cy="190800"/>
          </a:xfrm>
          <a:prstGeom prst="roundRect">
            <a:avLst/>
          </a:prstGeom>
          <a:solidFill>
            <a:srgbClr val="DDE7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cap="small" dirty="0">
                <a:solidFill>
                  <a:srgbClr val="8DAC95"/>
                </a:solidFill>
              </a:rPr>
              <a:t>Levier</a:t>
            </a:r>
          </a:p>
        </p:txBody>
      </p:sp>
      <p:sp>
        <p:nvSpPr>
          <p:cNvPr id="81" name="S09_OPP_3_ICON">
            <a:extLst>
              <a:ext uri="{FF2B5EF4-FFF2-40B4-BE49-F238E27FC236}">
                <a16:creationId xmlns:a16="http://schemas.microsoft.com/office/drawing/2014/main" id="{2FF0A7F4-50B4-4ED4-70AB-5FD32F91AAE5}"/>
              </a:ext>
            </a:extLst>
          </p:cNvPr>
          <p:cNvSpPr/>
          <p:nvPr/>
        </p:nvSpPr>
        <p:spPr>
          <a:xfrm>
            <a:off x="8221991" y="3979612"/>
            <a:ext cx="324000" cy="360000"/>
          </a:xfrm>
          <a:prstGeom prst="roundRect">
            <a:avLst/>
          </a:prstGeom>
          <a:solidFill>
            <a:srgbClr val="FEF4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FBCC58"/>
                </a:solidFill>
                <a:sym typeface="Wingdings" panose="05000000000000000000" pitchFamily="2" charset="2"/>
              </a:rPr>
              <a:t></a:t>
            </a:r>
            <a:endParaRPr lang="fr-FR" b="1" dirty="0">
              <a:solidFill>
                <a:srgbClr val="FBCC58"/>
              </a:solidFill>
            </a:endParaRPr>
          </a:p>
        </p:txBody>
      </p:sp>
      <p:sp>
        <p:nvSpPr>
          <p:cNvPr id="82" name="S09_OPP_3_LEVEL">
            <a:extLst>
              <a:ext uri="{FF2B5EF4-FFF2-40B4-BE49-F238E27FC236}">
                <a16:creationId xmlns:a16="http://schemas.microsoft.com/office/drawing/2014/main" id="{AF288682-C330-5219-5AE2-FEDCA81C2F2F}"/>
              </a:ext>
            </a:extLst>
          </p:cNvPr>
          <p:cNvSpPr/>
          <p:nvPr/>
        </p:nvSpPr>
        <p:spPr>
          <a:xfrm>
            <a:off x="8683319" y="4187568"/>
            <a:ext cx="894606" cy="190800"/>
          </a:xfrm>
          <a:prstGeom prst="roundRect">
            <a:avLst/>
          </a:prstGeom>
          <a:solidFill>
            <a:srgbClr val="FFFF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fr-FR" sz="1000" cap="small" dirty="0">
                <a:solidFill>
                  <a:srgbClr val="A8A400"/>
                </a:solidFill>
              </a:rPr>
              <a:t>Gain moyen</a:t>
            </a:r>
          </a:p>
        </p:txBody>
      </p:sp>
      <p:sp>
        <p:nvSpPr>
          <p:cNvPr id="83" name="S09_OPP_3_ACTION_BODY">
            <a:extLst>
              <a:ext uri="{FF2B5EF4-FFF2-40B4-BE49-F238E27FC236}">
                <a16:creationId xmlns:a16="http://schemas.microsoft.com/office/drawing/2014/main" id="{28837B76-6AEA-9CFB-22B4-BF388AB8E7C6}"/>
              </a:ext>
            </a:extLst>
          </p:cNvPr>
          <p:cNvSpPr txBox="1"/>
          <p:nvPr/>
        </p:nvSpPr>
        <p:spPr>
          <a:xfrm>
            <a:off x="8911830" y="5262173"/>
            <a:ext cx="3171339" cy="353943"/>
          </a:xfrm>
          <a:prstGeom prst="rect">
            <a:avLst/>
          </a:prstGeom>
          <a:noFill/>
        </p:spPr>
        <p:txBody>
          <a:bodyPr wrap="square" tIns="0" rtlCol="0">
            <a:spAutoFit/>
          </a:bodyPr>
          <a:lstStyle/>
          <a:p>
            <a:r>
              <a:rPr lang="fr-FR" sz="1000" dirty="0">
                <a:solidFill>
                  <a:schemeClr val="accent6"/>
                </a:solidFill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xxxxxxxxxxxxxxxxxxxxxxxxxxxxxxxxxxxxxxxxxxxxxxxxxxxxxxxxxxxxxxxxxxxxxs</a:t>
            </a:r>
          </a:p>
        </p:txBody>
      </p:sp>
      <p:sp>
        <p:nvSpPr>
          <p:cNvPr id="84" name="S09_OPP_3_BODY">
            <a:extLst>
              <a:ext uri="{FF2B5EF4-FFF2-40B4-BE49-F238E27FC236}">
                <a16:creationId xmlns:a16="http://schemas.microsoft.com/office/drawing/2014/main" id="{B2861664-7BB9-7640-5E3A-AAECDDBA6F65}"/>
              </a:ext>
            </a:extLst>
          </p:cNvPr>
          <p:cNvSpPr txBox="1"/>
          <p:nvPr/>
        </p:nvSpPr>
        <p:spPr>
          <a:xfrm>
            <a:off x="8176229" y="4493500"/>
            <a:ext cx="31713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 err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xxxxxx</a:t>
            </a:r>
            <a:endParaRPr lang="fr-FR" sz="1000" dirty="0">
              <a:solidFill>
                <a:schemeClr val="tx2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487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10_DATE"/>
          <p:cNvSpPr/>
          <p:nvPr/>
        </p:nvSpPr>
        <p:spPr>
          <a:xfrm>
            <a:off x="10119360" y="268224"/>
            <a:ext cx="18288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avril 2026</a:t>
            </a:r>
            <a:endParaRPr lang="en-US" sz="1200"/>
          </a:p>
        </p:txBody>
      </p:sp>
      <p:sp>
        <p:nvSpPr>
          <p:cNvPr id="9" name="Shape 7"/>
          <p:cNvSpPr/>
          <p:nvPr/>
        </p:nvSpPr>
        <p:spPr>
          <a:xfrm>
            <a:off x="221077" y="1474614"/>
            <a:ext cx="3779520" cy="4137909"/>
          </a:xfrm>
          <a:prstGeom prst="rect">
            <a:avLst/>
          </a:prstGeom>
          <a:solidFill>
            <a:srgbClr val="FFFFFF"/>
          </a:solidFill>
          <a:ln w="19050">
            <a:solidFill>
              <a:srgbClr val="6A5D7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221077" y="1474614"/>
            <a:ext cx="3779520" cy="755904"/>
          </a:xfrm>
          <a:prstGeom prst="rect">
            <a:avLst/>
          </a:prstGeom>
          <a:solidFill>
            <a:srgbClr val="6A5D79"/>
          </a:solidFill>
          <a:ln w="12700">
            <a:solidFill>
              <a:srgbClr val="484C6A"/>
            </a:solidFill>
            <a:prstDash val="solid"/>
          </a:ln>
        </p:spPr>
        <p:txBody>
          <a:bodyPr/>
          <a:lstStyle/>
          <a:p>
            <a:endParaRPr lang="fr-FR" sz="2400"/>
          </a:p>
        </p:txBody>
      </p:sp>
      <p:sp>
        <p:nvSpPr>
          <p:cNvPr id="11" name="S10_PHASE_1_NUMBER"/>
          <p:cNvSpPr/>
          <p:nvPr/>
        </p:nvSpPr>
        <p:spPr>
          <a:xfrm>
            <a:off x="280416" y="154776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①</a:t>
            </a:r>
            <a:endParaRPr lang="en-US" sz="2400" dirty="0"/>
          </a:p>
        </p:txBody>
      </p:sp>
      <p:sp>
        <p:nvSpPr>
          <p:cNvPr id="12" name="S10_PHASE_1_TITLE"/>
          <p:cNvSpPr/>
          <p:nvPr/>
        </p:nvSpPr>
        <p:spPr>
          <a:xfrm>
            <a:off x="853440" y="1559958"/>
            <a:ext cx="302361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600" b="1" noProof="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Titre 1</a:t>
            </a:r>
            <a:endParaRPr lang="fr-FR" sz="1600" noProof="0" dirty="0"/>
          </a:p>
        </p:txBody>
      </p:sp>
      <p:sp>
        <p:nvSpPr>
          <p:cNvPr id="13" name="S10_PHASE_1_SUBTITLE"/>
          <p:cNvSpPr/>
          <p:nvPr/>
        </p:nvSpPr>
        <p:spPr>
          <a:xfrm>
            <a:off x="853440" y="1889142"/>
            <a:ext cx="3023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200" i="1" noProof="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Titre 2</a:t>
            </a:r>
            <a:endParaRPr lang="fr-FR" sz="1200" noProof="0" dirty="0"/>
          </a:p>
        </p:txBody>
      </p:sp>
      <p:sp>
        <p:nvSpPr>
          <p:cNvPr id="14" name="Shape 12"/>
          <p:cNvSpPr/>
          <p:nvPr/>
        </p:nvSpPr>
        <p:spPr>
          <a:xfrm>
            <a:off x="329184" y="2370726"/>
            <a:ext cx="158496" cy="158496"/>
          </a:xfrm>
          <a:prstGeom prst="ellipse">
            <a:avLst/>
          </a:prstGeom>
          <a:solidFill>
            <a:srgbClr val="6A5D79"/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10_PHASE_1_ITEM_1_TITLE"/>
          <p:cNvSpPr/>
          <p:nvPr/>
        </p:nvSpPr>
        <p:spPr>
          <a:xfrm>
            <a:off x="585216" y="2267094"/>
            <a:ext cx="3267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BI </a:t>
            </a:r>
            <a:r>
              <a:rPr lang="fr-FR" sz="1100" b="1" noProof="0" dirty="0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de pilotage des achats</a:t>
            </a:r>
            <a:endParaRPr lang="en-US" sz="1100" dirty="0"/>
          </a:p>
        </p:txBody>
      </p:sp>
      <p:sp>
        <p:nvSpPr>
          <p:cNvPr id="16" name="S10_PHASE_1_ITEM_1_BODY"/>
          <p:cNvSpPr/>
          <p:nvPr/>
        </p:nvSpPr>
        <p:spPr>
          <a:xfrm>
            <a:off x="585216" y="2614566"/>
            <a:ext cx="326745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050" noProof="0" dirty="0">
                <a:solidFill>
                  <a:srgbClr val="4A4A6A"/>
                </a:solidFill>
                <a:latin typeface="Segoe UI Light" panose="020B0502040204020203" pitchFamily="34" charset="0"/>
                <a:ea typeface="Calibri" pitchFamily="34" charset="-122"/>
                <a:cs typeface="Segoe UI Light" panose="020B0502040204020203" pitchFamily="34" charset="0"/>
              </a:rPr>
              <a:t>Pilotage achats lots, secteurs, revues tech-</a:t>
            </a:r>
            <a:r>
              <a:rPr lang="fr-FR" sz="1050" noProof="0" dirty="0" err="1">
                <a:solidFill>
                  <a:srgbClr val="4A4A6A"/>
                </a:solidFill>
                <a:latin typeface="Segoe UI Light" panose="020B0502040204020203" pitchFamily="34" charset="0"/>
                <a:ea typeface="Calibri" pitchFamily="34" charset="-122"/>
                <a:cs typeface="Segoe UI Light" panose="020B0502040204020203" pitchFamily="34" charset="0"/>
              </a:rPr>
              <a:t>eco</a:t>
            </a:r>
            <a:endParaRPr lang="fr-FR" sz="1050" noProof="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29184" y="3205878"/>
            <a:ext cx="3474720" cy="0"/>
          </a:xfrm>
          <a:prstGeom prst="line">
            <a:avLst/>
          </a:prstGeom>
          <a:noFill/>
          <a:ln w="6350">
            <a:solidFill>
              <a:srgbClr val="E0E0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329184" y="4504325"/>
            <a:ext cx="158496" cy="158496"/>
          </a:xfrm>
          <a:prstGeom prst="ellipse">
            <a:avLst/>
          </a:prstGeom>
          <a:solidFill>
            <a:srgbClr val="6A5D79"/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10_PHASE_1_ITEM_3_TITLE"/>
          <p:cNvSpPr/>
          <p:nvPr/>
        </p:nvSpPr>
        <p:spPr>
          <a:xfrm>
            <a:off x="585216" y="4400693"/>
            <a:ext cx="3267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100" b="1" noProof="0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Replanification SAPI</a:t>
            </a:r>
            <a:endParaRPr lang="fr-FR" sz="1100" noProof="0"/>
          </a:p>
        </p:txBody>
      </p:sp>
      <p:sp>
        <p:nvSpPr>
          <p:cNvPr id="20" name="S10_PHASE_1_ITEM_3_BODY"/>
          <p:cNvSpPr/>
          <p:nvPr/>
        </p:nvSpPr>
        <p:spPr>
          <a:xfrm>
            <a:off x="585216" y="4746285"/>
            <a:ext cx="326745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050" noProof="0" dirty="0">
                <a:solidFill>
                  <a:srgbClr val="4A4A6A"/>
                </a:solidFill>
                <a:latin typeface="Segoe UI Light" panose="020B0502040204020203" pitchFamily="34" charset="0"/>
                <a:ea typeface="Calibri" pitchFamily="34" charset="-122"/>
                <a:cs typeface="Segoe UI Light" panose="020B0502040204020203" pitchFamily="34" charset="0"/>
              </a:rPr>
              <a:t>Utilisation  de la solution transitoire T2 2026</a:t>
            </a:r>
            <a:endParaRPr lang="fr-FR" sz="1050" noProof="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29184" y="4339734"/>
            <a:ext cx="3474720" cy="0"/>
          </a:xfrm>
          <a:prstGeom prst="line">
            <a:avLst/>
          </a:prstGeom>
          <a:noFill/>
          <a:ln w="6350">
            <a:solidFill>
              <a:srgbClr val="E0E0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329184" y="3370470"/>
            <a:ext cx="158496" cy="158496"/>
          </a:xfrm>
          <a:prstGeom prst="ellipse">
            <a:avLst/>
          </a:prstGeom>
          <a:solidFill>
            <a:srgbClr val="6A5D79"/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10_PHASE_1_ITEM_2_TITLE"/>
          <p:cNvSpPr/>
          <p:nvPr/>
        </p:nvSpPr>
        <p:spPr>
          <a:xfrm>
            <a:off x="585216" y="3266838"/>
            <a:ext cx="3267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100" b="1" noProof="0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Connexion ERP ↔ SI locaux</a:t>
            </a:r>
            <a:endParaRPr lang="fr-FR" sz="1100" noProof="0"/>
          </a:p>
        </p:txBody>
      </p:sp>
      <p:sp>
        <p:nvSpPr>
          <p:cNvPr id="24" name="S10_PHASE_1_ITEM_2_BODY"/>
          <p:cNvSpPr/>
          <p:nvPr/>
        </p:nvSpPr>
        <p:spPr>
          <a:xfrm>
            <a:off x="585216" y="3614309"/>
            <a:ext cx="326745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4A4A6A"/>
                </a:solidFill>
                <a:latin typeface="Segoe UI Light" panose="020B0502040204020203" pitchFamily="34" charset="0"/>
                <a:ea typeface="Calibri" pitchFamily="34" charset="-122"/>
                <a:cs typeface="Segoe UI Light" panose="020B0502040204020203" pitchFamily="34" charset="0"/>
              </a:rPr>
              <a:t>Point “Case for Change” AEI / AEY — T3 2026</a:t>
            </a:r>
            <a:endParaRPr lang="en-US" sz="105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206240" y="1474614"/>
            <a:ext cx="3779520" cy="4137909"/>
          </a:xfrm>
          <a:prstGeom prst="rect">
            <a:avLst/>
          </a:prstGeom>
          <a:solidFill>
            <a:srgbClr val="FFFFFF"/>
          </a:solidFill>
          <a:ln w="19050">
            <a:solidFill>
              <a:srgbClr val="A2587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4206240" y="1474614"/>
            <a:ext cx="3779520" cy="755904"/>
          </a:xfrm>
          <a:prstGeom prst="rect">
            <a:avLst/>
          </a:prstGeom>
          <a:solidFill>
            <a:srgbClr val="A25871"/>
          </a:solidFill>
          <a:ln w="12700">
            <a:solidFill>
              <a:srgbClr val="A25871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27" name="S10_PHASE_2_NUMBER"/>
          <p:cNvSpPr/>
          <p:nvPr/>
        </p:nvSpPr>
        <p:spPr>
          <a:xfrm>
            <a:off x="4303776" y="154776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②</a:t>
            </a:r>
            <a:endParaRPr lang="en-US" sz="2400" dirty="0"/>
          </a:p>
        </p:txBody>
      </p:sp>
      <p:sp>
        <p:nvSpPr>
          <p:cNvPr id="28" name="S10_PHASE_2_TITLE"/>
          <p:cNvSpPr/>
          <p:nvPr/>
        </p:nvSpPr>
        <p:spPr>
          <a:xfrm>
            <a:off x="4876800" y="1559958"/>
            <a:ext cx="302361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600" b="1" noProof="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Titre 2</a:t>
            </a:r>
            <a:endParaRPr lang="fr-FR" sz="1600" noProof="0" dirty="0"/>
          </a:p>
        </p:txBody>
      </p:sp>
      <p:sp>
        <p:nvSpPr>
          <p:cNvPr id="29" name="S10_PHASE_2_SUBTITLE"/>
          <p:cNvSpPr/>
          <p:nvPr/>
        </p:nvSpPr>
        <p:spPr>
          <a:xfrm>
            <a:off x="4876800" y="1889142"/>
            <a:ext cx="3023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200" i="1" noProof="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Titre 2</a:t>
            </a:r>
            <a:endParaRPr lang="fr-FR" sz="1200" noProof="0" dirty="0"/>
          </a:p>
        </p:txBody>
      </p:sp>
      <p:sp>
        <p:nvSpPr>
          <p:cNvPr id="30" name="Shape 28"/>
          <p:cNvSpPr/>
          <p:nvPr/>
        </p:nvSpPr>
        <p:spPr>
          <a:xfrm>
            <a:off x="4352544" y="2370726"/>
            <a:ext cx="158496" cy="158496"/>
          </a:xfrm>
          <a:prstGeom prst="ellipse">
            <a:avLst/>
          </a:prstGeom>
          <a:solidFill>
            <a:srgbClr val="A25871"/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S10_PHASE_2_ITEM_1_TITLE"/>
          <p:cNvSpPr/>
          <p:nvPr/>
        </p:nvSpPr>
        <p:spPr>
          <a:xfrm>
            <a:off x="4608576" y="2267094"/>
            <a:ext cx="3267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100" b="1" noProof="0" dirty="0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Accompagnement PMO métiers</a:t>
            </a:r>
            <a:endParaRPr lang="fr-FR" sz="1100" noProof="0" dirty="0"/>
          </a:p>
        </p:txBody>
      </p:sp>
      <p:sp>
        <p:nvSpPr>
          <p:cNvPr id="32" name="S10_PHASE_2_ITEM_1_BODY"/>
          <p:cNvSpPr/>
          <p:nvPr/>
        </p:nvSpPr>
        <p:spPr>
          <a:xfrm>
            <a:off x="4608576" y="2614566"/>
            <a:ext cx="326745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>
                <a:solidFill>
                  <a:srgbClr val="4A4A6A"/>
                </a:solidFill>
                <a:latin typeface="Segoe UI Light" panose="020B0502040204020203" pitchFamily="34" charset="0"/>
                <a:ea typeface="Calibri" pitchFamily="34" charset="-122"/>
                <a:cs typeface="Segoe UI Light" panose="020B0502040204020203" pitchFamily="34" charset="0"/>
              </a:rPr>
              <a:t>Tandem avec </a:t>
            </a:r>
            <a:r>
              <a:rPr lang="fr-FR" sz="1050" noProof="0">
                <a:solidFill>
                  <a:srgbClr val="4A4A6A"/>
                </a:solidFill>
                <a:latin typeface="Segoe UI Light" panose="020B0502040204020203" pitchFamily="34" charset="0"/>
                <a:ea typeface="Calibri" pitchFamily="34" charset="-122"/>
                <a:cs typeface="Segoe UI Light" panose="020B0502040204020203" pitchFamily="34" charset="0"/>
              </a:rPr>
              <a:t>PMO &amp; analyse des écarts</a:t>
            </a:r>
            <a:endParaRPr lang="en-US" sz="105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4352544" y="3205878"/>
            <a:ext cx="3474720" cy="0"/>
          </a:xfrm>
          <a:prstGeom prst="line">
            <a:avLst/>
          </a:prstGeom>
          <a:noFill/>
          <a:ln w="6350">
            <a:solidFill>
              <a:srgbClr val="E0E0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4352544" y="3370470"/>
            <a:ext cx="158496" cy="158496"/>
          </a:xfrm>
          <a:prstGeom prst="ellipse">
            <a:avLst/>
          </a:prstGeom>
          <a:solidFill>
            <a:srgbClr val="A25871"/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S10_PHASE_2_ITEM_2_TITLE"/>
          <p:cNvSpPr/>
          <p:nvPr/>
        </p:nvSpPr>
        <p:spPr>
          <a:xfrm>
            <a:off x="4608576" y="3266838"/>
            <a:ext cx="3267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100" b="1" noProof="0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Garantir la formation opérationnelle des QCD</a:t>
            </a:r>
            <a:endParaRPr lang="fr-FR" sz="1100" noProof="0"/>
          </a:p>
        </p:txBody>
      </p:sp>
      <p:sp>
        <p:nvSpPr>
          <p:cNvPr id="36" name="S10_PHASE_2_ITEM_2_BODY"/>
          <p:cNvSpPr/>
          <p:nvPr/>
        </p:nvSpPr>
        <p:spPr>
          <a:xfrm>
            <a:off x="4608576" y="3614309"/>
            <a:ext cx="326745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4A4A6A"/>
                </a:solidFill>
                <a:latin typeface="Segoe UI Light" panose="020B0502040204020203" pitchFamily="34" charset="0"/>
                <a:ea typeface="Calibri" pitchFamily="34" charset="-122"/>
                <a:cs typeface="Segoe UI Light" panose="020B0502040204020203" pitchFamily="34" charset="0"/>
              </a:rPr>
              <a:t>Validation des acquis de base </a:t>
            </a:r>
            <a:r>
              <a:rPr lang="en-US" sz="1050" dirty="0" err="1">
                <a:solidFill>
                  <a:srgbClr val="4A4A6A"/>
                </a:solidFill>
                <a:latin typeface="Segoe UI Light" panose="020B0502040204020203" pitchFamily="34" charset="0"/>
                <a:ea typeface="Calibri" pitchFamily="34" charset="-122"/>
                <a:cs typeface="Segoe UI Light" panose="020B0502040204020203" pitchFamily="34" charset="0"/>
              </a:rPr>
              <a:t>oSmoz</a:t>
            </a:r>
            <a:endParaRPr lang="en-US" sz="105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4352544" y="4339734"/>
            <a:ext cx="3474720" cy="0"/>
          </a:xfrm>
          <a:prstGeom prst="line">
            <a:avLst/>
          </a:prstGeom>
          <a:noFill/>
          <a:ln w="6350">
            <a:solidFill>
              <a:srgbClr val="E0E0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Shape 36"/>
          <p:cNvSpPr/>
          <p:nvPr/>
        </p:nvSpPr>
        <p:spPr>
          <a:xfrm>
            <a:off x="4352544" y="4504325"/>
            <a:ext cx="158496" cy="158496"/>
          </a:xfrm>
          <a:prstGeom prst="ellipse">
            <a:avLst/>
          </a:prstGeom>
          <a:solidFill>
            <a:srgbClr val="A25871"/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S10_PHASE_2_ITEM_3_TITLE"/>
          <p:cNvSpPr/>
          <p:nvPr/>
        </p:nvSpPr>
        <p:spPr>
          <a:xfrm>
            <a:off x="4608576" y="4400693"/>
            <a:ext cx="3267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100" b="1" noProof="0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Acculturation des prescripteurs</a:t>
            </a:r>
            <a:endParaRPr lang="fr-FR" sz="1100" noProof="0"/>
          </a:p>
        </p:txBody>
      </p:sp>
      <p:sp>
        <p:nvSpPr>
          <p:cNvPr id="40" name="S10_PHASE_2_ITEM_3_BODY"/>
          <p:cNvSpPr/>
          <p:nvPr/>
        </p:nvSpPr>
        <p:spPr>
          <a:xfrm>
            <a:off x="4608576" y="4809125"/>
            <a:ext cx="326745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050" dirty="0">
                <a:solidFill>
                  <a:srgbClr val="4A4A6A"/>
                </a:solidFill>
                <a:latin typeface="Segoe UI Light" panose="020B0502040204020203" pitchFamily="34" charset="0"/>
                <a:ea typeface="Calibri" pitchFamily="34" charset="-122"/>
                <a:cs typeface="Segoe UI Light" panose="020B0502040204020203" pitchFamily="34" charset="0"/>
              </a:rPr>
              <a:t>Activité “Fresque des parties prenantes achats”</a:t>
            </a:r>
          </a:p>
        </p:txBody>
      </p:sp>
      <p:sp>
        <p:nvSpPr>
          <p:cNvPr id="41" name="Shape 39"/>
          <p:cNvSpPr/>
          <p:nvPr/>
        </p:nvSpPr>
        <p:spPr>
          <a:xfrm>
            <a:off x="8229600" y="1474614"/>
            <a:ext cx="3779520" cy="4137909"/>
          </a:xfrm>
          <a:prstGeom prst="rect">
            <a:avLst/>
          </a:prstGeom>
          <a:solidFill>
            <a:srgbClr val="FFFFFF"/>
          </a:solidFill>
          <a:ln w="19050">
            <a:solidFill>
              <a:srgbClr val="FDA85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2" name="Shape 40"/>
          <p:cNvSpPr/>
          <p:nvPr/>
        </p:nvSpPr>
        <p:spPr>
          <a:xfrm>
            <a:off x="8229600" y="1474614"/>
            <a:ext cx="3779520" cy="755904"/>
          </a:xfrm>
          <a:prstGeom prst="rect">
            <a:avLst/>
          </a:prstGeom>
          <a:solidFill>
            <a:srgbClr val="FDA85B"/>
          </a:solidFill>
          <a:ln w="12700">
            <a:solidFill>
              <a:srgbClr val="FDA85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S10_PHASE_3_NUMBER"/>
          <p:cNvSpPr/>
          <p:nvPr/>
        </p:nvSpPr>
        <p:spPr>
          <a:xfrm>
            <a:off x="8327136" y="154776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③</a:t>
            </a:r>
            <a:endParaRPr lang="en-US" sz="2400"/>
          </a:p>
        </p:txBody>
      </p:sp>
      <p:sp>
        <p:nvSpPr>
          <p:cNvPr id="44" name="S10_PHASE_3_TITLE"/>
          <p:cNvSpPr/>
          <p:nvPr/>
        </p:nvSpPr>
        <p:spPr>
          <a:xfrm>
            <a:off x="8900160" y="1559958"/>
            <a:ext cx="302361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600" b="1" noProof="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Titre 3</a:t>
            </a:r>
            <a:endParaRPr lang="fr-FR" sz="1600" noProof="0" dirty="0"/>
          </a:p>
        </p:txBody>
      </p:sp>
      <p:sp>
        <p:nvSpPr>
          <p:cNvPr id="45" name="S10_PHASE_3_SUBTITLE"/>
          <p:cNvSpPr/>
          <p:nvPr/>
        </p:nvSpPr>
        <p:spPr>
          <a:xfrm>
            <a:off x="8900160" y="1889142"/>
            <a:ext cx="3023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dirty="0" err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Titre</a:t>
            </a:r>
            <a:r>
              <a:rPr lang="en-US" sz="1200" i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 3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8375904" y="2370726"/>
            <a:ext cx="158496" cy="158496"/>
          </a:xfrm>
          <a:prstGeom prst="ellipse">
            <a:avLst/>
          </a:prstGeom>
          <a:solidFill>
            <a:srgbClr val="FDA85B"/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S10_PHASE_3_ITEM_1_TITLE"/>
          <p:cNvSpPr/>
          <p:nvPr/>
        </p:nvSpPr>
        <p:spPr>
          <a:xfrm>
            <a:off x="8631936" y="2267094"/>
            <a:ext cx="3267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100" b="1" noProof="0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Vague 1: outillages IBI</a:t>
            </a:r>
            <a:endParaRPr lang="fr-FR" sz="1100" noProof="0"/>
          </a:p>
        </p:txBody>
      </p:sp>
      <p:sp>
        <p:nvSpPr>
          <p:cNvPr id="48" name="S10_PHASE_3_ITEM_1_BODY"/>
          <p:cNvSpPr/>
          <p:nvPr/>
        </p:nvSpPr>
        <p:spPr>
          <a:xfrm>
            <a:off x="8631936" y="2614566"/>
            <a:ext cx="326745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050" noProof="0">
                <a:solidFill>
                  <a:srgbClr val="4A4A6A"/>
                </a:solidFill>
                <a:latin typeface="Segoe UI Light" panose="020B0502040204020203" pitchFamily="34" charset="0"/>
                <a:ea typeface="Calibri" pitchFamily="34" charset="-122"/>
                <a:cs typeface="Segoe UI Light" panose="020B0502040204020203" pitchFamily="34" charset="0"/>
              </a:rPr>
              <a:t>Déploiement en cours</a:t>
            </a:r>
            <a:endParaRPr lang="fr-FR" sz="1050" noProof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8375904" y="3205878"/>
            <a:ext cx="3474720" cy="0"/>
          </a:xfrm>
          <a:prstGeom prst="line">
            <a:avLst/>
          </a:prstGeom>
          <a:noFill/>
          <a:ln w="6350">
            <a:solidFill>
              <a:srgbClr val="E0E0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" name="Shape 48"/>
          <p:cNvSpPr/>
          <p:nvPr/>
        </p:nvSpPr>
        <p:spPr>
          <a:xfrm>
            <a:off x="8375904" y="3370470"/>
            <a:ext cx="158496" cy="158496"/>
          </a:xfrm>
          <a:prstGeom prst="ellipse">
            <a:avLst/>
          </a:prstGeom>
          <a:solidFill>
            <a:srgbClr val="FDA85B"/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" name="S10_PHASE_3_ITEM_2_TITLE"/>
          <p:cNvSpPr/>
          <p:nvPr/>
        </p:nvSpPr>
        <p:spPr>
          <a:xfrm>
            <a:off x="8631936" y="3266838"/>
            <a:ext cx="3267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100" b="1" noProof="0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Vagues 2/3 : outillages ICI - essais matériaux YQ</a:t>
            </a:r>
            <a:endParaRPr lang="fr-FR" sz="1100" noProof="0"/>
          </a:p>
        </p:txBody>
      </p:sp>
      <p:sp>
        <p:nvSpPr>
          <p:cNvPr id="52" name="S10_PHASE_3_ITEM_2_BODY"/>
          <p:cNvSpPr/>
          <p:nvPr/>
        </p:nvSpPr>
        <p:spPr>
          <a:xfrm>
            <a:off x="8631936" y="3614309"/>
            <a:ext cx="326745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4A4A6A"/>
                </a:solidFill>
                <a:latin typeface="Segoe UI Light" panose="020B0502040204020203" pitchFamily="34" charset="0"/>
                <a:ea typeface="Calibri" pitchFamily="34" charset="-122"/>
                <a:cs typeface="Segoe UI Light" panose="020B0502040204020203" pitchFamily="34" charset="0"/>
              </a:rPr>
              <a:t>En </a:t>
            </a:r>
            <a:r>
              <a:rPr lang="en-US" sz="1050" dirty="0" err="1">
                <a:solidFill>
                  <a:srgbClr val="4A4A6A"/>
                </a:solidFill>
                <a:latin typeface="Segoe UI Light" panose="020B0502040204020203" pitchFamily="34" charset="0"/>
                <a:ea typeface="Calibri" pitchFamily="34" charset="-122"/>
                <a:cs typeface="Segoe UI Light" panose="020B0502040204020203" pitchFamily="34" charset="0"/>
              </a:rPr>
              <a:t>préparation</a:t>
            </a:r>
            <a:r>
              <a:rPr lang="en-US" sz="1050" dirty="0">
                <a:solidFill>
                  <a:srgbClr val="4A4A6A"/>
                </a:solidFill>
                <a:latin typeface="Segoe UI Light" panose="020B0502040204020203" pitchFamily="34" charset="0"/>
                <a:ea typeface="Calibri" pitchFamily="34" charset="-122"/>
                <a:cs typeface="Segoe UI Light" panose="020B0502040204020203" pitchFamily="34" charset="0"/>
              </a:rPr>
              <a:t>, </a:t>
            </a:r>
            <a:r>
              <a:rPr lang="en-US" sz="1050" dirty="0" err="1">
                <a:solidFill>
                  <a:srgbClr val="4A4A6A"/>
                </a:solidFill>
                <a:latin typeface="Segoe UI Light" panose="020B0502040204020203" pitchFamily="34" charset="0"/>
                <a:ea typeface="Calibri" pitchFamily="34" charset="-122"/>
                <a:cs typeface="Segoe UI Light" panose="020B0502040204020203" pitchFamily="34" charset="0"/>
              </a:rPr>
              <a:t>cible</a:t>
            </a:r>
            <a:r>
              <a:rPr lang="en-US" sz="1050" dirty="0">
                <a:solidFill>
                  <a:srgbClr val="4A4A6A"/>
                </a:solidFill>
                <a:latin typeface="Segoe UI Light" panose="020B0502040204020203" pitchFamily="34" charset="0"/>
                <a:ea typeface="Calibri" pitchFamily="34" charset="-122"/>
                <a:cs typeface="Segoe UI Light" panose="020B0502040204020203" pitchFamily="34" charset="0"/>
              </a:rPr>
              <a:t> T2 2026</a:t>
            </a:r>
            <a:endParaRPr lang="en-US" sz="105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8375904" y="4339734"/>
            <a:ext cx="3474720" cy="0"/>
          </a:xfrm>
          <a:prstGeom prst="line">
            <a:avLst/>
          </a:prstGeom>
          <a:noFill/>
          <a:ln w="6350">
            <a:solidFill>
              <a:srgbClr val="E0E0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4" name="Shape 52"/>
          <p:cNvSpPr/>
          <p:nvPr/>
        </p:nvSpPr>
        <p:spPr>
          <a:xfrm>
            <a:off x="8375904" y="4504325"/>
            <a:ext cx="158496" cy="158496"/>
          </a:xfrm>
          <a:prstGeom prst="ellipse">
            <a:avLst/>
          </a:prstGeom>
          <a:solidFill>
            <a:srgbClr val="FDA85B"/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5" name="S10_PHASE_3_ITEM_3_TITLE"/>
          <p:cNvSpPr/>
          <p:nvPr/>
        </p:nvSpPr>
        <p:spPr>
          <a:xfrm>
            <a:off x="8631936" y="4400693"/>
            <a:ext cx="3267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Vague 4 + suivantes</a:t>
            </a:r>
            <a:endParaRPr lang="en-US" sz="1100"/>
          </a:p>
        </p:txBody>
      </p:sp>
      <p:sp>
        <p:nvSpPr>
          <p:cNvPr id="56" name="S10_PHASE_3_ITEM_3_BODY"/>
          <p:cNvSpPr/>
          <p:nvPr/>
        </p:nvSpPr>
        <p:spPr>
          <a:xfrm>
            <a:off x="8631936" y="4809125"/>
            <a:ext cx="326745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050" noProof="0" dirty="0">
                <a:solidFill>
                  <a:srgbClr val="4A4A6A"/>
                </a:solidFill>
                <a:latin typeface="Segoe UI Light" panose="020B0502040204020203" pitchFamily="34" charset="0"/>
                <a:ea typeface="Calibri" pitchFamily="34" charset="-122"/>
                <a:cs typeface="Segoe UI Light" panose="020B0502040204020203" pitchFamily="34" charset="0"/>
              </a:rPr>
              <a:t>Mode op. + délégation aux secteurs + accompagnement</a:t>
            </a:r>
            <a:endParaRPr lang="fr-FR" sz="1050" noProof="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59" name="S10_TITLE">
            <a:extLst>
              <a:ext uri="{FF2B5EF4-FFF2-40B4-BE49-F238E27FC236}">
                <a16:creationId xmlns:a16="http://schemas.microsoft.com/office/drawing/2014/main" id="{2D083838-59C4-C403-670F-BE17852EA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Plan d’action en 3 phases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96E4A1-C33A-BD59-D9E1-799C63E2A536}"/>
              </a:ext>
            </a:extLst>
          </p:cNvPr>
          <p:cNvSpPr/>
          <p:nvPr/>
        </p:nvSpPr>
        <p:spPr>
          <a:xfrm>
            <a:off x="396137" y="-1381154"/>
            <a:ext cx="855670" cy="822599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682">
              <a:defRPr/>
            </a:pPr>
            <a:endParaRPr lang="fr-FR" sz="2399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9DF04DC-A55E-9BD3-A2B4-A3F5A094A3BC}"/>
              </a:ext>
            </a:extLst>
          </p:cNvPr>
          <p:cNvSpPr/>
          <p:nvPr/>
        </p:nvSpPr>
        <p:spPr>
          <a:xfrm>
            <a:off x="1391845" y="-1381154"/>
            <a:ext cx="855670" cy="822599"/>
          </a:xfrm>
          <a:prstGeom prst="rect">
            <a:avLst/>
          </a:prstGeom>
          <a:solidFill>
            <a:srgbClr val="BABD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682">
              <a:defRPr/>
            </a:pPr>
            <a:endParaRPr lang="fr-FR" sz="2399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5B6772-E452-BA56-D6AE-50B6929BD7B3}"/>
              </a:ext>
            </a:extLst>
          </p:cNvPr>
          <p:cNvSpPr/>
          <p:nvPr/>
        </p:nvSpPr>
        <p:spPr>
          <a:xfrm>
            <a:off x="2385597" y="-1381154"/>
            <a:ext cx="855670" cy="822599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682">
              <a:defRPr/>
            </a:pPr>
            <a:endParaRPr lang="fr-FR" sz="2399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3AC1AE-E645-0EFA-0E32-2B5AF2A5EB33}"/>
              </a:ext>
            </a:extLst>
          </p:cNvPr>
          <p:cNvSpPr/>
          <p:nvPr/>
        </p:nvSpPr>
        <p:spPr>
          <a:xfrm>
            <a:off x="3381305" y="-1381154"/>
            <a:ext cx="855670" cy="822599"/>
          </a:xfrm>
          <a:prstGeom prst="rect">
            <a:avLst/>
          </a:prstGeom>
          <a:solidFill>
            <a:srgbClr val="BBB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682">
              <a:defRPr/>
            </a:pPr>
            <a:endParaRPr lang="fr-FR" sz="2399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BF90596-265C-9C10-9565-F17A484D1E4F}"/>
              </a:ext>
            </a:extLst>
          </p:cNvPr>
          <p:cNvSpPr/>
          <p:nvPr/>
        </p:nvSpPr>
        <p:spPr>
          <a:xfrm>
            <a:off x="4471896" y="-1381154"/>
            <a:ext cx="855670" cy="822599"/>
          </a:xfrm>
          <a:prstGeom prst="rect">
            <a:avLst/>
          </a:prstGeom>
          <a:solidFill>
            <a:srgbClr val="A258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682">
              <a:defRPr/>
            </a:pPr>
            <a:endParaRPr lang="fr-FR" sz="2399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6E97048-AC71-C4DD-E08E-20B3DD1B1EE6}"/>
              </a:ext>
            </a:extLst>
          </p:cNvPr>
          <p:cNvSpPr/>
          <p:nvPr/>
        </p:nvSpPr>
        <p:spPr>
          <a:xfrm>
            <a:off x="5467602" y="-1381154"/>
            <a:ext cx="855670" cy="822599"/>
          </a:xfrm>
          <a:prstGeom prst="rect">
            <a:avLst/>
          </a:prstGeom>
          <a:solidFill>
            <a:srgbClr val="D5B3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682">
              <a:defRPr/>
            </a:pPr>
            <a:endParaRPr lang="fr-FR" sz="2399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11D8A851-8BA9-466A-DC34-763F03AFC298}"/>
              </a:ext>
            </a:extLst>
          </p:cNvPr>
          <p:cNvSpPr/>
          <p:nvPr/>
        </p:nvSpPr>
        <p:spPr>
          <a:xfrm>
            <a:off x="6461356" y="-1381154"/>
            <a:ext cx="855670" cy="822599"/>
          </a:xfrm>
          <a:prstGeom prst="rect">
            <a:avLst/>
          </a:prstGeom>
          <a:solidFill>
            <a:srgbClr val="D473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682">
              <a:defRPr/>
            </a:pPr>
            <a:endParaRPr lang="fr-FR" sz="2399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8203F18D-A4CA-060E-4433-D64602B21D8D}"/>
              </a:ext>
            </a:extLst>
          </p:cNvPr>
          <p:cNvSpPr/>
          <p:nvPr/>
        </p:nvSpPr>
        <p:spPr>
          <a:xfrm>
            <a:off x="7457063" y="-1381154"/>
            <a:ext cx="855670" cy="822599"/>
          </a:xfrm>
          <a:prstGeom prst="rect">
            <a:avLst/>
          </a:prstGeom>
          <a:solidFill>
            <a:srgbClr val="F1D3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682">
              <a:defRPr/>
            </a:pPr>
            <a:endParaRPr lang="fr-FR" sz="2399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C312B74C-CD43-CA61-4ECB-0781D27C0200}"/>
              </a:ext>
            </a:extLst>
          </p:cNvPr>
          <p:cNvSpPr/>
          <p:nvPr/>
        </p:nvSpPr>
        <p:spPr>
          <a:xfrm>
            <a:off x="8478924" y="-1381154"/>
            <a:ext cx="855670" cy="822599"/>
          </a:xfrm>
          <a:prstGeom prst="rect">
            <a:avLst/>
          </a:prstGeom>
          <a:solidFill>
            <a:srgbClr val="FDA8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682">
              <a:defRPr/>
            </a:pPr>
            <a:endParaRPr lang="fr-FR" sz="2399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A27E61F-D3D7-885A-272F-94BED0F736B2}"/>
              </a:ext>
            </a:extLst>
          </p:cNvPr>
          <p:cNvSpPr/>
          <p:nvPr/>
        </p:nvSpPr>
        <p:spPr>
          <a:xfrm>
            <a:off x="9474630" y="-1381154"/>
            <a:ext cx="855670" cy="822599"/>
          </a:xfrm>
          <a:prstGeom prst="rect">
            <a:avLst/>
          </a:prstGeom>
          <a:solidFill>
            <a:srgbClr val="FEE3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682">
              <a:defRPr/>
            </a:pPr>
            <a:endParaRPr lang="fr-FR" sz="2399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06A4B758-69B6-47DA-28C0-E4835675F89B}"/>
              </a:ext>
            </a:extLst>
          </p:cNvPr>
          <p:cNvSpPr/>
          <p:nvPr/>
        </p:nvSpPr>
        <p:spPr>
          <a:xfrm>
            <a:off x="10470338" y="-1381154"/>
            <a:ext cx="855670" cy="822599"/>
          </a:xfrm>
          <a:prstGeom prst="rect">
            <a:avLst/>
          </a:prstGeom>
          <a:solidFill>
            <a:srgbClr val="FBCC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682">
              <a:defRPr/>
            </a:pPr>
            <a:endParaRPr lang="fr-FR" sz="2399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A491A5F9-FB5F-5F3B-C297-7FE59C250A6D}"/>
              </a:ext>
            </a:extLst>
          </p:cNvPr>
          <p:cNvSpPr/>
          <p:nvPr/>
        </p:nvSpPr>
        <p:spPr>
          <a:xfrm>
            <a:off x="11466044" y="-1381154"/>
            <a:ext cx="855670" cy="822599"/>
          </a:xfrm>
          <a:prstGeom prst="rect">
            <a:avLst/>
          </a:prstGeom>
          <a:solidFill>
            <a:srgbClr val="FDEB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682">
              <a:defRPr/>
            </a:pPr>
            <a:endParaRPr lang="fr-FR" sz="2399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65" name="S10_TAKEAWAY">
            <a:extLst>
              <a:ext uri="{FF2B5EF4-FFF2-40B4-BE49-F238E27FC236}">
                <a16:creationId xmlns:a16="http://schemas.microsoft.com/office/drawing/2014/main" id="{D735FA1E-60F0-0945-E7FC-FF00AE429CDD}"/>
              </a:ext>
            </a:extLst>
          </p:cNvPr>
          <p:cNvSpPr/>
          <p:nvPr/>
        </p:nvSpPr>
        <p:spPr>
          <a:xfrm>
            <a:off x="393634" y="6074571"/>
            <a:ext cx="11413297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hade val="30000"/>
                  <a:satMod val="115000"/>
                </a:srgbClr>
              </a:gs>
              <a:gs pos="50000">
                <a:srgbClr val="A25871">
                  <a:shade val="67500"/>
                  <a:satMod val="115000"/>
                </a:srgbClr>
              </a:gs>
              <a:gs pos="100000">
                <a:srgbClr val="A25871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599" b="1" dirty="0" err="1"/>
              <a:t>Take</a:t>
            </a:r>
            <a:r>
              <a:rPr lang="fr-FR" sz="1599" b="1" dirty="0"/>
              <a:t> </a:t>
            </a:r>
            <a:r>
              <a:rPr lang="fr-FR" sz="1599" b="1" dirty="0" err="1"/>
              <a:t>away</a:t>
            </a:r>
            <a:endParaRPr lang="fr-FR" sz="1599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B091F-5AFD-74AA-8C95-EA02AB693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11_TITLE">
            <a:extLst>
              <a:ext uri="{FF2B5EF4-FFF2-40B4-BE49-F238E27FC236}">
                <a16:creationId xmlns:a16="http://schemas.microsoft.com/office/drawing/2014/main" id="{FC84AAA6-19A8-3745-1E3D-599349CA9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Arc narratif et CTA</a:t>
            </a:r>
          </a:p>
        </p:txBody>
      </p:sp>
      <p:sp>
        <p:nvSpPr>
          <p:cNvPr id="200" name="AccentBar 200"/>
          <p:cNvSpPr/>
          <p:nvPr/>
        </p:nvSpPr>
        <p:spPr>
          <a:xfrm>
            <a:off x="392348" y="1152296"/>
            <a:ext cx="64792" cy="1367822"/>
          </a:xfrm>
          <a:prstGeom prst="roundRect">
            <a:avLst>
              <a:gd name="adj" fmla="val 50000"/>
            </a:avLst>
          </a:prstGeom>
          <a:solidFill>
            <a:srgbClr val="6A5D79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01" name="S11_BLOCK_1_NUMBER"/>
          <p:cNvSpPr txBox="1"/>
          <p:nvPr/>
        </p:nvSpPr>
        <p:spPr>
          <a:xfrm>
            <a:off x="647916" y="1098303"/>
            <a:ext cx="1079859" cy="13678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fr-FR" sz="7199" b="1" dirty="0">
                <a:solidFill>
                  <a:srgbClr val="BBB4C4">
                    <a:alpha val="40000"/>
                  </a:srgbClr>
                </a:solidFill>
                <a:latin typeface="Segoe UI Black"/>
              </a:rPr>
              <a:t>01</a:t>
            </a:r>
          </a:p>
        </p:txBody>
      </p:sp>
      <p:sp>
        <p:nvSpPr>
          <p:cNvPr id="202" name="S11_BLOCK_1_TITLE"/>
          <p:cNvSpPr txBox="1"/>
          <p:nvPr/>
        </p:nvSpPr>
        <p:spPr>
          <a:xfrm>
            <a:off x="719906" y="1188292"/>
            <a:ext cx="10618617" cy="395948"/>
          </a:xfrm>
          <a:prstGeom prst="rect">
            <a:avLst/>
          </a:prstGeom>
          <a:noFill/>
          <a:ln>
            <a:noFill/>
          </a:ln>
        </p:spPr>
        <p:txBody>
          <a:bodyPr wrap="square" lIns="91428" tIns="0" rIns="91428" bIns="0" anchor="b"/>
          <a:lstStyle/>
          <a:p>
            <a:r>
              <a:rPr lang="fr-FR" b="1" dirty="0">
                <a:solidFill>
                  <a:srgbClr val="6A5D79"/>
                </a:solidFill>
                <a:latin typeface="Segoe UI"/>
              </a:rPr>
              <a:t>Piloter les achats, c'est possible ! La vague pilote le prouve.</a:t>
            </a:r>
          </a:p>
        </p:txBody>
      </p:sp>
      <p:sp>
        <p:nvSpPr>
          <p:cNvPr id="203" name="S11_BLOCK_1_BODY"/>
          <p:cNvSpPr txBox="1"/>
          <p:nvPr/>
        </p:nvSpPr>
        <p:spPr>
          <a:xfrm>
            <a:off x="719906" y="1620235"/>
            <a:ext cx="10618617" cy="863888"/>
          </a:xfrm>
          <a:prstGeom prst="rect">
            <a:avLst/>
          </a:prstGeom>
          <a:noFill/>
          <a:ln>
            <a:noFill/>
          </a:ln>
        </p:spPr>
        <p:txBody>
          <a:bodyPr wrap="square" lIns="91428" tIns="45714" rIns="91428" bIns="45714" anchor="t"/>
          <a:lstStyle/>
          <a:p>
            <a:pPr algn="l">
              <a:lnSpc>
                <a:spcPct val="140000"/>
              </a:lnSpc>
            </a:pPr>
            <a:r>
              <a:rPr lang="fr-FR" sz="1400" dirty="0">
                <a:solidFill>
                  <a:schemeClr val="tx2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En travaillant sur le </a:t>
            </a:r>
            <a:r>
              <a:rPr lang="fr-FR" sz="1400" b="1" dirty="0">
                <a:solidFill>
                  <a:schemeClr val="tx2"/>
                </a:solidFill>
                <a:cs typeface="Segoe UI Light" panose="020B0502040204020203" pitchFamily="34" charset="0"/>
              </a:rPr>
              <a:t>process</a:t>
            </a:r>
            <a:r>
              <a:rPr lang="fr-FR" sz="1400" dirty="0">
                <a:solidFill>
                  <a:schemeClr val="tx2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, le </a:t>
            </a:r>
            <a:r>
              <a:rPr lang="fr-FR" sz="1400" b="1" dirty="0">
                <a:solidFill>
                  <a:schemeClr val="tx2"/>
                </a:solidFill>
                <a:cs typeface="Segoe UI Light" panose="020B0502040204020203" pitchFamily="34" charset="0"/>
              </a:rPr>
              <a:t>sens</a:t>
            </a:r>
            <a:r>
              <a:rPr lang="fr-FR" sz="1400" dirty="0">
                <a:solidFill>
                  <a:schemeClr val="tx2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et les </a:t>
            </a:r>
            <a:r>
              <a:rPr lang="fr-FR" sz="1400" b="1" dirty="0">
                <a:solidFill>
                  <a:schemeClr val="tx2"/>
                </a:solidFill>
                <a:cs typeface="Segoe UI Light" panose="020B0502040204020203" pitchFamily="34" charset="0"/>
              </a:rPr>
              <a:t>interactions</a:t>
            </a:r>
            <a:r>
              <a:rPr lang="fr-FR" sz="1400" dirty="0">
                <a:solidFill>
                  <a:schemeClr val="tx2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, on retrouve de la maîtrise. Les parties prenantes en tirent des bénéfices concrets.</a:t>
            </a:r>
          </a:p>
        </p:txBody>
      </p:sp>
      <p:sp>
        <p:nvSpPr>
          <p:cNvPr id="204" name="AccentBar 204"/>
          <p:cNvSpPr/>
          <p:nvPr/>
        </p:nvSpPr>
        <p:spPr>
          <a:xfrm>
            <a:off x="392348" y="2772085"/>
            <a:ext cx="64792" cy="1367822"/>
          </a:xfrm>
          <a:prstGeom prst="roundRect">
            <a:avLst>
              <a:gd name="adj" fmla="val 50000"/>
            </a:avLst>
          </a:prstGeom>
          <a:solidFill>
            <a:srgbClr val="A2587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05" name="S11_BLOCK_2_NUMBER"/>
          <p:cNvSpPr txBox="1"/>
          <p:nvPr/>
        </p:nvSpPr>
        <p:spPr>
          <a:xfrm>
            <a:off x="647916" y="2718093"/>
            <a:ext cx="1218741" cy="13678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fr-FR" sz="7199" b="1" dirty="0">
                <a:solidFill>
                  <a:srgbClr val="D5B3BE">
                    <a:alpha val="40000"/>
                  </a:srgbClr>
                </a:solidFill>
                <a:latin typeface="Segoe UI Black"/>
              </a:rPr>
              <a:t>02</a:t>
            </a:r>
          </a:p>
        </p:txBody>
      </p:sp>
      <p:sp>
        <p:nvSpPr>
          <p:cNvPr id="208" name="AccentBar 208"/>
          <p:cNvSpPr/>
          <p:nvPr/>
        </p:nvSpPr>
        <p:spPr>
          <a:xfrm>
            <a:off x="392348" y="4391875"/>
            <a:ext cx="64792" cy="1367822"/>
          </a:xfrm>
          <a:prstGeom prst="roundRect">
            <a:avLst>
              <a:gd name="adj" fmla="val 50000"/>
            </a:avLst>
          </a:prstGeom>
          <a:solidFill>
            <a:srgbClr val="FDA85B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09" name="S11_BLOCK_3_NUMBER"/>
          <p:cNvSpPr txBox="1"/>
          <p:nvPr/>
        </p:nvSpPr>
        <p:spPr>
          <a:xfrm>
            <a:off x="647916" y="4337882"/>
            <a:ext cx="1378740" cy="13678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fr-FR" sz="7199" b="1" dirty="0">
                <a:solidFill>
                  <a:srgbClr val="FEE3CA">
                    <a:alpha val="40000"/>
                  </a:srgbClr>
                </a:solidFill>
                <a:latin typeface="Segoe UI Black"/>
              </a:rPr>
              <a:t>03</a:t>
            </a:r>
          </a:p>
        </p:txBody>
      </p:sp>
      <p:sp>
        <p:nvSpPr>
          <p:cNvPr id="210" name="S11_BLOCK_3_TITLE"/>
          <p:cNvSpPr txBox="1"/>
          <p:nvPr/>
        </p:nvSpPr>
        <p:spPr>
          <a:xfrm>
            <a:off x="719906" y="4427870"/>
            <a:ext cx="10618617" cy="395948"/>
          </a:xfrm>
          <a:prstGeom prst="rect">
            <a:avLst/>
          </a:prstGeom>
          <a:noFill/>
          <a:ln>
            <a:noFill/>
          </a:ln>
        </p:spPr>
        <p:txBody>
          <a:bodyPr wrap="square" lIns="91428" tIns="0" rIns="91428" bIns="0" anchor="b"/>
          <a:lstStyle/>
          <a:p>
            <a:pPr algn="l"/>
            <a:r>
              <a:rPr lang="fr-FR" b="1" dirty="0">
                <a:solidFill>
                  <a:srgbClr val="FDA85B"/>
                </a:solidFill>
                <a:latin typeface="Segoe UI"/>
              </a:rPr>
              <a:t>Ce sujet dépasse le chantier. Sans mandat, il ne sera pas traité.</a:t>
            </a:r>
          </a:p>
        </p:txBody>
      </p:sp>
      <p:sp>
        <p:nvSpPr>
          <p:cNvPr id="211" name="S11_BLOCK_3_BODY"/>
          <p:cNvSpPr txBox="1"/>
          <p:nvPr/>
        </p:nvSpPr>
        <p:spPr>
          <a:xfrm>
            <a:off x="719906" y="4859813"/>
            <a:ext cx="10618617" cy="863888"/>
          </a:xfrm>
          <a:prstGeom prst="rect">
            <a:avLst/>
          </a:prstGeom>
          <a:noFill/>
          <a:ln>
            <a:noFill/>
          </a:ln>
        </p:spPr>
        <p:txBody>
          <a:bodyPr wrap="square" lIns="91428" tIns="45714" rIns="91428" bIns="45714" anchor="t"/>
          <a:lstStyle/>
          <a:p>
            <a:pPr algn="l">
              <a:lnSpc>
                <a:spcPct val="140000"/>
              </a:lnSpc>
            </a:pPr>
            <a:r>
              <a:rPr lang="fr-FR" sz="1400" dirty="0">
                <a:solidFill>
                  <a:schemeClr val="tx2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La </a:t>
            </a:r>
            <a:r>
              <a:rPr lang="fr-FR" sz="1400" b="1" dirty="0">
                <a:solidFill>
                  <a:schemeClr val="tx2"/>
                </a:solidFill>
                <a:cs typeface="Segoe UI Light" panose="020B0502040204020203" pitchFamily="34" charset="0"/>
              </a:rPr>
              <a:t>connexion ERP – systèmes locaux</a:t>
            </a:r>
            <a:r>
              <a:rPr lang="fr-FR" sz="1400" dirty="0">
                <a:solidFill>
                  <a:schemeClr val="tx2"/>
                </a:solidFill>
                <a:cs typeface="Segoe UI Light" panose="020B0502040204020203" pitchFamily="34" charset="0"/>
              </a:rPr>
              <a:t> </a:t>
            </a:r>
            <a:r>
              <a:rPr lang="fr-FR" sz="1400" dirty="0">
                <a:solidFill>
                  <a:schemeClr val="tx2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est la condition d'un pilotage financier à la hauteur, mais elle dépasse le chantier achat. XXXX demande que le sujet soit instruit. </a:t>
            </a:r>
          </a:p>
        </p:txBody>
      </p:sp>
      <p:sp>
        <p:nvSpPr>
          <p:cNvPr id="3" name="S11_BLOCK_2_TITLE">
            <a:extLst>
              <a:ext uri="{FF2B5EF4-FFF2-40B4-BE49-F238E27FC236}">
                <a16:creationId xmlns:a16="http://schemas.microsoft.com/office/drawing/2014/main" id="{0CA487B4-39D1-E55B-04FF-CD38537E97AF}"/>
              </a:ext>
            </a:extLst>
          </p:cNvPr>
          <p:cNvSpPr txBox="1"/>
          <p:nvPr/>
        </p:nvSpPr>
        <p:spPr>
          <a:xfrm>
            <a:off x="719906" y="2817820"/>
            <a:ext cx="10618617" cy="395948"/>
          </a:xfrm>
          <a:prstGeom prst="rect">
            <a:avLst/>
          </a:prstGeom>
          <a:noFill/>
          <a:ln>
            <a:noFill/>
          </a:ln>
        </p:spPr>
        <p:txBody>
          <a:bodyPr wrap="square" lIns="91428" tIns="0" rIns="91428" bIns="0" anchor="b"/>
          <a:lstStyle/>
          <a:p>
            <a:r>
              <a:rPr lang="fr-FR" b="1" dirty="0">
                <a:solidFill>
                  <a:srgbClr val="A25871"/>
                </a:solidFill>
                <a:latin typeface="Segoe UI"/>
              </a:rPr>
              <a:t>Mais aujourd'hui, on reconstitue au lieu de piloter.</a:t>
            </a:r>
          </a:p>
        </p:txBody>
      </p:sp>
      <p:sp>
        <p:nvSpPr>
          <p:cNvPr id="7" name="S11_BLOCK_2_BODY">
            <a:extLst>
              <a:ext uri="{FF2B5EF4-FFF2-40B4-BE49-F238E27FC236}">
                <a16:creationId xmlns:a16="http://schemas.microsoft.com/office/drawing/2014/main" id="{79C76D6F-D7CD-12C3-37F2-E14C0593F8E3}"/>
              </a:ext>
            </a:extLst>
          </p:cNvPr>
          <p:cNvSpPr txBox="1"/>
          <p:nvPr/>
        </p:nvSpPr>
        <p:spPr>
          <a:xfrm>
            <a:off x="719906" y="3249763"/>
            <a:ext cx="10618617" cy="863888"/>
          </a:xfrm>
          <a:prstGeom prst="rect">
            <a:avLst/>
          </a:prstGeom>
          <a:noFill/>
          <a:ln>
            <a:noFill/>
          </a:ln>
        </p:spPr>
        <p:txBody>
          <a:bodyPr wrap="square" lIns="91428" tIns="45714" rIns="91428" bIns="45714" anchor="t"/>
          <a:lstStyle/>
          <a:p>
            <a:pPr algn="l">
              <a:lnSpc>
                <a:spcPct val="140000"/>
              </a:lnSpc>
            </a:pPr>
            <a:r>
              <a:rPr lang="fr-FR" sz="1400" dirty="0">
                <a:solidFill>
                  <a:schemeClr val="tx2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Sans </a:t>
            </a:r>
            <a:r>
              <a:rPr lang="fr-FR" sz="1400" b="1" dirty="0">
                <a:solidFill>
                  <a:schemeClr val="tx2"/>
                </a:solidFill>
                <a:cs typeface="Segoe UI Light" panose="020B0502040204020203" pitchFamily="34" charset="0"/>
              </a:rPr>
              <a:t>connexion fiable entre ERP et systèmes locaux</a:t>
            </a:r>
            <a:r>
              <a:rPr lang="fr-FR" sz="1400" dirty="0">
                <a:solidFill>
                  <a:schemeClr val="tx2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, le pilotage financier des achats projet n'est pas à la hauteur des enjeux.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C6F3DE6-3428-6540-AD1C-015FAC4AE19B}"/>
              </a:ext>
            </a:extLst>
          </p:cNvPr>
          <p:cNvSpPr/>
          <p:nvPr/>
        </p:nvSpPr>
        <p:spPr>
          <a:xfrm>
            <a:off x="395395" y="-1381335"/>
            <a:ext cx="855781" cy="822707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804">
              <a:defRPr/>
            </a:pPr>
            <a:endParaRPr lang="fr-FR" sz="2399" noProof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E671DA3-B663-7C7F-E25E-D539BD455010}"/>
              </a:ext>
            </a:extLst>
          </p:cNvPr>
          <p:cNvSpPr/>
          <p:nvPr/>
        </p:nvSpPr>
        <p:spPr>
          <a:xfrm>
            <a:off x="1391231" y="-1381335"/>
            <a:ext cx="855781" cy="822707"/>
          </a:xfrm>
          <a:prstGeom prst="rect">
            <a:avLst/>
          </a:prstGeom>
          <a:solidFill>
            <a:srgbClr val="BABD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804">
              <a:defRPr/>
            </a:pPr>
            <a:endParaRPr lang="fr-FR" sz="2399" noProof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14EBAAC-D483-E30F-E2C7-5CF0AE6BE8D5}"/>
              </a:ext>
            </a:extLst>
          </p:cNvPr>
          <p:cNvSpPr/>
          <p:nvPr/>
        </p:nvSpPr>
        <p:spPr>
          <a:xfrm>
            <a:off x="2385114" y="-1381335"/>
            <a:ext cx="855781" cy="822707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804">
              <a:defRPr/>
            </a:pPr>
            <a:endParaRPr lang="fr-FR" sz="2399" noProof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FB73479-D9BD-2AEB-3BFB-2D960B0378D3}"/>
              </a:ext>
            </a:extLst>
          </p:cNvPr>
          <p:cNvSpPr/>
          <p:nvPr/>
        </p:nvSpPr>
        <p:spPr>
          <a:xfrm>
            <a:off x="3380950" y="-1381335"/>
            <a:ext cx="855781" cy="822707"/>
          </a:xfrm>
          <a:prstGeom prst="rect">
            <a:avLst/>
          </a:prstGeom>
          <a:solidFill>
            <a:srgbClr val="BBB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804">
              <a:defRPr/>
            </a:pPr>
            <a:endParaRPr lang="fr-FR" sz="2399" noProof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D3B2B3A-BD8F-CDA3-3E74-EF9515EF6F4B}"/>
              </a:ext>
            </a:extLst>
          </p:cNvPr>
          <p:cNvSpPr/>
          <p:nvPr/>
        </p:nvSpPr>
        <p:spPr>
          <a:xfrm>
            <a:off x="4471683" y="-1381335"/>
            <a:ext cx="855781" cy="822707"/>
          </a:xfrm>
          <a:prstGeom prst="rect">
            <a:avLst/>
          </a:prstGeom>
          <a:solidFill>
            <a:srgbClr val="A258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804">
              <a:defRPr/>
            </a:pPr>
            <a:endParaRPr lang="fr-FR" sz="2399" noProof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5E0F1B2-CC73-EC29-551C-20E51620256B}"/>
              </a:ext>
            </a:extLst>
          </p:cNvPr>
          <p:cNvSpPr/>
          <p:nvPr/>
        </p:nvSpPr>
        <p:spPr>
          <a:xfrm>
            <a:off x="5467519" y="-1381335"/>
            <a:ext cx="855781" cy="822707"/>
          </a:xfrm>
          <a:prstGeom prst="rect">
            <a:avLst/>
          </a:prstGeom>
          <a:solidFill>
            <a:srgbClr val="D5B3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804">
              <a:defRPr/>
            </a:pPr>
            <a:endParaRPr lang="fr-FR" sz="2399" noProof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035D4B5-1058-9107-DD3F-CDF131FB1246}"/>
              </a:ext>
            </a:extLst>
          </p:cNvPr>
          <p:cNvSpPr/>
          <p:nvPr/>
        </p:nvSpPr>
        <p:spPr>
          <a:xfrm>
            <a:off x="6461402" y="-1381335"/>
            <a:ext cx="855781" cy="822707"/>
          </a:xfrm>
          <a:prstGeom prst="rect">
            <a:avLst/>
          </a:prstGeom>
          <a:solidFill>
            <a:srgbClr val="D473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804">
              <a:defRPr/>
            </a:pPr>
            <a:endParaRPr lang="fr-FR" sz="2399" noProof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F88AB1A-3D23-6F5E-FE1E-8D61703D60A2}"/>
              </a:ext>
            </a:extLst>
          </p:cNvPr>
          <p:cNvSpPr/>
          <p:nvPr/>
        </p:nvSpPr>
        <p:spPr>
          <a:xfrm>
            <a:off x="7457239" y="-1381335"/>
            <a:ext cx="855781" cy="822707"/>
          </a:xfrm>
          <a:prstGeom prst="rect">
            <a:avLst/>
          </a:prstGeom>
          <a:solidFill>
            <a:srgbClr val="F1D3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804">
              <a:defRPr/>
            </a:pPr>
            <a:endParaRPr lang="fr-FR" sz="2399" noProof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0105CED-BCEC-6FAB-DCFC-D4043838D7C7}"/>
              </a:ext>
            </a:extLst>
          </p:cNvPr>
          <p:cNvSpPr/>
          <p:nvPr/>
        </p:nvSpPr>
        <p:spPr>
          <a:xfrm>
            <a:off x="8479232" y="-1381335"/>
            <a:ext cx="855781" cy="822707"/>
          </a:xfrm>
          <a:prstGeom prst="rect">
            <a:avLst/>
          </a:prstGeom>
          <a:solidFill>
            <a:srgbClr val="FDA8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804">
              <a:defRPr/>
            </a:pPr>
            <a:endParaRPr lang="fr-FR" sz="2399" noProof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05FB207-DF1B-574D-7F41-250173795B0F}"/>
              </a:ext>
            </a:extLst>
          </p:cNvPr>
          <p:cNvSpPr/>
          <p:nvPr/>
        </p:nvSpPr>
        <p:spPr>
          <a:xfrm>
            <a:off x="10470906" y="-1381335"/>
            <a:ext cx="855781" cy="822707"/>
          </a:xfrm>
          <a:prstGeom prst="rect">
            <a:avLst/>
          </a:prstGeom>
          <a:solidFill>
            <a:srgbClr val="FBCC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804">
              <a:defRPr/>
            </a:pPr>
            <a:endParaRPr lang="fr-FR" sz="2399" noProof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8F5EC3C-B515-868F-CF66-C34D031108E4}"/>
              </a:ext>
            </a:extLst>
          </p:cNvPr>
          <p:cNvSpPr/>
          <p:nvPr/>
        </p:nvSpPr>
        <p:spPr>
          <a:xfrm>
            <a:off x="11466743" y="-1381335"/>
            <a:ext cx="855781" cy="822707"/>
          </a:xfrm>
          <a:prstGeom prst="rect">
            <a:avLst/>
          </a:prstGeom>
          <a:solidFill>
            <a:srgbClr val="FEF4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804">
              <a:defRPr/>
            </a:pPr>
            <a:endParaRPr lang="fr-FR" sz="2399" noProof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22" name="S11_CTA">
            <a:extLst>
              <a:ext uri="{FF2B5EF4-FFF2-40B4-BE49-F238E27FC236}">
                <a16:creationId xmlns:a16="http://schemas.microsoft.com/office/drawing/2014/main" id="{B16F385F-8D04-729F-F1A1-8287CE0C4186}"/>
              </a:ext>
            </a:extLst>
          </p:cNvPr>
          <p:cNvSpPr/>
          <p:nvPr/>
        </p:nvSpPr>
        <p:spPr>
          <a:xfrm>
            <a:off x="393634" y="6074571"/>
            <a:ext cx="11413297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hade val="30000"/>
                  <a:satMod val="115000"/>
                </a:srgbClr>
              </a:gs>
              <a:gs pos="50000">
                <a:srgbClr val="A25871">
                  <a:shade val="67500"/>
                  <a:satMod val="115000"/>
                </a:srgbClr>
              </a:gs>
              <a:gs pos="100000">
                <a:srgbClr val="A25871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09"/>
            <a:r>
              <a:rPr lang="fr-FR" sz="1600" b="1" dirty="0">
                <a:solidFill>
                  <a:srgbClr val="FFFFFF"/>
                </a:solidFill>
              </a:rPr>
              <a:t>Etes-vous prêts à sponsoriser le sujet « connexion ERP – systèmes locaux » et à mandater une équipe pour l’instruire ?</a:t>
            </a:r>
          </a:p>
        </p:txBody>
      </p:sp>
    </p:spTree>
    <p:extLst>
      <p:ext uri="{BB962C8B-B14F-4D97-AF65-F5344CB8AC3E}">
        <p14:creationId xmlns:p14="http://schemas.microsoft.com/office/powerpoint/2010/main" val="2585782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3C4261-240A-818F-0AD7-234ABB8CF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12_TITLE">
            <a:extLst>
              <a:ext uri="{FF2B5EF4-FFF2-40B4-BE49-F238E27FC236}">
                <a16:creationId xmlns:a16="http://schemas.microsoft.com/office/drawing/2014/main" id="{27F54A49-9E26-9630-C772-3814D6A26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Process</a:t>
            </a:r>
          </a:p>
        </p:txBody>
      </p:sp>
      <p:sp>
        <p:nvSpPr>
          <p:cNvPr id="3" name="S12_STEP_1_BULLET">
            <a:extLst>
              <a:ext uri="{FF2B5EF4-FFF2-40B4-BE49-F238E27FC236}">
                <a16:creationId xmlns:a16="http://schemas.microsoft.com/office/drawing/2014/main" id="{602D7DCE-68E9-3D2D-BB28-AB8CB30AC855}"/>
              </a:ext>
            </a:extLst>
          </p:cNvPr>
          <p:cNvSpPr/>
          <p:nvPr/>
        </p:nvSpPr>
        <p:spPr>
          <a:xfrm>
            <a:off x="393635" y="1301577"/>
            <a:ext cx="441818" cy="441818"/>
          </a:xfrm>
          <a:prstGeom prst="ellipse">
            <a:avLst/>
          </a:prstGeom>
          <a:solidFill>
            <a:srgbClr val="BABDD0"/>
          </a:solidFill>
          <a:ln w="19050">
            <a:solidFill>
              <a:srgbClr val="484C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6">
            <a:extLst>
              <a:ext uri="{FF2B5EF4-FFF2-40B4-BE49-F238E27FC236}">
                <a16:creationId xmlns:a16="http://schemas.microsoft.com/office/drawing/2014/main" id="{1562259B-B63B-BB74-7F1B-490F3422675A}"/>
              </a:ext>
            </a:extLst>
          </p:cNvPr>
          <p:cNvSpPr/>
          <p:nvPr/>
        </p:nvSpPr>
        <p:spPr>
          <a:xfrm>
            <a:off x="393635" y="1301577"/>
            <a:ext cx="441818" cy="441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5" name="S12_STEP_1_LABEL">
            <a:extLst>
              <a:ext uri="{FF2B5EF4-FFF2-40B4-BE49-F238E27FC236}">
                <a16:creationId xmlns:a16="http://schemas.microsoft.com/office/drawing/2014/main" id="{BE46BF19-6144-612D-D3B5-26C0F9C8F683}"/>
              </a:ext>
            </a:extLst>
          </p:cNvPr>
          <p:cNvSpPr/>
          <p:nvPr/>
        </p:nvSpPr>
        <p:spPr>
          <a:xfrm>
            <a:off x="1044090" y="1289304"/>
            <a:ext cx="4418182" cy="27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70E1D"/>
                </a:solidFill>
                <a:ea typeface="Trebuchet MS" pitchFamily="34" charset="-122"/>
                <a:cs typeface="Trebuchet MS" pitchFamily="34" charset="-120"/>
              </a:rPr>
              <a:t>Identifier les clients</a:t>
            </a:r>
            <a:endParaRPr lang="en-US" sz="1200" dirty="0">
              <a:solidFill>
                <a:srgbClr val="070E1D"/>
              </a:solidFill>
            </a:endParaRPr>
          </a:p>
        </p:txBody>
      </p:sp>
      <p:sp>
        <p:nvSpPr>
          <p:cNvPr id="6" name="S12_STEP_1_SUBLABEL">
            <a:extLst>
              <a:ext uri="{FF2B5EF4-FFF2-40B4-BE49-F238E27FC236}">
                <a16:creationId xmlns:a16="http://schemas.microsoft.com/office/drawing/2014/main" id="{EFB80703-9CFE-E46A-B915-802E6EC21689}"/>
              </a:ext>
            </a:extLst>
          </p:cNvPr>
          <p:cNvSpPr/>
          <p:nvPr/>
        </p:nvSpPr>
        <p:spPr>
          <a:xfrm>
            <a:off x="1044090" y="1559304"/>
            <a:ext cx="10186364" cy="368182"/>
          </a:xfrm>
          <a:prstGeom prst="rect">
            <a:avLst/>
          </a:prstGeom>
          <a:noFill/>
          <a:ln/>
        </p:spPr>
        <p:txBody>
          <a:bodyPr wrap="square" rtlCol="0" anchor="t" anchorCtr="0"/>
          <a:lstStyle/>
          <a:p>
            <a:pPr marL="0" indent="0">
              <a:buNone/>
            </a:pPr>
            <a:r>
              <a:rPr lang="en-US" sz="1000" dirty="0">
                <a:solidFill>
                  <a:srgbClr val="474E67"/>
                </a:solidFill>
                <a:ea typeface="Trebuchet MS" pitchFamily="34" charset="-122"/>
                <a:cs typeface="Trebuchet MS" pitchFamily="34" charset="-120"/>
              </a:rPr>
              <a:t>Cartographie des parties prenantes + voix du client (phase Define)</a:t>
            </a:r>
            <a:endParaRPr lang="en-US" sz="1000" dirty="0">
              <a:solidFill>
                <a:srgbClr val="474E67"/>
              </a:solidFill>
            </a:endParaRPr>
          </a:p>
        </p:txBody>
      </p:sp>
      <p:sp>
        <p:nvSpPr>
          <p:cNvPr id="9" name="S12_STEP_2_BULLET">
            <a:extLst>
              <a:ext uri="{FF2B5EF4-FFF2-40B4-BE49-F238E27FC236}">
                <a16:creationId xmlns:a16="http://schemas.microsoft.com/office/drawing/2014/main" id="{4994F514-9E53-719E-0F02-09E3EEAB819D}"/>
              </a:ext>
            </a:extLst>
          </p:cNvPr>
          <p:cNvSpPr/>
          <p:nvPr/>
        </p:nvSpPr>
        <p:spPr>
          <a:xfrm>
            <a:off x="393635" y="2123850"/>
            <a:ext cx="441818" cy="441818"/>
          </a:xfrm>
          <a:prstGeom prst="ellipse">
            <a:avLst/>
          </a:prstGeom>
          <a:solidFill>
            <a:srgbClr val="BBB4C4"/>
          </a:solidFill>
          <a:ln w="19050">
            <a:solidFill>
              <a:srgbClr val="6A5D7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DC7372D7-C151-E18A-5B85-AA9D0183B1CF}"/>
              </a:ext>
            </a:extLst>
          </p:cNvPr>
          <p:cNvSpPr/>
          <p:nvPr/>
        </p:nvSpPr>
        <p:spPr>
          <a:xfrm>
            <a:off x="393635" y="2123850"/>
            <a:ext cx="441818" cy="441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7" name="S12_STEP_2_LABEL">
            <a:extLst>
              <a:ext uri="{FF2B5EF4-FFF2-40B4-BE49-F238E27FC236}">
                <a16:creationId xmlns:a16="http://schemas.microsoft.com/office/drawing/2014/main" id="{2C510E43-9998-8124-CC16-D06EE8A79B19}"/>
              </a:ext>
            </a:extLst>
          </p:cNvPr>
          <p:cNvSpPr/>
          <p:nvPr/>
        </p:nvSpPr>
        <p:spPr>
          <a:xfrm>
            <a:off x="1044090" y="2111577"/>
            <a:ext cx="4418182" cy="27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70E1D"/>
                </a:solidFill>
                <a:ea typeface="Trebuchet MS" pitchFamily="34" charset="-122"/>
                <a:cs typeface="Trebuchet MS" pitchFamily="34" charset="-120"/>
              </a:rPr>
              <a:t>Évaluer l'importance des attentes</a:t>
            </a:r>
            <a:endParaRPr lang="en-US" sz="1200" dirty="0">
              <a:solidFill>
                <a:srgbClr val="070E1D"/>
              </a:solidFill>
            </a:endParaRPr>
          </a:p>
        </p:txBody>
      </p:sp>
      <p:sp>
        <p:nvSpPr>
          <p:cNvPr id="24" name="S12_STEP_2_SUBLABEL">
            <a:extLst>
              <a:ext uri="{FF2B5EF4-FFF2-40B4-BE49-F238E27FC236}">
                <a16:creationId xmlns:a16="http://schemas.microsoft.com/office/drawing/2014/main" id="{46606345-0D0B-09BD-C6AC-FEEA696B4874}"/>
              </a:ext>
            </a:extLst>
          </p:cNvPr>
          <p:cNvSpPr/>
          <p:nvPr/>
        </p:nvSpPr>
        <p:spPr>
          <a:xfrm>
            <a:off x="1044090" y="2381577"/>
            <a:ext cx="10186364" cy="368182"/>
          </a:xfrm>
          <a:prstGeom prst="rect">
            <a:avLst/>
          </a:prstGeom>
          <a:noFill/>
          <a:ln/>
        </p:spPr>
        <p:txBody>
          <a:bodyPr wrap="square" rtlCol="0" anchor="t" anchorCtr="0"/>
          <a:lstStyle/>
          <a:p>
            <a:pPr marL="0" indent="0">
              <a:buNone/>
            </a:pPr>
            <a:r>
              <a:rPr lang="en-US" sz="1000" dirty="0">
                <a:solidFill>
                  <a:srgbClr val="474E67"/>
                </a:solidFill>
                <a:ea typeface="Trebuchet MS" pitchFamily="34" charset="-122"/>
                <a:cs typeface="Trebuchet MS" pitchFamily="34" charset="-120"/>
              </a:rPr>
              <a:t>Questionnaire préliminaire — échelle de 1 à 9 par attente</a:t>
            </a:r>
            <a:endParaRPr lang="en-US" sz="1000" dirty="0">
              <a:solidFill>
                <a:srgbClr val="474E67"/>
              </a:solidFill>
            </a:endParaRPr>
          </a:p>
        </p:txBody>
      </p:sp>
      <p:sp>
        <p:nvSpPr>
          <p:cNvPr id="30" name="S12_STEP_3_BULLET">
            <a:extLst>
              <a:ext uri="{FF2B5EF4-FFF2-40B4-BE49-F238E27FC236}">
                <a16:creationId xmlns:a16="http://schemas.microsoft.com/office/drawing/2014/main" id="{FF3689E6-55BC-420F-7F4F-A1D16C8A7835}"/>
              </a:ext>
            </a:extLst>
          </p:cNvPr>
          <p:cNvSpPr/>
          <p:nvPr/>
        </p:nvSpPr>
        <p:spPr>
          <a:xfrm>
            <a:off x="393635" y="2946122"/>
            <a:ext cx="441818" cy="441818"/>
          </a:xfrm>
          <a:prstGeom prst="ellipse">
            <a:avLst/>
          </a:prstGeom>
          <a:solidFill>
            <a:srgbClr val="D5B3BE"/>
          </a:solidFill>
          <a:ln w="19050">
            <a:solidFill>
              <a:srgbClr val="A2587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14">
            <a:extLst>
              <a:ext uri="{FF2B5EF4-FFF2-40B4-BE49-F238E27FC236}">
                <a16:creationId xmlns:a16="http://schemas.microsoft.com/office/drawing/2014/main" id="{6F49D0D0-7C84-D67B-9482-C5699BCBAD1D}"/>
              </a:ext>
            </a:extLst>
          </p:cNvPr>
          <p:cNvSpPr/>
          <p:nvPr/>
        </p:nvSpPr>
        <p:spPr>
          <a:xfrm>
            <a:off x="393635" y="2946122"/>
            <a:ext cx="441818" cy="441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35" name="S12_STEP_3_LABEL">
            <a:extLst>
              <a:ext uri="{FF2B5EF4-FFF2-40B4-BE49-F238E27FC236}">
                <a16:creationId xmlns:a16="http://schemas.microsoft.com/office/drawing/2014/main" id="{06A4B452-8763-600B-3E61-3D17DC558026}"/>
              </a:ext>
            </a:extLst>
          </p:cNvPr>
          <p:cNvSpPr/>
          <p:nvPr/>
        </p:nvSpPr>
        <p:spPr>
          <a:xfrm>
            <a:off x="1044090" y="2933850"/>
            <a:ext cx="4418182" cy="27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70E1D"/>
                </a:solidFill>
                <a:ea typeface="Trebuchet MS" pitchFamily="34" charset="-122"/>
                <a:cs typeface="Trebuchet MS" pitchFamily="34" charset="-120"/>
              </a:rPr>
              <a:t>Créer le questionnaire Kano</a:t>
            </a:r>
            <a:endParaRPr lang="en-US" sz="1200" dirty="0">
              <a:solidFill>
                <a:srgbClr val="070E1D"/>
              </a:solidFill>
            </a:endParaRPr>
          </a:p>
        </p:txBody>
      </p:sp>
      <p:sp>
        <p:nvSpPr>
          <p:cNvPr id="37" name="S12_STEP_3_SUBLABEL">
            <a:extLst>
              <a:ext uri="{FF2B5EF4-FFF2-40B4-BE49-F238E27FC236}">
                <a16:creationId xmlns:a16="http://schemas.microsoft.com/office/drawing/2014/main" id="{E46DD678-C8C5-8B6A-B7F2-EFC2208B156C}"/>
              </a:ext>
            </a:extLst>
          </p:cNvPr>
          <p:cNvSpPr/>
          <p:nvPr/>
        </p:nvSpPr>
        <p:spPr>
          <a:xfrm>
            <a:off x="1044090" y="3203850"/>
            <a:ext cx="10186364" cy="368182"/>
          </a:xfrm>
          <a:prstGeom prst="rect">
            <a:avLst/>
          </a:prstGeom>
          <a:noFill/>
          <a:ln/>
        </p:spPr>
        <p:txBody>
          <a:bodyPr wrap="square" rtlCol="0" anchor="t" anchorCtr="0"/>
          <a:lstStyle/>
          <a:p>
            <a:pPr marL="0" indent="0">
              <a:buNone/>
            </a:pPr>
            <a:r>
              <a:rPr lang="en-US" sz="1000" dirty="0">
                <a:solidFill>
                  <a:srgbClr val="474E67"/>
                </a:solidFill>
                <a:ea typeface="Trebuchet MS" pitchFamily="34" charset="-122"/>
                <a:cs typeface="Trebuchet MS" pitchFamily="34" charset="-120"/>
              </a:rPr>
              <a:t>Paires de questions fonctionnelles/dysfonctionnelles — ordre aléatoire</a:t>
            </a:r>
            <a:endParaRPr lang="en-US" sz="1000" dirty="0">
              <a:solidFill>
                <a:srgbClr val="474E67"/>
              </a:solidFill>
            </a:endParaRPr>
          </a:p>
        </p:txBody>
      </p:sp>
      <p:sp>
        <p:nvSpPr>
          <p:cNvPr id="38" name="S12_STEP_4_BULLET">
            <a:extLst>
              <a:ext uri="{FF2B5EF4-FFF2-40B4-BE49-F238E27FC236}">
                <a16:creationId xmlns:a16="http://schemas.microsoft.com/office/drawing/2014/main" id="{8A790415-70EE-9B82-F0BD-768ADC85C6CE}"/>
              </a:ext>
            </a:extLst>
          </p:cNvPr>
          <p:cNvSpPr/>
          <p:nvPr/>
        </p:nvSpPr>
        <p:spPr>
          <a:xfrm>
            <a:off x="393635" y="3768395"/>
            <a:ext cx="441818" cy="441818"/>
          </a:xfrm>
          <a:prstGeom prst="ellipse">
            <a:avLst/>
          </a:prstGeom>
          <a:solidFill>
            <a:srgbClr val="F1D3D5"/>
          </a:solidFill>
          <a:ln w="19050">
            <a:solidFill>
              <a:srgbClr val="D4737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18">
            <a:extLst>
              <a:ext uri="{FF2B5EF4-FFF2-40B4-BE49-F238E27FC236}">
                <a16:creationId xmlns:a16="http://schemas.microsoft.com/office/drawing/2014/main" id="{D80EA25E-0F9F-93C7-A33E-9652E6A014E8}"/>
              </a:ext>
            </a:extLst>
          </p:cNvPr>
          <p:cNvSpPr/>
          <p:nvPr/>
        </p:nvSpPr>
        <p:spPr>
          <a:xfrm>
            <a:off x="393635" y="3768395"/>
            <a:ext cx="441818" cy="441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40" name="S12_STEP_4_LABEL">
            <a:extLst>
              <a:ext uri="{FF2B5EF4-FFF2-40B4-BE49-F238E27FC236}">
                <a16:creationId xmlns:a16="http://schemas.microsoft.com/office/drawing/2014/main" id="{AB134C5A-F237-96C3-C462-6AC27EFDEB82}"/>
              </a:ext>
            </a:extLst>
          </p:cNvPr>
          <p:cNvSpPr/>
          <p:nvPr/>
        </p:nvSpPr>
        <p:spPr>
          <a:xfrm>
            <a:off x="1044090" y="3756122"/>
            <a:ext cx="4418182" cy="27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70E1D"/>
                </a:solidFill>
                <a:ea typeface="Trebuchet MS" pitchFamily="34" charset="-122"/>
                <a:cs typeface="Trebuchet MS" pitchFamily="34" charset="-120"/>
              </a:rPr>
              <a:t>Tester le questionnaire</a:t>
            </a:r>
            <a:endParaRPr lang="en-US" sz="1200" dirty="0">
              <a:solidFill>
                <a:srgbClr val="070E1D"/>
              </a:solidFill>
            </a:endParaRPr>
          </a:p>
        </p:txBody>
      </p:sp>
      <p:sp>
        <p:nvSpPr>
          <p:cNvPr id="41" name="S12_STEP_4_SUBLABEL">
            <a:extLst>
              <a:ext uri="{FF2B5EF4-FFF2-40B4-BE49-F238E27FC236}">
                <a16:creationId xmlns:a16="http://schemas.microsoft.com/office/drawing/2014/main" id="{A221F808-8593-FDDF-7361-504E103830EB}"/>
              </a:ext>
            </a:extLst>
          </p:cNvPr>
          <p:cNvSpPr/>
          <p:nvPr/>
        </p:nvSpPr>
        <p:spPr>
          <a:xfrm>
            <a:off x="1044090" y="4026122"/>
            <a:ext cx="10186364" cy="368182"/>
          </a:xfrm>
          <a:prstGeom prst="rect">
            <a:avLst/>
          </a:prstGeom>
          <a:noFill/>
          <a:ln/>
        </p:spPr>
        <p:txBody>
          <a:bodyPr wrap="square" rtlCol="0" anchor="t" anchorCtr="0"/>
          <a:lstStyle/>
          <a:p>
            <a:pPr marL="0" indent="0">
              <a:buNone/>
            </a:pPr>
            <a:r>
              <a:rPr lang="en-US" sz="1000" dirty="0">
                <a:solidFill>
                  <a:srgbClr val="474E67"/>
                </a:solidFill>
                <a:ea typeface="Trebuchet MS" pitchFamily="34" charset="-122"/>
                <a:cs typeface="Trebuchet MS" pitchFamily="34" charset="-120"/>
              </a:rPr>
              <a:t>Auprès d'un échantillon restreint avant diffusion large</a:t>
            </a:r>
            <a:endParaRPr lang="en-US" sz="1000" dirty="0">
              <a:solidFill>
                <a:srgbClr val="474E67"/>
              </a:solidFill>
            </a:endParaRPr>
          </a:p>
        </p:txBody>
      </p:sp>
      <p:sp>
        <p:nvSpPr>
          <p:cNvPr id="42" name="S12_STEP_5_BULLET">
            <a:extLst>
              <a:ext uri="{FF2B5EF4-FFF2-40B4-BE49-F238E27FC236}">
                <a16:creationId xmlns:a16="http://schemas.microsoft.com/office/drawing/2014/main" id="{D6134ABE-127F-6AA7-FD09-2CE376FF7A7C}"/>
              </a:ext>
            </a:extLst>
          </p:cNvPr>
          <p:cNvSpPr/>
          <p:nvPr/>
        </p:nvSpPr>
        <p:spPr>
          <a:xfrm>
            <a:off x="393635" y="4590668"/>
            <a:ext cx="441818" cy="441818"/>
          </a:xfrm>
          <a:prstGeom prst="ellipse">
            <a:avLst/>
          </a:prstGeom>
          <a:solidFill>
            <a:srgbClr val="FEE3CA"/>
          </a:solidFill>
          <a:ln w="19050">
            <a:solidFill>
              <a:srgbClr val="FDA85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22">
            <a:extLst>
              <a:ext uri="{FF2B5EF4-FFF2-40B4-BE49-F238E27FC236}">
                <a16:creationId xmlns:a16="http://schemas.microsoft.com/office/drawing/2014/main" id="{E63D636F-3B42-A002-0902-010CBFE0B4F1}"/>
              </a:ext>
            </a:extLst>
          </p:cNvPr>
          <p:cNvSpPr/>
          <p:nvPr/>
        </p:nvSpPr>
        <p:spPr>
          <a:xfrm>
            <a:off x="393635" y="4590668"/>
            <a:ext cx="441818" cy="441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44" name="S12_STEP_5_LABEL">
            <a:extLst>
              <a:ext uri="{FF2B5EF4-FFF2-40B4-BE49-F238E27FC236}">
                <a16:creationId xmlns:a16="http://schemas.microsoft.com/office/drawing/2014/main" id="{602E782F-DE50-453F-608D-A6C46DA43A97}"/>
              </a:ext>
            </a:extLst>
          </p:cNvPr>
          <p:cNvSpPr/>
          <p:nvPr/>
        </p:nvSpPr>
        <p:spPr>
          <a:xfrm>
            <a:off x="1044090" y="4578395"/>
            <a:ext cx="4418182" cy="27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70E1D"/>
                </a:solidFill>
                <a:ea typeface="Trebuchet MS" pitchFamily="34" charset="-122"/>
                <a:cs typeface="Trebuchet MS" pitchFamily="34" charset="-120"/>
              </a:rPr>
              <a:t>Envoyer à l'ensemble des clients</a:t>
            </a:r>
            <a:endParaRPr lang="en-US" sz="1200" dirty="0">
              <a:solidFill>
                <a:srgbClr val="070E1D"/>
              </a:solidFill>
            </a:endParaRPr>
          </a:p>
        </p:txBody>
      </p:sp>
      <p:sp>
        <p:nvSpPr>
          <p:cNvPr id="45" name="S12_STEP_5_SUBLABEL">
            <a:extLst>
              <a:ext uri="{FF2B5EF4-FFF2-40B4-BE49-F238E27FC236}">
                <a16:creationId xmlns:a16="http://schemas.microsoft.com/office/drawing/2014/main" id="{E3331169-680D-AA69-945C-6493AB2CC49D}"/>
              </a:ext>
            </a:extLst>
          </p:cNvPr>
          <p:cNvSpPr/>
          <p:nvPr/>
        </p:nvSpPr>
        <p:spPr>
          <a:xfrm>
            <a:off x="1044090" y="4848395"/>
            <a:ext cx="10186364" cy="368182"/>
          </a:xfrm>
          <a:prstGeom prst="rect">
            <a:avLst/>
          </a:prstGeom>
          <a:noFill/>
          <a:ln/>
        </p:spPr>
        <p:txBody>
          <a:bodyPr wrap="square" rtlCol="0" anchor="t" anchorCtr="0"/>
          <a:lstStyle/>
          <a:p>
            <a:pPr marL="0" indent="0">
              <a:buNone/>
            </a:pPr>
            <a:r>
              <a:rPr lang="en-US" sz="1000" dirty="0">
                <a:solidFill>
                  <a:srgbClr val="474E67"/>
                </a:solidFill>
                <a:ea typeface="Trebuchet MS" pitchFamily="34" charset="-122"/>
                <a:cs typeface="Trebuchet MS" pitchFamily="34" charset="-120"/>
              </a:rPr>
              <a:t>Choisir le canal, collecter les données démographiques (RGPD)</a:t>
            </a:r>
            <a:endParaRPr lang="en-US" sz="1000" dirty="0">
              <a:solidFill>
                <a:srgbClr val="474E67"/>
              </a:solidFill>
            </a:endParaRPr>
          </a:p>
        </p:txBody>
      </p:sp>
      <p:sp>
        <p:nvSpPr>
          <p:cNvPr id="46" name="S12_STEP_6_BULLET">
            <a:extLst>
              <a:ext uri="{FF2B5EF4-FFF2-40B4-BE49-F238E27FC236}">
                <a16:creationId xmlns:a16="http://schemas.microsoft.com/office/drawing/2014/main" id="{9805A866-5568-EF16-4463-3C0E28EDC9CC}"/>
              </a:ext>
            </a:extLst>
          </p:cNvPr>
          <p:cNvSpPr/>
          <p:nvPr/>
        </p:nvSpPr>
        <p:spPr>
          <a:xfrm>
            <a:off x="393635" y="5412941"/>
            <a:ext cx="441818" cy="441818"/>
          </a:xfrm>
          <a:prstGeom prst="ellipse">
            <a:avLst/>
          </a:prstGeom>
          <a:solidFill>
            <a:srgbClr val="FDEBBF"/>
          </a:solidFill>
          <a:ln w="19050">
            <a:solidFill>
              <a:srgbClr val="FBCC5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Text 26">
            <a:extLst>
              <a:ext uri="{FF2B5EF4-FFF2-40B4-BE49-F238E27FC236}">
                <a16:creationId xmlns:a16="http://schemas.microsoft.com/office/drawing/2014/main" id="{5E6E2220-8F55-B831-7534-0760C940A0A0}"/>
              </a:ext>
            </a:extLst>
          </p:cNvPr>
          <p:cNvSpPr/>
          <p:nvPr/>
        </p:nvSpPr>
        <p:spPr>
          <a:xfrm>
            <a:off x="393635" y="5412941"/>
            <a:ext cx="441818" cy="441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48" name="S12_STEP_6_LABEL">
            <a:extLst>
              <a:ext uri="{FF2B5EF4-FFF2-40B4-BE49-F238E27FC236}">
                <a16:creationId xmlns:a16="http://schemas.microsoft.com/office/drawing/2014/main" id="{DB7302B1-006F-6F4B-EB63-28BE4F068473}"/>
              </a:ext>
            </a:extLst>
          </p:cNvPr>
          <p:cNvSpPr/>
          <p:nvPr/>
        </p:nvSpPr>
        <p:spPr>
          <a:xfrm>
            <a:off x="1044090" y="5400668"/>
            <a:ext cx="4418182" cy="27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70E1D"/>
                </a:solidFill>
                <a:ea typeface="Trebuchet MS" pitchFamily="34" charset="-122"/>
                <a:cs typeface="Trebuchet MS" pitchFamily="34" charset="-120"/>
              </a:rPr>
              <a:t>Analyser les résultats</a:t>
            </a:r>
            <a:endParaRPr lang="en-US" sz="1200" dirty="0">
              <a:solidFill>
                <a:srgbClr val="070E1D"/>
              </a:solidFill>
            </a:endParaRPr>
          </a:p>
        </p:txBody>
      </p:sp>
      <p:sp>
        <p:nvSpPr>
          <p:cNvPr id="49" name="S12_STEP_6_SUBLABEL">
            <a:extLst>
              <a:ext uri="{FF2B5EF4-FFF2-40B4-BE49-F238E27FC236}">
                <a16:creationId xmlns:a16="http://schemas.microsoft.com/office/drawing/2014/main" id="{4080B7BB-B3A8-430A-5936-3A9B1157635E}"/>
              </a:ext>
            </a:extLst>
          </p:cNvPr>
          <p:cNvSpPr/>
          <p:nvPr/>
        </p:nvSpPr>
        <p:spPr>
          <a:xfrm>
            <a:off x="1044090" y="5670668"/>
            <a:ext cx="10186364" cy="368182"/>
          </a:xfrm>
          <a:prstGeom prst="rect">
            <a:avLst/>
          </a:prstGeom>
          <a:noFill/>
          <a:ln/>
        </p:spPr>
        <p:txBody>
          <a:bodyPr wrap="square" rtlCol="0" anchor="t" anchorCtr="0"/>
          <a:lstStyle/>
          <a:p>
            <a:pPr marL="0" indent="0">
              <a:buNone/>
            </a:pPr>
            <a:r>
              <a:rPr lang="en-US" sz="1000" dirty="0">
                <a:solidFill>
                  <a:srgbClr val="474E67"/>
                </a:solidFill>
                <a:ea typeface="Trebuchet MS" pitchFamily="34" charset="-122"/>
                <a:cs typeface="Trebuchet MS" pitchFamily="34" charset="-120"/>
              </a:rPr>
              <a:t>Coefficients SI/DI (Timko) ou analyse continue 2D (DuMouchel)</a:t>
            </a:r>
            <a:endParaRPr lang="en-US" sz="1000" dirty="0">
              <a:solidFill>
                <a:srgbClr val="474E67"/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8D9C27D-DD01-8F7A-F1D2-31C02EC32FE9}"/>
              </a:ext>
            </a:extLst>
          </p:cNvPr>
          <p:cNvSpPr/>
          <p:nvPr/>
        </p:nvSpPr>
        <p:spPr>
          <a:xfrm>
            <a:off x="396137" y="-1381154"/>
            <a:ext cx="855670" cy="822599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682">
              <a:defRPr/>
            </a:pPr>
            <a:endParaRPr lang="fr-FR" sz="2399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E219E18-9D5D-CFAC-1F12-B2E9F2A53651}"/>
              </a:ext>
            </a:extLst>
          </p:cNvPr>
          <p:cNvSpPr/>
          <p:nvPr/>
        </p:nvSpPr>
        <p:spPr>
          <a:xfrm>
            <a:off x="1391845" y="-1381154"/>
            <a:ext cx="855670" cy="822599"/>
          </a:xfrm>
          <a:prstGeom prst="rect">
            <a:avLst/>
          </a:prstGeom>
          <a:solidFill>
            <a:srgbClr val="BABD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682">
              <a:defRPr/>
            </a:pPr>
            <a:endParaRPr lang="fr-FR" sz="2399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A4AD05E3-69F6-32B6-B4EE-A9901200EFD9}"/>
              </a:ext>
            </a:extLst>
          </p:cNvPr>
          <p:cNvSpPr/>
          <p:nvPr/>
        </p:nvSpPr>
        <p:spPr>
          <a:xfrm>
            <a:off x="2385597" y="-1381154"/>
            <a:ext cx="855670" cy="822599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682">
              <a:defRPr/>
            </a:pPr>
            <a:endParaRPr lang="fr-FR" sz="2399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E108913-02FC-623C-35B1-01A00DDA31FD}"/>
              </a:ext>
            </a:extLst>
          </p:cNvPr>
          <p:cNvSpPr/>
          <p:nvPr/>
        </p:nvSpPr>
        <p:spPr>
          <a:xfrm>
            <a:off x="3381305" y="-1381154"/>
            <a:ext cx="855670" cy="822599"/>
          </a:xfrm>
          <a:prstGeom prst="rect">
            <a:avLst/>
          </a:prstGeom>
          <a:solidFill>
            <a:srgbClr val="BBB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682">
              <a:defRPr/>
            </a:pPr>
            <a:endParaRPr lang="fr-FR" sz="2399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DC85CA7-6DE9-5865-BC86-59AA4B1B41A4}"/>
              </a:ext>
            </a:extLst>
          </p:cNvPr>
          <p:cNvSpPr/>
          <p:nvPr/>
        </p:nvSpPr>
        <p:spPr>
          <a:xfrm>
            <a:off x="4471896" y="-1381154"/>
            <a:ext cx="855670" cy="822599"/>
          </a:xfrm>
          <a:prstGeom prst="rect">
            <a:avLst/>
          </a:prstGeom>
          <a:solidFill>
            <a:srgbClr val="A258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682">
              <a:defRPr/>
            </a:pPr>
            <a:endParaRPr lang="fr-FR" sz="2399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1CAC5B99-D851-B8EC-FE2B-22169D97257D}"/>
              </a:ext>
            </a:extLst>
          </p:cNvPr>
          <p:cNvSpPr/>
          <p:nvPr/>
        </p:nvSpPr>
        <p:spPr>
          <a:xfrm>
            <a:off x="5467602" y="-1381154"/>
            <a:ext cx="855670" cy="822599"/>
          </a:xfrm>
          <a:prstGeom prst="rect">
            <a:avLst/>
          </a:prstGeom>
          <a:solidFill>
            <a:srgbClr val="D5B3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682">
              <a:defRPr/>
            </a:pPr>
            <a:endParaRPr lang="fr-FR" sz="2399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1DBDF09-CE0A-0575-D51E-DF3237EE70FA}"/>
              </a:ext>
            </a:extLst>
          </p:cNvPr>
          <p:cNvSpPr/>
          <p:nvPr/>
        </p:nvSpPr>
        <p:spPr>
          <a:xfrm>
            <a:off x="6461356" y="-1381154"/>
            <a:ext cx="855670" cy="822599"/>
          </a:xfrm>
          <a:prstGeom prst="rect">
            <a:avLst/>
          </a:prstGeom>
          <a:solidFill>
            <a:srgbClr val="D473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682">
              <a:defRPr/>
            </a:pPr>
            <a:endParaRPr lang="fr-FR" sz="2399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4E9C2E61-F4C7-7F74-668F-784DFB235060}"/>
              </a:ext>
            </a:extLst>
          </p:cNvPr>
          <p:cNvSpPr/>
          <p:nvPr/>
        </p:nvSpPr>
        <p:spPr>
          <a:xfrm>
            <a:off x="7457063" y="-1381154"/>
            <a:ext cx="855670" cy="822599"/>
          </a:xfrm>
          <a:prstGeom prst="rect">
            <a:avLst/>
          </a:prstGeom>
          <a:solidFill>
            <a:srgbClr val="F1D3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682">
              <a:defRPr/>
            </a:pPr>
            <a:endParaRPr lang="fr-FR" sz="2399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D28346A7-41DA-08F4-1C34-4CB651F68351}"/>
              </a:ext>
            </a:extLst>
          </p:cNvPr>
          <p:cNvSpPr/>
          <p:nvPr/>
        </p:nvSpPr>
        <p:spPr>
          <a:xfrm>
            <a:off x="8478924" y="-1381154"/>
            <a:ext cx="855670" cy="822599"/>
          </a:xfrm>
          <a:prstGeom prst="rect">
            <a:avLst/>
          </a:prstGeom>
          <a:solidFill>
            <a:srgbClr val="FDA8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682">
              <a:defRPr/>
            </a:pPr>
            <a:endParaRPr lang="fr-FR" sz="2399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AC2105E-817D-41E9-8879-9966E4BFD19F}"/>
              </a:ext>
            </a:extLst>
          </p:cNvPr>
          <p:cNvSpPr/>
          <p:nvPr/>
        </p:nvSpPr>
        <p:spPr>
          <a:xfrm>
            <a:off x="9474630" y="-1381154"/>
            <a:ext cx="855670" cy="822599"/>
          </a:xfrm>
          <a:prstGeom prst="rect">
            <a:avLst/>
          </a:prstGeom>
          <a:solidFill>
            <a:srgbClr val="FEE3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682">
              <a:defRPr/>
            </a:pPr>
            <a:endParaRPr lang="fr-FR" sz="2399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46CA45DE-E79D-E7DA-8BF3-DABF39845037}"/>
              </a:ext>
            </a:extLst>
          </p:cNvPr>
          <p:cNvSpPr/>
          <p:nvPr/>
        </p:nvSpPr>
        <p:spPr>
          <a:xfrm>
            <a:off x="10470338" y="-1381154"/>
            <a:ext cx="855670" cy="822599"/>
          </a:xfrm>
          <a:prstGeom prst="rect">
            <a:avLst/>
          </a:prstGeom>
          <a:solidFill>
            <a:srgbClr val="FBCC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682">
              <a:defRPr/>
            </a:pPr>
            <a:endParaRPr lang="fr-FR" sz="2399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470240EE-3FC4-4C15-FE81-E505DAFF7907}"/>
              </a:ext>
            </a:extLst>
          </p:cNvPr>
          <p:cNvSpPr/>
          <p:nvPr/>
        </p:nvSpPr>
        <p:spPr>
          <a:xfrm>
            <a:off x="11466044" y="-1381154"/>
            <a:ext cx="855670" cy="822599"/>
          </a:xfrm>
          <a:prstGeom prst="rect">
            <a:avLst/>
          </a:prstGeom>
          <a:solidFill>
            <a:srgbClr val="FDEB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682">
              <a:defRPr/>
            </a:pPr>
            <a:endParaRPr lang="fr-FR" sz="2399">
              <a:solidFill>
                <a:srgbClr val="FFFFFF"/>
              </a:solidFill>
              <a:latin typeface="Segoe UI"/>
            </a:endParaRPr>
          </a:p>
        </p:txBody>
      </p:sp>
      <p:cxnSp>
        <p:nvCxnSpPr>
          <p:cNvPr id="68" name="S12_CONNECTOR_1">
            <a:extLst>
              <a:ext uri="{FF2B5EF4-FFF2-40B4-BE49-F238E27FC236}">
                <a16:creationId xmlns:a16="http://schemas.microsoft.com/office/drawing/2014/main" id="{EEE48BF5-7612-D7C6-C229-0FD4349D86A8}"/>
              </a:ext>
            </a:extLst>
          </p:cNvPr>
          <p:cNvCxnSpPr>
            <a:cxnSpLocks/>
            <a:stCxn id="3" idx="4"/>
            <a:endCxn id="9" idx="0"/>
          </p:cNvCxnSpPr>
          <p:nvPr/>
        </p:nvCxnSpPr>
        <p:spPr>
          <a:xfrm>
            <a:off x="614544" y="1743395"/>
            <a:ext cx="0" cy="380455"/>
          </a:xfrm>
          <a:prstGeom prst="line">
            <a:avLst/>
          </a:prstGeom>
          <a:ln w="19050">
            <a:solidFill>
              <a:srgbClr val="BABDD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12_CONNECTOR_2">
            <a:extLst>
              <a:ext uri="{FF2B5EF4-FFF2-40B4-BE49-F238E27FC236}">
                <a16:creationId xmlns:a16="http://schemas.microsoft.com/office/drawing/2014/main" id="{7CABBDE9-BEA8-5753-D9F7-71E6C9AAA788}"/>
              </a:ext>
            </a:extLst>
          </p:cNvPr>
          <p:cNvCxnSpPr>
            <a:cxnSpLocks/>
            <a:stCxn id="10" idx="2"/>
            <a:endCxn id="30" idx="0"/>
          </p:cNvCxnSpPr>
          <p:nvPr/>
        </p:nvCxnSpPr>
        <p:spPr>
          <a:xfrm>
            <a:off x="614544" y="2565668"/>
            <a:ext cx="0" cy="380454"/>
          </a:xfrm>
          <a:prstGeom prst="line">
            <a:avLst/>
          </a:prstGeom>
          <a:ln w="19050">
            <a:solidFill>
              <a:srgbClr val="BBB4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12_CONNECTOR_3">
            <a:extLst>
              <a:ext uri="{FF2B5EF4-FFF2-40B4-BE49-F238E27FC236}">
                <a16:creationId xmlns:a16="http://schemas.microsoft.com/office/drawing/2014/main" id="{56D7AFCC-01BA-8B50-F831-E46DC19DECB3}"/>
              </a:ext>
            </a:extLst>
          </p:cNvPr>
          <p:cNvCxnSpPr>
            <a:cxnSpLocks/>
            <a:stCxn id="30" idx="4"/>
            <a:endCxn id="38" idx="0"/>
          </p:cNvCxnSpPr>
          <p:nvPr/>
        </p:nvCxnSpPr>
        <p:spPr>
          <a:xfrm>
            <a:off x="614544" y="3387940"/>
            <a:ext cx="0" cy="380455"/>
          </a:xfrm>
          <a:prstGeom prst="line">
            <a:avLst/>
          </a:prstGeom>
          <a:ln w="19050">
            <a:solidFill>
              <a:srgbClr val="D5B3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12_CONNECTOR_4">
            <a:extLst>
              <a:ext uri="{FF2B5EF4-FFF2-40B4-BE49-F238E27FC236}">
                <a16:creationId xmlns:a16="http://schemas.microsoft.com/office/drawing/2014/main" id="{2158E036-7EA7-E5BF-93E3-E368B0677BEB}"/>
              </a:ext>
            </a:extLst>
          </p:cNvPr>
          <p:cNvCxnSpPr>
            <a:cxnSpLocks/>
            <a:stCxn id="38" idx="4"/>
            <a:endCxn id="42" idx="0"/>
          </p:cNvCxnSpPr>
          <p:nvPr/>
        </p:nvCxnSpPr>
        <p:spPr>
          <a:xfrm>
            <a:off x="614544" y="4210213"/>
            <a:ext cx="0" cy="380455"/>
          </a:xfrm>
          <a:prstGeom prst="line">
            <a:avLst/>
          </a:prstGeom>
          <a:ln w="19050">
            <a:solidFill>
              <a:srgbClr val="F1D3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12_CONNECTOR_5">
            <a:extLst>
              <a:ext uri="{FF2B5EF4-FFF2-40B4-BE49-F238E27FC236}">
                <a16:creationId xmlns:a16="http://schemas.microsoft.com/office/drawing/2014/main" id="{4D261AB5-418A-8AD2-968D-53DB1C9BD2AA}"/>
              </a:ext>
            </a:extLst>
          </p:cNvPr>
          <p:cNvCxnSpPr>
            <a:cxnSpLocks/>
            <a:stCxn id="42" idx="4"/>
            <a:endCxn id="46" idx="0"/>
          </p:cNvCxnSpPr>
          <p:nvPr/>
        </p:nvCxnSpPr>
        <p:spPr>
          <a:xfrm>
            <a:off x="614544" y="5032486"/>
            <a:ext cx="0" cy="380455"/>
          </a:xfrm>
          <a:prstGeom prst="line">
            <a:avLst/>
          </a:prstGeom>
          <a:ln w="19050">
            <a:solidFill>
              <a:srgbClr val="FEE3C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767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4A895-77ED-4FE0-6E63-6CA70D888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13_TITLE">
            <a:extLst>
              <a:ext uri="{FF2B5EF4-FFF2-40B4-BE49-F238E27FC236}">
                <a16:creationId xmlns:a16="http://schemas.microsoft.com/office/drawing/2014/main" id="{4AF98650-5538-916A-6DDA-42C7F5F99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Opposition qualitative</a:t>
            </a:r>
          </a:p>
        </p:txBody>
      </p:sp>
      <p:sp>
        <p:nvSpPr>
          <p:cNvPr id="57" name="S13_LEFT_TITLE">
            <a:extLst>
              <a:ext uri="{FF2B5EF4-FFF2-40B4-BE49-F238E27FC236}">
                <a16:creationId xmlns:a16="http://schemas.microsoft.com/office/drawing/2014/main" id="{2E659F2C-FC48-1E41-0958-64DCF57AE339}"/>
              </a:ext>
            </a:extLst>
          </p:cNvPr>
          <p:cNvSpPr/>
          <p:nvPr/>
        </p:nvSpPr>
        <p:spPr>
          <a:xfrm>
            <a:off x="347090" y="1577781"/>
            <a:ext cx="5504276" cy="366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6E56"/>
                </a:solidFill>
                <a:ea typeface="Trebuchet MS" pitchFamily="34" charset="-122"/>
                <a:cs typeface="Trebuchet MS" pitchFamily="34" charset="-120"/>
              </a:rPr>
              <a:t>✅  À faire</a:t>
            </a:r>
            <a:endParaRPr lang="en-US" sz="1200" dirty="0"/>
          </a:p>
        </p:txBody>
      </p:sp>
      <p:sp>
        <p:nvSpPr>
          <p:cNvPr id="58" name="S13_LEFT_1_BOX">
            <a:extLst>
              <a:ext uri="{FF2B5EF4-FFF2-40B4-BE49-F238E27FC236}">
                <a16:creationId xmlns:a16="http://schemas.microsoft.com/office/drawing/2014/main" id="{86B7FB47-EF6B-1D8C-B83C-9CB74956EC93}"/>
              </a:ext>
            </a:extLst>
          </p:cNvPr>
          <p:cNvSpPr/>
          <p:nvPr/>
        </p:nvSpPr>
        <p:spPr>
          <a:xfrm>
            <a:off x="347090" y="2030355"/>
            <a:ext cx="5504276" cy="538196"/>
          </a:xfrm>
          <a:prstGeom prst="rect">
            <a:avLst/>
          </a:prstGeom>
          <a:solidFill>
            <a:srgbClr val="FFFFFF"/>
          </a:solidFill>
          <a:ln w="6350">
            <a:solidFill>
              <a:srgbClr val="E0DFD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9" name="S13_LEFT_1_BULLET">
            <a:extLst>
              <a:ext uri="{FF2B5EF4-FFF2-40B4-BE49-F238E27FC236}">
                <a16:creationId xmlns:a16="http://schemas.microsoft.com/office/drawing/2014/main" id="{37E63B09-DEAF-427C-E671-D80FB116572C}"/>
              </a:ext>
            </a:extLst>
          </p:cNvPr>
          <p:cNvSpPr/>
          <p:nvPr/>
        </p:nvSpPr>
        <p:spPr>
          <a:xfrm>
            <a:off x="469407" y="2128209"/>
            <a:ext cx="318025" cy="318025"/>
          </a:xfrm>
          <a:prstGeom prst="ellipse">
            <a:avLst/>
          </a:prstGeom>
          <a:solidFill>
            <a:srgbClr val="E1F5EE"/>
          </a:solidFill>
          <a:ln w="635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1" name="S13_LEFT_1_ITEM">
            <a:extLst>
              <a:ext uri="{FF2B5EF4-FFF2-40B4-BE49-F238E27FC236}">
                <a16:creationId xmlns:a16="http://schemas.microsoft.com/office/drawing/2014/main" id="{B27FEEC2-0D6E-DAED-18E3-1850FC15A656}"/>
              </a:ext>
            </a:extLst>
          </p:cNvPr>
          <p:cNvSpPr/>
          <p:nvPr/>
        </p:nvSpPr>
        <p:spPr>
          <a:xfrm>
            <a:off x="897518" y="2079282"/>
            <a:ext cx="4831531" cy="4403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4E67"/>
                </a:solidFill>
                <a:ea typeface="Trebuchet MS" pitchFamily="34" charset="-122"/>
                <a:cs typeface="Trebuchet MS" pitchFamily="34" charset="-120"/>
              </a:rPr>
              <a:t>Questions précises, portant sur une seule caractéristique</a:t>
            </a:r>
            <a:endParaRPr lang="en-US" sz="1000" dirty="0">
              <a:solidFill>
                <a:srgbClr val="474E67"/>
              </a:solidFill>
            </a:endParaRPr>
          </a:p>
        </p:txBody>
      </p:sp>
      <p:sp>
        <p:nvSpPr>
          <p:cNvPr id="62" name="S13_LEFT_2_BOX">
            <a:extLst>
              <a:ext uri="{FF2B5EF4-FFF2-40B4-BE49-F238E27FC236}">
                <a16:creationId xmlns:a16="http://schemas.microsoft.com/office/drawing/2014/main" id="{4A47DC62-6E14-912B-D376-B854D3B2C79B}"/>
              </a:ext>
            </a:extLst>
          </p:cNvPr>
          <p:cNvSpPr/>
          <p:nvPr/>
        </p:nvSpPr>
        <p:spPr>
          <a:xfrm>
            <a:off x="347090" y="2666404"/>
            <a:ext cx="5504276" cy="538196"/>
          </a:xfrm>
          <a:prstGeom prst="rect">
            <a:avLst/>
          </a:prstGeom>
          <a:solidFill>
            <a:srgbClr val="FFFFFF"/>
          </a:solidFill>
          <a:ln w="6350">
            <a:solidFill>
              <a:srgbClr val="E0DFD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3" name="S13_LEFT_2_BULLET">
            <a:extLst>
              <a:ext uri="{FF2B5EF4-FFF2-40B4-BE49-F238E27FC236}">
                <a16:creationId xmlns:a16="http://schemas.microsoft.com/office/drawing/2014/main" id="{F9C92C73-2DCD-4774-C6A5-74706E659DB8}"/>
              </a:ext>
            </a:extLst>
          </p:cNvPr>
          <p:cNvSpPr/>
          <p:nvPr/>
        </p:nvSpPr>
        <p:spPr>
          <a:xfrm>
            <a:off x="469407" y="2764258"/>
            <a:ext cx="318025" cy="318025"/>
          </a:xfrm>
          <a:prstGeom prst="ellipse">
            <a:avLst/>
          </a:prstGeom>
          <a:solidFill>
            <a:srgbClr val="E1F5EE"/>
          </a:solidFill>
          <a:ln w="635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3" name="S13_LEFT_2_ITEM">
            <a:extLst>
              <a:ext uri="{FF2B5EF4-FFF2-40B4-BE49-F238E27FC236}">
                <a16:creationId xmlns:a16="http://schemas.microsoft.com/office/drawing/2014/main" id="{CDF40589-FFD7-2EC7-E7B7-420D20282730}"/>
              </a:ext>
            </a:extLst>
          </p:cNvPr>
          <p:cNvSpPr/>
          <p:nvPr/>
        </p:nvSpPr>
        <p:spPr>
          <a:xfrm>
            <a:off x="897518" y="2715331"/>
            <a:ext cx="4831531" cy="4403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4E67"/>
                </a:solidFill>
                <a:ea typeface="Trebuchet MS" pitchFamily="34" charset="-122"/>
                <a:cs typeface="Trebuchet MS" pitchFamily="34" charset="-120"/>
              </a:rPr>
              <a:t>Formuler en termes de bénéfices pour l'utilisateur</a:t>
            </a:r>
            <a:endParaRPr lang="en-US" sz="1000" dirty="0">
              <a:solidFill>
                <a:srgbClr val="474E67"/>
              </a:solidFill>
            </a:endParaRPr>
          </a:p>
        </p:txBody>
      </p:sp>
      <p:sp>
        <p:nvSpPr>
          <p:cNvPr id="194" name="S13_LEFT_3_BOX">
            <a:extLst>
              <a:ext uri="{FF2B5EF4-FFF2-40B4-BE49-F238E27FC236}">
                <a16:creationId xmlns:a16="http://schemas.microsoft.com/office/drawing/2014/main" id="{D2F27C6C-D3B1-8235-54C9-465C47ABC3C3}"/>
              </a:ext>
            </a:extLst>
          </p:cNvPr>
          <p:cNvSpPr/>
          <p:nvPr/>
        </p:nvSpPr>
        <p:spPr>
          <a:xfrm>
            <a:off x="347090" y="3302454"/>
            <a:ext cx="5504276" cy="538196"/>
          </a:xfrm>
          <a:prstGeom prst="rect">
            <a:avLst/>
          </a:prstGeom>
          <a:solidFill>
            <a:srgbClr val="FFFFFF"/>
          </a:solidFill>
          <a:ln w="6350">
            <a:solidFill>
              <a:srgbClr val="E0DFD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5" name="S13_LEFT_3_BULLET">
            <a:extLst>
              <a:ext uri="{FF2B5EF4-FFF2-40B4-BE49-F238E27FC236}">
                <a16:creationId xmlns:a16="http://schemas.microsoft.com/office/drawing/2014/main" id="{B918E5EF-D50B-887F-DA52-881CAA891AD5}"/>
              </a:ext>
            </a:extLst>
          </p:cNvPr>
          <p:cNvSpPr/>
          <p:nvPr/>
        </p:nvSpPr>
        <p:spPr>
          <a:xfrm>
            <a:off x="469407" y="3400308"/>
            <a:ext cx="318025" cy="318025"/>
          </a:xfrm>
          <a:prstGeom prst="ellipse">
            <a:avLst/>
          </a:prstGeom>
          <a:solidFill>
            <a:srgbClr val="E1F5EE"/>
          </a:solidFill>
          <a:ln w="635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7" name="S13_LEFT_3_ITEM">
            <a:extLst>
              <a:ext uri="{FF2B5EF4-FFF2-40B4-BE49-F238E27FC236}">
                <a16:creationId xmlns:a16="http://schemas.microsoft.com/office/drawing/2014/main" id="{59BE585C-46FD-8C1C-A3B5-D8DE650A1712}"/>
              </a:ext>
            </a:extLst>
          </p:cNvPr>
          <p:cNvSpPr/>
          <p:nvPr/>
        </p:nvSpPr>
        <p:spPr>
          <a:xfrm>
            <a:off x="897518" y="3351381"/>
            <a:ext cx="4831531" cy="4403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4E67"/>
                </a:solidFill>
                <a:ea typeface="Trebuchet MS" pitchFamily="34" charset="-122"/>
                <a:cs typeface="Trebuchet MS" pitchFamily="34" charset="-120"/>
              </a:rPr>
              <a:t>Mélanger les questions dans un ordre aléatoire (une seule version du questionnaire)</a:t>
            </a:r>
            <a:endParaRPr lang="en-US" sz="1000" dirty="0">
              <a:solidFill>
                <a:srgbClr val="474E67"/>
              </a:solidFill>
            </a:endParaRPr>
          </a:p>
        </p:txBody>
      </p:sp>
      <p:sp>
        <p:nvSpPr>
          <p:cNvPr id="198" name="S13_LEFT_4_BOX">
            <a:extLst>
              <a:ext uri="{FF2B5EF4-FFF2-40B4-BE49-F238E27FC236}">
                <a16:creationId xmlns:a16="http://schemas.microsoft.com/office/drawing/2014/main" id="{CBD62D04-E477-812B-CC5C-775B4BD9207B}"/>
              </a:ext>
            </a:extLst>
          </p:cNvPr>
          <p:cNvSpPr/>
          <p:nvPr/>
        </p:nvSpPr>
        <p:spPr>
          <a:xfrm>
            <a:off x="347090" y="3938504"/>
            <a:ext cx="5504276" cy="538196"/>
          </a:xfrm>
          <a:prstGeom prst="rect">
            <a:avLst/>
          </a:prstGeom>
          <a:solidFill>
            <a:srgbClr val="FFFFFF"/>
          </a:solidFill>
          <a:ln w="6350">
            <a:solidFill>
              <a:srgbClr val="E0DFD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9" name="S13_LEFT_4_BULLET">
            <a:extLst>
              <a:ext uri="{FF2B5EF4-FFF2-40B4-BE49-F238E27FC236}">
                <a16:creationId xmlns:a16="http://schemas.microsoft.com/office/drawing/2014/main" id="{D3C01A1C-9F65-AA76-EF94-17ECE47DB5EB}"/>
              </a:ext>
            </a:extLst>
          </p:cNvPr>
          <p:cNvSpPr/>
          <p:nvPr/>
        </p:nvSpPr>
        <p:spPr>
          <a:xfrm>
            <a:off x="469407" y="4036357"/>
            <a:ext cx="318025" cy="318025"/>
          </a:xfrm>
          <a:prstGeom prst="ellipse">
            <a:avLst/>
          </a:prstGeom>
          <a:solidFill>
            <a:srgbClr val="E1F5EE"/>
          </a:solidFill>
          <a:ln w="635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7" name="S13_LEFT_4_ITEM">
            <a:extLst>
              <a:ext uri="{FF2B5EF4-FFF2-40B4-BE49-F238E27FC236}">
                <a16:creationId xmlns:a16="http://schemas.microsoft.com/office/drawing/2014/main" id="{6DAA24D1-698C-89AF-9F74-09F1F61CBE3C}"/>
              </a:ext>
            </a:extLst>
          </p:cNvPr>
          <p:cNvSpPr/>
          <p:nvPr/>
        </p:nvSpPr>
        <p:spPr>
          <a:xfrm>
            <a:off x="897518" y="3987430"/>
            <a:ext cx="4831531" cy="4403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4E67"/>
                </a:solidFill>
                <a:ea typeface="Trebuchet MS" pitchFamily="34" charset="-122"/>
                <a:cs typeface="Trebuchet MS" pitchFamily="34" charset="-120"/>
              </a:rPr>
              <a:t>Données démographiques en fin de questionnaire (RGPD)</a:t>
            </a:r>
            <a:endParaRPr lang="en-US" sz="1000" dirty="0">
              <a:solidFill>
                <a:srgbClr val="474E67"/>
              </a:solidFill>
            </a:endParaRPr>
          </a:p>
        </p:txBody>
      </p:sp>
      <p:sp>
        <p:nvSpPr>
          <p:cNvPr id="212" name="S13_LEFT_5_BOX">
            <a:extLst>
              <a:ext uri="{FF2B5EF4-FFF2-40B4-BE49-F238E27FC236}">
                <a16:creationId xmlns:a16="http://schemas.microsoft.com/office/drawing/2014/main" id="{13A5105A-62D1-51E9-6E5B-F59259E041E0}"/>
              </a:ext>
            </a:extLst>
          </p:cNvPr>
          <p:cNvSpPr/>
          <p:nvPr/>
        </p:nvSpPr>
        <p:spPr>
          <a:xfrm>
            <a:off x="347090" y="4574553"/>
            <a:ext cx="5504276" cy="538196"/>
          </a:xfrm>
          <a:prstGeom prst="rect">
            <a:avLst/>
          </a:prstGeom>
          <a:solidFill>
            <a:srgbClr val="FFFFFF"/>
          </a:solidFill>
          <a:ln w="6350">
            <a:solidFill>
              <a:srgbClr val="E0DFD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3" name="S13_LEFT_5_BULLET">
            <a:extLst>
              <a:ext uri="{FF2B5EF4-FFF2-40B4-BE49-F238E27FC236}">
                <a16:creationId xmlns:a16="http://schemas.microsoft.com/office/drawing/2014/main" id="{2349A36A-0ECE-E413-0037-32F287CF6A54}"/>
              </a:ext>
            </a:extLst>
          </p:cNvPr>
          <p:cNvSpPr/>
          <p:nvPr/>
        </p:nvSpPr>
        <p:spPr>
          <a:xfrm>
            <a:off x="469407" y="4672407"/>
            <a:ext cx="318025" cy="318025"/>
          </a:xfrm>
          <a:prstGeom prst="ellipse">
            <a:avLst/>
          </a:prstGeom>
          <a:solidFill>
            <a:srgbClr val="E1F5EE"/>
          </a:solidFill>
          <a:ln w="635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5" name="S13_LEFT_5_ITEM">
            <a:extLst>
              <a:ext uri="{FF2B5EF4-FFF2-40B4-BE49-F238E27FC236}">
                <a16:creationId xmlns:a16="http://schemas.microsoft.com/office/drawing/2014/main" id="{B373403B-2FD3-495B-8C8F-CCBEE0EC571E}"/>
              </a:ext>
            </a:extLst>
          </p:cNvPr>
          <p:cNvSpPr/>
          <p:nvPr/>
        </p:nvSpPr>
        <p:spPr>
          <a:xfrm>
            <a:off x="897518" y="4623480"/>
            <a:ext cx="4831531" cy="4403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4E67"/>
                </a:solidFill>
                <a:ea typeface="Trebuchet MS" pitchFamily="34" charset="-122"/>
                <a:cs typeface="Trebuchet MS" pitchFamily="34" charset="-120"/>
              </a:rPr>
              <a:t>Maximum 10 fonctionnalités par questionnaire</a:t>
            </a:r>
            <a:endParaRPr lang="en-US" sz="1000" dirty="0">
              <a:solidFill>
                <a:srgbClr val="474E67"/>
              </a:solidFill>
            </a:endParaRPr>
          </a:p>
        </p:txBody>
      </p:sp>
      <p:sp>
        <p:nvSpPr>
          <p:cNvPr id="216" name="S13_RIGHT_TITLE">
            <a:extLst>
              <a:ext uri="{FF2B5EF4-FFF2-40B4-BE49-F238E27FC236}">
                <a16:creationId xmlns:a16="http://schemas.microsoft.com/office/drawing/2014/main" id="{9B72CB90-7571-446E-27C9-0F51E3EC8F18}"/>
              </a:ext>
            </a:extLst>
          </p:cNvPr>
          <p:cNvSpPr/>
          <p:nvPr/>
        </p:nvSpPr>
        <p:spPr>
          <a:xfrm>
            <a:off x="6096000" y="1577781"/>
            <a:ext cx="5748910" cy="366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93C1D"/>
                </a:solidFill>
                <a:ea typeface="Trebuchet MS" pitchFamily="34" charset="-122"/>
                <a:cs typeface="Trebuchet MS" pitchFamily="34" charset="-120"/>
              </a:rPr>
              <a:t>❌  À éviter</a:t>
            </a:r>
            <a:endParaRPr lang="en-US" sz="1200" dirty="0"/>
          </a:p>
        </p:txBody>
      </p:sp>
      <p:sp>
        <p:nvSpPr>
          <p:cNvPr id="217" name="S13_RIGHT_1_BOX">
            <a:extLst>
              <a:ext uri="{FF2B5EF4-FFF2-40B4-BE49-F238E27FC236}">
                <a16:creationId xmlns:a16="http://schemas.microsoft.com/office/drawing/2014/main" id="{EE7ADD49-37EC-63DE-A87F-24D44F6963C3}"/>
              </a:ext>
            </a:extLst>
          </p:cNvPr>
          <p:cNvSpPr/>
          <p:nvPr/>
        </p:nvSpPr>
        <p:spPr>
          <a:xfrm>
            <a:off x="6096000" y="2030355"/>
            <a:ext cx="5748910" cy="538196"/>
          </a:xfrm>
          <a:prstGeom prst="rect">
            <a:avLst/>
          </a:prstGeom>
          <a:solidFill>
            <a:srgbClr val="FFFFFF"/>
          </a:solidFill>
          <a:ln w="6350">
            <a:solidFill>
              <a:srgbClr val="E0DFD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8" name="S13_RIGHT_1_BULLET">
            <a:extLst>
              <a:ext uri="{FF2B5EF4-FFF2-40B4-BE49-F238E27FC236}">
                <a16:creationId xmlns:a16="http://schemas.microsoft.com/office/drawing/2014/main" id="{BF0DCA45-7CC7-D7B5-DAEF-DC4B9857257D}"/>
              </a:ext>
            </a:extLst>
          </p:cNvPr>
          <p:cNvSpPr/>
          <p:nvPr/>
        </p:nvSpPr>
        <p:spPr>
          <a:xfrm>
            <a:off x="6218317" y="2128209"/>
            <a:ext cx="318025" cy="318025"/>
          </a:xfrm>
          <a:prstGeom prst="ellipse">
            <a:avLst/>
          </a:prstGeom>
          <a:solidFill>
            <a:srgbClr val="FAECE7"/>
          </a:solidFill>
          <a:ln w="6350">
            <a:solidFill>
              <a:srgbClr val="993C1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0" name="S13_RIGHT_1_ITEM">
            <a:extLst>
              <a:ext uri="{FF2B5EF4-FFF2-40B4-BE49-F238E27FC236}">
                <a16:creationId xmlns:a16="http://schemas.microsoft.com/office/drawing/2014/main" id="{D610A2CE-5E1C-E189-2184-C5325C307B0D}"/>
              </a:ext>
            </a:extLst>
          </p:cNvPr>
          <p:cNvSpPr/>
          <p:nvPr/>
        </p:nvSpPr>
        <p:spPr>
          <a:xfrm>
            <a:off x="6646428" y="2079282"/>
            <a:ext cx="5076165" cy="4403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4E67"/>
                </a:solidFill>
                <a:ea typeface="Trebuchet MS" pitchFamily="34" charset="-122"/>
                <a:cs typeface="Trebuchet MS" pitchFamily="34" charset="-120"/>
              </a:rPr>
              <a:t>Formuler la question dysfonctionnelle comme la négation exacte de la fonctionnelle</a:t>
            </a:r>
            <a:endParaRPr lang="en-US" sz="1000" dirty="0">
              <a:solidFill>
                <a:srgbClr val="474E67"/>
              </a:solidFill>
            </a:endParaRPr>
          </a:p>
        </p:txBody>
      </p:sp>
      <p:sp>
        <p:nvSpPr>
          <p:cNvPr id="221" name="S13_RIGHT_2_BOX">
            <a:extLst>
              <a:ext uri="{FF2B5EF4-FFF2-40B4-BE49-F238E27FC236}">
                <a16:creationId xmlns:a16="http://schemas.microsoft.com/office/drawing/2014/main" id="{A9F1DAD6-C6C3-20E6-10AA-E8729601E942}"/>
              </a:ext>
            </a:extLst>
          </p:cNvPr>
          <p:cNvSpPr/>
          <p:nvPr/>
        </p:nvSpPr>
        <p:spPr>
          <a:xfrm>
            <a:off x="6096000" y="2666404"/>
            <a:ext cx="5748910" cy="538196"/>
          </a:xfrm>
          <a:prstGeom prst="rect">
            <a:avLst/>
          </a:prstGeom>
          <a:solidFill>
            <a:srgbClr val="FFFFFF"/>
          </a:solidFill>
          <a:ln w="6350">
            <a:solidFill>
              <a:srgbClr val="E0DFD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2" name="S13_RIGHT_2_BULLET">
            <a:extLst>
              <a:ext uri="{FF2B5EF4-FFF2-40B4-BE49-F238E27FC236}">
                <a16:creationId xmlns:a16="http://schemas.microsoft.com/office/drawing/2014/main" id="{8B190E67-5EB5-76D1-1453-DF12CDBBDD7F}"/>
              </a:ext>
            </a:extLst>
          </p:cNvPr>
          <p:cNvSpPr/>
          <p:nvPr/>
        </p:nvSpPr>
        <p:spPr>
          <a:xfrm>
            <a:off x="6218317" y="2764258"/>
            <a:ext cx="318025" cy="318025"/>
          </a:xfrm>
          <a:prstGeom prst="ellipse">
            <a:avLst/>
          </a:prstGeom>
          <a:solidFill>
            <a:srgbClr val="FAECE7"/>
          </a:solidFill>
          <a:ln w="6350">
            <a:solidFill>
              <a:srgbClr val="993C1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4" name="S13_RIGHT_2_ITEM">
            <a:extLst>
              <a:ext uri="{FF2B5EF4-FFF2-40B4-BE49-F238E27FC236}">
                <a16:creationId xmlns:a16="http://schemas.microsoft.com/office/drawing/2014/main" id="{66E63989-EBE5-5868-4770-854EF60BDEFB}"/>
              </a:ext>
            </a:extLst>
          </p:cNvPr>
          <p:cNvSpPr/>
          <p:nvPr/>
        </p:nvSpPr>
        <p:spPr>
          <a:xfrm>
            <a:off x="6646428" y="2715331"/>
            <a:ext cx="5076165" cy="4403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4E67"/>
                </a:solidFill>
                <a:ea typeface="Trebuchet MS" pitchFamily="34" charset="-122"/>
                <a:cs typeface="Trebuchet MS" pitchFamily="34" charset="-120"/>
              </a:rPr>
              <a:t>Utiliser une échelle classique (très satisfaisant...) à la place des 5 réponses Kano</a:t>
            </a:r>
            <a:endParaRPr lang="en-US" sz="1000" dirty="0">
              <a:solidFill>
                <a:srgbClr val="474E67"/>
              </a:solidFill>
            </a:endParaRPr>
          </a:p>
        </p:txBody>
      </p:sp>
      <p:sp>
        <p:nvSpPr>
          <p:cNvPr id="225" name="S13_RIGHT_3_BOX">
            <a:extLst>
              <a:ext uri="{FF2B5EF4-FFF2-40B4-BE49-F238E27FC236}">
                <a16:creationId xmlns:a16="http://schemas.microsoft.com/office/drawing/2014/main" id="{21F1D22A-63AB-22E7-180D-2CA737D8B27A}"/>
              </a:ext>
            </a:extLst>
          </p:cNvPr>
          <p:cNvSpPr/>
          <p:nvPr/>
        </p:nvSpPr>
        <p:spPr>
          <a:xfrm>
            <a:off x="6096000" y="3302454"/>
            <a:ext cx="5748910" cy="538196"/>
          </a:xfrm>
          <a:prstGeom prst="rect">
            <a:avLst/>
          </a:prstGeom>
          <a:solidFill>
            <a:srgbClr val="FFFFFF"/>
          </a:solidFill>
          <a:ln w="6350">
            <a:solidFill>
              <a:srgbClr val="E0DFD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6" name="S13_RIGHT_3_BULLET">
            <a:extLst>
              <a:ext uri="{FF2B5EF4-FFF2-40B4-BE49-F238E27FC236}">
                <a16:creationId xmlns:a16="http://schemas.microsoft.com/office/drawing/2014/main" id="{8E3CBB69-00FD-3F2C-AB49-7B8B4B7842F3}"/>
              </a:ext>
            </a:extLst>
          </p:cNvPr>
          <p:cNvSpPr/>
          <p:nvPr/>
        </p:nvSpPr>
        <p:spPr>
          <a:xfrm>
            <a:off x="6218317" y="3400308"/>
            <a:ext cx="318025" cy="318025"/>
          </a:xfrm>
          <a:prstGeom prst="ellipse">
            <a:avLst/>
          </a:prstGeom>
          <a:solidFill>
            <a:srgbClr val="FAECE7"/>
          </a:solidFill>
          <a:ln w="6350">
            <a:solidFill>
              <a:srgbClr val="993C1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8" name="S13_RIGHT_3_ITEM">
            <a:extLst>
              <a:ext uri="{FF2B5EF4-FFF2-40B4-BE49-F238E27FC236}">
                <a16:creationId xmlns:a16="http://schemas.microsoft.com/office/drawing/2014/main" id="{4F26A164-627C-F5C7-D7E2-59F46EC7BAB9}"/>
              </a:ext>
            </a:extLst>
          </p:cNvPr>
          <p:cNvSpPr/>
          <p:nvPr/>
        </p:nvSpPr>
        <p:spPr>
          <a:xfrm>
            <a:off x="6646428" y="3351381"/>
            <a:ext cx="5076165" cy="4403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4E67"/>
                </a:solidFill>
                <a:ea typeface="Trebuchet MS" pitchFamily="34" charset="-122"/>
                <a:cs typeface="Trebuchet MS" pitchFamily="34" charset="-120"/>
              </a:rPr>
              <a:t>Prioriser les fonctionnalités par simple comptage des catégories (sans indices SI/DI)</a:t>
            </a:r>
            <a:endParaRPr lang="en-US" sz="1000" dirty="0">
              <a:solidFill>
                <a:srgbClr val="474E67"/>
              </a:solidFill>
            </a:endParaRPr>
          </a:p>
        </p:txBody>
      </p:sp>
      <p:sp>
        <p:nvSpPr>
          <p:cNvPr id="229" name="S13_RIGHT_4_BOX">
            <a:extLst>
              <a:ext uri="{FF2B5EF4-FFF2-40B4-BE49-F238E27FC236}">
                <a16:creationId xmlns:a16="http://schemas.microsoft.com/office/drawing/2014/main" id="{F715DC76-7CEF-8CF3-9B86-7E6961D984C1}"/>
              </a:ext>
            </a:extLst>
          </p:cNvPr>
          <p:cNvSpPr/>
          <p:nvPr/>
        </p:nvSpPr>
        <p:spPr>
          <a:xfrm>
            <a:off x="6096000" y="3938504"/>
            <a:ext cx="5748910" cy="538196"/>
          </a:xfrm>
          <a:prstGeom prst="rect">
            <a:avLst/>
          </a:prstGeom>
          <a:solidFill>
            <a:srgbClr val="FFFFFF"/>
          </a:solidFill>
          <a:ln w="6350">
            <a:solidFill>
              <a:srgbClr val="E0DFD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0" name="S13_RIGHT_4_BULLET">
            <a:extLst>
              <a:ext uri="{FF2B5EF4-FFF2-40B4-BE49-F238E27FC236}">
                <a16:creationId xmlns:a16="http://schemas.microsoft.com/office/drawing/2014/main" id="{E5C9DCB9-8690-F8B2-1659-EA68EBA17151}"/>
              </a:ext>
            </a:extLst>
          </p:cNvPr>
          <p:cNvSpPr/>
          <p:nvPr/>
        </p:nvSpPr>
        <p:spPr>
          <a:xfrm>
            <a:off x="6218317" y="4036357"/>
            <a:ext cx="318025" cy="318025"/>
          </a:xfrm>
          <a:prstGeom prst="ellipse">
            <a:avLst/>
          </a:prstGeom>
          <a:solidFill>
            <a:srgbClr val="FAECE7"/>
          </a:solidFill>
          <a:ln w="6350">
            <a:solidFill>
              <a:srgbClr val="993C1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2" name="S13_RIGHT_4_ITEM">
            <a:extLst>
              <a:ext uri="{FF2B5EF4-FFF2-40B4-BE49-F238E27FC236}">
                <a16:creationId xmlns:a16="http://schemas.microsoft.com/office/drawing/2014/main" id="{2FEFFA89-8D43-7CE2-F8D6-EE81BF2AE613}"/>
              </a:ext>
            </a:extLst>
          </p:cNvPr>
          <p:cNvSpPr/>
          <p:nvPr/>
        </p:nvSpPr>
        <p:spPr>
          <a:xfrm>
            <a:off x="6646428" y="3987430"/>
            <a:ext cx="5076165" cy="4403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4E67"/>
                </a:solidFill>
                <a:ea typeface="Trebuchet MS" pitchFamily="34" charset="-122"/>
                <a:cs typeface="Trebuchet MS" pitchFamily="34" charset="-120"/>
              </a:rPr>
              <a:t>Lancer sans tester le questionnaire en amont</a:t>
            </a:r>
            <a:endParaRPr lang="en-US" sz="1000" dirty="0">
              <a:solidFill>
                <a:srgbClr val="474E67"/>
              </a:solidFill>
            </a:endParaRPr>
          </a:p>
        </p:txBody>
      </p:sp>
      <p:sp>
        <p:nvSpPr>
          <p:cNvPr id="244" name="S13_RIGHT_5_BOX">
            <a:extLst>
              <a:ext uri="{FF2B5EF4-FFF2-40B4-BE49-F238E27FC236}">
                <a16:creationId xmlns:a16="http://schemas.microsoft.com/office/drawing/2014/main" id="{C53E84FF-B5B4-6AF1-DD97-89E7BA9C0AA1}"/>
              </a:ext>
            </a:extLst>
          </p:cNvPr>
          <p:cNvSpPr/>
          <p:nvPr/>
        </p:nvSpPr>
        <p:spPr>
          <a:xfrm>
            <a:off x="6096000" y="4574554"/>
            <a:ext cx="5748910" cy="538196"/>
          </a:xfrm>
          <a:prstGeom prst="rect">
            <a:avLst/>
          </a:prstGeom>
          <a:solidFill>
            <a:srgbClr val="FFFFFF"/>
          </a:solidFill>
          <a:ln w="6350">
            <a:solidFill>
              <a:srgbClr val="E0DFD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5" name="S13_RIGHT_5_BULLET">
            <a:extLst>
              <a:ext uri="{FF2B5EF4-FFF2-40B4-BE49-F238E27FC236}">
                <a16:creationId xmlns:a16="http://schemas.microsoft.com/office/drawing/2014/main" id="{61590152-3936-3B4D-5DAE-CA73B52D8103}"/>
              </a:ext>
            </a:extLst>
          </p:cNvPr>
          <p:cNvSpPr/>
          <p:nvPr/>
        </p:nvSpPr>
        <p:spPr>
          <a:xfrm>
            <a:off x="6218317" y="4672407"/>
            <a:ext cx="318025" cy="318025"/>
          </a:xfrm>
          <a:prstGeom prst="ellipse">
            <a:avLst/>
          </a:prstGeom>
          <a:solidFill>
            <a:srgbClr val="FAECE7"/>
          </a:solidFill>
          <a:ln w="6350">
            <a:solidFill>
              <a:srgbClr val="993C1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7" name="S13_RIGHT_5_ITEM">
            <a:extLst>
              <a:ext uri="{FF2B5EF4-FFF2-40B4-BE49-F238E27FC236}">
                <a16:creationId xmlns:a16="http://schemas.microsoft.com/office/drawing/2014/main" id="{10FF9D9E-CF46-2055-42C4-8553778ECD68}"/>
              </a:ext>
            </a:extLst>
          </p:cNvPr>
          <p:cNvSpPr/>
          <p:nvPr/>
        </p:nvSpPr>
        <p:spPr>
          <a:xfrm>
            <a:off x="6646428" y="4623480"/>
            <a:ext cx="5076165" cy="4403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4E67"/>
                </a:solidFill>
                <a:ea typeface="Trebuchet MS" pitchFamily="34" charset="-122"/>
                <a:cs typeface="Trebuchet MS" pitchFamily="34" charset="-120"/>
              </a:rPr>
              <a:t>Lancer sans tester le questionnaire en amont</a:t>
            </a:r>
            <a:endParaRPr lang="en-US" sz="1000" dirty="0">
              <a:solidFill>
                <a:srgbClr val="474E6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299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21111-8E30-3452-60FF-858CB8739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4_TITLE">
            <a:extLst>
              <a:ext uri="{FF2B5EF4-FFF2-40B4-BE49-F238E27FC236}">
                <a16:creationId xmlns:a16="http://schemas.microsoft.com/office/drawing/2014/main" id="{83E4AAAC-3207-D361-46A5-6EDAFC47D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Comparatif qualitatif</a:t>
            </a:r>
            <a:endParaRPr lang="fr-FR" sz="2930" b="1" dirty="0">
              <a:solidFill>
                <a:srgbClr val="474A69"/>
              </a:solidFill>
              <a:latin typeface="Segoe UI Black"/>
            </a:endParaRPr>
          </a:p>
        </p:txBody>
      </p:sp>
      <p:sp>
        <p:nvSpPr>
          <p:cNvPr id="3" name="S14_TAKEAWAY">
            <a:extLst>
              <a:ext uri="{FF2B5EF4-FFF2-40B4-BE49-F238E27FC236}">
                <a16:creationId xmlns:a16="http://schemas.microsoft.com/office/drawing/2014/main" id="{2253C944-9342-F664-2208-647C51C814AC}"/>
              </a:ext>
            </a:extLst>
          </p:cNvPr>
          <p:cNvSpPr/>
          <p:nvPr/>
        </p:nvSpPr>
        <p:spPr>
          <a:xfrm>
            <a:off x="393634" y="6074571"/>
            <a:ext cx="11413297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hade val="30000"/>
                  <a:satMod val="115000"/>
                </a:srgbClr>
              </a:gs>
              <a:gs pos="50000">
                <a:srgbClr val="A25871">
                  <a:shade val="67500"/>
                  <a:satMod val="115000"/>
                </a:srgbClr>
              </a:gs>
              <a:gs pos="100000">
                <a:srgbClr val="A25871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599" b="1" dirty="0" err="1"/>
              <a:t>Take</a:t>
            </a:r>
            <a:r>
              <a:rPr lang="fr-FR" sz="1599" b="1" dirty="0"/>
              <a:t> </a:t>
            </a:r>
            <a:r>
              <a:rPr lang="fr-FR" sz="1599" b="1" dirty="0" err="1"/>
              <a:t>away</a:t>
            </a:r>
            <a:endParaRPr lang="fr-FR" sz="1599" b="1" dirty="0"/>
          </a:p>
        </p:txBody>
      </p:sp>
      <p:grpSp>
        <p:nvGrpSpPr>
          <p:cNvPr id="27" name="Comp_quali_bg">
            <a:extLst>
              <a:ext uri="{FF2B5EF4-FFF2-40B4-BE49-F238E27FC236}">
                <a16:creationId xmlns:a16="http://schemas.microsoft.com/office/drawing/2014/main" id="{AE0AC896-B86B-559C-D225-766122DBE979}"/>
              </a:ext>
            </a:extLst>
          </p:cNvPr>
          <p:cNvGrpSpPr/>
          <p:nvPr/>
        </p:nvGrpSpPr>
        <p:grpSpPr>
          <a:xfrm>
            <a:off x="1140619" y="1409700"/>
            <a:ext cx="9910763" cy="4191000"/>
            <a:chOff x="1140619" y="1409700"/>
            <a:chExt cx="9910763" cy="4191000"/>
          </a:xfrm>
        </p:grpSpPr>
        <p:cxnSp>
          <p:nvCxnSpPr>
            <p:cNvPr id="7" name="Connecteur droit 6">
              <a:extLst>
                <a:ext uri="{FF2B5EF4-FFF2-40B4-BE49-F238E27FC236}">
                  <a16:creationId xmlns:a16="http://schemas.microsoft.com/office/drawing/2014/main" id="{41AB712F-D521-F30B-D1D3-248BE00A6F8D}"/>
                </a:ext>
              </a:extLst>
            </p:cNvPr>
            <p:cNvCxnSpPr>
              <a:stCxn id="4" idx="0"/>
              <a:endCxn id="5" idx="0"/>
            </p:cNvCxnSpPr>
            <p:nvPr/>
          </p:nvCxnSpPr>
          <p:spPr>
            <a:xfrm>
              <a:off x="3397242" y="1409700"/>
              <a:ext cx="5397519" cy="0"/>
            </a:xfrm>
            <a:prstGeom prst="line">
              <a:avLst/>
            </a:prstGeom>
            <a:ln w="57150">
              <a:solidFill>
                <a:srgbClr val="FDA85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cteur droit 7">
              <a:extLst>
                <a:ext uri="{FF2B5EF4-FFF2-40B4-BE49-F238E27FC236}">
                  <a16:creationId xmlns:a16="http://schemas.microsoft.com/office/drawing/2014/main" id="{5242140A-CAEB-BBBB-69BE-79B838FE0EFE}"/>
                </a:ext>
              </a:extLst>
            </p:cNvPr>
            <p:cNvCxnSpPr/>
            <p:nvPr/>
          </p:nvCxnSpPr>
          <p:spPr>
            <a:xfrm>
              <a:off x="3397242" y="5600700"/>
              <a:ext cx="5397519" cy="0"/>
            </a:xfrm>
            <a:prstGeom prst="line">
              <a:avLst/>
            </a:prstGeom>
            <a:ln w="57150">
              <a:solidFill>
                <a:srgbClr val="6A5D7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Rectangle : coins arrondis 3">
              <a:extLst>
                <a:ext uri="{FF2B5EF4-FFF2-40B4-BE49-F238E27FC236}">
                  <a16:creationId xmlns:a16="http://schemas.microsoft.com/office/drawing/2014/main" id="{8DE6C9F0-8C3D-8C8E-6C07-1481C22481AC}"/>
                </a:ext>
              </a:extLst>
            </p:cNvPr>
            <p:cNvSpPr/>
            <p:nvPr/>
          </p:nvSpPr>
          <p:spPr>
            <a:xfrm>
              <a:off x="1140619" y="1409700"/>
              <a:ext cx="4513244" cy="4191000"/>
            </a:xfrm>
            <a:prstGeom prst="roundRect">
              <a:avLst/>
            </a:prstGeom>
            <a:noFill/>
            <a:ln w="57150">
              <a:solidFill>
                <a:srgbClr val="6A5D7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" name="Rectangle : coins arrondis 4">
              <a:extLst>
                <a:ext uri="{FF2B5EF4-FFF2-40B4-BE49-F238E27FC236}">
                  <a16:creationId xmlns:a16="http://schemas.microsoft.com/office/drawing/2014/main" id="{D737EF75-33D0-C118-3D0F-1CE4E4E214FC}"/>
                </a:ext>
              </a:extLst>
            </p:cNvPr>
            <p:cNvSpPr/>
            <p:nvPr/>
          </p:nvSpPr>
          <p:spPr>
            <a:xfrm>
              <a:off x="6538138" y="1409700"/>
              <a:ext cx="4513244" cy="4191000"/>
            </a:xfrm>
            <a:prstGeom prst="roundRect">
              <a:avLst/>
            </a:prstGeom>
            <a:noFill/>
            <a:ln w="57150">
              <a:solidFill>
                <a:srgbClr val="FDA85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C0F5E60-5794-7E9E-17F9-25D5DCBA6A9D}"/>
                </a:ext>
              </a:extLst>
            </p:cNvPr>
            <p:cNvSpPr/>
            <p:nvPr/>
          </p:nvSpPr>
          <p:spPr>
            <a:xfrm>
              <a:off x="4505455" y="4868807"/>
              <a:ext cx="1929326" cy="704849"/>
            </a:xfrm>
            <a:prstGeom prst="rect">
              <a:avLst/>
            </a:prstGeom>
            <a:solidFill>
              <a:schemeClr val="bg1"/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83AD68E-3BB7-605D-7286-29C85FFC8892}"/>
                </a:ext>
              </a:extLst>
            </p:cNvPr>
            <p:cNvSpPr/>
            <p:nvPr/>
          </p:nvSpPr>
          <p:spPr>
            <a:xfrm>
              <a:off x="5975418" y="1436745"/>
              <a:ext cx="1929326" cy="704849"/>
            </a:xfrm>
            <a:prstGeom prst="rect">
              <a:avLst/>
            </a:prstGeom>
            <a:solidFill>
              <a:schemeClr val="bg1"/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" name="Ellipse 22">
              <a:extLst>
                <a:ext uri="{FF2B5EF4-FFF2-40B4-BE49-F238E27FC236}">
                  <a16:creationId xmlns:a16="http://schemas.microsoft.com/office/drawing/2014/main" id="{EC9F6390-EA6C-72BB-88A2-2044F341F7F6}"/>
                </a:ext>
              </a:extLst>
            </p:cNvPr>
            <p:cNvSpPr/>
            <p:nvPr/>
          </p:nvSpPr>
          <p:spPr>
            <a:xfrm>
              <a:off x="5383863" y="4746579"/>
              <a:ext cx="540000" cy="540000"/>
            </a:xfrm>
            <a:prstGeom prst="ellipse">
              <a:avLst/>
            </a:prstGeom>
            <a:solidFill>
              <a:srgbClr val="6A5D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4" name="Ellipse 23">
              <a:extLst>
                <a:ext uri="{FF2B5EF4-FFF2-40B4-BE49-F238E27FC236}">
                  <a16:creationId xmlns:a16="http://schemas.microsoft.com/office/drawing/2014/main" id="{5B11131E-7DE6-738E-AEAF-5D99D73B8B75}"/>
                </a:ext>
              </a:extLst>
            </p:cNvPr>
            <p:cNvSpPr/>
            <p:nvPr/>
          </p:nvSpPr>
          <p:spPr>
            <a:xfrm>
              <a:off x="6268138" y="1736522"/>
              <a:ext cx="540000" cy="540000"/>
            </a:xfrm>
            <a:prstGeom prst="ellipse">
              <a:avLst/>
            </a:prstGeom>
            <a:solidFill>
              <a:srgbClr val="FDA8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25" name="S14_LEFT_TITLE">
            <a:extLst>
              <a:ext uri="{FF2B5EF4-FFF2-40B4-BE49-F238E27FC236}">
                <a16:creationId xmlns:a16="http://schemas.microsoft.com/office/drawing/2014/main" id="{38277D2F-9DC6-462B-C5BE-08262B0EC06E}"/>
              </a:ext>
            </a:extLst>
          </p:cNvPr>
          <p:cNvSpPr txBox="1"/>
          <p:nvPr/>
        </p:nvSpPr>
        <p:spPr>
          <a:xfrm>
            <a:off x="2049775" y="1700677"/>
            <a:ext cx="269493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200" b="1" cap="small" dirty="0" err="1">
                <a:solidFill>
                  <a:srgbClr val="6A5D79"/>
                </a:solidFill>
              </a:rPr>
              <a:t>Dmaic</a:t>
            </a:r>
            <a:endParaRPr lang="fr-FR" sz="2200" b="1" cap="small" dirty="0">
              <a:solidFill>
                <a:srgbClr val="6A5D79"/>
              </a:solidFill>
            </a:endParaRPr>
          </a:p>
        </p:txBody>
      </p:sp>
      <p:sp>
        <p:nvSpPr>
          <p:cNvPr id="26" name="S14_RIGHT_TITLE">
            <a:extLst>
              <a:ext uri="{FF2B5EF4-FFF2-40B4-BE49-F238E27FC236}">
                <a16:creationId xmlns:a16="http://schemas.microsoft.com/office/drawing/2014/main" id="{7D07336F-F3A7-9C91-DCC5-0013DFB76858}"/>
              </a:ext>
            </a:extLst>
          </p:cNvPr>
          <p:cNvSpPr txBox="1"/>
          <p:nvPr/>
        </p:nvSpPr>
        <p:spPr>
          <a:xfrm>
            <a:off x="7441552" y="1700677"/>
            <a:ext cx="269493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200" b="1" cap="small" dirty="0" err="1">
                <a:solidFill>
                  <a:srgbClr val="FDA85B"/>
                </a:solidFill>
              </a:rPr>
              <a:t>Dmadv</a:t>
            </a:r>
            <a:endParaRPr lang="fr-FR" sz="2200" b="1" cap="small" dirty="0">
              <a:solidFill>
                <a:srgbClr val="FDA85B"/>
              </a:solidFill>
            </a:endParaRPr>
          </a:p>
        </p:txBody>
      </p:sp>
      <p:sp>
        <p:nvSpPr>
          <p:cNvPr id="28" name="S14_LEFT_1_ITEM">
            <a:extLst>
              <a:ext uri="{FF2B5EF4-FFF2-40B4-BE49-F238E27FC236}">
                <a16:creationId xmlns:a16="http://schemas.microsoft.com/office/drawing/2014/main" id="{BFC7390D-7F08-8167-90C8-E6EA48EDA7EC}"/>
              </a:ext>
            </a:extLst>
          </p:cNvPr>
          <p:cNvSpPr/>
          <p:nvPr/>
        </p:nvSpPr>
        <p:spPr>
          <a:xfrm>
            <a:off x="1301607" y="2325281"/>
            <a:ext cx="4025959" cy="4403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4E67"/>
                </a:solidFill>
                <a:ea typeface="Trebuchet MS" pitchFamily="34" charset="-122"/>
                <a:cs typeface="Trebuchet MS" pitchFamily="34" charset="-120"/>
              </a:rPr>
              <a:t>Questions </a:t>
            </a:r>
            <a:r>
              <a:rPr lang="en-US" sz="1000" b="1" dirty="0">
                <a:solidFill>
                  <a:srgbClr val="070E1D"/>
                </a:solidFill>
                <a:ea typeface="Trebuchet MS" pitchFamily="34" charset="-122"/>
                <a:cs typeface="Trebuchet MS" pitchFamily="34" charset="-120"/>
              </a:rPr>
              <a:t>précises</a:t>
            </a:r>
            <a:r>
              <a:rPr lang="en-US" sz="1000" dirty="0">
                <a:solidFill>
                  <a:srgbClr val="474E67"/>
                </a:solidFill>
                <a:ea typeface="Trebuchet MS" pitchFamily="34" charset="-122"/>
                <a:cs typeface="Trebuchet MS" pitchFamily="34" charset="-120"/>
              </a:rPr>
              <a:t>, portant sur une seule caractéristique</a:t>
            </a:r>
            <a:endParaRPr lang="en-US" sz="1000" dirty="0">
              <a:solidFill>
                <a:srgbClr val="474E67"/>
              </a:solidFill>
            </a:endParaRPr>
          </a:p>
        </p:txBody>
      </p:sp>
      <p:sp>
        <p:nvSpPr>
          <p:cNvPr id="29" name="S14_LEFT_2_ITEM">
            <a:extLst>
              <a:ext uri="{FF2B5EF4-FFF2-40B4-BE49-F238E27FC236}">
                <a16:creationId xmlns:a16="http://schemas.microsoft.com/office/drawing/2014/main" id="{413ECD76-4FA0-535C-3E34-B0AEB553A62D}"/>
              </a:ext>
            </a:extLst>
          </p:cNvPr>
          <p:cNvSpPr/>
          <p:nvPr/>
        </p:nvSpPr>
        <p:spPr>
          <a:xfrm>
            <a:off x="1301607" y="2937202"/>
            <a:ext cx="4025959" cy="4403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4E67"/>
                </a:solidFill>
                <a:ea typeface="Trebuchet MS" pitchFamily="34" charset="-122"/>
                <a:cs typeface="Trebuchet MS" pitchFamily="34" charset="-120"/>
              </a:rPr>
              <a:t>Formuler en termes de </a:t>
            </a:r>
            <a:r>
              <a:rPr lang="en-US" sz="1000" b="1" dirty="0">
                <a:solidFill>
                  <a:srgbClr val="070E1D"/>
                </a:solidFill>
                <a:ea typeface="Trebuchet MS" pitchFamily="34" charset="-122"/>
                <a:cs typeface="Trebuchet MS" pitchFamily="34" charset="-120"/>
              </a:rPr>
              <a:t>bénéfices</a:t>
            </a:r>
            <a:r>
              <a:rPr lang="en-US" sz="1000" dirty="0">
                <a:solidFill>
                  <a:srgbClr val="474E67"/>
                </a:solidFill>
                <a:ea typeface="Trebuchet MS" pitchFamily="34" charset="-122"/>
                <a:cs typeface="Trebuchet MS" pitchFamily="34" charset="-120"/>
              </a:rPr>
              <a:t> pour l'utilisateur</a:t>
            </a:r>
            <a:endParaRPr lang="en-US" sz="1000" dirty="0">
              <a:solidFill>
                <a:srgbClr val="474E67"/>
              </a:solidFill>
            </a:endParaRPr>
          </a:p>
        </p:txBody>
      </p:sp>
      <p:sp>
        <p:nvSpPr>
          <p:cNvPr id="30" name="S14_LEFT_3_ITEM">
            <a:extLst>
              <a:ext uri="{FF2B5EF4-FFF2-40B4-BE49-F238E27FC236}">
                <a16:creationId xmlns:a16="http://schemas.microsoft.com/office/drawing/2014/main" id="{61FFB393-A1C7-C827-75ED-79F9E3D116CA}"/>
              </a:ext>
            </a:extLst>
          </p:cNvPr>
          <p:cNvSpPr/>
          <p:nvPr/>
        </p:nvSpPr>
        <p:spPr>
          <a:xfrm>
            <a:off x="1301607" y="3549123"/>
            <a:ext cx="4025959" cy="4403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4E67"/>
                </a:solidFill>
                <a:ea typeface="Trebuchet MS" pitchFamily="34" charset="-122"/>
                <a:cs typeface="Trebuchet MS" pitchFamily="34" charset="-120"/>
              </a:rPr>
              <a:t>Mélanger les questions dans un ordre </a:t>
            </a:r>
            <a:r>
              <a:rPr lang="en-US" sz="1000" b="1" dirty="0">
                <a:solidFill>
                  <a:srgbClr val="070E1D"/>
                </a:solidFill>
                <a:ea typeface="Trebuchet MS" pitchFamily="34" charset="-122"/>
                <a:cs typeface="Trebuchet MS" pitchFamily="34" charset="-120"/>
              </a:rPr>
              <a:t>aléatoire</a:t>
            </a:r>
            <a:r>
              <a:rPr lang="en-US" sz="1000" dirty="0">
                <a:solidFill>
                  <a:srgbClr val="474E67"/>
                </a:solidFill>
                <a:ea typeface="Trebuchet MS" pitchFamily="34" charset="-122"/>
                <a:cs typeface="Trebuchet MS" pitchFamily="34" charset="-120"/>
              </a:rPr>
              <a:t> (une seule version du questionnaire)</a:t>
            </a:r>
            <a:endParaRPr lang="en-US" sz="1000" dirty="0">
              <a:solidFill>
                <a:srgbClr val="474E67"/>
              </a:solidFill>
            </a:endParaRPr>
          </a:p>
        </p:txBody>
      </p:sp>
      <p:sp>
        <p:nvSpPr>
          <p:cNvPr id="31" name="S14_LEFT_4_ITEM">
            <a:extLst>
              <a:ext uri="{FF2B5EF4-FFF2-40B4-BE49-F238E27FC236}">
                <a16:creationId xmlns:a16="http://schemas.microsoft.com/office/drawing/2014/main" id="{CED309C1-A218-40FE-6B25-4099AFC25D0E}"/>
              </a:ext>
            </a:extLst>
          </p:cNvPr>
          <p:cNvSpPr/>
          <p:nvPr/>
        </p:nvSpPr>
        <p:spPr>
          <a:xfrm>
            <a:off x="1301607" y="4161044"/>
            <a:ext cx="4025959" cy="4403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4E67"/>
                </a:solidFill>
                <a:ea typeface="Trebuchet MS" pitchFamily="34" charset="-122"/>
                <a:cs typeface="Trebuchet MS" pitchFamily="34" charset="-120"/>
              </a:rPr>
              <a:t>Formuler en termes de bénéfices pour </a:t>
            </a:r>
            <a:r>
              <a:rPr lang="en-US" sz="1000" b="1" dirty="0">
                <a:solidFill>
                  <a:srgbClr val="070E1D"/>
                </a:solidFill>
                <a:ea typeface="Trebuchet MS" pitchFamily="34" charset="-122"/>
                <a:cs typeface="Trebuchet MS" pitchFamily="34" charset="-120"/>
              </a:rPr>
              <a:t>l'utilisateur</a:t>
            </a:r>
            <a:endParaRPr lang="en-US" sz="1000" b="1" dirty="0">
              <a:solidFill>
                <a:srgbClr val="070E1D"/>
              </a:solidFill>
            </a:endParaRPr>
          </a:p>
        </p:txBody>
      </p:sp>
      <p:sp>
        <p:nvSpPr>
          <p:cNvPr id="32" name="S14_LEFT_5_ITEM">
            <a:extLst>
              <a:ext uri="{FF2B5EF4-FFF2-40B4-BE49-F238E27FC236}">
                <a16:creationId xmlns:a16="http://schemas.microsoft.com/office/drawing/2014/main" id="{1A0794A5-3A1B-1564-6D95-807502FAD555}"/>
              </a:ext>
            </a:extLst>
          </p:cNvPr>
          <p:cNvSpPr/>
          <p:nvPr/>
        </p:nvSpPr>
        <p:spPr>
          <a:xfrm>
            <a:off x="1301607" y="4772964"/>
            <a:ext cx="4025959" cy="4403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4E67"/>
                </a:solidFill>
                <a:ea typeface="Trebuchet MS" pitchFamily="34" charset="-122"/>
                <a:cs typeface="Trebuchet MS" pitchFamily="34" charset="-120"/>
              </a:rPr>
              <a:t>Mélanger les </a:t>
            </a:r>
            <a:r>
              <a:rPr lang="en-US" sz="1000" b="1" dirty="0">
                <a:solidFill>
                  <a:srgbClr val="070E1D"/>
                </a:solidFill>
                <a:ea typeface="Trebuchet MS" pitchFamily="34" charset="-122"/>
                <a:cs typeface="Trebuchet MS" pitchFamily="34" charset="-120"/>
              </a:rPr>
              <a:t>questions</a:t>
            </a:r>
            <a:r>
              <a:rPr lang="en-US" sz="1000" dirty="0">
                <a:solidFill>
                  <a:srgbClr val="474E67"/>
                </a:solidFill>
                <a:ea typeface="Trebuchet MS" pitchFamily="34" charset="-122"/>
                <a:cs typeface="Trebuchet MS" pitchFamily="34" charset="-120"/>
              </a:rPr>
              <a:t> dans un ordre aléatoire (une seule version du questionnaire)</a:t>
            </a:r>
            <a:endParaRPr lang="en-US" sz="1000" dirty="0">
              <a:solidFill>
                <a:srgbClr val="474E67"/>
              </a:solidFill>
            </a:endParaRPr>
          </a:p>
        </p:txBody>
      </p:sp>
      <p:sp>
        <p:nvSpPr>
          <p:cNvPr id="38" name="S14_RIGHT_1_ITEM">
            <a:extLst>
              <a:ext uri="{FF2B5EF4-FFF2-40B4-BE49-F238E27FC236}">
                <a16:creationId xmlns:a16="http://schemas.microsoft.com/office/drawing/2014/main" id="{F7AECB27-EBC4-5459-A748-A0CB66C61244}"/>
              </a:ext>
            </a:extLst>
          </p:cNvPr>
          <p:cNvSpPr/>
          <p:nvPr/>
        </p:nvSpPr>
        <p:spPr>
          <a:xfrm>
            <a:off x="6704781" y="2325281"/>
            <a:ext cx="4025959" cy="4403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4E67"/>
                </a:solidFill>
                <a:ea typeface="Trebuchet MS" pitchFamily="34" charset="-122"/>
                <a:cs typeface="Trebuchet MS" pitchFamily="34" charset="-120"/>
              </a:rPr>
              <a:t>Questions </a:t>
            </a:r>
            <a:r>
              <a:rPr lang="en-US" sz="1000" b="1" dirty="0">
                <a:solidFill>
                  <a:srgbClr val="070E1D"/>
                </a:solidFill>
                <a:ea typeface="Trebuchet MS" pitchFamily="34" charset="-122"/>
                <a:cs typeface="Trebuchet MS" pitchFamily="34" charset="-120"/>
              </a:rPr>
              <a:t>précises</a:t>
            </a:r>
            <a:r>
              <a:rPr lang="en-US" sz="1000" dirty="0">
                <a:solidFill>
                  <a:srgbClr val="474E67"/>
                </a:solidFill>
                <a:ea typeface="Trebuchet MS" pitchFamily="34" charset="-122"/>
                <a:cs typeface="Trebuchet MS" pitchFamily="34" charset="-120"/>
              </a:rPr>
              <a:t>, portant sur une seule caractéristique</a:t>
            </a:r>
            <a:endParaRPr lang="en-US" sz="1000" dirty="0">
              <a:solidFill>
                <a:srgbClr val="474E67"/>
              </a:solidFill>
            </a:endParaRPr>
          </a:p>
        </p:txBody>
      </p:sp>
      <p:sp>
        <p:nvSpPr>
          <p:cNvPr id="39" name="S14_RIGHT_2_ITEM">
            <a:extLst>
              <a:ext uri="{FF2B5EF4-FFF2-40B4-BE49-F238E27FC236}">
                <a16:creationId xmlns:a16="http://schemas.microsoft.com/office/drawing/2014/main" id="{5BC772C8-67F3-533A-FDAF-99924B6524D8}"/>
              </a:ext>
            </a:extLst>
          </p:cNvPr>
          <p:cNvSpPr/>
          <p:nvPr/>
        </p:nvSpPr>
        <p:spPr>
          <a:xfrm>
            <a:off x="6704781" y="2937202"/>
            <a:ext cx="4025959" cy="4403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4E67"/>
                </a:solidFill>
                <a:ea typeface="Trebuchet MS" pitchFamily="34" charset="-122"/>
                <a:cs typeface="Trebuchet MS" pitchFamily="34" charset="-120"/>
              </a:rPr>
              <a:t>Formuler en termes de </a:t>
            </a:r>
            <a:r>
              <a:rPr lang="en-US" sz="1000" b="1" dirty="0">
                <a:solidFill>
                  <a:srgbClr val="070E1D"/>
                </a:solidFill>
                <a:ea typeface="Trebuchet MS" pitchFamily="34" charset="-122"/>
                <a:cs typeface="Trebuchet MS" pitchFamily="34" charset="-120"/>
              </a:rPr>
              <a:t>bénéfices</a:t>
            </a:r>
            <a:r>
              <a:rPr lang="en-US" sz="1000" dirty="0">
                <a:solidFill>
                  <a:srgbClr val="474E67"/>
                </a:solidFill>
                <a:ea typeface="Trebuchet MS" pitchFamily="34" charset="-122"/>
                <a:cs typeface="Trebuchet MS" pitchFamily="34" charset="-120"/>
              </a:rPr>
              <a:t> pour l'utilisateur</a:t>
            </a:r>
            <a:endParaRPr lang="en-US" sz="1000" dirty="0">
              <a:solidFill>
                <a:srgbClr val="474E67"/>
              </a:solidFill>
            </a:endParaRPr>
          </a:p>
        </p:txBody>
      </p:sp>
      <p:sp>
        <p:nvSpPr>
          <p:cNvPr id="40" name="S14_RIGHT_3_ITEM">
            <a:extLst>
              <a:ext uri="{FF2B5EF4-FFF2-40B4-BE49-F238E27FC236}">
                <a16:creationId xmlns:a16="http://schemas.microsoft.com/office/drawing/2014/main" id="{F5204BA0-E32A-6C45-179B-F05646356DFF}"/>
              </a:ext>
            </a:extLst>
          </p:cNvPr>
          <p:cNvSpPr/>
          <p:nvPr/>
        </p:nvSpPr>
        <p:spPr>
          <a:xfrm>
            <a:off x="6704781" y="3549123"/>
            <a:ext cx="4025959" cy="4403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4E67"/>
                </a:solidFill>
                <a:ea typeface="Trebuchet MS" pitchFamily="34" charset="-122"/>
                <a:cs typeface="Trebuchet MS" pitchFamily="34" charset="-120"/>
              </a:rPr>
              <a:t>Mélanger les questions dans un ordre </a:t>
            </a:r>
            <a:r>
              <a:rPr lang="en-US" sz="1000" b="1" dirty="0">
                <a:solidFill>
                  <a:srgbClr val="070E1D"/>
                </a:solidFill>
                <a:ea typeface="Trebuchet MS" pitchFamily="34" charset="-122"/>
                <a:cs typeface="Trebuchet MS" pitchFamily="34" charset="-120"/>
              </a:rPr>
              <a:t>aléatoire</a:t>
            </a:r>
            <a:r>
              <a:rPr lang="en-US" sz="1000" dirty="0">
                <a:solidFill>
                  <a:srgbClr val="474E67"/>
                </a:solidFill>
                <a:ea typeface="Trebuchet MS" pitchFamily="34" charset="-122"/>
                <a:cs typeface="Trebuchet MS" pitchFamily="34" charset="-120"/>
              </a:rPr>
              <a:t> (une seule version du questionnaire)</a:t>
            </a:r>
            <a:endParaRPr lang="en-US" sz="1000" dirty="0">
              <a:solidFill>
                <a:srgbClr val="474E67"/>
              </a:solidFill>
            </a:endParaRPr>
          </a:p>
        </p:txBody>
      </p:sp>
      <p:sp>
        <p:nvSpPr>
          <p:cNvPr id="41" name="S14_RIGHT_4_ITEM">
            <a:extLst>
              <a:ext uri="{FF2B5EF4-FFF2-40B4-BE49-F238E27FC236}">
                <a16:creationId xmlns:a16="http://schemas.microsoft.com/office/drawing/2014/main" id="{BCD84929-F749-42CD-966E-1E2A04058E1E}"/>
              </a:ext>
            </a:extLst>
          </p:cNvPr>
          <p:cNvSpPr/>
          <p:nvPr/>
        </p:nvSpPr>
        <p:spPr>
          <a:xfrm>
            <a:off x="6704781" y="4161044"/>
            <a:ext cx="4025959" cy="4403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4E67"/>
                </a:solidFill>
                <a:ea typeface="Trebuchet MS" pitchFamily="34" charset="-122"/>
                <a:cs typeface="Trebuchet MS" pitchFamily="34" charset="-120"/>
              </a:rPr>
              <a:t>Formuler en termes de bénéfices pour </a:t>
            </a:r>
            <a:r>
              <a:rPr lang="en-US" sz="1000" b="1" dirty="0">
                <a:solidFill>
                  <a:srgbClr val="070E1D"/>
                </a:solidFill>
                <a:ea typeface="Trebuchet MS" pitchFamily="34" charset="-122"/>
                <a:cs typeface="Trebuchet MS" pitchFamily="34" charset="-120"/>
              </a:rPr>
              <a:t>l'utilisateur</a:t>
            </a:r>
            <a:endParaRPr lang="en-US" sz="1000" b="1" dirty="0">
              <a:solidFill>
                <a:srgbClr val="070E1D"/>
              </a:solidFill>
            </a:endParaRPr>
          </a:p>
        </p:txBody>
      </p:sp>
      <p:sp>
        <p:nvSpPr>
          <p:cNvPr id="42" name="S14_RIGHT_5_ITEM">
            <a:extLst>
              <a:ext uri="{FF2B5EF4-FFF2-40B4-BE49-F238E27FC236}">
                <a16:creationId xmlns:a16="http://schemas.microsoft.com/office/drawing/2014/main" id="{28A5B968-9C40-5A86-DE4B-79EF20F6060B}"/>
              </a:ext>
            </a:extLst>
          </p:cNvPr>
          <p:cNvSpPr/>
          <p:nvPr/>
        </p:nvSpPr>
        <p:spPr>
          <a:xfrm>
            <a:off x="6704781" y="4772964"/>
            <a:ext cx="4025959" cy="4403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4E67"/>
                </a:solidFill>
                <a:ea typeface="Trebuchet MS" pitchFamily="34" charset="-122"/>
                <a:cs typeface="Trebuchet MS" pitchFamily="34" charset="-120"/>
              </a:rPr>
              <a:t>Mélanger les </a:t>
            </a:r>
            <a:r>
              <a:rPr lang="en-US" sz="1000" b="1" dirty="0">
                <a:solidFill>
                  <a:srgbClr val="070E1D"/>
                </a:solidFill>
                <a:ea typeface="Trebuchet MS" pitchFamily="34" charset="-122"/>
                <a:cs typeface="Trebuchet MS" pitchFamily="34" charset="-120"/>
              </a:rPr>
              <a:t>questions</a:t>
            </a:r>
            <a:r>
              <a:rPr lang="en-US" sz="1000" dirty="0">
                <a:solidFill>
                  <a:srgbClr val="474E67"/>
                </a:solidFill>
                <a:ea typeface="Trebuchet MS" pitchFamily="34" charset="-122"/>
                <a:cs typeface="Trebuchet MS" pitchFamily="34" charset="-120"/>
              </a:rPr>
              <a:t> dans un ordre aléatoire (une seule version du questionnaire)</a:t>
            </a:r>
            <a:endParaRPr lang="en-US" sz="1000" dirty="0">
              <a:solidFill>
                <a:srgbClr val="474E6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2656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16A11-C289-9F15-DF3C-2E18BC704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29E3C29C-221A-0892-7B28-2E836468412B}"/>
              </a:ext>
            </a:extLst>
          </p:cNvPr>
          <p:cNvCxnSpPr>
            <a:cxnSpLocks/>
          </p:cNvCxnSpPr>
          <p:nvPr/>
        </p:nvCxnSpPr>
        <p:spPr>
          <a:xfrm>
            <a:off x="389353" y="6005687"/>
            <a:ext cx="11412000" cy="0"/>
          </a:xfrm>
          <a:prstGeom prst="line">
            <a:avLst/>
          </a:prstGeom>
          <a:ln w="19050">
            <a:solidFill>
              <a:srgbClr val="D7DA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14_TITLE">
            <a:extLst>
              <a:ext uri="{FF2B5EF4-FFF2-40B4-BE49-F238E27FC236}">
                <a16:creationId xmlns:a16="http://schemas.microsoft.com/office/drawing/2014/main" id="{D141EBF8-0BAB-EDA3-9C74-035C5057D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Impact par population</a:t>
            </a:r>
            <a:endParaRPr lang="fr-FR" sz="2930" b="1" dirty="0">
              <a:solidFill>
                <a:srgbClr val="474A69"/>
              </a:solidFill>
              <a:latin typeface="Segoe UI Black"/>
            </a:endParaRPr>
          </a:p>
        </p:txBody>
      </p:sp>
      <p:sp>
        <p:nvSpPr>
          <p:cNvPr id="22" name="S15_TABLE_R1_C1">
            <a:extLst>
              <a:ext uri="{FF2B5EF4-FFF2-40B4-BE49-F238E27FC236}">
                <a16:creationId xmlns:a16="http://schemas.microsoft.com/office/drawing/2014/main" id="{D392E817-E447-F544-CB9E-82DBE8F876A4}"/>
              </a:ext>
            </a:extLst>
          </p:cNvPr>
          <p:cNvSpPr/>
          <p:nvPr/>
        </p:nvSpPr>
        <p:spPr>
          <a:xfrm>
            <a:off x="389353" y="1656966"/>
            <a:ext cx="2562168" cy="54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dirty="0"/>
              <a:t>,</a:t>
            </a:r>
            <a:endParaRPr dirty="0"/>
          </a:p>
        </p:txBody>
      </p:sp>
      <p:sp>
        <p:nvSpPr>
          <p:cNvPr id="87" name="S15_LEGENDE_1_BOX">
            <a:extLst>
              <a:ext uri="{FF2B5EF4-FFF2-40B4-BE49-F238E27FC236}">
                <a16:creationId xmlns:a16="http://schemas.microsoft.com/office/drawing/2014/main" id="{DC7AFE54-C1C6-6336-4CA9-61598E134A1E}"/>
              </a:ext>
            </a:extLst>
          </p:cNvPr>
          <p:cNvSpPr/>
          <p:nvPr/>
        </p:nvSpPr>
        <p:spPr>
          <a:xfrm>
            <a:off x="1784604" y="6043017"/>
            <a:ext cx="182880" cy="164592"/>
          </a:xfrm>
          <a:prstGeom prst="rect">
            <a:avLst/>
          </a:prstGeom>
          <a:solidFill>
            <a:srgbClr val="CEC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88" name="S15_LEGENDE_1_LABEL">
            <a:extLst>
              <a:ext uri="{FF2B5EF4-FFF2-40B4-BE49-F238E27FC236}">
                <a16:creationId xmlns:a16="http://schemas.microsoft.com/office/drawing/2014/main" id="{7972D2DE-EF0B-50F3-8B19-6F98118DD4AE}"/>
              </a:ext>
            </a:extLst>
          </p:cNvPr>
          <p:cNvSpPr txBox="1"/>
          <p:nvPr/>
        </p:nvSpPr>
        <p:spPr>
          <a:xfrm>
            <a:off x="2040636" y="6009897"/>
            <a:ext cx="482824" cy="230832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900" dirty="0" err="1">
                <a:solidFill>
                  <a:srgbClr val="474E67"/>
                </a:solidFill>
              </a:rPr>
              <a:t>Faible</a:t>
            </a:r>
            <a:endParaRPr sz="900" dirty="0">
              <a:solidFill>
                <a:srgbClr val="474E67"/>
              </a:solidFill>
            </a:endParaRPr>
          </a:p>
        </p:txBody>
      </p:sp>
      <p:sp>
        <p:nvSpPr>
          <p:cNvPr id="89" name="S15_LEGENDE_2_BOX">
            <a:extLst>
              <a:ext uri="{FF2B5EF4-FFF2-40B4-BE49-F238E27FC236}">
                <a16:creationId xmlns:a16="http://schemas.microsoft.com/office/drawing/2014/main" id="{B4CCCEC8-0A12-656D-4CBF-383CB095B1AF}"/>
              </a:ext>
            </a:extLst>
          </p:cNvPr>
          <p:cNvSpPr/>
          <p:nvPr/>
        </p:nvSpPr>
        <p:spPr>
          <a:xfrm>
            <a:off x="2790444" y="6043017"/>
            <a:ext cx="182880" cy="164592"/>
          </a:xfrm>
          <a:prstGeom prst="rect">
            <a:avLst/>
          </a:prstGeom>
          <a:solidFill>
            <a:srgbClr val="9D93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90" name="S15_LEGENDE_2_LABEL">
            <a:extLst>
              <a:ext uri="{FF2B5EF4-FFF2-40B4-BE49-F238E27FC236}">
                <a16:creationId xmlns:a16="http://schemas.microsoft.com/office/drawing/2014/main" id="{B88172EC-5409-0522-ADBA-02CC77A0F334}"/>
              </a:ext>
            </a:extLst>
          </p:cNvPr>
          <p:cNvSpPr txBox="1"/>
          <p:nvPr/>
        </p:nvSpPr>
        <p:spPr>
          <a:xfrm>
            <a:off x="3046476" y="6009897"/>
            <a:ext cx="585417" cy="230832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900" dirty="0" err="1">
                <a:solidFill>
                  <a:srgbClr val="474E67"/>
                </a:solidFill>
              </a:rPr>
              <a:t>Modéré</a:t>
            </a:r>
            <a:endParaRPr sz="900" dirty="0">
              <a:solidFill>
                <a:srgbClr val="474E67"/>
              </a:solidFill>
            </a:endParaRPr>
          </a:p>
        </p:txBody>
      </p:sp>
      <p:sp>
        <p:nvSpPr>
          <p:cNvPr id="91" name="S15_LEGENDE_3_BOX">
            <a:extLst>
              <a:ext uri="{FF2B5EF4-FFF2-40B4-BE49-F238E27FC236}">
                <a16:creationId xmlns:a16="http://schemas.microsoft.com/office/drawing/2014/main" id="{509C8DCF-00E4-AC17-5232-2A7A93B7B4A4}"/>
              </a:ext>
            </a:extLst>
          </p:cNvPr>
          <p:cNvSpPr/>
          <p:nvPr/>
        </p:nvSpPr>
        <p:spPr>
          <a:xfrm>
            <a:off x="3796284" y="6043017"/>
            <a:ext cx="182880" cy="164592"/>
          </a:xfrm>
          <a:prstGeom prst="rect">
            <a:avLst/>
          </a:prstGeom>
          <a:solidFill>
            <a:srgbClr val="6A5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92" name="S15_LEGENDE_3_LABEL">
            <a:extLst>
              <a:ext uri="{FF2B5EF4-FFF2-40B4-BE49-F238E27FC236}">
                <a16:creationId xmlns:a16="http://schemas.microsoft.com/office/drawing/2014/main" id="{6E4B4C84-0967-F944-A8AF-5ADC2EE716B0}"/>
              </a:ext>
            </a:extLst>
          </p:cNvPr>
          <p:cNvSpPr txBox="1"/>
          <p:nvPr/>
        </p:nvSpPr>
        <p:spPr>
          <a:xfrm>
            <a:off x="4052316" y="6009897"/>
            <a:ext cx="386644" cy="230832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900" dirty="0">
                <a:solidFill>
                  <a:srgbClr val="474E67"/>
                </a:solidFill>
              </a:rPr>
              <a:t>Fort</a:t>
            </a:r>
          </a:p>
        </p:txBody>
      </p:sp>
      <p:sp>
        <p:nvSpPr>
          <p:cNvPr id="93" name="S15_LEGENDE_4_BOX">
            <a:extLst>
              <a:ext uri="{FF2B5EF4-FFF2-40B4-BE49-F238E27FC236}">
                <a16:creationId xmlns:a16="http://schemas.microsoft.com/office/drawing/2014/main" id="{4F693EFF-49E2-32E1-395C-0F0DF680D3B4}"/>
              </a:ext>
            </a:extLst>
          </p:cNvPr>
          <p:cNvSpPr/>
          <p:nvPr/>
        </p:nvSpPr>
        <p:spPr>
          <a:xfrm>
            <a:off x="4599184" y="6043017"/>
            <a:ext cx="182880" cy="164592"/>
          </a:xfrm>
          <a:prstGeom prst="rect">
            <a:avLst/>
          </a:prstGeom>
          <a:solidFill>
            <a:srgbClr val="393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94" name="S15_LEGENDE_4_LABEL">
            <a:extLst>
              <a:ext uri="{FF2B5EF4-FFF2-40B4-BE49-F238E27FC236}">
                <a16:creationId xmlns:a16="http://schemas.microsoft.com/office/drawing/2014/main" id="{B2DA37D6-78CA-998E-D647-00BA4A325A6D}"/>
              </a:ext>
            </a:extLst>
          </p:cNvPr>
          <p:cNvSpPr txBox="1"/>
          <p:nvPr/>
        </p:nvSpPr>
        <p:spPr>
          <a:xfrm>
            <a:off x="4855216" y="6009897"/>
            <a:ext cx="611065" cy="230832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900" dirty="0">
                <a:solidFill>
                  <a:srgbClr val="474E67"/>
                </a:solidFill>
              </a:rPr>
              <a:t>Très fort</a:t>
            </a:r>
          </a:p>
        </p:txBody>
      </p:sp>
      <p:sp>
        <p:nvSpPr>
          <p:cNvPr id="95" name="S15_FOOTNOTE">
            <a:extLst>
              <a:ext uri="{FF2B5EF4-FFF2-40B4-BE49-F238E27FC236}">
                <a16:creationId xmlns:a16="http://schemas.microsoft.com/office/drawing/2014/main" id="{6E3BCDA6-A3C0-8F7C-A4F4-04EFB3DD2ACD}"/>
              </a:ext>
            </a:extLst>
          </p:cNvPr>
          <p:cNvSpPr txBox="1"/>
          <p:nvPr/>
        </p:nvSpPr>
        <p:spPr>
          <a:xfrm>
            <a:off x="8455581" y="6009897"/>
            <a:ext cx="3231975" cy="230832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sz="900" i="1" dirty="0">
                <a:solidFill>
                  <a:srgbClr val="3A506A"/>
                </a:solidFill>
              </a:rPr>
              <a:t>Leviers = axes </a:t>
            </a:r>
            <a:r>
              <a:rPr sz="900" i="1" dirty="0" err="1">
                <a:solidFill>
                  <a:srgbClr val="474E67"/>
                </a:solidFill>
              </a:rPr>
              <a:t>d'accompagnement</a:t>
            </a:r>
            <a:r>
              <a:rPr sz="900" i="1" dirty="0">
                <a:solidFill>
                  <a:srgbClr val="3A506A"/>
                </a:solidFill>
              </a:rPr>
              <a:t> </a:t>
            </a:r>
            <a:r>
              <a:rPr sz="900" i="1" dirty="0" err="1">
                <a:solidFill>
                  <a:srgbClr val="3A506A"/>
                </a:solidFill>
              </a:rPr>
              <a:t>prioritaires</a:t>
            </a:r>
            <a:r>
              <a:rPr sz="900" i="1" dirty="0">
                <a:solidFill>
                  <a:srgbClr val="3A506A"/>
                </a:solidFill>
              </a:rPr>
              <a:t> par population</a:t>
            </a:r>
          </a:p>
        </p:txBody>
      </p:sp>
      <p:sp>
        <p:nvSpPr>
          <p:cNvPr id="33" name="S15_TABLE_LABEL_R1">
            <a:extLst>
              <a:ext uri="{FF2B5EF4-FFF2-40B4-BE49-F238E27FC236}">
                <a16:creationId xmlns:a16="http://schemas.microsoft.com/office/drawing/2014/main" id="{86A12C97-2D41-E864-E3EE-F3C399EBCE67}"/>
              </a:ext>
            </a:extLst>
          </p:cNvPr>
          <p:cNvSpPr txBox="1"/>
          <p:nvPr/>
        </p:nvSpPr>
        <p:spPr>
          <a:xfrm>
            <a:off x="389353" y="1656966"/>
            <a:ext cx="2422415" cy="276999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200" dirty="0" err="1">
                <a:solidFill>
                  <a:srgbClr val="070E1D"/>
                </a:solidFill>
              </a:rPr>
              <a:t>Conseillers</a:t>
            </a:r>
            <a:r>
              <a:rPr sz="1200" dirty="0">
                <a:solidFill>
                  <a:srgbClr val="070E1D"/>
                </a:solidFill>
              </a:rPr>
              <a:t> </a:t>
            </a:r>
            <a:r>
              <a:rPr sz="1200" dirty="0" err="1">
                <a:solidFill>
                  <a:srgbClr val="070E1D"/>
                </a:solidFill>
              </a:rPr>
              <a:t>en</a:t>
            </a:r>
            <a:r>
              <a:rPr sz="1200" dirty="0">
                <a:solidFill>
                  <a:srgbClr val="070E1D"/>
                </a:solidFill>
              </a:rPr>
              <a:t> </a:t>
            </a:r>
            <a:r>
              <a:rPr sz="1200" dirty="0" err="1">
                <a:solidFill>
                  <a:srgbClr val="070E1D"/>
                </a:solidFill>
              </a:rPr>
              <a:t>agence</a:t>
            </a:r>
            <a:endParaRPr sz="1200" dirty="0">
              <a:solidFill>
                <a:srgbClr val="070E1D"/>
              </a:solidFill>
            </a:endParaRPr>
          </a:p>
        </p:txBody>
      </p:sp>
      <p:sp>
        <p:nvSpPr>
          <p:cNvPr id="43" name="S15_TABLE_R1_C6">
            <a:extLst>
              <a:ext uri="{FF2B5EF4-FFF2-40B4-BE49-F238E27FC236}">
                <a16:creationId xmlns:a16="http://schemas.microsoft.com/office/drawing/2014/main" id="{C610B0FA-AD87-28F0-12B9-75DF661DF17F}"/>
              </a:ext>
            </a:extLst>
          </p:cNvPr>
          <p:cNvSpPr/>
          <p:nvPr/>
        </p:nvSpPr>
        <p:spPr>
          <a:xfrm>
            <a:off x="8541707" y="1656966"/>
            <a:ext cx="3260941" cy="54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000" dirty="0">
                <a:solidFill>
                  <a:srgbClr val="474E67"/>
                </a:solidFill>
              </a:rPr>
              <a:t>Formation | Accompagnement terrain </a:t>
            </a:r>
          </a:p>
        </p:txBody>
      </p:sp>
      <p:sp>
        <p:nvSpPr>
          <p:cNvPr id="112" name="S15_TABLE_SUBLABEL_R1">
            <a:extLst>
              <a:ext uri="{FF2B5EF4-FFF2-40B4-BE49-F238E27FC236}">
                <a16:creationId xmlns:a16="http://schemas.microsoft.com/office/drawing/2014/main" id="{FCBB2F46-B50C-E8E7-D826-2653E5BCB52D}"/>
              </a:ext>
            </a:extLst>
          </p:cNvPr>
          <p:cNvSpPr txBox="1"/>
          <p:nvPr/>
        </p:nvSpPr>
        <p:spPr>
          <a:xfrm>
            <a:off x="389353" y="1920754"/>
            <a:ext cx="2422800" cy="184666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r>
              <a:rPr lang="fr-FR" sz="900" dirty="0">
                <a:solidFill>
                  <a:srgbClr val="474E67"/>
                </a:solidFill>
              </a:rPr>
              <a:t>~ 1 200 pers.</a:t>
            </a:r>
          </a:p>
        </p:txBody>
      </p:sp>
      <p:sp>
        <p:nvSpPr>
          <p:cNvPr id="115" name="S15_TABLE_R1_C3">
            <a:extLst>
              <a:ext uri="{FF2B5EF4-FFF2-40B4-BE49-F238E27FC236}">
                <a16:creationId xmlns:a16="http://schemas.microsoft.com/office/drawing/2014/main" id="{972D1070-6B91-0972-B874-76F4E9695E8B}"/>
              </a:ext>
            </a:extLst>
          </p:cNvPr>
          <p:cNvSpPr/>
          <p:nvPr/>
        </p:nvSpPr>
        <p:spPr>
          <a:xfrm>
            <a:off x="2975158" y="1656966"/>
            <a:ext cx="1368000" cy="540000"/>
          </a:xfrm>
          <a:prstGeom prst="roundRect">
            <a:avLst/>
          </a:prstGeom>
          <a:solidFill>
            <a:srgbClr val="3932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7" name="S15_TABLE_R1_C2">
            <a:extLst>
              <a:ext uri="{FF2B5EF4-FFF2-40B4-BE49-F238E27FC236}">
                <a16:creationId xmlns:a16="http://schemas.microsoft.com/office/drawing/2014/main" id="{DBAF8E35-AAC0-C082-1A6E-FB658D31E31F}"/>
              </a:ext>
            </a:extLst>
          </p:cNvPr>
          <p:cNvSpPr/>
          <p:nvPr/>
        </p:nvSpPr>
        <p:spPr>
          <a:xfrm>
            <a:off x="4366795" y="1656966"/>
            <a:ext cx="1368000" cy="540000"/>
          </a:xfrm>
          <a:prstGeom prst="roundRect">
            <a:avLst/>
          </a:prstGeom>
          <a:solidFill>
            <a:srgbClr val="6A5D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0" name="S15_TABLE_R1_C4">
            <a:extLst>
              <a:ext uri="{FF2B5EF4-FFF2-40B4-BE49-F238E27FC236}">
                <a16:creationId xmlns:a16="http://schemas.microsoft.com/office/drawing/2014/main" id="{EA4E6052-CC79-0A04-586D-386F7ED9CDD0}"/>
              </a:ext>
            </a:extLst>
          </p:cNvPr>
          <p:cNvSpPr/>
          <p:nvPr/>
        </p:nvSpPr>
        <p:spPr>
          <a:xfrm>
            <a:off x="5758432" y="1656966"/>
            <a:ext cx="1368000" cy="540000"/>
          </a:xfrm>
          <a:prstGeom prst="roundRect">
            <a:avLst/>
          </a:prstGeom>
          <a:solidFill>
            <a:srgbClr val="9D93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1" name="S15_TABLE_R1_C5">
            <a:extLst>
              <a:ext uri="{FF2B5EF4-FFF2-40B4-BE49-F238E27FC236}">
                <a16:creationId xmlns:a16="http://schemas.microsoft.com/office/drawing/2014/main" id="{947570AF-1D77-4B1C-5376-532191A1F2FA}"/>
              </a:ext>
            </a:extLst>
          </p:cNvPr>
          <p:cNvSpPr/>
          <p:nvPr/>
        </p:nvSpPr>
        <p:spPr>
          <a:xfrm>
            <a:off x="7150069" y="1656966"/>
            <a:ext cx="1368000" cy="540000"/>
          </a:xfrm>
          <a:prstGeom prst="roundRect">
            <a:avLst/>
          </a:prstGeom>
          <a:solidFill>
            <a:srgbClr val="3932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3" name="S15_TABLE_R1_C1">
            <a:extLst>
              <a:ext uri="{FF2B5EF4-FFF2-40B4-BE49-F238E27FC236}">
                <a16:creationId xmlns:a16="http://schemas.microsoft.com/office/drawing/2014/main" id="{EC1D6E79-D600-9870-0B94-57E6A5A4A048}"/>
              </a:ext>
            </a:extLst>
          </p:cNvPr>
          <p:cNvSpPr/>
          <p:nvPr/>
        </p:nvSpPr>
        <p:spPr>
          <a:xfrm>
            <a:off x="389353" y="2213424"/>
            <a:ext cx="2562168" cy="54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dirty="0"/>
              <a:t>,</a:t>
            </a:r>
            <a:endParaRPr dirty="0"/>
          </a:p>
        </p:txBody>
      </p:sp>
      <p:sp>
        <p:nvSpPr>
          <p:cNvPr id="124" name="S15_TABLE_LABEL_R2">
            <a:extLst>
              <a:ext uri="{FF2B5EF4-FFF2-40B4-BE49-F238E27FC236}">
                <a16:creationId xmlns:a16="http://schemas.microsoft.com/office/drawing/2014/main" id="{1D48224A-8AAB-6627-C8A9-95A1570FB202}"/>
              </a:ext>
            </a:extLst>
          </p:cNvPr>
          <p:cNvSpPr txBox="1"/>
          <p:nvPr/>
        </p:nvSpPr>
        <p:spPr>
          <a:xfrm>
            <a:off x="389353" y="2220029"/>
            <a:ext cx="2422415" cy="276999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200" dirty="0">
                <a:solidFill>
                  <a:srgbClr val="070E1D"/>
                </a:solidFill>
              </a:rPr>
              <a:t>Managers de proximité</a:t>
            </a:r>
            <a:endParaRPr sz="1200" dirty="0">
              <a:solidFill>
                <a:srgbClr val="070E1D"/>
              </a:solidFill>
            </a:endParaRPr>
          </a:p>
        </p:txBody>
      </p:sp>
      <p:sp>
        <p:nvSpPr>
          <p:cNvPr id="125" name="S15_TABLE_R2_C6">
            <a:extLst>
              <a:ext uri="{FF2B5EF4-FFF2-40B4-BE49-F238E27FC236}">
                <a16:creationId xmlns:a16="http://schemas.microsoft.com/office/drawing/2014/main" id="{60109AF1-5DC8-C432-0C92-DFBDF349BFEB}"/>
              </a:ext>
            </a:extLst>
          </p:cNvPr>
          <p:cNvSpPr/>
          <p:nvPr/>
        </p:nvSpPr>
        <p:spPr>
          <a:xfrm>
            <a:off x="8541707" y="2220029"/>
            <a:ext cx="3260941" cy="54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000" dirty="0">
                <a:solidFill>
                  <a:srgbClr val="474E67"/>
                </a:solidFill>
              </a:rPr>
              <a:t>Kit manager | Formation en premier</a:t>
            </a:r>
          </a:p>
        </p:txBody>
      </p:sp>
      <p:sp>
        <p:nvSpPr>
          <p:cNvPr id="126" name="S15_TABLE_SUBLABEL_R2">
            <a:extLst>
              <a:ext uri="{FF2B5EF4-FFF2-40B4-BE49-F238E27FC236}">
                <a16:creationId xmlns:a16="http://schemas.microsoft.com/office/drawing/2014/main" id="{CA07222A-BA97-D8FD-358E-BCC8231613D1}"/>
              </a:ext>
            </a:extLst>
          </p:cNvPr>
          <p:cNvSpPr txBox="1"/>
          <p:nvPr/>
        </p:nvSpPr>
        <p:spPr>
          <a:xfrm>
            <a:off x="389353" y="2481894"/>
            <a:ext cx="2422800" cy="184666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r>
              <a:rPr lang="fr-FR" sz="900" dirty="0">
                <a:solidFill>
                  <a:srgbClr val="474E67"/>
                </a:solidFill>
              </a:rPr>
              <a:t>~ 180 pers.</a:t>
            </a:r>
          </a:p>
        </p:txBody>
      </p:sp>
      <p:sp>
        <p:nvSpPr>
          <p:cNvPr id="127" name="S15_TABLE_R2_C2">
            <a:extLst>
              <a:ext uri="{FF2B5EF4-FFF2-40B4-BE49-F238E27FC236}">
                <a16:creationId xmlns:a16="http://schemas.microsoft.com/office/drawing/2014/main" id="{55AD0E87-B307-A0DE-B9A6-D2CB5799CFDA}"/>
              </a:ext>
            </a:extLst>
          </p:cNvPr>
          <p:cNvSpPr/>
          <p:nvPr/>
        </p:nvSpPr>
        <p:spPr>
          <a:xfrm>
            <a:off x="2975158" y="2220029"/>
            <a:ext cx="1368000" cy="540000"/>
          </a:xfrm>
          <a:prstGeom prst="roundRect">
            <a:avLst/>
          </a:prstGeom>
          <a:solidFill>
            <a:srgbClr val="6A5D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8" name="S15_TABLE_R2_C3">
            <a:extLst>
              <a:ext uri="{FF2B5EF4-FFF2-40B4-BE49-F238E27FC236}">
                <a16:creationId xmlns:a16="http://schemas.microsoft.com/office/drawing/2014/main" id="{AC41C784-90E8-F2DD-E605-DAF15279968E}"/>
              </a:ext>
            </a:extLst>
          </p:cNvPr>
          <p:cNvSpPr/>
          <p:nvPr/>
        </p:nvSpPr>
        <p:spPr>
          <a:xfrm>
            <a:off x="4366795" y="2220029"/>
            <a:ext cx="1368000" cy="540000"/>
          </a:xfrm>
          <a:prstGeom prst="roundRect">
            <a:avLst/>
          </a:prstGeom>
          <a:solidFill>
            <a:srgbClr val="3932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9" name="S15_TABLE_R2_C4">
            <a:extLst>
              <a:ext uri="{FF2B5EF4-FFF2-40B4-BE49-F238E27FC236}">
                <a16:creationId xmlns:a16="http://schemas.microsoft.com/office/drawing/2014/main" id="{200DC066-DFE3-D5A1-964B-735586104FF2}"/>
              </a:ext>
            </a:extLst>
          </p:cNvPr>
          <p:cNvSpPr/>
          <p:nvPr/>
        </p:nvSpPr>
        <p:spPr>
          <a:xfrm>
            <a:off x="5758432" y="2220029"/>
            <a:ext cx="1368000" cy="540000"/>
          </a:xfrm>
          <a:prstGeom prst="roundRect">
            <a:avLst/>
          </a:prstGeom>
          <a:solidFill>
            <a:srgbClr val="3932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0" name="S15_TABLE_R2_C5">
            <a:extLst>
              <a:ext uri="{FF2B5EF4-FFF2-40B4-BE49-F238E27FC236}">
                <a16:creationId xmlns:a16="http://schemas.microsoft.com/office/drawing/2014/main" id="{27B0C905-850A-5C06-48E4-3BD4FDEC41A0}"/>
              </a:ext>
            </a:extLst>
          </p:cNvPr>
          <p:cNvSpPr/>
          <p:nvPr/>
        </p:nvSpPr>
        <p:spPr>
          <a:xfrm>
            <a:off x="7150069" y="2220029"/>
            <a:ext cx="1368000" cy="540000"/>
          </a:xfrm>
          <a:prstGeom prst="roundRect">
            <a:avLst/>
          </a:prstGeom>
          <a:solidFill>
            <a:srgbClr val="6A5D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1" name="S15_TABLE_R1_C1">
            <a:extLst>
              <a:ext uri="{FF2B5EF4-FFF2-40B4-BE49-F238E27FC236}">
                <a16:creationId xmlns:a16="http://schemas.microsoft.com/office/drawing/2014/main" id="{5D727077-B5AF-E410-ECBE-CA0F68E124DC}"/>
              </a:ext>
            </a:extLst>
          </p:cNvPr>
          <p:cNvSpPr/>
          <p:nvPr/>
        </p:nvSpPr>
        <p:spPr>
          <a:xfrm>
            <a:off x="389353" y="2801108"/>
            <a:ext cx="2562168" cy="54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dirty="0"/>
              <a:t>,</a:t>
            </a:r>
            <a:endParaRPr dirty="0"/>
          </a:p>
        </p:txBody>
      </p:sp>
      <p:sp>
        <p:nvSpPr>
          <p:cNvPr id="132" name="S15_TABLE_LABEL_R3">
            <a:extLst>
              <a:ext uri="{FF2B5EF4-FFF2-40B4-BE49-F238E27FC236}">
                <a16:creationId xmlns:a16="http://schemas.microsoft.com/office/drawing/2014/main" id="{0A5BD1C1-C604-934C-0BB4-A12BEE5BA6C7}"/>
              </a:ext>
            </a:extLst>
          </p:cNvPr>
          <p:cNvSpPr txBox="1"/>
          <p:nvPr/>
        </p:nvSpPr>
        <p:spPr>
          <a:xfrm>
            <a:off x="389353" y="2783092"/>
            <a:ext cx="2422415" cy="276999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200" dirty="0">
                <a:solidFill>
                  <a:srgbClr val="070E1D"/>
                </a:solidFill>
              </a:rPr>
              <a:t>Back-office &amp; opérations</a:t>
            </a:r>
            <a:endParaRPr sz="1200" dirty="0">
              <a:solidFill>
                <a:srgbClr val="070E1D"/>
              </a:solidFill>
            </a:endParaRPr>
          </a:p>
        </p:txBody>
      </p:sp>
      <p:sp>
        <p:nvSpPr>
          <p:cNvPr id="133" name="S15_TABLE_R3_C6">
            <a:extLst>
              <a:ext uri="{FF2B5EF4-FFF2-40B4-BE49-F238E27FC236}">
                <a16:creationId xmlns:a16="http://schemas.microsoft.com/office/drawing/2014/main" id="{E57A12FE-FA85-C70D-BA38-40635B179912}"/>
              </a:ext>
            </a:extLst>
          </p:cNvPr>
          <p:cNvSpPr/>
          <p:nvPr/>
        </p:nvSpPr>
        <p:spPr>
          <a:xfrm>
            <a:off x="5377968" y="4742279"/>
            <a:ext cx="3260941" cy="54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000" dirty="0">
                <a:solidFill>
                  <a:srgbClr val="474E67"/>
                </a:solidFill>
              </a:rPr>
              <a:t>Formation process &amp; nouvel outil</a:t>
            </a:r>
          </a:p>
        </p:txBody>
      </p:sp>
      <p:sp>
        <p:nvSpPr>
          <p:cNvPr id="134" name="S15_TABLE_SUBLABEL_R3">
            <a:extLst>
              <a:ext uri="{FF2B5EF4-FFF2-40B4-BE49-F238E27FC236}">
                <a16:creationId xmlns:a16="http://schemas.microsoft.com/office/drawing/2014/main" id="{69374475-55D3-522A-8618-DDC78B3C518A}"/>
              </a:ext>
            </a:extLst>
          </p:cNvPr>
          <p:cNvSpPr txBox="1"/>
          <p:nvPr/>
        </p:nvSpPr>
        <p:spPr>
          <a:xfrm>
            <a:off x="389353" y="3044957"/>
            <a:ext cx="2422800" cy="184666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r>
              <a:rPr lang="fr-FR" sz="900" dirty="0">
                <a:solidFill>
                  <a:srgbClr val="474E67"/>
                </a:solidFill>
              </a:rPr>
              <a:t>~ 340 pers.</a:t>
            </a:r>
          </a:p>
        </p:txBody>
      </p:sp>
      <p:sp>
        <p:nvSpPr>
          <p:cNvPr id="135" name="S15_TABLE_R3_C2">
            <a:extLst>
              <a:ext uri="{FF2B5EF4-FFF2-40B4-BE49-F238E27FC236}">
                <a16:creationId xmlns:a16="http://schemas.microsoft.com/office/drawing/2014/main" id="{7F0DAE35-262F-388B-9482-6022D652F27E}"/>
              </a:ext>
            </a:extLst>
          </p:cNvPr>
          <p:cNvSpPr/>
          <p:nvPr/>
        </p:nvSpPr>
        <p:spPr>
          <a:xfrm>
            <a:off x="2975158" y="2783092"/>
            <a:ext cx="1368000" cy="540000"/>
          </a:xfrm>
          <a:prstGeom prst="roundRect">
            <a:avLst/>
          </a:prstGeom>
          <a:solidFill>
            <a:srgbClr val="6A5D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6" name="S15_TABLE_R3_C3">
            <a:extLst>
              <a:ext uri="{FF2B5EF4-FFF2-40B4-BE49-F238E27FC236}">
                <a16:creationId xmlns:a16="http://schemas.microsoft.com/office/drawing/2014/main" id="{EFF63EE4-EBAD-6AA1-08F4-A3991F8CF173}"/>
              </a:ext>
            </a:extLst>
          </p:cNvPr>
          <p:cNvSpPr/>
          <p:nvPr/>
        </p:nvSpPr>
        <p:spPr>
          <a:xfrm>
            <a:off x="4366795" y="2783092"/>
            <a:ext cx="1368000" cy="540000"/>
          </a:xfrm>
          <a:prstGeom prst="roundRect">
            <a:avLst/>
          </a:prstGeom>
          <a:solidFill>
            <a:srgbClr val="9D93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7" name="S15_TABLE_R3_C4">
            <a:extLst>
              <a:ext uri="{FF2B5EF4-FFF2-40B4-BE49-F238E27FC236}">
                <a16:creationId xmlns:a16="http://schemas.microsoft.com/office/drawing/2014/main" id="{ACED2AAE-CD2A-1490-2D97-7CDFCB0E974B}"/>
              </a:ext>
            </a:extLst>
          </p:cNvPr>
          <p:cNvSpPr/>
          <p:nvPr/>
        </p:nvSpPr>
        <p:spPr>
          <a:xfrm>
            <a:off x="5758432" y="2783092"/>
            <a:ext cx="1368000" cy="540000"/>
          </a:xfrm>
          <a:prstGeom prst="roundRect">
            <a:avLst/>
          </a:prstGeom>
          <a:solidFill>
            <a:srgbClr val="9D93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8" name="S15_TABLE_R3_C5">
            <a:extLst>
              <a:ext uri="{FF2B5EF4-FFF2-40B4-BE49-F238E27FC236}">
                <a16:creationId xmlns:a16="http://schemas.microsoft.com/office/drawing/2014/main" id="{5C772DCD-1889-4F70-7D24-827EFC389298}"/>
              </a:ext>
            </a:extLst>
          </p:cNvPr>
          <p:cNvSpPr/>
          <p:nvPr/>
        </p:nvSpPr>
        <p:spPr>
          <a:xfrm>
            <a:off x="7150069" y="2783092"/>
            <a:ext cx="1368000" cy="540000"/>
          </a:xfrm>
          <a:prstGeom prst="roundRect">
            <a:avLst/>
          </a:prstGeom>
          <a:solidFill>
            <a:srgbClr val="9D93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7" name="S15_TABLE_R1_C1">
            <a:extLst>
              <a:ext uri="{FF2B5EF4-FFF2-40B4-BE49-F238E27FC236}">
                <a16:creationId xmlns:a16="http://schemas.microsoft.com/office/drawing/2014/main" id="{86351597-6C80-2755-743C-5F466AB16B47}"/>
              </a:ext>
            </a:extLst>
          </p:cNvPr>
          <p:cNvSpPr/>
          <p:nvPr/>
        </p:nvSpPr>
        <p:spPr>
          <a:xfrm>
            <a:off x="389353" y="3346155"/>
            <a:ext cx="2562168" cy="54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dirty="0"/>
              <a:t>,</a:t>
            </a:r>
            <a:endParaRPr dirty="0"/>
          </a:p>
        </p:txBody>
      </p:sp>
      <p:sp>
        <p:nvSpPr>
          <p:cNvPr id="148" name="S15_TABLE_LABEL_R4">
            <a:extLst>
              <a:ext uri="{FF2B5EF4-FFF2-40B4-BE49-F238E27FC236}">
                <a16:creationId xmlns:a16="http://schemas.microsoft.com/office/drawing/2014/main" id="{4EB445AA-41E1-F0D3-BAC1-A80FF5D79F06}"/>
              </a:ext>
            </a:extLst>
          </p:cNvPr>
          <p:cNvSpPr txBox="1"/>
          <p:nvPr/>
        </p:nvSpPr>
        <p:spPr>
          <a:xfrm>
            <a:off x="389353" y="3346155"/>
            <a:ext cx="2422415" cy="276999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200" dirty="0">
                <a:solidFill>
                  <a:srgbClr val="070E1D"/>
                </a:solidFill>
              </a:rPr>
              <a:t>Experts métier</a:t>
            </a:r>
            <a:endParaRPr sz="1200" dirty="0">
              <a:solidFill>
                <a:srgbClr val="070E1D"/>
              </a:solidFill>
            </a:endParaRPr>
          </a:p>
        </p:txBody>
      </p:sp>
      <p:sp>
        <p:nvSpPr>
          <p:cNvPr id="149" name="S15_TABLE_R4_C6">
            <a:extLst>
              <a:ext uri="{FF2B5EF4-FFF2-40B4-BE49-F238E27FC236}">
                <a16:creationId xmlns:a16="http://schemas.microsoft.com/office/drawing/2014/main" id="{2E9EE10A-4896-16DA-333C-09D34177FEDE}"/>
              </a:ext>
            </a:extLst>
          </p:cNvPr>
          <p:cNvSpPr/>
          <p:nvPr/>
        </p:nvSpPr>
        <p:spPr>
          <a:xfrm>
            <a:off x="8541707" y="3346155"/>
            <a:ext cx="3260941" cy="54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000" dirty="0" err="1">
                <a:solidFill>
                  <a:srgbClr val="474E67"/>
                </a:solidFill>
              </a:rPr>
              <a:t>Co-conception</a:t>
            </a:r>
            <a:r>
              <a:rPr lang="fr-FR" sz="1000" dirty="0">
                <a:solidFill>
                  <a:srgbClr val="474E67"/>
                </a:solidFill>
              </a:rPr>
              <a:t> | Montée en compétence</a:t>
            </a:r>
          </a:p>
        </p:txBody>
      </p:sp>
      <p:sp>
        <p:nvSpPr>
          <p:cNvPr id="150" name="S15_TABLE_SUBLABEL_R4">
            <a:extLst>
              <a:ext uri="{FF2B5EF4-FFF2-40B4-BE49-F238E27FC236}">
                <a16:creationId xmlns:a16="http://schemas.microsoft.com/office/drawing/2014/main" id="{A994F486-3B4B-B4F9-A04D-9A942C7A633B}"/>
              </a:ext>
            </a:extLst>
          </p:cNvPr>
          <p:cNvSpPr txBox="1"/>
          <p:nvPr/>
        </p:nvSpPr>
        <p:spPr>
          <a:xfrm>
            <a:off x="389353" y="3608020"/>
            <a:ext cx="2422800" cy="184666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r>
              <a:rPr lang="fr-FR" sz="900" dirty="0">
                <a:solidFill>
                  <a:srgbClr val="474E67"/>
                </a:solidFill>
              </a:rPr>
              <a:t>~ 60 pers.</a:t>
            </a:r>
          </a:p>
        </p:txBody>
      </p:sp>
      <p:sp>
        <p:nvSpPr>
          <p:cNvPr id="151" name="S15_TABLE_R4_C2">
            <a:extLst>
              <a:ext uri="{FF2B5EF4-FFF2-40B4-BE49-F238E27FC236}">
                <a16:creationId xmlns:a16="http://schemas.microsoft.com/office/drawing/2014/main" id="{FED17F79-C990-0F6A-9AC5-87D351E731C1}"/>
              </a:ext>
            </a:extLst>
          </p:cNvPr>
          <p:cNvSpPr/>
          <p:nvPr/>
        </p:nvSpPr>
        <p:spPr>
          <a:xfrm>
            <a:off x="2975158" y="3346155"/>
            <a:ext cx="1368000" cy="540000"/>
          </a:xfrm>
          <a:prstGeom prst="roundRect">
            <a:avLst/>
          </a:prstGeom>
          <a:solidFill>
            <a:srgbClr val="9D93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2" name="S15_TABLE_R4_C3">
            <a:extLst>
              <a:ext uri="{FF2B5EF4-FFF2-40B4-BE49-F238E27FC236}">
                <a16:creationId xmlns:a16="http://schemas.microsoft.com/office/drawing/2014/main" id="{0A5406EC-DA56-9135-F9E5-4EE375563802}"/>
              </a:ext>
            </a:extLst>
          </p:cNvPr>
          <p:cNvSpPr/>
          <p:nvPr/>
        </p:nvSpPr>
        <p:spPr>
          <a:xfrm>
            <a:off x="4366795" y="3346155"/>
            <a:ext cx="1368000" cy="540000"/>
          </a:xfrm>
          <a:prstGeom prst="roundRect">
            <a:avLst/>
          </a:prstGeom>
          <a:solidFill>
            <a:srgbClr val="6A5D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3" name="S15_TABLE_R4_C4">
            <a:extLst>
              <a:ext uri="{FF2B5EF4-FFF2-40B4-BE49-F238E27FC236}">
                <a16:creationId xmlns:a16="http://schemas.microsoft.com/office/drawing/2014/main" id="{0E7EF814-2F36-25D3-2F59-972DFD8BC7AF}"/>
              </a:ext>
            </a:extLst>
          </p:cNvPr>
          <p:cNvSpPr/>
          <p:nvPr/>
        </p:nvSpPr>
        <p:spPr>
          <a:xfrm>
            <a:off x="5758432" y="3346155"/>
            <a:ext cx="1368000" cy="540000"/>
          </a:xfrm>
          <a:prstGeom prst="roundRect">
            <a:avLst/>
          </a:prstGeom>
          <a:solidFill>
            <a:srgbClr val="CEC9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4" name="S15_TABLE_R4_C5">
            <a:extLst>
              <a:ext uri="{FF2B5EF4-FFF2-40B4-BE49-F238E27FC236}">
                <a16:creationId xmlns:a16="http://schemas.microsoft.com/office/drawing/2014/main" id="{BEE04ECD-BB62-BEB8-3586-69A9409189E0}"/>
              </a:ext>
            </a:extLst>
          </p:cNvPr>
          <p:cNvSpPr/>
          <p:nvPr/>
        </p:nvSpPr>
        <p:spPr>
          <a:xfrm>
            <a:off x="7150069" y="3346155"/>
            <a:ext cx="1368000" cy="540000"/>
          </a:xfrm>
          <a:prstGeom prst="roundRect">
            <a:avLst/>
          </a:prstGeom>
          <a:solidFill>
            <a:srgbClr val="6A5D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5" name="S15_TABLE_R1_C1">
            <a:extLst>
              <a:ext uri="{FF2B5EF4-FFF2-40B4-BE49-F238E27FC236}">
                <a16:creationId xmlns:a16="http://schemas.microsoft.com/office/drawing/2014/main" id="{084B0AAA-12CC-F46D-F5A8-8C77075BE01B}"/>
              </a:ext>
            </a:extLst>
          </p:cNvPr>
          <p:cNvSpPr/>
          <p:nvPr/>
        </p:nvSpPr>
        <p:spPr>
          <a:xfrm>
            <a:off x="389353" y="3909218"/>
            <a:ext cx="2562168" cy="54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dirty="0"/>
              <a:t>,</a:t>
            </a:r>
            <a:endParaRPr dirty="0"/>
          </a:p>
        </p:txBody>
      </p:sp>
      <p:sp>
        <p:nvSpPr>
          <p:cNvPr id="156" name="S15_TABLE_LABEL_R5">
            <a:extLst>
              <a:ext uri="{FF2B5EF4-FFF2-40B4-BE49-F238E27FC236}">
                <a16:creationId xmlns:a16="http://schemas.microsoft.com/office/drawing/2014/main" id="{78A2F15D-5A8D-D3AA-9029-2CB9765CCC3E}"/>
              </a:ext>
            </a:extLst>
          </p:cNvPr>
          <p:cNvSpPr txBox="1"/>
          <p:nvPr/>
        </p:nvSpPr>
        <p:spPr>
          <a:xfrm>
            <a:off x="389353" y="3909218"/>
            <a:ext cx="2422415" cy="276999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200" dirty="0">
                <a:solidFill>
                  <a:srgbClr val="070E1D"/>
                </a:solidFill>
              </a:rPr>
              <a:t>Direction régionale</a:t>
            </a:r>
            <a:endParaRPr sz="1200" dirty="0">
              <a:solidFill>
                <a:srgbClr val="070E1D"/>
              </a:solidFill>
            </a:endParaRPr>
          </a:p>
        </p:txBody>
      </p:sp>
      <p:sp>
        <p:nvSpPr>
          <p:cNvPr id="157" name="S15_TABLE_R5_C6">
            <a:extLst>
              <a:ext uri="{FF2B5EF4-FFF2-40B4-BE49-F238E27FC236}">
                <a16:creationId xmlns:a16="http://schemas.microsoft.com/office/drawing/2014/main" id="{3B72DB4A-F788-0110-9ABF-4C635ECE86E4}"/>
              </a:ext>
            </a:extLst>
          </p:cNvPr>
          <p:cNvSpPr/>
          <p:nvPr/>
        </p:nvSpPr>
        <p:spPr>
          <a:xfrm>
            <a:off x="8541707" y="3909218"/>
            <a:ext cx="3260941" cy="54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000" dirty="0">
                <a:solidFill>
                  <a:srgbClr val="474E67"/>
                </a:solidFill>
              </a:rPr>
              <a:t>Information | Implication tôt</a:t>
            </a:r>
          </a:p>
        </p:txBody>
      </p:sp>
      <p:sp>
        <p:nvSpPr>
          <p:cNvPr id="158" name="S15_TABLE_SUBLABEL_R5">
            <a:extLst>
              <a:ext uri="{FF2B5EF4-FFF2-40B4-BE49-F238E27FC236}">
                <a16:creationId xmlns:a16="http://schemas.microsoft.com/office/drawing/2014/main" id="{2C43F92F-CFEA-1FED-E5CE-8FDB24D891B8}"/>
              </a:ext>
            </a:extLst>
          </p:cNvPr>
          <p:cNvSpPr txBox="1"/>
          <p:nvPr/>
        </p:nvSpPr>
        <p:spPr>
          <a:xfrm>
            <a:off x="389353" y="4171083"/>
            <a:ext cx="2422800" cy="184666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r>
              <a:rPr lang="fr-FR" sz="900" dirty="0">
                <a:solidFill>
                  <a:srgbClr val="474E67"/>
                </a:solidFill>
              </a:rPr>
              <a:t>~ 25 pers.</a:t>
            </a:r>
          </a:p>
        </p:txBody>
      </p:sp>
      <p:sp>
        <p:nvSpPr>
          <p:cNvPr id="159" name="S15_TABLE_R5_C2">
            <a:extLst>
              <a:ext uri="{FF2B5EF4-FFF2-40B4-BE49-F238E27FC236}">
                <a16:creationId xmlns:a16="http://schemas.microsoft.com/office/drawing/2014/main" id="{B59CE75B-73EE-F4F2-8DB0-D86A58542A65}"/>
              </a:ext>
            </a:extLst>
          </p:cNvPr>
          <p:cNvSpPr/>
          <p:nvPr/>
        </p:nvSpPr>
        <p:spPr>
          <a:xfrm>
            <a:off x="2975158" y="3909218"/>
            <a:ext cx="1368000" cy="540000"/>
          </a:xfrm>
          <a:prstGeom prst="roundRect">
            <a:avLst/>
          </a:prstGeom>
          <a:solidFill>
            <a:srgbClr val="3932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0" name="S15_TABLE_R5_C3">
            <a:extLst>
              <a:ext uri="{FF2B5EF4-FFF2-40B4-BE49-F238E27FC236}">
                <a16:creationId xmlns:a16="http://schemas.microsoft.com/office/drawing/2014/main" id="{0486111E-CC10-A459-05B0-B38E91877A8D}"/>
              </a:ext>
            </a:extLst>
          </p:cNvPr>
          <p:cNvSpPr/>
          <p:nvPr/>
        </p:nvSpPr>
        <p:spPr>
          <a:xfrm>
            <a:off x="4366795" y="3909218"/>
            <a:ext cx="1368000" cy="540000"/>
          </a:xfrm>
          <a:prstGeom prst="roundRect">
            <a:avLst/>
          </a:prstGeom>
          <a:solidFill>
            <a:srgbClr val="6A5D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1" name="S15_TABLE_R5_C4">
            <a:extLst>
              <a:ext uri="{FF2B5EF4-FFF2-40B4-BE49-F238E27FC236}">
                <a16:creationId xmlns:a16="http://schemas.microsoft.com/office/drawing/2014/main" id="{57B64D77-2DDD-AFD7-BD80-D7E04BAFB954}"/>
              </a:ext>
            </a:extLst>
          </p:cNvPr>
          <p:cNvSpPr/>
          <p:nvPr/>
        </p:nvSpPr>
        <p:spPr>
          <a:xfrm>
            <a:off x="5758432" y="3909218"/>
            <a:ext cx="1368000" cy="540000"/>
          </a:xfrm>
          <a:prstGeom prst="roundRect">
            <a:avLst/>
          </a:prstGeom>
          <a:solidFill>
            <a:srgbClr val="6A5D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2" name="S15_TABLE_R5_C5">
            <a:extLst>
              <a:ext uri="{FF2B5EF4-FFF2-40B4-BE49-F238E27FC236}">
                <a16:creationId xmlns:a16="http://schemas.microsoft.com/office/drawing/2014/main" id="{3E6B2A47-5D5A-EB10-2770-81BDD0AD45D1}"/>
              </a:ext>
            </a:extLst>
          </p:cNvPr>
          <p:cNvSpPr/>
          <p:nvPr/>
        </p:nvSpPr>
        <p:spPr>
          <a:xfrm>
            <a:off x="7150069" y="3909218"/>
            <a:ext cx="1368000" cy="540000"/>
          </a:xfrm>
          <a:prstGeom prst="roundRect">
            <a:avLst/>
          </a:prstGeom>
          <a:solidFill>
            <a:srgbClr val="CEC9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3" name="S15_TABLE_R1_C1">
            <a:extLst>
              <a:ext uri="{FF2B5EF4-FFF2-40B4-BE49-F238E27FC236}">
                <a16:creationId xmlns:a16="http://schemas.microsoft.com/office/drawing/2014/main" id="{C24F1A99-9BB6-9D5C-D870-A8CBCAF47AC4}"/>
              </a:ext>
            </a:extLst>
          </p:cNvPr>
          <p:cNvSpPr/>
          <p:nvPr/>
        </p:nvSpPr>
        <p:spPr>
          <a:xfrm>
            <a:off x="389353" y="4472279"/>
            <a:ext cx="2562168" cy="54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dirty="0"/>
              <a:t>,</a:t>
            </a:r>
            <a:endParaRPr dirty="0"/>
          </a:p>
        </p:txBody>
      </p:sp>
      <p:sp>
        <p:nvSpPr>
          <p:cNvPr id="164" name="S15_TABLE_LABEL_R6">
            <a:extLst>
              <a:ext uri="{FF2B5EF4-FFF2-40B4-BE49-F238E27FC236}">
                <a16:creationId xmlns:a16="http://schemas.microsoft.com/office/drawing/2014/main" id="{7220D251-A245-60AD-572B-FE3493BCFCDF}"/>
              </a:ext>
            </a:extLst>
          </p:cNvPr>
          <p:cNvSpPr txBox="1"/>
          <p:nvPr/>
        </p:nvSpPr>
        <p:spPr>
          <a:xfrm>
            <a:off x="389353" y="4472279"/>
            <a:ext cx="2422415" cy="276999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200" dirty="0">
                <a:solidFill>
                  <a:srgbClr val="070E1D"/>
                </a:solidFill>
              </a:rPr>
              <a:t>Fonctions support</a:t>
            </a:r>
            <a:endParaRPr sz="1200" dirty="0">
              <a:solidFill>
                <a:srgbClr val="070E1D"/>
              </a:solidFill>
            </a:endParaRPr>
          </a:p>
        </p:txBody>
      </p:sp>
      <p:sp>
        <p:nvSpPr>
          <p:cNvPr id="165" name="S15_TABLE_R6_C6">
            <a:extLst>
              <a:ext uri="{FF2B5EF4-FFF2-40B4-BE49-F238E27FC236}">
                <a16:creationId xmlns:a16="http://schemas.microsoft.com/office/drawing/2014/main" id="{9CC8D592-3874-BE10-3071-6735AE6A0D7B}"/>
              </a:ext>
            </a:extLst>
          </p:cNvPr>
          <p:cNvSpPr/>
          <p:nvPr/>
        </p:nvSpPr>
        <p:spPr>
          <a:xfrm>
            <a:off x="8541707" y="4472279"/>
            <a:ext cx="3260941" cy="54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000" dirty="0">
                <a:solidFill>
                  <a:srgbClr val="474E67"/>
                </a:solidFill>
              </a:rPr>
              <a:t>Sensibilisation | Communication</a:t>
            </a:r>
          </a:p>
        </p:txBody>
      </p:sp>
      <p:sp>
        <p:nvSpPr>
          <p:cNvPr id="166" name="S15_TABLE_SUBLABEL_R6">
            <a:extLst>
              <a:ext uri="{FF2B5EF4-FFF2-40B4-BE49-F238E27FC236}">
                <a16:creationId xmlns:a16="http://schemas.microsoft.com/office/drawing/2014/main" id="{926947CD-83BA-4A30-8A9A-CB5BE20E37E1}"/>
              </a:ext>
            </a:extLst>
          </p:cNvPr>
          <p:cNvSpPr txBox="1"/>
          <p:nvPr/>
        </p:nvSpPr>
        <p:spPr>
          <a:xfrm>
            <a:off x="389353" y="4734144"/>
            <a:ext cx="2422800" cy="184666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r>
              <a:rPr lang="fr-FR" sz="900" dirty="0">
                <a:solidFill>
                  <a:srgbClr val="474E67"/>
                </a:solidFill>
              </a:rPr>
              <a:t>~ 90 pers.</a:t>
            </a:r>
          </a:p>
        </p:txBody>
      </p:sp>
      <p:sp>
        <p:nvSpPr>
          <p:cNvPr id="167" name="S15_TABLE_R6_C2">
            <a:extLst>
              <a:ext uri="{FF2B5EF4-FFF2-40B4-BE49-F238E27FC236}">
                <a16:creationId xmlns:a16="http://schemas.microsoft.com/office/drawing/2014/main" id="{52CE957D-532C-07D8-67F6-0ABC7C7CCB13}"/>
              </a:ext>
            </a:extLst>
          </p:cNvPr>
          <p:cNvSpPr/>
          <p:nvPr/>
        </p:nvSpPr>
        <p:spPr>
          <a:xfrm>
            <a:off x="2975158" y="4472279"/>
            <a:ext cx="1368000" cy="540000"/>
          </a:xfrm>
          <a:prstGeom prst="roundRect">
            <a:avLst/>
          </a:prstGeom>
          <a:solidFill>
            <a:srgbClr val="9D93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8" name="S15_TABLE_R6_C3">
            <a:extLst>
              <a:ext uri="{FF2B5EF4-FFF2-40B4-BE49-F238E27FC236}">
                <a16:creationId xmlns:a16="http://schemas.microsoft.com/office/drawing/2014/main" id="{3C15986B-75DC-3E22-EA5E-AD5C5CC1CEB2}"/>
              </a:ext>
            </a:extLst>
          </p:cNvPr>
          <p:cNvSpPr/>
          <p:nvPr/>
        </p:nvSpPr>
        <p:spPr>
          <a:xfrm>
            <a:off x="4366795" y="4472279"/>
            <a:ext cx="1368000" cy="540000"/>
          </a:xfrm>
          <a:prstGeom prst="roundRect">
            <a:avLst/>
          </a:prstGeom>
          <a:solidFill>
            <a:srgbClr val="CEC9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9" name="S15_TABLE_R6_C4">
            <a:extLst>
              <a:ext uri="{FF2B5EF4-FFF2-40B4-BE49-F238E27FC236}">
                <a16:creationId xmlns:a16="http://schemas.microsoft.com/office/drawing/2014/main" id="{73084BAE-5B5A-BFD1-0038-98E5CA67F428}"/>
              </a:ext>
            </a:extLst>
          </p:cNvPr>
          <p:cNvSpPr/>
          <p:nvPr/>
        </p:nvSpPr>
        <p:spPr>
          <a:xfrm>
            <a:off x="5758432" y="4472279"/>
            <a:ext cx="1368000" cy="540000"/>
          </a:xfrm>
          <a:prstGeom prst="roundRect">
            <a:avLst/>
          </a:prstGeom>
          <a:solidFill>
            <a:srgbClr val="CEC9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0" name="S15_TABLE_R6_C5">
            <a:extLst>
              <a:ext uri="{FF2B5EF4-FFF2-40B4-BE49-F238E27FC236}">
                <a16:creationId xmlns:a16="http://schemas.microsoft.com/office/drawing/2014/main" id="{D13917CF-202C-C9C0-A95C-69BF8CA8BBC9}"/>
              </a:ext>
            </a:extLst>
          </p:cNvPr>
          <p:cNvSpPr/>
          <p:nvPr/>
        </p:nvSpPr>
        <p:spPr>
          <a:xfrm>
            <a:off x="7150069" y="4472279"/>
            <a:ext cx="1368000" cy="540000"/>
          </a:xfrm>
          <a:prstGeom prst="roundRect">
            <a:avLst/>
          </a:prstGeom>
          <a:solidFill>
            <a:srgbClr val="CEC9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8" name="LEGENDE_TITLE">
            <a:extLst>
              <a:ext uri="{FF2B5EF4-FFF2-40B4-BE49-F238E27FC236}">
                <a16:creationId xmlns:a16="http://schemas.microsoft.com/office/drawing/2014/main" id="{DD8D3DAF-9E55-AB0C-12E7-07DE22D1569B}"/>
              </a:ext>
            </a:extLst>
          </p:cNvPr>
          <p:cNvSpPr txBox="1"/>
          <p:nvPr/>
        </p:nvSpPr>
        <p:spPr>
          <a:xfrm>
            <a:off x="389353" y="6009897"/>
            <a:ext cx="622286" cy="230832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900" cap="small" dirty="0">
                <a:solidFill>
                  <a:srgbClr val="474E67"/>
                </a:solidFill>
              </a:rPr>
              <a:t>Intensité</a:t>
            </a:r>
            <a:endParaRPr sz="900" cap="small" dirty="0">
              <a:solidFill>
                <a:srgbClr val="474E67"/>
              </a:solidFill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B261FE9-46C2-929C-6D76-9305A14F2C23}"/>
              </a:ext>
            </a:extLst>
          </p:cNvPr>
          <p:cNvSpPr txBox="1"/>
          <p:nvPr/>
        </p:nvSpPr>
        <p:spPr>
          <a:xfrm>
            <a:off x="3315139" y="1311324"/>
            <a:ext cx="633507" cy="276999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>
            <a:defPPr>
              <a:defRPr lang="fr-FR"/>
            </a:defPPr>
            <a:lvl1pPr algn="ctr" defTabSz="457200">
              <a:defRPr sz="1200" b="1" cap="small">
                <a:solidFill>
                  <a:srgbClr val="070E1D"/>
                </a:solidFill>
              </a:defRPr>
            </a:lvl1pPr>
            <a:lvl2pPr defTabSz="457200"/>
            <a:lvl3pPr defTabSz="457200"/>
            <a:lvl4pPr defTabSz="457200"/>
            <a:lvl5pPr defTabSz="457200"/>
            <a:lvl6pPr defTabSz="457200"/>
            <a:lvl7pPr defTabSz="457200"/>
            <a:lvl8pPr defTabSz="457200"/>
            <a:lvl9pPr defTabSz="457200"/>
          </a:lstStyle>
          <a:p>
            <a:r>
              <a:rPr lang="fr-FR" dirty="0"/>
              <a:t>Outils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9740B79-2F62-F636-8A92-EA79BD5A8402}"/>
              </a:ext>
            </a:extLst>
          </p:cNvPr>
          <p:cNvSpPr txBox="1"/>
          <p:nvPr/>
        </p:nvSpPr>
        <p:spPr>
          <a:xfrm>
            <a:off x="4723622" y="1311324"/>
            <a:ext cx="654346" cy="276999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>
            <a:defPPr>
              <a:defRPr lang="fr-FR"/>
            </a:defPPr>
            <a:lvl1pPr algn="ctr" defTabSz="457200">
              <a:defRPr sz="1200" b="1" cap="small">
                <a:solidFill>
                  <a:srgbClr val="070E1D"/>
                </a:solidFill>
              </a:defRPr>
            </a:lvl1pPr>
            <a:lvl2pPr defTabSz="457200"/>
            <a:lvl3pPr defTabSz="457200"/>
            <a:lvl4pPr defTabSz="457200"/>
            <a:lvl5pPr defTabSz="457200"/>
            <a:lvl6pPr defTabSz="457200"/>
            <a:lvl7pPr defTabSz="457200"/>
            <a:lvl8pPr defTabSz="457200"/>
            <a:lvl9pPr defTabSz="457200"/>
          </a:lstStyle>
          <a:p>
            <a:r>
              <a:rPr lang="fr-FR" dirty="0"/>
              <a:t>Métier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B5BBA6A-1AD0-4823-EFCB-2990377771A9}"/>
              </a:ext>
            </a:extLst>
          </p:cNvPr>
          <p:cNvSpPr txBox="1"/>
          <p:nvPr/>
        </p:nvSpPr>
        <p:spPr>
          <a:xfrm>
            <a:off x="5872500" y="1311324"/>
            <a:ext cx="1139864" cy="276999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>
            <a:defPPr>
              <a:defRPr lang="fr-FR"/>
            </a:defPPr>
            <a:lvl1pPr algn="ctr" defTabSz="457200">
              <a:defRPr sz="1200" b="1" cap="small">
                <a:solidFill>
                  <a:srgbClr val="070E1D"/>
                </a:solidFill>
              </a:defRPr>
            </a:lvl1pPr>
            <a:lvl2pPr defTabSz="457200"/>
            <a:lvl3pPr defTabSz="457200"/>
            <a:lvl4pPr defTabSz="457200"/>
            <a:lvl5pPr defTabSz="457200"/>
            <a:lvl6pPr defTabSz="457200"/>
            <a:lvl7pPr defTabSz="457200"/>
            <a:lvl8pPr defTabSz="457200"/>
            <a:lvl9pPr defTabSz="457200"/>
          </a:lstStyle>
          <a:p>
            <a:r>
              <a:rPr lang="fr-FR" dirty="0"/>
              <a:t>Organisation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174ADF4E-AF1A-1B37-C3C8-F0ACAC5D95DE}"/>
              </a:ext>
            </a:extLst>
          </p:cNvPr>
          <p:cNvSpPr txBox="1"/>
          <p:nvPr/>
        </p:nvSpPr>
        <p:spPr>
          <a:xfrm>
            <a:off x="7467686" y="1311324"/>
            <a:ext cx="732765" cy="276999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>
            <a:defPPr>
              <a:defRPr lang="fr-FR"/>
            </a:defPPr>
            <a:lvl1pPr algn="ctr" defTabSz="457200">
              <a:defRPr sz="1200" b="1" cap="small">
                <a:solidFill>
                  <a:srgbClr val="070E1D"/>
                </a:solidFill>
              </a:defRPr>
            </a:lvl1pPr>
            <a:lvl2pPr defTabSz="457200"/>
            <a:lvl3pPr defTabSz="457200"/>
            <a:lvl4pPr defTabSz="457200"/>
            <a:lvl5pPr defTabSz="457200"/>
            <a:lvl6pPr defTabSz="457200"/>
            <a:lvl7pPr defTabSz="457200"/>
            <a:lvl8pPr defTabSz="457200"/>
            <a:lvl9pPr defTabSz="457200"/>
          </a:lstStyle>
          <a:p>
            <a:r>
              <a:rPr lang="fr-FR" dirty="0"/>
              <a:t>Culture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64D777D9-538D-657C-4D8B-BDAB22B551B5}"/>
              </a:ext>
            </a:extLst>
          </p:cNvPr>
          <p:cNvSpPr txBox="1"/>
          <p:nvPr/>
        </p:nvSpPr>
        <p:spPr>
          <a:xfrm>
            <a:off x="9052731" y="1311324"/>
            <a:ext cx="2037674" cy="276999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>
            <a:defPPr>
              <a:defRPr lang="fr-FR"/>
            </a:defPPr>
            <a:lvl1pPr algn="ctr" defTabSz="457200">
              <a:defRPr sz="1200" b="1" cap="small">
                <a:solidFill>
                  <a:srgbClr val="070E1D"/>
                </a:solidFill>
              </a:defRPr>
            </a:lvl1pPr>
            <a:lvl2pPr defTabSz="457200"/>
            <a:lvl3pPr defTabSz="457200"/>
            <a:lvl4pPr defTabSz="457200"/>
            <a:lvl5pPr defTabSz="457200"/>
            <a:lvl6pPr defTabSz="457200"/>
            <a:lvl7pPr defTabSz="457200"/>
            <a:lvl8pPr defTabSz="457200"/>
            <a:lvl9pPr defTabSz="457200"/>
          </a:lstStyle>
          <a:p>
            <a:r>
              <a:rPr lang="fr-FR" dirty="0"/>
              <a:t>Leviers d’accompagnement</a:t>
            </a:r>
          </a:p>
        </p:txBody>
      </p:sp>
      <p:sp>
        <p:nvSpPr>
          <p:cNvPr id="13" name="S15_TABLE_R3_C6">
            <a:extLst>
              <a:ext uri="{FF2B5EF4-FFF2-40B4-BE49-F238E27FC236}">
                <a16:creationId xmlns:a16="http://schemas.microsoft.com/office/drawing/2014/main" id="{BC759C14-E0CF-823E-77FD-E5F80907CBBD}"/>
              </a:ext>
            </a:extLst>
          </p:cNvPr>
          <p:cNvSpPr/>
          <p:nvPr/>
        </p:nvSpPr>
        <p:spPr>
          <a:xfrm>
            <a:off x="8541707" y="2783092"/>
            <a:ext cx="3260941" cy="54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000" dirty="0">
                <a:solidFill>
                  <a:srgbClr val="474E67"/>
                </a:solidFill>
              </a:rPr>
              <a:t>Formation process &amp; nouvel outil</a:t>
            </a: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72CA5C2D-0DCA-2F82-6257-0347FD1D0FEF}"/>
              </a:ext>
            </a:extLst>
          </p:cNvPr>
          <p:cNvCxnSpPr>
            <a:cxnSpLocks/>
          </p:cNvCxnSpPr>
          <p:nvPr/>
        </p:nvCxnSpPr>
        <p:spPr>
          <a:xfrm>
            <a:off x="389353" y="1603563"/>
            <a:ext cx="11412000" cy="0"/>
          </a:xfrm>
          <a:prstGeom prst="line">
            <a:avLst/>
          </a:prstGeom>
          <a:ln w="19050">
            <a:solidFill>
              <a:srgbClr val="D7DA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6296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A17BDF96-FDEE-44A9-5D60-BCC7F487E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Acteurs du déploiement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2F6B3745-C5D1-7442-4FF2-BE696A16F323}"/>
              </a:ext>
            </a:extLst>
          </p:cNvPr>
          <p:cNvSpPr/>
          <p:nvPr/>
        </p:nvSpPr>
        <p:spPr>
          <a:xfrm>
            <a:off x="9182476" y="1817431"/>
            <a:ext cx="2952000" cy="3762889"/>
          </a:xfrm>
          <a:prstGeom prst="rect">
            <a:avLst/>
          </a:prstGeom>
          <a:solidFill>
            <a:srgbClr val="FEE3CA"/>
          </a:solid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74" name="TextBox 6">
            <a:extLst>
              <a:ext uri="{FF2B5EF4-FFF2-40B4-BE49-F238E27FC236}">
                <a16:creationId xmlns:a16="http://schemas.microsoft.com/office/drawing/2014/main" id="{2ABC96D2-A8E8-2FAD-7977-07B75D7C0967}"/>
              </a:ext>
            </a:extLst>
          </p:cNvPr>
          <p:cNvSpPr txBox="1"/>
          <p:nvPr/>
        </p:nvSpPr>
        <p:spPr>
          <a:xfrm>
            <a:off x="9182476" y="1817431"/>
            <a:ext cx="694421" cy="246221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000" cap="small" dirty="0">
                <a:solidFill>
                  <a:srgbClr val="FDA85B"/>
                </a:solidFill>
              </a:rPr>
              <a:t>Sécuriser</a:t>
            </a:r>
            <a:endParaRPr sz="1000" cap="small" dirty="0">
              <a:solidFill>
                <a:srgbClr val="FDA85B"/>
              </a:solidFill>
            </a:endParaRPr>
          </a:p>
        </p:txBody>
      </p:sp>
      <p:sp>
        <p:nvSpPr>
          <p:cNvPr id="75" name="TextBox 7">
            <a:extLst>
              <a:ext uri="{FF2B5EF4-FFF2-40B4-BE49-F238E27FC236}">
                <a16:creationId xmlns:a16="http://schemas.microsoft.com/office/drawing/2014/main" id="{21BA697E-EAE3-EB07-317D-4DA92FBB5C8E}"/>
              </a:ext>
            </a:extLst>
          </p:cNvPr>
          <p:cNvSpPr txBox="1"/>
          <p:nvPr/>
        </p:nvSpPr>
        <p:spPr>
          <a:xfrm>
            <a:off x="9286876" y="2459796"/>
            <a:ext cx="2743200" cy="307777"/>
          </a:xfrm>
          <a:prstGeom prst="rect">
            <a:avLst/>
          </a:prstGeom>
          <a:noFill/>
          <a:effectLst/>
        </p:spPr>
        <p:txBody>
          <a:bodyPr wrap="square" l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400" b="1" dirty="0">
                <a:solidFill>
                  <a:srgbClr val="070E1D"/>
                </a:solidFill>
                <a:cs typeface="Segoe UI Light" panose="020B0502040204020203" pitchFamily="34" charset="0"/>
              </a:rPr>
              <a:t>Garants techniques</a:t>
            </a:r>
            <a:endParaRPr sz="1400" b="1" dirty="0">
              <a:solidFill>
                <a:srgbClr val="070E1D"/>
              </a:solidFill>
              <a:cs typeface="Segoe UI Light" panose="020B0502040204020203" pitchFamily="34" charset="0"/>
            </a:endParaRPr>
          </a:p>
        </p:txBody>
      </p:sp>
      <p:sp>
        <p:nvSpPr>
          <p:cNvPr id="76" name="TextBox 8">
            <a:extLst>
              <a:ext uri="{FF2B5EF4-FFF2-40B4-BE49-F238E27FC236}">
                <a16:creationId xmlns:a16="http://schemas.microsoft.com/office/drawing/2014/main" id="{D419858A-1935-8D39-1409-B925F19780A8}"/>
              </a:ext>
            </a:extLst>
          </p:cNvPr>
          <p:cNvSpPr txBox="1"/>
          <p:nvPr/>
        </p:nvSpPr>
        <p:spPr>
          <a:xfrm>
            <a:off x="9286876" y="2766859"/>
            <a:ext cx="2743200" cy="369332"/>
          </a:xfrm>
          <a:prstGeom prst="rect">
            <a:avLst/>
          </a:prstGeom>
          <a:noFill/>
          <a:effectLst/>
        </p:spPr>
        <p:txBody>
          <a:bodyPr wrap="square" lIns="0">
            <a:spAutoFit/>
          </a:bodyPr>
          <a:lstStyle>
            <a:defPPr>
              <a:defRPr lang="fr-FR"/>
            </a:defPPr>
            <a:lvl1pPr defTabSz="457200">
              <a:defRPr sz="800">
                <a:solidFill>
                  <a:srgbClr val="070E1D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 defTabSz="457200"/>
            <a:lvl3pPr defTabSz="457200"/>
            <a:lvl4pPr defTabSz="457200"/>
            <a:lvl5pPr defTabSz="457200"/>
            <a:lvl6pPr defTabSz="457200"/>
            <a:lvl7pPr defTabSz="457200"/>
            <a:lvl8pPr defTabSz="457200"/>
            <a:lvl9pPr defTabSz="457200"/>
          </a:lstStyle>
          <a:p>
            <a:r>
              <a:rPr lang="fr-FR" sz="900" dirty="0"/>
              <a:t>Conçoivent, déploient, maintiennent. </a:t>
            </a:r>
          </a:p>
          <a:p>
            <a:r>
              <a:rPr lang="fr-FR" sz="900" dirty="0"/>
              <a:t>Garantissent la solidité de la solution.</a:t>
            </a:r>
          </a:p>
        </p:txBody>
      </p:sp>
      <p:sp>
        <p:nvSpPr>
          <p:cNvPr id="77" name="TextBox 10">
            <a:extLst>
              <a:ext uri="{FF2B5EF4-FFF2-40B4-BE49-F238E27FC236}">
                <a16:creationId xmlns:a16="http://schemas.microsoft.com/office/drawing/2014/main" id="{BE9CC3C3-5535-375E-C47D-30C3C362F23B}"/>
              </a:ext>
            </a:extLst>
          </p:cNvPr>
          <p:cNvSpPr txBox="1"/>
          <p:nvPr/>
        </p:nvSpPr>
        <p:spPr>
          <a:xfrm>
            <a:off x="9252599" y="4575083"/>
            <a:ext cx="334387" cy="230832"/>
          </a:xfrm>
          <a:prstGeom prst="rect">
            <a:avLst/>
          </a:prstGeom>
          <a:noFill/>
          <a:effectLst/>
        </p:spPr>
        <p:txBody>
          <a:bodyPr wrap="none" l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900" b="1" cap="small" dirty="0">
                <a:solidFill>
                  <a:srgbClr val="070E1D"/>
                </a:solidFill>
              </a:rPr>
              <a:t>Rôle</a:t>
            </a:r>
            <a:endParaRPr sz="1100" b="1" cap="small" dirty="0">
              <a:solidFill>
                <a:srgbClr val="070E1D"/>
              </a:solidFill>
            </a:endParaRPr>
          </a:p>
        </p:txBody>
      </p:sp>
      <p:sp>
        <p:nvSpPr>
          <p:cNvPr id="78" name="TextBox 10">
            <a:extLst>
              <a:ext uri="{FF2B5EF4-FFF2-40B4-BE49-F238E27FC236}">
                <a16:creationId xmlns:a16="http://schemas.microsoft.com/office/drawing/2014/main" id="{611833AC-B15F-8E29-21B6-121630A2E9B3}"/>
              </a:ext>
            </a:extLst>
          </p:cNvPr>
          <p:cNvSpPr txBox="1"/>
          <p:nvPr/>
        </p:nvSpPr>
        <p:spPr>
          <a:xfrm>
            <a:off x="9252599" y="5111466"/>
            <a:ext cx="465833" cy="230832"/>
          </a:xfrm>
          <a:prstGeom prst="rect">
            <a:avLst/>
          </a:prstGeom>
          <a:noFill/>
          <a:effectLst/>
        </p:spPr>
        <p:txBody>
          <a:bodyPr wrap="none" l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900" b="1" cap="small" dirty="0">
                <a:solidFill>
                  <a:srgbClr val="070E1D"/>
                </a:solidFill>
              </a:rPr>
              <a:t>Rituels</a:t>
            </a:r>
            <a:endParaRPr sz="1100" b="1" cap="small" dirty="0">
              <a:solidFill>
                <a:srgbClr val="070E1D"/>
              </a:solidFill>
            </a:endParaRPr>
          </a:p>
        </p:txBody>
      </p:sp>
      <p:sp>
        <p:nvSpPr>
          <p:cNvPr id="79" name="TextBox 10">
            <a:extLst>
              <a:ext uri="{FF2B5EF4-FFF2-40B4-BE49-F238E27FC236}">
                <a16:creationId xmlns:a16="http://schemas.microsoft.com/office/drawing/2014/main" id="{EBA3D8A4-A09A-50C4-B071-84CCC511F312}"/>
              </a:ext>
            </a:extLst>
          </p:cNvPr>
          <p:cNvSpPr txBox="1"/>
          <p:nvPr/>
        </p:nvSpPr>
        <p:spPr>
          <a:xfrm>
            <a:off x="9252599" y="3320714"/>
            <a:ext cx="276679" cy="230832"/>
          </a:xfrm>
          <a:prstGeom prst="rect">
            <a:avLst/>
          </a:prstGeom>
          <a:noFill/>
          <a:effectLst/>
        </p:spPr>
        <p:txBody>
          <a:bodyPr wrap="none" l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900" b="1" cap="small" dirty="0">
                <a:solidFill>
                  <a:srgbClr val="070E1D"/>
                </a:solidFill>
              </a:rPr>
              <a:t>Qui</a:t>
            </a:r>
            <a:endParaRPr sz="1100" b="1" cap="small" dirty="0">
              <a:solidFill>
                <a:srgbClr val="070E1D"/>
              </a:solidFill>
            </a:endParaRP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B991A3A9-61CC-4521-58D1-782D1A70872A}"/>
              </a:ext>
            </a:extLst>
          </p:cNvPr>
          <p:cNvCxnSpPr>
            <a:cxnSpLocks/>
          </p:cNvCxnSpPr>
          <p:nvPr/>
        </p:nvCxnSpPr>
        <p:spPr>
          <a:xfrm>
            <a:off x="9286876" y="3179958"/>
            <a:ext cx="2743200" cy="0"/>
          </a:xfrm>
          <a:prstGeom prst="line">
            <a:avLst/>
          </a:prstGeom>
          <a:ln w="3175">
            <a:solidFill>
              <a:srgbClr val="3636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10">
            <a:extLst>
              <a:ext uri="{FF2B5EF4-FFF2-40B4-BE49-F238E27FC236}">
                <a16:creationId xmlns:a16="http://schemas.microsoft.com/office/drawing/2014/main" id="{7B95C45D-9CFA-21A4-7F85-9C22FC649FD3}"/>
              </a:ext>
            </a:extLst>
          </p:cNvPr>
          <p:cNvSpPr txBox="1"/>
          <p:nvPr/>
        </p:nvSpPr>
        <p:spPr>
          <a:xfrm>
            <a:off x="9831705" y="4575083"/>
            <a:ext cx="2163600" cy="54000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800" dirty="0" err="1">
                <a:solidFill>
                  <a:srgbClr val="070E1D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Build</a:t>
            </a:r>
            <a:r>
              <a:rPr lang="fr-FR" sz="800" dirty="0">
                <a:solidFill>
                  <a:srgbClr val="070E1D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, run, support, données</a:t>
            </a:r>
            <a:endParaRPr sz="1100" dirty="0">
              <a:solidFill>
                <a:srgbClr val="070E1D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82" name="TextBox 10">
            <a:extLst>
              <a:ext uri="{FF2B5EF4-FFF2-40B4-BE49-F238E27FC236}">
                <a16:creationId xmlns:a16="http://schemas.microsoft.com/office/drawing/2014/main" id="{3023CD39-F00B-C79E-BC1B-53AEC1A814BB}"/>
              </a:ext>
            </a:extLst>
          </p:cNvPr>
          <p:cNvSpPr txBox="1"/>
          <p:nvPr/>
        </p:nvSpPr>
        <p:spPr>
          <a:xfrm>
            <a:off x="9831705" y="3320714"/>
            <a:ext cx="2163600" cy="11700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800" dirty="0">
                <a:solidFill>
                  <a:srgbClr val="070E1D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Acteur 1</a:t>
            </a:r>
          </a:p>
          <a:p>
            <a:r>
              <a:rPr lang="fr-FR" sz="800" dirty="0">
                <a:solidFill>
                  <a:srgbClr val="070E1D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Acteur 2</a:t>
            </a:r>
            <a:endParaRPr sz="1100" dirty="0">
              <a:solidFill>
                <a:srgbClr val="070E1D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83" name="TextBox 10">
            <a:extLst>
              <a:ext uri="{FF2B5EF4-FFF2-40B4-BE49-F238E27FC236}">
                <a16:creationId xmlns:a16="http://schemas.microsoft.com/office/drawing/2014/main" id="{859449A0-C203-5454-0C05-2E174834D468}"/>
              </a:ext>
            </a:extLst>
          </p:cNvPr>
          <p:cNvSpPr txBox="1"/>
          <p:nvPr/>
        </p:nvSpPr>
        <p:spPr>
          <a:xfrm>
            <a:off x="9831705" y="5111466"/>
            <a:ext cx="2163600" cy="215444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>
            <a:defPPr>
              <a:defRPr lang="fr-FR"/>
            </a:defPPr>
            <a:lvl1pPr defTabSz="457200">
              <a:defRPr sz="800">
                <a:solidFill>
                  <a:srgbClr val="474E67"/>
                </a:solidFill>
              </a:defRPr>
            </a:lvl1pPr>
            <a:lvl2pPr defTabSz="457200"/>
            <a:lvl3pPr defTabSz="457200"/>
            <a:lvl4pPr defTabSz="457200"/>
            <a:lvl5pPr defTabSz="457200"/>
            <a:lvl6pPr defTabSz="457200"/>
            <a:lvl7pPr defTabSz="457200"/>
            <a:lvl8pPr defTabSz="457200"/>
            <a:lvl9pPr defTabSz="457200"/>
          </a:lstStyle>
          <a:p>
            <a:r>
              <a:rPr lang="fr-FR" dirty="0">
                <a:solidFill>
                  <a:srgbClr val="070E1D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xxx</a:t>
            </a:r>
          </a:p>
        </p:txBody>
      </p:sp>
      <p:pic>
        <p:nvPicPr>
          <p:cNvPr id="93" name="Image 92">
            <a:extLst>
              <a:ext uri="{FF2B5EF4-FFF2-40B4-BE49-F238E27FC236}">
                <a16:creationId xmlns:a16="http://schemas.microsoft.com/office/drawing/2014/main" id="{12DBDE70-A05D-BC4A-D862-DD5C284070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" b="18323"/>
          <a:stretch>
            <a:fillRect/>
          </a:stretch>
        </p:blipFill>
        <p:spPr>
          <a:xfrm>
            <a:off x="9286876" y="2073249"/>
            <a:ext cx="487826" cy="396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6064284-8D34-1182-AB60-DD76D372A74A}"/>
              </a:ext>
            </a:extLst>
          </p:cNvPr>
          <p:cNvSpPr/>
          <p:nvPr/>
        </p:nvSpPr>
        <p:spPr>
          <a:xfrm>
            <a:off x="57525" y="1817431"/>
            <a:ext cx="2952000" cy="3762889"/>
          </a:xfrm>
          <a:prstGeom prst="rect">
            <a:avLst/>
          </a:prstGeom>
          <a:solidFill>
            <a:srgbClr val="BABDD0"/>
          </a:solid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5630468F-62DE-618E-6D0A-848565F4ECCF}"/>
              </a:ext>
            </a:extLst>
          </p:cNvPr>
          <p:cNvSpPr txBox="1"/>
          <p:nvPr/>
        </p:nvSpPr>
        <p:spPr>
          <a:xfrm>
            <a:off x="57527" y="1817431"/>
            <a:ext cx="601447" cy="246221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000" cap="small" dirty="0">
                <a:solidFill>
                  <a:srgbClr val="484C6A"/>
                </a:solidFill>
              </a:rPr>
              <a:t>Décider</a:t>
            </a:r>
            <a:endParaRPr sz="1000" cap="small" dirty="0">
              <a:solidFill>
                <a:srgbClr val="484C6A"/>
              </a:solidFill>
            </a:endParaRPr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05C5CD15-93A8-1F1D-5FB5-5704717B3786}"/>
              </a:ext>
            </a:extLst>
          </p:cNvPr>
          <p:cNvSpPr txBox="1"/>
          <p:nvPr/>
        </p:nvSpPr>
        <p:spPr>
          <a:xfrm>
            <a:off x="163081" y="2459796"/>
            <a:ext cx="2743200" cy="307777"/>
          </a:xfrm>
          <a:prstGeom prst="rect">
            <a:avLst/>
          </a:prstGeom>
          <a:noFill/>
          <a:effectLst/>
        </p:spPr>
        <p:txBody>
          <a:bodyPr wrap="square" l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400" b="1" dirty="0" err="1">
                <a:solidFill>
                  <a:srgbClr val="070E1D"/>
                </a:solidFill>
                <a:cs typeface="Segoe UI Light" panose="020B0502040204020203" pitchFamily="34" charset="0"/>
              </a:rPr>
              <a:t>Gouvernance</a:t>
            </a:r>
            <a:endParaRPr sz="1400" b="1" dirty="0">
              <a:solidFill>
                <a:srgbClr val="070E1D"/>
              </a:solidFill>
              <a:cs typeface="Segoe UI Light" panose="020B0502040204020203" pitchFamily="34" charset="0"/>
            </a:endParaRPr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3D5881D8-92CB-BE68-13C2-4A977D6A1FEF}"/>
              </a:ext>
            </a:extLst>
          </p:cNvPr>
          <p:cNvSpPr txBox="1"/>
          <p:nvPr/>
        </p:nvSpPr>
        <p:spPr>
          <a:xfrm>
            <a:off x="163080" y="2766859"/>
            <a:ext cx="2742885" cy="369332"/>
          </a:xfrm>
          <a:prstGeom prst="rect">
            <a:avLst/>
          </a:prstGeom>
          <a:noFill/>
          <a:effectLst/>
        </p:spPr>
        <p:txBody>
          <a:bodyPr wrap="square" l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900" dirty="0">
                <a:solidFill>
                  <a:srgbClr val="070E1D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Arbitre, </a:t>
            </a:r>
            <a:r>
              <a:rPr sz="900" dirty="0" err="1">
                <a:solidFill>
                  <a:srgbClr val="070E1D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sponsorise</a:t>
            </a:r>
            <a:r>
              <a:rPr sz="900" dirty="0">
                <a:solidFill>
                  <a:srgbClr val="070E1D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, </a:t>
            </a:r>
            <a:r>
              <a:rPr sz="900" dirty="0" err="1">
                <a:solidFill>
                  <a:srgbClr val="070E1D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débloque</a:t>
            </a:r>
            <a:r>
              <a:rPr sz="900" dirty="0">
                <a:solidFill>
                  <a:srgbClr val="070E1D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. </a:t>
            </a:r>
            <a:endParaRPr lang="fr-FR" sz="900" dirty="0">
              <a:solidFill>
                <a:srgbClr val="070E1D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r>
              <a:rPr sz="900" dirty="0">
                <a:solidFill>
                  <a:srgbClr val="070E1D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Porte le </a:t>
            </a:r>
            <a:r>
              <a:rPr sz="900" dirty="0" err="1">
                <a:solidFill>
                  <a:srgbClr val="070E1D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mandat</a:t>
            </a:r>
            <a:r>
              <a:rPr sz="900" dirty="0">
                <a:solidFill>
                  <a:srgbClr val="070E1D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et </a:t>
            </a:r>
            <a:r>
              <a:rPr sz="900" dirty="0" err="1">
                <a:solidFill>
                  <a:srgbClr val="070E1D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garantit</a:t>
            </a:r>
            <a:r>
              <a:rPr sz="900" dirty="0">
                <a:solidFill>
                  <a:srgbClr val="070E1D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la </a:t>
            </a:r>
            <a:r>
              <a:rPr sz="900" dirty="0" err="1">
                <a:solidFill>
                  <a:srgbClr val="070E1D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trajectoire</a:t>
            </a:r>
            <a:r>
              <a:rPr sz="900" dirty="0">
                <a:solidFill>
                  <a:srgbClr val="070E1D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.</a:t>
            </a:r>
          </a:p>
        </p:txBody>
      </p:sp>
      <p:sp>
        <p:nvSpPr>
          <p:cNvPr id="41" name="TextBox 10">
            <a:extLst>
              <a:ext uri="{FF2B5EF4-FFF2-40B4-BE49-F238E27FC236}">
                <a16:creationId xmlns:a16="http://schemas.microsoft.com/office/drawing/2014/main" id="{B4B06F94-0F4C-1C76-3415-C64BF409E8B6}"/>
              </a:ext>
            </a:extLst>
          </p:cNvPr>
          <p:cNvSpPr txBox="1"/>
          <p:nvPr/>
        </p:nvSpPr>
        <p:spPr>
          <a:xfrm>
            <a:off x="163081" y="4575083"/>
            <a:ext cx="334387" cy="230832"/>
          </a:xfrm>
          <a:prstGeom prst="rect">
            <a:avLst/>
          </a:prstGeom>
          <a:noFill/>
          <a:effectLst/>
        </p:spPr>
        <p:txBody>
          <a:bodyPr wrap="none" l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900" b="1" cap="small" dirty="0">
                <a:solidFill>
                  <a:srgbClr val="070E1D"/>
                </a:solidFill>
              </a:rPr>
              <a:t>Rôle</a:t>
            </a:r>
            <a:endParaRPr sz="1100" b="1" cap="small" dirty="0">
              <a:solidFill>
                <a:srgbClr val="070E1D"/>
              </a:solidFill>
            </a:endParaRPr>
          </a:p>
        </p:txBody>
      </p:sp>
      <p:sp>
        <p:nvSpPr>
          <p:cNvPr id="42" name="TextBox 10">
            <a:extLst>
              <a:ext uri="{FF2B5EF4-FFF2-40B4-BE49-F238E27FC236}">
                <a16:creationId xmlns:a16="http://schemas.microsoft.com/office/drawing/2014/main" id="{AE09C5BF-BF46-1C2F-4E3F-E8BEE20A8D57}"/>
              </a:ext>
            </a:extLst>
          </p:cNvPr>
          <p:cNvSpPr txBox="1"/>
          <p:nvPr/>
        </p:nvSpPr>
        <p:spPr>
          <a:xfrm>
            <a:off x="163081" y="5111466"/>
            <a:ext cx="465833" cy="230832"/>
          </a:xfrm>
          <a:prstGeom prst="rect">
            <a:avLst/>
          </a:prstGeom>
          <a:noFill/>
          <a:effectLst/>
        </p:spPr>
        <p:txBody>
          <a:bodyPr wrap="none" l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900" b="1" cap="small" dirty="0">
                <a:solidFill>
                  <a:srgbClr val="070E1D"/>
                </a:solidFill>
              </a:rPr>
              <a:t>R</a:t>
            </a:r>
            <a:r>
              <a:rPr lang="fr-FR" sz="900" b="1" cap="small" dirty="0" err="1">
                <a:solidFill>
                  <a:srgbClr val="070E1D"/>
                </a:solidFill>
              </a:rPr>
              <a:t>ituels</a:t>
            </a:r>
            <a:endParaRPr sz="1100" b="1" cap="small" dirty="0">
              <a:solidFill>
                <a:srgbClr val="070E1D"/>
              </a:solidFill>
            </a:endParaRPr>
          </a:p>
        </p:txBody>
      </p:sp>
      <p:sp>
        <p:nvSpPr>
          <p:cNvPr id="43" name="TextBox 10">
            <a:extLst>
              <a:ext uri="{FF2B5EF4-FFF2-40B4-BE49-F238E27FC236}">
                <a16:creationId xmlns:a16="http://schemas.microsoft.com/office/drawing/2014/main" id="{99BF22A0-C821-6296-7264-786ADD91CB0F}"/>
              </a:ext>
            </a:extLst>
          </p:cNvPr>
          <p:cNvSpPr txBox="1"/>
          <p:nvPr/>
        </p:nvSpPr>
        <p:spPr>
          <a:xfrm>
            <a:off x="163081" y="3320714"/>
            <a:ext cx="276679" cy="230832"/>
          </a:xfrm>
          <a:prstGeom prst="rect">
            <a:avLst/>
          </a:prstGeom>
          <a:noFill/>
          <a:effectLst/>
        </p:spPr>
        <p:txBody>
          <a:bodyPr wrap="none" l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900" b="1" cap="small" dirty="0">
                <a:solidFill>
                  <a:srgbClr val="070E1D"/>
                </a:solidFill>
              </a:rPr>
              <a:t>Qui</a:t>
            </a:r>
            <a:endParaRPr sz="1100" b="1" cap="small" dirty="0">
              <a:solidFill>
                <a:srgbClr val="070E1D"/>
              </a:solidFill>
            </a:endParaRPr>
          </a:p>
        </p:txBody>
      </p:sp>
      <p:cxnSp>
        <p:nvCxnSpPr>
          <p:cNvPr id="45" name="Connecteur droit 44">
            <a:extLst>
              <a:ext uri="{FF2B5EF4-FFF2-40B4-BE49-F238E27FC236}">
                <a16:creationId xmlns:a16="http://schemas.microsoft.com/office/drawing/2014/main" id="{F4C20BC3-C711-4DCF-8907-234548CA7315}"/>
              </a:ext>
            </a:extLst>
          </p:cNvPr>
          <p:cNvCxnSpPr>
            <a:cxnSpLocks/>
          </p:cNvCxnSpPr>
          <p:nvPr/>
        </p:nvCxnSpPr>
        <p:spPr>
          <a:xfrm>
            <a:off x="163081" y="3179958"/>
            <a:ext cx="2742885" cy="0"/>
          </a:xfrm>
          <a:prstGeom prst="line">
            <a:avLst/>
          </a:prstGeom>
          <a:ln w="3175">
            <a:solidFill>
              <a:srgbClr val="3636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10">
            <a:extLst>
              <a:ext uri="{FF2B5EF4-FFF2-40B4-BE49-F238E27FC236}">
                <a16:creationId xmlns:a16="http://schemas.microsoft.com/office/drawing/2014/main" id="{085DA4BD-43BE-E00D-54DD-1460A7D0C013}"/>
              </a:ext>
            </a:extLst>
          </p:cNvPr>
          <p:cNvSpPr txBox="1"/>
          <p:nvPr/>
        </p:nvSpPr>
        <p:spPr>
          <a:xfrm>
            <a:off x="742187" y="4575083"/>
            <a:ext cx="2163600" cy="54000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800" dirty="0">
                <a:solidFill>
                  <a:srgbClr val="070E1D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Arbitrages, priorités, budget</a:t>
            </a:r>
            <a:endParaRPr sz="800" dirty="0">
              <a:solidFill>
                <a:srgbClr val="070E1D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47" name="TextBox 10">
            <a:extLst>
              <a:ext uri="{FF2B5EF4-FFF2-40B4-BE49-F238E27FC236}">
                <a16:creationId xmlns:a16="http://schemas.microsoft.com/office/drawing/2014/main" id="{E3B05084-8784-ED80-E574-1366B0C46753}"/>
              </a:ext>
            </a:extLst>
          </p:cNvPr>
          <p:cNvSpPr txBox="1"/>
          <p:nvPr/>
        </p:nvSpPr>
        <p:spPr>
          <a:xfrm>
            <a:off x="742187" y="3320714"/>
            <a:ext cx="2163600" cy="338554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800" dirty="0">
                <a:solidFill>
                  <a:srgbClr val="070E1D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Acteur 1</a:t>
            </a:r>
          </a:p>
          <a:p>
            <a:r>
              <a:rPr lang="fr-FR" sz="800" dirty="0">
                <a:solidFill>
                  <a:srgbClr val="070E1D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Acteur 2</a:t>
            </a:r>
            <a:endParaRPr sz="1100" dirty="0">
              <a:solidFill>
                <a:srgbClr val="070E1D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49" name="TextBox 10">
            <a:extLst>
              <a:ext uri="{FF2B5EF4-FFF2-40B4-BE49-F238E27FC236}">
                <a16:creationId xmlns:a16="http://schemas.microsoft.com/office/drawing/2014/main" id="{6E1EFF85-EE19-97D0-D0A7-E637265C9038}"/>
              </a:ext>
            </a:extLst>
          </p:cNvPr>
          <p:cNvSpPr txBox="1"/>
          <p:nvPr/>
        </p:nvSpPr>
        <p:spPr>
          <a:xfrm>
            <a:off x="742187" y="5111466"/>
            <a:ext cx="2163600" cy="215444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800" dirty="0">
                <a:solidFill>
                  <a:srgbClr val="070E1D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xxx</a:t>
            </a:r>
            <a:endParaRPr sz="1100" dirty="0">
              <a:solidFill>
                <a:srgbClr val="070E1D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95" name="Image 94">
            <a:extLst>
              <a:ext uri="{FF2B5EF4-FFF2-40B4-BE49-F238E27FC236}">
                <a16:creationId xmlns:a16="http://schemas.microsoft.com/office/drawing/2014/main" id="{61234124-6AB1-7B06-3E93-F0F97A559A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195"/>
          <a:stretch>
            <a:fillRect/>
          </a:stretch>
        </p:blipFill>
        <p:spPr>
          <a:xfrm>
            <a:off x="57525" y="2044448"/>
            <a:ext cx="554486" cy="453600"/>
          </a:xfrm>
          <a:prstGeom prst="rect">
            <a:avLst/>
          </a:prstGeom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2A2DF7C3-911E-6404-C7F2-D9B46966B2F0}"/>
              </a:ext>
            </a:extLst>
          </p:cNvPr>
          <p:cNvSpPr/>
          <p:nvPr/>
        </p:nvSpPr>
        <p:spPr>
          <a:xfrm>
            <a:off x="3099175" y="1817431"/>
            <a:ext cx="2952000" cy="3762889"/>
          </a:xfrm>
          <a:prstGeom prst="rect">
            <a:avLst/>
          </a:prstGeom>
          <a:solidFill>
            <a:srgbClr val="BBB4C4"/>
          </a:solid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1" name="TextBox 6">
            <a:extLst>
              <a:ext uri="{FF2B5EF4-FFF2-40B4-BE49-F238E27FC236}">
                <a16:creationId xmlns:a16="http://schemas.microsoft.com/office/drawing/2014/main" id="{7BA1B2C7-0279-CB6F-9AFB-91E38DD9125B}"/>
              </a:ext>
            </a:extLst>
          </p:cNvPr>
          <p:cNvSpPr txBox="1"/>
          <p:nvPr/>
        </p:nvSpPr>
        <p:spPr>
          <a:xfrm>
            <a:off x="3099177" y="1817431"/>
            <a:ext cx="662361" cy="246221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000" cap="small" dirty="0">
                <a:solidFill>
                  <a:srgbClr val="6A5D79"/>
                </a:solidFill>
              </a:rPr>
              <a:t>Exécuter</a:t>
            </a:r>
            <a:endParaRPr sz="1000" cap="small" dirty="0">
              <a:solidFill>
                <a:srgbClr val="6A5D79"/>
              </a:solidFill>
            </a:endParaRPr>
          </a:p>
        </p:txBody>
      </p:sp>
      <p:sp>
        <p:nvSpPr>
          <p:cNvPr id="52" name="TextBox 7">
            <a:extLst>
              <a:ext uri="{FF2B5EF4-FFF2-40B4-BE49-F238E27FC236}">
                <a16:creationId xmlns:a16="http://schemas.microsoft.com/office/drawing/2014/main" id="{30C6DA81-36BB-A3D8-EE91-21DFEB934753}"/>
              </a:ext>
            </a:extLst>
          </p:cNvPr>
          <p:cNvSpPr txBox="1"/>
          <p:nvPr/>
        </p:nvSpPr>
        <p:spPr>
          <a:xfrm>
            <a:off x="3204731" y="2459796"/>
            <a:ext cx="2743200" cy="307777"/>
          </a:xfrm>
          <a:prstGeom prst="rect">
            <a:avLst/>
          </a:prstGeom>
          <a:noFill/>
          <a:effectLst/>
        </p:spPr>
        <p:txBody>
          <a:bodyPr wrap="square" l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400" b="1" dirty="0">
                <a:solidFill>
                  <a:srgbClr val="070E1D"/>
                </a:solidFill>
                <a:cs typeface="Segoe UI Light" panose="020B0502040204020203" pitchFamily="34" charset="0"/>
              </a:rPr>
              <a:t>Equipe déploiement</a:t>
            </a:r>
            <a:endParaRPr sz="1400" b="1" dirty="0">
              <a:solidFill>
                <a:srgbClr val="070E1D"/>
              </a:solidFill>
              <a:cs typeface="Segoe UI Light" panose="020B0502040204020203" pitchFamily="34" charset="0"/>
            </a:endParaRPr>
          </a:p>
        </p:txBody>
      </p:sp>
      <p:sp>
        <p:nvSpPr>
          <p:cNvPr id="53" name="TextBox 8">
            <a:extLst>
              <a:ext uri="{FF2B5EF4-FFF2-40B4-BE49-F238E27FC236}">
                <a16:creationId xmlns:a16="http://schemas.microsoft.com/office/drawing/2014/main" id="{2FA62A1C-D15C-B8DC-6900-8FD5ED9DC3D0}"/>
              </a:ext>
            </a:extLst>
          </p:cNvPr>
          <p:cNvSpPr txBox="1"/>
          <p:nvPr/>
        </p:nvSpPr>
        <p:spPr>
          <a:xfrm>
            <a:off x="3204731" y="2766859"/>
            <a:ext cx="2743200" cy="369332"/>
          </a:xfrm>
          <a:prstGeom prst="rect">
            <a:avLst/>
          </a:prstGeom>
          <a:noFill/>
          <a:effectLst/>
        </p:spPr>
        <p:txBody>
          <a:bodyPr wrap="square" lIns="0">
            <a:spAutoFit/>
          </a:bodyPr>
          <a:lstStyle>
            <a:defPPr>
              <a:defRPr lang="fr-FR"/>
            </a:defPPr>
            <a:lvl1pPr defTabSz="457200">
              <a:defRPr sz="800">
                <a:solidFill>
                  <a:srgbClr val="070E1D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 defTabSz="457200"/>
            <a:lvl3pPr defTabSz="457200"/>
            <a:lvl4pPr defTabSz="457200"/>
            <a:lvl5pPr defTabSz="457200"/>
            <a:lvl6pPr defTabSz="457200"/>
            <a:lvl7pPr defTabSz="457200"/>
            <a:lvl8pPr defTabSz="457200"/>
            <a:lvl9pPr defTabSz="457200"/>
          </a:lstStyle>
          <a:p>
            <a:r>
              <a:rPr lang="fr-FR" sz="900" dirty="0"/>
              <a:t>Pilote l'exécution au jour le jour. </a:t>
            </a:r>
          </a:p>
          <a:p>
            <a:r>
              <a:rPr lang="fr-FR" sz="900" dirty="0"/>
              <a:t>Plan, ressources, livrables et </a:t>
            </a:r>
            <a:r>
              <a:rPr lang="fr-FR" sz="900" dirty="0" err="1"/>
              <a:t>reporting</a:t>
            </a:r>
            <a:r>
              <a:rPr lang="fr-FR" sz="900" dirty="0"/>
              <a:t>.</a:t>
            </a:r>
          </a:p>
        </p:txBody>
      </p:sp>
      <p:sp>
        <p:nvSpPr>
          <p:cNvPr id="54" name="TextBox 10">
            <a:extLst>
              <a:ext uri="{FF2B5EF4-FFF2-40B4-BE49-F238E27FC236}">
                <a16:creationId xmlns:a16="http://schemas.microsoft.com/office/drawing/2014/main" id="{22F412D5-4991-A2C0-B20B-F46466855238}"/>
              </a:ext>
            </a:extLst>
          </p:cNvPr>
          <p:cNvSpPr txBox="1"/>
          <p:nvPr/>
        </p:nvSpPr>
        <p:spPr>
          <a:xfrm>
            <a:off x="3204731" y="4575083"/>
            <a:ext cx="334387" cy="230832"/>
          </a:xfrm>
          <a:prstGeom prst="rect">
            <a:avLst/>
          </a:prstGeom>
          <a:noFill/>
          <a:effectLst/>
        </p:spPr>
        <p:txBody>
          <a:bodyPr wrap="none" l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900" b="1" cap="small" dirty="0">
                <a:solidFill>
                  <a:srgbClr val="070E1D"/>
                </a:solidFill>
              </a:rPr>
              <a:t>Rôle</a:t>
            </a:r>
            <a:endParaRPr sz="1100" b="1" cap="small" dirty="0">
              <a:solidFill>
                <a:srgbClr val="070E1D"/>
              </a:solidFill>
            </a:endParaRPr>
          </a:p>
        </p:txBody>
      </p:sp>
      <p:sp>
        <p:nvSpPr>
          <p:cNvPr id="55" name="TextBox 10">
            <a:extLst>
              <a:ext uri="{FF2B5EF4-FFF2-40B4-BE49-F238E27FC236}">
                <a16:creationId xmlns:a16="http://schemas.microsoft.com/office/drawing/2014/main" id="{E09BCFF9-AF0C-2F6C-74A4-C4D9EB6CD78F}"/>
              </a:ext>
            </a:extLst>
          </p:cNvPr>
          <p:cNvSpPr txBox="1"/>
          <p:nvPr/>
        </p:nvSpPr>
        <p:spPr>
          <a:xfrm>
            <a:off x="3204731" y="5111466"/>
            <a:ext cx="465833" cy="230832"/>
          </a:xfrm>
          <a:prstGeom prst="rect">
            <a:avLst/>
          </a:prstGeom>
          <a:noFill/>
          <a:effectLst/>
        </p:spPr>
        <p:txBody>
          <a:bodyPr wrap="none" l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900" b="1" cap="small" dirty="0">
                <a:solidFill>
                  <a:srgbClr val="070E1D"/>
                </a:solidFill>
              </a:rPr>
              <a:t>Rituels</a:t>
            </a:r>
            <a:endParaRPr sz="1100" b="1" cap="small" dirty="0">
              <a:solidFill>
                <a:srgbClr val="070E1D"/>
              </a:solidFill>
            </a:endParaRPr>
          </a:p>
        </p:txBody>
      </p:sp>
      <p:sp>
        <p:nvSpPr>
          <p:cNvPr id="56" name="TextBox 10">
            <a:extLst>
              <a:ext uri="{FF2B5EF4-FFF2-40B4-BE49-F238E27FC236}">
                <a16:creationId xmlns:a16="http://schemas.microsoft.com/office/drawing/2014/main" id="{8EFCCF89-373D-E7CD-DDE2-2F31758F1575}"/>
              </a:ext>
            </a:extLst>
          </p:cNvPr>
          <p:cNvSpPr txBox="1"/>
          <p:nvPr/>
        </p:nvSpPr>
        <p:spPr>
          <a:xfrm>
            <a:off x="3204731" y="3320714"/>
            <a:ext cx="276679" cy="230832"/>
          </a:xfrm>
          <a:prstGeom prst="rect">
            <a:avLst/>
          </a:prstGeom>
          <a:noFill/>
          <a:effectLst/>
        </p:spPr>
        <p:txBody>
          <a:bodyPr wrap="none" l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900" b="1" cap="small" dirty="0">
                <a:solidFill>
                  <a:srgbClr val="070E1D"/>
                </a:solidFill>
              </a:rPr>
              <a:t>Qui</a:t>
            </a:r>
            <a:endParaRPr sz="1100" b="1" cap="small" dirty="0">
              <a:solidFill>
                <a:srgbClr val="070E1D"/>
              </a:solidFill>
            </a:endParaRPr>
          </a:p>
        </p:txBody>
      </p:sp>
      <p:cxnSp>
        <p:nvCxnSpPr>
          <p:cNvPr id="57" name="Connecteur droit 56">
            <a:extLst>
              <a:ext uri="{FF2B5EF4-FFF2-40B4-BE49-F238E27FC236}">
                <a16:creationId xmlns:a16="http://schemas.microsoft.com/office/drawing/2014/main" id="{C00C9AB1-081A-FABC-CF63-5AA61477475A}"/>
              </a:ext>
            </a:extLst>
          </p:cNvPr>
          <p:cNvCxnSpPr>
            <a:cxnSpLocks/>
          </p:cNvCxnSpPr>
          <p:nvPr/>
        </p:nvCxnSpPr>
        <p:spPr>
          <a:xfrm>
            <a:off x="3204731" y="3179958"/>
            <a:ext cx="2743200" cy="0"/>
          </a:xfrm>
          <a:prstGeom prst="line">
            <a:avLst/>
          </a:prstGeom>
          <a:ln w="3175">
            <a:solidFill>
              <a:srgbClr val="3636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10">
            <a:extLst>
              <a:ext uri="{FF2B5EF4-FFF2-40B4-BE49-F238E27FC236}">
                <a16:creationId xmlns:a16="http://schemas.microsoft.com/office/drawing/2014/main" id="{302840BB-A29F-3F0F-3CB8-4EB88984DCA4}"/>
              </a:ext>
            </a:extLst>
          </p:cNvPr>
          <p:cNvSpPr txBox="1"/>
          <p:nvPr/>
        </p:nvSpPr>
        <p:spPr>
          <a:xfrm>
            <a:off x="3783837" y="4575083"/>
            <a:ext cx="2163600" cy="54000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800" dirty="0">
                <a:solidFill>
                  <a:srgbClr val="070E1D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Plan, formation, conduite</a:t>
            </a:r>
            <a:endParaRPr sz="1100" dirty="0">
              <a:solidFill>
                <a:srgbClr val="070E1D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59" name="TextBox 10">
            <a:extLst>
              <a:ext uri="{FF2B5EF4-FFF2-40B4-BE49-F238E27FC236}">
                <a16:creationId xmlns:a16="http://schemas.microsoft.com/office/drawing/2014/main" id="{AE3EBAA6-9533-6FF3-9A58-93B86A5AA6D1}"/>
              </a:ext>
            </a:extLst>
          </p:cNvPr>
          <p:cNvSpPr txBox="1"/>
          <p:nvPr/>
        </p:nvSpPr>
        <p:spPr>
          <a:xfrm>
            <a:off x="3783837" y="3320714"/>
            <a:ext cx="2163600" cy="11700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800" dirty="0">
                <a:solidFill>
                  <a:srgbClr val="070E1D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Acteur 1</a:t>
            </a:r>
          </a:p>
          <a:p>
            <a:r>
              <a:rPr lang="fr-FR" sz="800" dirty="0">
                <a:solidFill>
                  <a:srgbClr val="070E1D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Acteur 2</a:t>
            </a:r>
            <a:endParaRPr sz="1100" dirty="0">
              <a:solidFill>
                <a:srgbClr val="070E1D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60" name="TextBox 10">
            <a:extLst>
              <a:ext uri="{FF2B5EF4-FFF2-40B4-BE49-F238E27FC236}">
                <a16:creationId xmlns:a16="http://schemas.microsoft.com/office/drawing/2014/main" id="{5B760CDA-790A-81D9-4E8A-7EA9904070B8}"/>
              </a:ext>
            </a:extLst>
          </p:cNvPr>
          <p:cNvSpPr txBox="1"/>
          <p:nvPr/>
        </p:nvSpPr>
        <p:spPr>
          <a:xfrm>
            <a:off x="3783837" y="5111466"/>
            <a:ext cx="2163600" cy="215444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>
            <a:defPPr>
              <a:defRPr lang="fr-FR"/>
            </a:defPPr>
            <a:lvl1pPr defTabSz="457200">
              <a:defRPr sz="800">
                <a:solidFill>
                  <a:srgbClr val="474E67"/>
                </a:solidFill>
              </a:defRPr>
            </a:lvl1pPr>
            <a:lvl2pPr defTabSz="457200"/>
            <a:lvl3pPr defTabSz="457200"/>
            <a:lvl4pPr defTabSz="457200"/>
            <a:lvl5pPr defTabSz="457200"/>
            <a:lvl6pPr defTabSz="457200"/>
            <a:lvl7pPr defTabSz="457200"/>
            <a:lvl8pPr defTabSz="457200"/>
            <a:lvl9pPr defTabSz="457200"/>
          </a:lstStyle>
          <a:p>
            <a:r>
              <a:rPr lang="fr-FR" dirty="0">
                <a:solidFill>
                  <a:srgbClr val="070E1D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xxx</a:t>
            </a:r>
          </a:p>
        </p:txBody>
      </p:sp>
      <p:pic>
        <p:nvPicPr>
          <p:cNvPr id="97" name="Image 96">
            <a:extLst>
              <a:ext uri="{FF2B5EF4-FFF2-40B4-BE49-F238E27FC236}">
                <a16:creationId xmlns:a16="http://schemas.microsoft.com/office/drawing/2014/main" id="{23D56821-6E79-D73A-B037-35D11E117D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667"/>
          <a:stretch>
            <a:fillRect/>
          </a:stretch>
        </p:blipFill>
        <p:spPr>
          <a:xfrm>
            <a:off x="3099175" y="2019249"/>
            <a:ext cx="604800" cy="504000"/>
          </a:xfrm>
          <a:prstGeom prst="rect">
            <a:avLst/>
          </a:prstGeom>
        </p:spPr>
      </p:pic>
      <p:sp>
        <p:nvSpPr>
          <p:cNvPr id="62" name="Rectangle 61">
            <a:extLst>
              <a:ext uri="{FF2B5EF4-FFF2-40B4-BE49-F238E27FC236}">
                <a16:creationId xmlns:a16="http://schemas.microsoft.com/office/drawing/2014/main" id="{B9F4E35B-BB82-62A5-63AE-E89CF8604266}"/>
              </a:ext>
            </a:extLst>
          </p:cNvPr>
          <p:cNvSpPr/>
          <p:nvPr/>
        </p:nvSpPr>
        <p:spPr>
          <a:xfrm>
            <a:off x="6140825" y="1817431"/>
            <a:ext cx="2952000" cy="3762889"/>
          </a:xfrm>
          <a:prstGeom prst="rect">
            <a:avLst/>
          </a:prstGeom>
          <a:solidFill>
            <a:srgbClr val="D5B3BE"/>
          </a:solid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63" name="TextBox 6">
            <a:extLst>
              <a:ext uri="{FF2B5EF4-FFF2-40B4-BE49-F238E27FC236}">
                <a16:creationId xmlns:a16="http://schemas.microsoft.com/office/drawing/2014/main" id="{CF4211B4-A9AF-D69F-E1C5-75E9B65F8F92}"/>
              </a:ext>
            </a:extLst>
          </p:cNvPr>
          <p:cNvSpPr txBox="1"/>
          <p:nvPr/>
        </p:nvSpPr>
        <p:spPr>
          <a:xfrm>
            <a:off x="6140827" y="1817431"/>
            <a:ext cx="785793" cy="246221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000" cap="small" dirty="0">
                <a:solidFill>
                  <a:srgbClr val="A25871"/>
                </a:solidFill>
              </a:rPr>
              <a:t>Embarquer</a:t>
            </a:r>
            <a:endParaRPr sz="1000" cap="small" dirty="0">
              <a:solidFill>
                <a:srgbClr val="A25871"/>
              </a:solidFill>
            </a:endParaRPr>
          </a:p>
        </p:txBody>
      </p:sp>
      <p:sp>
        <p:nvSpPr>
          <p:cNvPr id="64" name="TextBox 7">
            <a:extLst>
              <a:ext uri="{FF2B5EF4-FFF2-40B4-BE49-F238E27FC236}">
                <a16:creationId xmlns:a16="http://schemas.microsoft.com/office/drawing/2014/main" id="{84B3C60E-B851-6352-323D-4AF53EF77AC9}"/>
              </a:ext>
            </a:extLst>
          </p:cNvPr>
          <p:cNvSpPr txBox="1"/>
          <p:nvPr/>
        </p:nvSpPr>
        <p:spPr>
          <a:xfrm>
            <a:off x="6246381" y="2459796"/>
            <a:ext cx="2743200" cy="307777"/>
          </a:xfrm>
          <a:prstGeom prst="rect">
            <a:avLst/>
          </a:prstGeom>
          <a:noFill/>
          <a:effectLst/>
        </p:spPr>
        <p:txBody>
          <a:bodyPr wrap="square" l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400" b="1" dirty="0">
                <a:solidFill>
                  <a:srgbClr val="070E1D"/>
                </a:solidFill>
                <a:cs typeface="Segoe UI Light" panose="020B0502040204020203" pitchFamily="34" charset="0"/>
              </a:rPr>
              <a:t>Relais du changement</a:t>
            </a:r>
            <a:endParaRPr sz="1400" b="1" dirty="0">
              <a:solidFill>
                <a:srgbClr val="070E1D"/>
              </a:solidFill>
              <a:cs typeface="Segoe UI Light" panose="020B0502040204020203" pitchFamily="34" charset="0"/>
            </a:endParaRPr>
          </a:p>
        </p:txBody>
      </p:sp>
      <p:sp>
        <p:nvSpPr>
          <p:cNvPr id="65" name="TextBox 8">
            <a:extLst>
              <a:ext uri="{FF2B5EF4-FFF2-40B4-BE49-F238E27FC236}">
                <a16:creationId xmlns:a16="http://schemas.microsoft.com/office/drawing/2014/main" id="{FA7EAD0F-7F9C-69DB-6A1F-C189984D064B}"/>
              </a:ext>
            </a:extLst>
          </p:cNvPr>
          <p:cNvSpPr txBox="1"/>
          <p:nvPr/>
        </p:nvSpPr>
        <p:spPr>
          <a:xfrm>
            <a:off x="6246381" y="2766859"/>
            <a:ext cx="2743200" cy="369332"/>
          </a:xfrm>
          <a:prstGeom prst="rect">
            <a:avLst/>
          </a:prstGeom>
          <a:noFill/>
          <a:effectLst/>
        </p:spPr>
        <p:txBody>
          <a:bodyPr wrap="square" lIns="0">
            <a:spAutoFit/>
          </a:bodyPr>
          <a:lstStyle>
            <a:defPPr>
              <a:defRPr lang="fr-FR"/>
            </a:defPPr>
            <a:lvl1pPr defTabSz="457200">
              <a:defRPr sz="800">
                <a:solidFill>
                  <a:srgbClr val="070E1D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 defTabSz="457200"/>
            <a:lvl3pPr defTabSz="457200"/>
            <a:lvl4pPr defTabSz="457200"/>
            <a:lvl5pPr defTabSz="457200"/>
            <a:lvl6pPr defTabSz="457200"/>
            <a:lvl7pPr defTabSz="457200"/>
            <a:lvl8pPr defTabSz="457200"/>
            <a:lvl9pPr defTabSz="457200"/>
          </a:lstStyle>
          <a:p>
            <a:r>
              <a:rPr lang="fr-FR" sz="900" dirty="0"/>
              <a:t>Traduisent, démultiplient, font remonter. </a:t>
            </a:r>
          </a:p>
          <a:p>
            <a:r>
              <a:rPr lang="fr-FR" sz="900" dirty="0"/>
              <a:t>Ancrage terrain dans chaque entité.</a:t>
            </a:r>
          </a:p>
        </p:txBody>
      </p:sp>
      <p:sp>
        <p:nvSpPr>
          <p:cNvPr id="66" name="TextBox 10">
            <a:extLst>
              <a:ext uri="{FF2B5EF4-FFF2-40B4-BE49-F238E27FC236}">
                <a16:creationId xmlns:a16="http://schemas.microsoft.com/office/drawing/2014/main" id="{BAD14A76-1AF9-78F2-8011-DAA82FBB3E64}"/>
              </a:ext>
            </a:extLst>
          </p:cNvPr>
          <p:cNvSpPr txBox="1"/>
          <p:nvPr/>
        </p:nvSpPr>
        <p:spPr>
          <a:xfrm>
            <a:off x="6246381" y="4575083"/>
            <a:ext cx="334387" cy="230832"/>
          </a:xfrm>
          <a:prstGeom prst="rect">
            <a:avLst/>
          </a:prstGeom>
          <a:noFill/>
          <a:effectLst/>
        </p:spPr>
        <p:txBody>
          <a:bodyPr wrap="none" l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900" b="1" cap="small" dirty="0">
                <a:solidFill>
                  <a:srgbClr val="070E1D"/>
                </a:solidFill>
              </a:rPr>
              <a:t>Rôle</a:t>
            </a:r>
            <a:endParaRPr sz="1100" b="1" cap="small" dirty="0">
              <a:solidFill>
                <a:srgbClr val="070E1D"/>
              </a:solidFill>
            </a:endParaRPr>
          </a:p>
        </p:txBody>
      </p:sp>
      <p:sp>
        <p:nvSpPr>
          <p:cNvPr id="67" name="TextBox 10">
            <a:extLst>
              <a:ext uri="{FF2B5EF4-FFF2-40B4-BE49-F238E27FC236}">
                <a16:creationId xmlns:a16="http://schemas.microsoft.com/office/drawing/2014/main" id="{70C3F0F8-BDE3-9A79-6D2B-3E33D9933C85}"/>
              </a:ext>
            </a:extLst>
          </p:cNvPr>
          <p:cNvSpPr txBox="1"/>
          <p:nvPr/>
        </p:nvSpPr>
        <p:spPr>
          <a:xfrm>
            <a:off x="6246381" y="5111466"/>
            <a:ext cx="465833" cy="230832"/>
          </a:xfrm>
          <a:prstGeom prst="rect">
            <a:avLst/>
          </a:prstGeom>
          <a:noFill/>
          <a:effectLst/>
        </p:spPr>
        <p:txBody>
          <a:bodyPr wrap="none" l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900" b="1" cap="small" dirty="0">
                <a:solidFill>
                  <a:srgbClr val="070E1D"/>
                </a:solidFill>
              </a:rPr>
              <a:t>Rituels</a:t>
            </a:r>
            <a:endParaRPr sz="1100" b="1" cap="small" dirty="0">
              <a:solidFill>
                <a:srgbClr val="070E1D"/>
              </a:solidFill>
            </a:endParaRPr>
          </a:p>
        </p:txBody>
      </p:sp>
      <p:sp>
        <p:nvSpPr>
          <p:cNvPr id="68" name="TextBox 10">
            <a:extLst>
              <a:ext uri="{FF2B5EF4-FFF2-40B4-BE49-F238E27FC236}">
                <a16:creationId xmlns:a16="http://schemas.microsoft.com/office/drawing/2014/main" id="{684DCFBD-123B-0AC6-287C-44E5D5807BFF}"/>
              </a:ext>
            </a:extLst>
          </p:cNvPr>
          <p:cNvSpPr txBox="1"/>
          <p:nvPr/>
        </p:nvSpPr>
        <p:spPr>
          <a:xfrm>
            <a:off x="6246381" y="3320714"/>
            <a:ext cx="276679" cy="230832"/>
          </a:xfrm>
          <a:prstGeom prst="rect">
            <a:avLst/>
          </a:prstGeom>
          <a:noFill/>
          <a:effectLst/>
        </p:spPr>
        <p:txBody>
          <a:bodyPr wrap="none" l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900" b="1" cap="small" dirty="0">
                <a:solidFill>
                  <a:srgbClr val="070E1D"/>
                </a:solidFill>
              </a:rPr>
              <a:t>Qui</a:t>
            </a:r>
            <a:endParaRPr sz="1100" b="1" cap="small" dirty="0">
              <a:solidFill>
                <a:srgbClr val="070E1D"/>
              </a:solidFill>
            </a:endParaRPr>
          </a:p>
        </p:txBody>
      </p:sp>
      <p:cxnSp>
        <p:nvCxnSpPr>
          <p:cNvPr id="69" name="Connecteur droit 68">
            <a:extLst>
              <a:ext uri="{FF2B5EF4-FFF2-40B4-BE49-F238E27FC236}">
                <a16:creationId xmlns:a16="http://schemas.microsoft.com/office/drawing/2014/main" id="{87A25B93-CD7A-D396-CAF4-E00A025F838A}"/>
              </a:ext>
            </a:extLst>
          </p:cNvPr>
          <p:cNvCxnSpPr>
            <a:cxnSpLocks/>
          </p:cNvCxnSpPr>
          <p:nvPr/>
        </p:nvCxnSpPr>
        <p:spPr>
          <a:xfrm>
            <a:off x="6245225" y="3179958"/>
            <a:ext cx="2743200" cy="0"/>
          </a:xfrm>
          <a:prstGeom prst="line">
            <a:avLst/>
          </a:prstGeom>
          <a:ln w="3175">
            <a:solidFill>
              <a:srgbClr val="3636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10">
            <a:extLst>
              <a:ext uri="{FF2B5EF4-FFF2-40B4-BE49-F238E27FC236}">
                <a16:creationId xmlns:a16="http://schemas.microsoft.com/office/drawing/2014/main" id="{AAA4ED8C-422B-12CA-9C2E-E4E0F245BAF9}"/>
              </a:ext>
            </a:extLst>
          </p:cNvPr>
          <p:cNvSpPr txBox="1"/>
          <p:nvPr/>
        </p:nvSpPr>
        <p:spPr>
          <a:xfrm>
            <a:off x="6825486" y="4575083"/>
            <a:ext cx="2163600" cy="54000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800" dirty="0">
                <a:solidFill>
                  <a:srgbClr val="070E1D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Animation, écoute, traduction, support </a:t>
            </a:r>
            <a:endParaRPr sz="1100" dirty="0">
              <a:solidFill>
                <a:srgbClr val="070E1D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71" name="TextBox 10">
            <a:extLst>
              <a:ext uri="{FF2B5EF4-FFF2-40B4-BE49-F238E27FC236}">
                <a16:creationId xmlns:a16="http://schemas.microsoft.com/office/drawing/2014/main" id="{443EBA43-5FB8-165C-9526-1D9035493F37}"/>
              </a:ext>
            </a:extLst>
          </p:cNvPr>
          <p:cNvSpPr txBox="1"/>
          <p:nvPr/>
        </p:nvSpPr>
        <p:spPr>
          <a:xfrm>
            <a:off x="6825487" y="3320714"/>
            <a:ext cx="2163600" cy="11700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800" dirty="0">
                <a:solidFill>
                  <a:srgbClr val="070E1D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Acteur 1</a:t>
            </a:r>
          </a:p>
          <a:p>
            <a:r>
              <a:rPr lang="fr-FR" sz="800" dirty="0">
                <a:solidFill>
                  <a:srgbClr val="070E1D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Acteur 2</a:t>
            </a:r>
            <a:endParaRPr sz="1100" dirty="0">
              <a:solidFill>
                <a:srgbClr val="070E1D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72" name="TextBox 10">
            <a:extLst>
              <a:ext uri="{FF2B5EF4-FFF2-40B4-BE49-F238E27FC236}">
                <a16:creationId xmlns:a16="http://schemas.microsoft.com/office/drawing/2014/main" id="{6E26547E-0D78-EC7D-7974-5FB6423CE5D3}"/>
              </a:ext>
            </a:extLst>
          </p:cNvPr>
          <p:cNvSpPr txBox="1"/>
          <p:nvPr/>
        </p:nvSpPr>
        <p:spPr>
          <a:xfrm>
            <a:off x="6825487" y="5111466"/>
            <a:ext cx="2163600" cy="215444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>
            <a:defPPr>
              <a:defRPr lang="fr-FR"/>
            </a:defPPr>
            <a:lvl1pPr defTabSz="457200">
              <a:defRPr sz="800">
                <a:solidFill>
                  <a:srgbClr val="474E67"/>
                </a:solidFill>
              </a:defRPr>
            </a:lvl1pPr>
            <a:lvl2pPr defTabSz="457200"/>
            <a:lvl3pPr defTabSz="457200"/>
            <a:lvl4pPr defTabSz="457200"/>
            <a:lvl5pPr defTabSz="457200"/>
            <a:lvl6pPr defTabSz="457200"/>
            <a:lvl7pPr defTabSz="457200"/>
            <a:lvl8pPr defTabSz="457200"/>
            <a:lvl9pPr defTabSz="457200"/>
          </a:lstStyle>
          <a:p>
            <a:r>
              <a:rPr lang="fr-FR" dirty="0">
                <a:solidFill>
                  <a:srgbClr val="070E1D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xxx</a:t>
            </a:r>
          </a:p>
        </p:txBody>
      </p:sp>
      <p:pic>
        <p:nvPicPr>
          <p:cNvPr id="99" name="Image 98">
            <a:extLst>
              <a:ext uri="{FF2B5EF4-FFF2-40B4-BE49-F238E27FC236}">
                <a16:creationId xmlns:a16="http://schemas.microsoft.com/office/drawing/2014/main" id="{9A5B31FB-9F08-98C3-5171-39F03D60F56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374"/>
          <a:stretch>
            <a:fillRect/>
          </a:stretch>
        </p:blipFill>
        <p:spPr>
          <a:xfrm>
            <a:off x="6140825" y="2046248"/>
            <a:ext cx="525539" cy="4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269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Palette Jessica">
  <a:themeElements>
    <a:clrScheme name="Corporate">
      <a:dk1>
        <a:srgbClr val="070E1D"/>
      </a:dk1>
      <a:lt1>
        <a:srgbClr val="FFFFFF"/>
      </a:lt1>
      <a:dk2>
        <a:srgbClr val="474E67"/>
      </a:dk2>
      <a:lt2>
        <a:srgbClr val="7D7B8D"/>
      </a:lt2>
      <a:accent1>
        <a:srgbClr val="3B87CC"/>
      </a:accent1>
      <a:accent2>
        <a:srgbClr val="112753"/>
      </a:accent2>
      <a:accent3>
        <a:srgbClr val="EFF1F6"/>
      </a:accent3>
      <a:accent4>
        <a:srgbClr val="112753"/>
      </a:accent4>
      <a:accent5>
        <a:srgbClr val="3B87CC"/>
      </a:accent5>
      <a:accent6>
        <a:srgbClr val="000000"/>
      </a:accent6>
      <a:hlink>
        <a:srgbClr val="1265A2"/>
      </a:hlink>
      <a:folHlink>
        <a:srgbClr val="452BA2"/>
      </a:folHlink>
    </a:clrScheme>
    <a:fontScheme name="Personnalisé 1">
      <a:majorFont>
        <a:latin typeface="Segoe UI Black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4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66FFEB65-F93F-410B-AB65-07147FE2E5F2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e921e595-ce31-43f1-b6a6-7d542eee8f99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317EF3D8-5734-45A7-8D2D-1319C3AFD32A}">
  <we:reference id="wa104381063" version="1.0.0.1" store="fr-FR" storeType="OMEX"/>
  <we:alternateReferences>
    <we:reference id="WA104381063" version="1.0.0.1" store="" storeType="OMEX"/>
  </we:alternateReferences>
  <we:properties/>
  <we:bindings/>
  <we:snapshot xmlns:r="http://schemas.openxmlformats.org/officeDocument/2006/relationships"/>
</we:webextension>
</file>

<file path=docMetadata/LabelInfo.xml><?xml version="1.0" encoding="utf-8"?>
<clbl:labelList xmlns:clbl="http://schemas.microsoft.com/office/2020/mipLabelMetadata">
  <clbl:label id="{024ffcea-f25b-491e-9dc9-834516f3550e}" enabled="1" method="Standard" siteId="{d52b49b7-0c8f-4d89-8c4f-f20517306e08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7462</TotalTime>
  <Words>1335</Words>
  <Application>Microsoft Office PowerPoint</Application>
  <PresentationFormat>Grand écran</PresentationFormat>
  <Paragraphs>328</Paragraphs>
  <Slides>16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6" baseType="lpstr">
      <vt:lpstr>Aptos</vt:lpstr>
      <vt:lpstr>Arial</vt:lpstr>
      <vt:lpstr>Calibri</vt:lpstr>
      <vt:lpstr>Lato</vt:lpstr>
      <vt:lpstr>Segoe UI</vt:lpstr>
      <vt:lpstr>Segoe UI Black</vt:lpstr>
      <vt:lpstr>Segoe UI Light</vt:lpstr>
      <vt:lpstr>Trebuchet MS</vt:lpstr>
      <vt:lpstr>Wingdings</vt:lpstr>
      <vt:lpstr>Palette Jessica</vt:lpstr>
      <vt:lpstr>Hook sens + factuel</vt:lpstr>
      <vt:lpstr>Hook sens + vision</vt:lpstr>
      <vt:lpstr>Liste en 6 points</vt:lpstr>
      <vt:lpstr>Triptyque</vt:lpstr>
      <vt:lpstr>Timeline horizontale</vt:lpstr>
      <vt:lpstr>Tableau</vt:lpstr>
      <vt:lpstr>Dashboard</vt:lpstr>
      <vt:lpstr>Comparatif quantitatif</vt:lpstr>
      <vt:lpstr>Risques &amp; Opportunités</vt:lpstr>
      <vt:lpstr>Plan d’action en 3 phases</vt:lpstr>
      <vt:lpstr>Arc narratif et CTA</vt:lpstr>
      <vt:lpstr>Process</vt:lpstr>
      <vt:lpstr>Opposition qualitative</vt:lpstr>
      <vt:lpstr>Comparatif qualitatif</vt:lpstr>
      <vt:lpstr>Impact par population</vt:lpstr>
      <vt:lpstr>Les Acteurs du déploiement</vt:lpstr>
    </vt:vector>
  </TitlesOfParts>
  <Company>SAFRAN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PAPASIDERO Jessica (SAFRAN AIRCRAFT ENGINES)</dc:creator>
  <cp:lastModifiedBy>PAPASIDERO Jessica (SAFRAN AIRCRAFT ENGINES)</cp:lastModifiedBy>
  <cp:revision>1359</cp:revision>
  <dcterms:created xsi:type="dcterms:W3CDTF">2026-04-03T12:04:32Z</dcterms:created>
  <dcterms:modified xsi:type="dcterms:W3CDTF">2026-05-12T18:45:21Z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24ffcea-f25b-491e-9dc9-834516f3550e_Enabled">
    <vt:lpwstr>true</vt:lpwstr>
  </property>
  <property fmtid="{D5CDD505-2E9C-101B-9397-08002B2CF9AE}" pid="3" name="MSIP_Label_024ffcea-f25b-491e-9dc9-834516f3550e_SetDate">
    <vt:lpwstr>2026-04-03T12:04:50Z</vt:lpwstr>
  </property>
  <property fmtid="{D5CDD505-2E9C-101B-9397-08002B2CF9AE}" pid="4" name="MSIP_Label_024ffcea-f25b-491e-9dc9-834516f3550e_Method">
    <vt:lpwstr>Standard</vt:lpwstr>
  </property>
  <property fmtid="{D5CDD505-2E9C-101B-9397-08002B2CF9AE}" pid="5" name="MSIP_Label_024ffcea-f25b-491e-9dc9-834516f3550e_Name">
    <vt:lpwstr>C2 - restricted</vt:lpwstr>
  </property>
  <property fmtid="{D5CDD505-2E9C-101B-9397-08002B2CF9AE}" pid="6" name="MSIP_Label_024ffcea-f25b-491e-9dc9-834516f3550e_SiteId">
    <vt:lpwstr>d52b49b7-0c8f-4d89-8c4f-f20517306e08</vt:lpwstr>
  </property>
  <property fmtid="{D5CDD505-2E9C-101B-9397-08002B2CF9AE}" pid="7" name="MSIP_Label_024ffcea-f25b-491e-9dc9-834516f3550e_ActionId">
    <vt:lpwstr>56942a03-98a9-443e-b055-5cb4904ed65c</vt:lpwstr>
  </property>
  <property fmtid="{D5CDD505-2E9C-101B-9397-08002B2CF9AE}" pid="8" name="MSIP_Label_024ffcea-f25b-491e-9dc9-834516f3550e_ContentBits">
    <vt:lpwstr>1</vt:lpwstr>
  </property>
  <property fmtid="{D5CDD505-2E9C-101B-9397-08002B2CF9AE}" pid="9" name="MSIP_Label_024ffcea-f25b-491e-9dc9-834516f3550e_Tag">
    <vt:lpwstr>10, 3, 0, 1</vt:lpwstr>
  </property>
  <property fmtid="{D5CDD505-2E9C-101B-9397-08002B2CF9AE}" pid="10" name="ClassificationContentMarkingHeaderLocations">
    <vt:lpwstr>Thème Office:8\Office Theme:3\Palette Jessica:2</vt:lpwstr>
  </property>
  <property fmtid="{D5CDD505-2E9C-101B-9397-08002B2CF9AE}" pid="11" name="ClassificationContentMarkingHeaderText">
    <vt:lpwstr>C2 - Confidential</vt:lpwstr>
  </property>
  <property fmtid="{D5CDD505-2E9C-101B-9397-08002B2CF9AE}" pid="12" name="_AdHocReviewCycleID">
    <vt:i4>-1677652483</vt:i4>
  </property>
  <property fmtid="{D5CDD505-2E9C-101B-9397-08002B2CF9AE}" pid="13" name="_NewReviewCycle">
    <vt:lpwstr/>
  </property>
  <property fmtid="{D5CDD505-2E9C-101B-9397-08002B2CF9AE}" pid="14" name="_EmailSubject">
    <vt:lpwstr/>
  </property>
  <property fmtid="{D5CDD505-2E9C-101B-9397-08002B2CF9AE}" pid="15" name="_AuthorEmail">
    <vt:lpwstr>jessica.papasidero@safrangroup.com</vt:lpwstr>
  </property>
  <property fmtid="{D5CDD505-2E9C-101B-9397-08002B2CF9AE}" pid="16" name="_AuthorEmailDisplayName">
    <vt:lpwstr>PAPASIDERO Jessica (SAFRAN AIRCRAFT ENGINES)</vt:lpwstr>
  </property>
</Properties>
</file>