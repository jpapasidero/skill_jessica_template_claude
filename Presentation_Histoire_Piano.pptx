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L'instrument roi : Le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piano est l'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instrument roi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qui a transformé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musique occidentale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Inventé par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Bartolomeo Cristofori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vers 1700, le piano a permis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expressivité dynamique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inédite grâce à son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mécanisme de frappe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1700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Invention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Florence, Italie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88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Touches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Standard moderne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20 t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Tension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Force des cordes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 héritage de trois siècles d'innovation sonore.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L'évolution en trois piliers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Le Clavecin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Cordes pincées, sans nuance de volume. L'ancêtre mécanique.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Le Pianoforte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Apparition du marteau, permettant de jouer 'piano' et 'forte'.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Le Piano Moderne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Cadre en fonte et mécanique à double échappement pour la virtuosité.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Les Grands Facteurs de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Steinway &amp; Sons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Yamaha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Bösendorfer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Fazioli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Bechstein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Kawai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Chaque marque possède sa propre signature sonore.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Les trois cœurs du mécanisme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Le Clavier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Interface de l'interprète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La Mécanique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Transmission par marteaux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La Table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Amplification naturelle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Une symbiose parfaite entre bois et acier.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Timeline de l'évolution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10459" y="2462400"/>
            <a:ext cx="25020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500460" y="2462400"/>
            <a:ext cx="25020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290459" y="2462400"/>
            <a:ext cx="2502001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1" name="S05_STEP_1_BULLET"/>
          <p:cNvSpPr/>
          <p:nvPr/>
        </p:nvSpPr>
        <p:spPr>
          <a:xfrm>
            <a:off x="566459" y="2390400"/>
            <a:ext cx="144000" cy="144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5_STEP_1_NUMBER"/>
          <p:cNvSpPr/>
          <p:nvPr/>
        </p:nvSpPr>
        <p:spPr>
          <a:xfrm>
            <a:off x="566459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3" name="S05_STEP_1_PERIOD"/>
          <p:cNvSpPr txBox="1"/>
          <p:nvPr/>
        </p:nvSpPr>
        <p:spPr>
          <a:xfrm>
            <a:off x="56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1700</a:t>
            </a:r>
          </a:p>
        </p:txBody>
      </p:sp>
      <p:sp>
        <p:nvSpPr>
          <p:cNvPr id="14" name="S05_STEP_1_TITLE"/>
          <p:cNvSpPr txBox="1"/>
          <p:nvPr/>
        </p:nvSpPr>
        <p:spPr>
          <a:xfrm>
            <a:off x="56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Invention</a:t>
            </a:r>
          </a:p>
        </p:txBody>
      </p:sp>
      <p:sp>
        <p:nvSpPr>
          <p:cNvPr id="15" name="S05_STEP_1_BODY"/>
          <p:cNvSpPr txBox="1"/>
          <p:nvPr/>
        </p:nvSpPr>
        <p:spPr>
          <a:xfrm>
            <a:off x="56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Cristofori crée le Gravicembalo col piano e forte.</a:t>
            </a:r>
          </a:p>
        </p:txBody>
      </p:sp>
      <p:sp>
        <p:nvSpPr>
          <p:cNvPr id="16" name="S05_STEP_2_BULLET"/>
          <p:cNvSpPr/>
          <p:nvPr/>
        </p:nvSpPr>
        <p:spPr>
          <a:xfrm>
            <a:off x="3356459" y="2390400"/>
            <a:ext cx="144000" cy="144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5_STEP_2_NUMBER"/>
          <p:cNvSpPr/>
          <p:nvPr/>
        </p:nvSpPr>
        <p:spPr>
          <a:xfrm>
            <a:off x="3356459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8" name="S05_STEP_2_PERIOD"/>
          <p:cNvSpPr txBox="1"/>
          <p:nvPr/>
        </p:nvSpPr>
        <p:spPr>
          <a:xfrm>
            <a:off x="335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1821</a:t>
            </a:r>
          </a:p>
        </p:txBody>
      </p:sp>
      <p:sp>
        <p:nvSpPr>
          <p:cNvPr id="19" name="S05_STEP_2_TITLE"/>
          <p:cNvSpPr txBox="1"/>
          <p:nvPr/>
        </p:nvSpPr>
        <p:spPr>
          <a:xfrm>
            <a:off x="335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Échappement</a:t>
            </a:r>
          </a:p>
        </p:txBody>
      </p:sp>
      <p:sp>
        <p:nvSpPr>
          <p:cNvPr id="20" name="S05_STEP_2_BODY"/>
          <p:cNvSpPr txBox="1"/>
          <p:nvPr/>
        </p:nvSpPr>
        <p:spPr>
          <a:xfrm>
            <a:off x="335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Sébastien Érard permet la répétition rapide des notes.</a:t>
            </a:r>
          </a:p>
        </p:txBody>
      </p:sp>
      <p:sp>
        <p:nvSpPr>
          <p:cNvPr id="21" name="S05_STEP_3_BULLET"/>
          <p:cNvSpPr/>
          <p:nvPr/>
        </p:nvSpPr>
        <p:spPr>
          <a:xfrm>
            <a:off x="6146460" y="2390400"/>
            <a:ext cx="144000" cy="1440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05_STEP_3_NUMBER"/>
          <p:cNvSpPr/>
          <p:nvPr/>
        </p:nvSpPr>
        <p:spPr>
          <a:xfrm>
            <a:off x="614646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3" name="S05_STEP_3_PERIOD"/>
          <p:cNvSpPr txBox="1"/>
          <p:nvPr/>
        </p:nvSpPr>
        <p:spPr>
          <a:xfrm>
            <a:off x="614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1855</a:t>
            </a:r>
          </a:p>
        </p:txBody>
      </p:sp>
      <p:sp>
        <p:nvSpPr>
          <p:cNvPr id="24" name="S05_STEP_3_TITLE"/>
          <p:cNvSpPr txBox="1"/>
          <p:nvPr/>
        </p:nvSpPr>
        <p:spPr>
          <a:xfrm>
            <a:off x="614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 Fonte</a:t>
            </a:r>
          </a:p>
        </p:txBody>
      </p:sp>
      <p:sp>
        <p:nvSpPr>
          <p:cNvPr id="25" name="S05_STEP_3_BODY"/>
          <p:cNvSpPr txBox="1"/>
          <p:nvPr/>
        </p:nvSpPr>
        <p:spPr>
          <a:xfrm>
            <a:off x="614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Steinway brevette le cadre monobloc pour plus de puissance.</a:t>
            </a:r>
          </a:p>
        </p:txBody>
      </p:sp>
      <p:sp>
        <p:nvSpPr>
          <p:cNvPr id="26" name="S05_STEP_4_BULLET"/>
          <p:cNvSpPr/>
          <p:nvPr/>
        </p:nvSpPr>
        <p:spPr>
          <a:xfrm>
            <a:off x="8936460" y="2390400"/>
            <a:ext cx="144000" cy="144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5_STEP_4_NUMBER"/>
          <p:cNvSpPr/>
          <p:nvPr/>
        </p:nvSpPr>
        <p:spPr>
          <a:xfrm>
            <a:off x="893646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8" name="S05_STEP_4_PERIOD"/>
          <p:cNvSpPr txBox="1"/>
          <p:nvPr/>
        </p:nvSpPr>
        <p:spPr>
          <a:xfrm>
            <a:off x="893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1980</a:t>
            </a:r>
          </a:p>
        </p:txBody>
      </p:sp>
      <p:sp>
        <p:nvSpPr>
          <p:cNvPr id="29" name="S05_STEP_4_TITLE"/>
          <p:cNvSpPr txBox="1"/>
          <p:nvPr/>
        </p:nvSpPr>
        <p:spPr>
          <a:xfrm>
            <a:off x="893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Numérique</a:t>
            </a:r>
          </a:p>
        </p:txBody>
      </p:sp>
      <p:sp>
        <p:nvSpPr>
          <p:cNvPr id="30" name="S05_STEP_4_BODY"/>
          <p:cNvSpPr txBox="1"/>
          <p:nvPr/>
        </p:nvSpPr>
        <p:spPr>
          <a:xfrm>
            <a:off x="893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Démocratisation avec les technologies d'échantillonnage.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Clavecin vs Piano Moderne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6_HEADER_1_BG"/>
          <p:cNvSpPr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6_HEADER_C1"/>
          <p:cNvSpPr txBox="1"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Caractéristique</a:t>
            </a:r>
          </a:p>
        </p:txBody>
      </p:sp>
      <p:sp>
        <p:nvSpPr>
          <p:cNvPr id="10" name="S06_HEADER_2_BG"/>
          <p:cNvSpPr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6_HEADER_C2"/>
          <p:cNvSpPr txBox="1"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Clavecin</a:t>
            </a:r>
          </a:p>
        </p:txBody>
      </p:sp>
      <p:sp>
        <p:nvSpPr>
          <p:cNvPr id="12" name="S06_HEADER_3_BG"/>
          <p:cNvSpPr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6_HEADER_C3"/>
          <p:cNvSpPr txBox="1"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Piano</a:t>
            </a:r>
          </a:p>
        </p:txBody>
      </p:sp>
      <p:sp>
        <p:nvSpPr>
          <p:cNvPr id="14" name="S06_HEADER_4_BG"/>
          <p:cNvSpPr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6_HEADER_C4"/>
          <p:cNvSpPr txBox="1"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Impact</a:t>
            </a:r>
          </a:p>
        </p:txBody>
      </p:sp>
      <p:sp>
        <p:nvSpPr>
          <p:cNvPr id="16" name="S06_HEADER_5_BG"/>
          <p:cNvSpPr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6_HEADER_C5"/>
          <p:cNvSpPr txBox="1"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Vainqueur</a:t>
            </a:r>
          </a:p>
        </p:txBody>
      </p:sp>
      <p:sp>
        <p:nvSpPr>
          <p:cNvPr id="18" name="S06_R1_BG"/>
          <p:cNvSpPr/>
          <p:nvPr/>
        </p:nvSpPr>
        <p:spPr>
          <a:xfrm>
            <a:off x="375659" y="23616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6_R1C1"/>
          <p:cNvSpPr txBox="1"/>
          <p:nvPr/>
        </p:nvSpPr>
        <p:spPr>
          <a:xfrm>
            <a:off x="375659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Mécanisme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1" name="S06_R1C2"/>
          <p:cNvSpPr txBox="1"/>
          <p:nvPr/>
        </p:nvSpPr>
        <p:spPr>
          <a:xfrm>
            <a:off x="4000859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Cordes pincées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3" name="S06_R1C3"/>
          <p:cNvSpPr txBox="1"/>
          <p:nvPr/>
        </p:nvSpPr>
        <p:spPr>
          <a:xfrm>
            <a:off x="6096059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Cordes frappées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5" name="S06_R1C4"/>
          <p:cNvSpPr txBox="1"/>
          <p:nvPr/>
        </p:nvSpPr>
        <p:spPr>
          <a:xfrm>
            <a:off x="786006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Dynamique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7" name="S06_R1C5"/>
          <p:cNvSpPr txBox="1"/>
          <p:nvPr/>
        </p:nvSpPr>
        <p:spPr>
          <a:xfrm>
            <a:off x="1018926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Piano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9" name="S06_R2_BG"/>
          <p:cNvSpPr/>
          <p:nvPr/>
        </p:nvSpPr>
        <p:spPr>
          <a:xfrm>
            <a:off x="375659" y="2869200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6_R2C1"/>
          <p:cNvSpPr txBox="1"/>
          <p:nvPr/>
        </p:nvSpPr>
        <p:spPr>
          <a:xfrm>
            <a:off x="375659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Nuances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2" name="S06_R2C2"/>
          <p:cNvSpPr txBox="1"/>
          <p:nvPr/>
        </p:nvSpPr>
        <p:spPr>
          <a:xfrm>
            <a:off x="4000859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Fixes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4" name="S06_R2C3"/>
          <p:cNvSpPr txBox="1"/>
          <p:nvPr/>
        </p:nvSpPr>
        <p:spPr>
          <a:xfrm>
            <a:off x="6096059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Infinies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6" name="S06_R2C4"/>
          <p:cNvSpPr txBox="1"/>
          <p:nvPr/>
        </p:nvSpPr>
        <p:spPr>
          <a:xfrm>
            <a:off x="786006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Expression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8" name="S06_R2C5"/>
          <p:cNvSpPr txBox="1"/>
          <p:nvPr/>
        </p:nvSpPr>
        <p:spPr>
          <a:xfrm>
            <a:off x="1018926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Piano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0" name="S06_R3_BG"/>
          <p:cNvSpPr/>
          <p:nvPr/>
        </p:nvSpPr>
        <p:spPr>
          <a:xfrm>
            <a:off x="375659" y="33768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6_R3C1"/>
          <p:cNvSpPr txBox="1"/>
          <p:nvPr/>
        </p:nvSpPr>
        <p:spPr>
          <a:xfrm>
            <a:off x="375659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Clavier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3" name="S06_R3C2"/>
          <p:cNvSpPr txBox="1"/>
          <p:nvPr/>
        </p:nvSpPr>
        <p:spPr>
          <a:xfrm>
            <a:off x="4000859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Parfois double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5" name="S06_R3C3"/>
          <p:cNvSpPr txBox="1"/>
          <p:nvPr/>
        </p:nvSpPr>
        <p:spPr>
          <a:xfrm>
            <a:off x="6096059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Simple 88 touches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7" name="S06_R3C4"/>
          <p:cNvSpPr txBox="1"/>
          <p:nvPr/>
        </p:nvSpPr>
        <p:spPr>
          <a:xfrm>
            <a:off x="786006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Standard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9" name="S06_R3C5"/>
          <p:cNvSpPr txBox="1"/>
          <p:nvPr/>
        </p:nvSpPr>
        <p:spPr>
          <a:xfrm>
            <a:off x="1018926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Piano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1" name="S06_R4_BG"/>
          <p:cNvSpPr/>
          <p:nvPr/>
        </p:nvSpPr>
        <p:spPr>
          <a:xfrm>
            <a:off x="375659" y="3884399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06_R4C1"/>
          <p:cNvSpPr txBox="1"/>
          <p:nvPr/>
        </p:nvSpPr>
        <p:spPr>
          <a:xfrm>
            <a:off x="375659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Répertoire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4" name="S06_R4C2"/>
          <p:cNvSpPr txBox="1"/>
          <p:nvPr/>
        </p:nvSpPr>
        <p:spPr>
          <a:xfrm>
            <a:off x="4000859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Baroque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6" name="S06_R4C3"/>
          <p:cNvSpPr txBox="1"/>
          <p:nvPr/>
        </p:nvSpPr>
        <p:spPr>
          <a:xfrm>
            <a:off x="6096059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Universel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8" name="S06_R4C4"/>
          <p:cNvSpPr txBox="1"/>
          <p:nvPr/>
        </p:nvSpPr>
        <p:spPr>
          <a:xfrm>
            <a:off x="786006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Polyvalence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0" name="S06_R4C5"/>
          <p:cNvSpPr txBox="1"/>
          <p:nvPr/>
        </p:nvSpPr>
        <p:spPr>
          <a:xfrm>
            <a:off x="1018926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Piano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2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piano a supplanté le clavecin par sa palette expressive.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 Marché Mondial du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7_KPI_1_CARD"/>
          <p:cNvSpPr/>
          <p:nvPr/>
        </p:nvSpPr>
        <p:spPr>
          <a:xfrm>
            <a:off x="498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7_KPI_1_LABEL"/>
          <p:cNvSpPr txBox="1"/>
          <p:nvPr/>
        </p:nvSpPr>
        <p:spPr>
          <a:xfrm>
            <a:off x="537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500k</a:t>
            </a:r>
          </a:p>
        </p:txBody>
      </p:sp>
      <p:sp>
        <p:nvSpPr>
          <p:cNvPr id="10" name="S07_KPI_1_SUBLABEL"/>
          <p:cNvSpPr txBox="1"/>
          <p:nvPr/>
        </p:nvSpPr>
        <p:spPr>
          <a:xfrm>
            <a:off x="537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Ventes/an</a:t>
            </a:r>
          </a:p>
        </p:txBody>
      </p:sp>
      <p:sp>
        <p:nvSpPr>
          <p:cNvPr id="11" name="S07_KPI_2_CARD"/>
          <p:cNvSpPr/>
          <p:nvPr/>
        </p:nvSpPr>
        <p:spPr>
          <a:xfrm>
            <a:off x="23772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7_KPI_2_LABEL"/>
          <p:cNvSpPr txBox="1"/>
          <p:nvPr/>
        </p:nvSpPr>
        <p:spPr>
          <a:xfrm>
            <a:off x="24168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3" name="S07_KPI_2_SUBLABEL"/>
          <p:cNvSpPr txBox="1"/>
          <p:nvPr/>
        </p:nvSpPr>
        <p:spPr>
          <a:xfrm>
            <a:off x="24168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Fréquence idéale</a:t>
            </a:r>
          </a:p>
        </p:txBody>
      </p:sp>
      <p:sp>
        <p:nvSpPr>
          <p:cNvPr id="14" name="S07_KPI_3_CARD"/>
          <p:cNvSpPr/>
          <p:nvPr/>
        </p:nvSpPr>
        <p:spPr>
          <a:xfrm>
            <a:off x="42564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7_KPI_3_LABEL"/>
          <p:cNvSpPr txBox="1"/>
          <p:nvPr/>
        </p:nvSpPr>
        <p:spPr>
          <a:xfrm>
            <a:off x="42960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60%</a:t>
            </a:r>
          </a:p>
        </p:txBody>
      </p:sp>
      <p:sp>
        <p:nvSpPr>
          <p:cNvPr id="16" name="S07_KPI_3_SUBLABEL"/>
          <p:cNvSpPr txBox="1"/>
          <p:nvPr/>
        </p:nvSpPr>
        <p:spPr>
          <a:xfrm>
            <a:off x="42960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Production Asie</a:t>
            </a:r>
          </a:p>
        </p:txBody>
      </p:sp>
      <p:sp>
        <p:nvSpPr>
          <p:cNvPr id="17" name="S07_KPI_4_CARD"/>
          <p:cNvSpPr/>
          <p:nvPr/>
        </p:nvSpPr>
        <p:spPr>
          <a:xfrm>
            <a:off x="61356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7_KPI_4_LABEL"/>
          <p:cNvSpPr txBox="1"/>
          <p:nvPr/>
        </p:nvSpPr>
        <p:spPr>
          <a:xfrm>
            <a:off x="61752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210</a:t>
            </a:r>
          </a:p>
        </p:txBody>
      </p:sp>
      <p:sp>
        <p:nvSpPr>
          <p:cNvPr id="19" name="S07_KPI_4_SUBLABEL"/>
          <p:cNvSpPr txBox="1"/>
          <p:nvPr/>
        </p:nvSpPr>
        <p:spPr>
          <a:xfrm>
            <a:off x="61752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Cordes totales</a:t>
            </a:r>
          </a:p>
        </p:txBody>
      </p:sp>
      <p:sp>
        <p:nvSpPr>
          <p:cNvPr id="20" name="S07_KPI_5_CARD"/>
          <p:cNvSpPr/>
          <p:nvPr/>
        </p:nvSpPr>
        <p:spPr>
          <a:xfrm>
            <a:off x="80148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7_KPI_5_LABEL"/>
          <p:cNvSpPr txBox="1"/>
          <p:nvPr/>
        </p:nvSpPr>
        <p:spPr>
          <a:xfrm>
            <a:off x="80544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3 m</a:t>
            </a:r>
          </a:p>
        </p:txBody>
      </p:sp>
      <p:sp>
        <p:nvSpPr>
          <p:cNvPr id="22" name="S07_KPI_5_SUBLABEL"/>
          <p:cNvSpPr txBox="1"/>
          <p:nvPr/>
        </p:nvSpPr>
        <p:spPr>
          <a:xfrm>
            <a:off x="80544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Longueur maxi</a:t>
            </a:r>
          </a:p>
        </p:txBody>
      </p:sp>
      <p:sp>
        <p:nvSpPr>
          <p:cNvPr id="23" name="S07_KPI_6_CARD"/>
          <p:cNvSpPr/>
          <p:nvPr/>
        </p:nvSpPr>
        <p:spPr>
          <a:xfrm>
            <a:off x="9894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7_KPI_6_LABEL"/>
          <p:cNvSpPr txBox="1"/>
          <p:nvPr/>
        </p:nvSpPr>
        <p:spPr>
          <a:xfrm>
            <a:off x="9933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440 Hz</a:t>
            </a:r>
          </a:p>
        </p:txBody>
      </p:sp>
      <p:sp>
        <p:nvSpPr>
          <p:cNvPr id="25" name="S07_KPI_6_SUBLABEL"/>
          <p:cNvSpPr txBox="1"/>
          <p:nvPr/>
        </p:nvSpPr>
        <p:spPr>
          <a:xfrm>
            <a:off x="9933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Le 'La' standard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7_SECTION_LABEL"/>
          <p:cNvSpPr txBox="1"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070E1D"/>
                </a:solidFill>
                <a:latin typeface="Segoe UI"/>
              </a:rPr>
              <a:t>Pratique par région</a:t>
            </a:r>
          </a:p>
        </p:txBody>
      </p:sp>
      <p:sp>
        <p:nvSpPr>
          <p:cNvPr id="28" name="S07_BAR_1_LABEL"/>
          <p:cNvSpPr txBox="1"/>
          <p:nvPr/>
        </p:nvSpPr>
        <p:spPr>
          <a:xfrm>
            <a:off x="498059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Chine - Éducation</a:t>
            </a:r>
          </a:p>
        </p:txBody>
      </p:sp>
      <p:sp>
        <p:nvSpPr>
          <p:cNvPr id="29" name="S07_BAR_1_BAR"/>
          <p:cNvSpPr/>
          <p:nvPr/>
        </p:nvSpPr>
        <p:spPr>
          <a:xfrm>
            <a:off x="3068459" y="3704399"/>
            <a:ext cx="7212240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7_BAR_1_VALUE"/>
          <p:cNvSpPr txBox="1"/>
          <p:nvPr/>
        </p:nvSpPr>
        <p:spPr>
          <a:xfrm>
            <a:off x="1111806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31" name="S07_BAR_2_LABEL"/>
          <p:cNvSpPr txBox="1"/>
          <p:nvPr/>
        </p:nvSpPr>
        <p:spPr>
          <a:xfrm>
            <a:off x="498059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Europe - Tradition</a:t>
            </a:r>
          </a:p>
        </p:txBody>
      </p:sp>
      <p:sp>
        <p:nvSpPr>
          <p:cNvPr id="32" name="S07_BAR_2_BAR"/>
          <p:cNvSpPr/>
          <p:nvPr/>
        </p:nvSpPr>
        <p:spPr>
          <a:xfrm>
            <a:off x="3068459" y="4176000"/>
            <a:ext cx="6010200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7_BAR_2_VALUE"/>
          <p:cNvSpPr txBox="1"/>
          <p:nvPr/>
        </p:nvSpPr>
        <p:spPr>
          <a:xfrm>
            <a:off x="1111806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75%</a:t>
            </a:r>
          </a:p>
        </p:txBody>
      </p:sp>
      <p:sp>
        <p:nvSpPr>
          <p:cNvPr id="34" name="S07_BAR_3_LABEL"/>
          <p:cNvSpPr txBox="1"/>
          <p:nvPr/>
        </p:nvSpPr>
        <p:spPr>
          <a:xfrm>
            <a:off x="498059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USA - Loisir</a:t>
            </a:r>
          </a:p>
        </p:txBody>
      </p:sp>
      <p:sp>
        <p:nvSpPr>
          <p:cNvPr id="35" name="S07_BAR_3_BAR"/>
          <p:cNvSpPr/>
          <p:nvPr/>
        </p:nvSpPr>
        <p:spPr>
          <a:xfrm>
            <a:off x="3068459" y="4636800"/>
            <a:ext cx="4808159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7_BAR_3_VALUE"/>
          <p:cNvSpPr txBox="1"/>
          <p:nvPr/>
        </p:nvSpPr>
        <p:spPr>
          <a:xfrm>
            <a:off x="1111806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60%</a:t>
            </a:r>
          </a:p>
        </p:txBody>
      </p:sp>
      <p:sp>
        <p:nvSpPr>
          <p:cNvPr id="37" name="S07_BAR_4_LABEL"/>
          <p:cNvSpPr txBox="1"/>
          <p:nvPr/>
        </p:nvSpPr>
        <p:spPr>
          <a:xfrm>
            <a:off x="498059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Japon - Innovation</a:t>
            </a:r>
          </a:p>
        </p:txBody>
      </p:sp>
      <p:sp>
        <p:nvSpPr>
          <p:cNvPr id="38" name="S07_BAR_4_BAR"/>
          <p:cNvSpPr/>
          <p:nvPr/>
        </p:nvSpPr>
        <p:spPr>
          <a:xfrm>
            <a:off x="3068459" y="5097600"/>
            <a:ext cx="6811560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07_BAR_4_VALUE"/>
          <p:cNvSpPr txBox="1"/>
          <p:nvPr/>
        </p:nvSpPr>
        <p:spPr>
          <a:xfrm>
            <a:off x="1111806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40" name="S07_BAR_5_LABEL"/>
          <p:cNvSpPr txBox="1"/>
          <p:nvPr/>
        </p:nvSpPr>
        <p:spPr>
          <a:xfrm>
            <a:off x="498059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Reste du monde</a:t>
            </a:r>
          </a:p>
        </p:txBody>
      </p:sp>
      <p:sp>
        <p:nvSpPr>
          <p:cNvPr id="41" name="S07_BAR_5_BAR"/>
          <p:cNvSpPr/>
          <p:nvPr/>
        </p:nvSpPr>
        <p:spPr>
          <a:xfrm>
            <a:off x="3068459" y="5536800"/>
            <a:ext cx="320544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07_BAR_5_VALUE"/>
          <p:cNvSpPr txBox="1"/>
          <p:nvPr/>
        </p:nvSpPr>
        <p:spPr>
          <a:xfrm>
            <a:off x="1111806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40%</a:t>
            </a:r>
          </a:p>
        </p:txBody>
      </p:sp>
      <p:sp>
        <p:nvSpPr>
          <p:cNvPr id="4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Une croissance portée par l'Asie depuis 20 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Piano Droit vs Piano à Queue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08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Dimensions et performances comparées</a:t>
            </a:r>
          </a:p>
        </p:txBody>
      </p:sp>
      <p:sp>
        <p:nvSpPr>
          <p:cNvPr id="9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Droit</a:t>
            </a:r>
          </a:p>
        </p:txBody>
      </p:sp>
      <p:sp>
        <p:nvSpPr>
          <p:cNvPr id="10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Queue</a:t>
            </a:r>
          </a:p>
        </p:txBody>
      </p:sp>
      <p:sp>
        <p:nvSpPr>
          <p:cNvPr id="11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Poids (kg)</a:t>
            </a:r>
          </a:p>
        </p:txBody>
      </p:sp>
      <p:sp>
        <p:nvSpPr>
          <p:cNvPr id="14" name="S08_ROW_1_BAR_1"/>
          <p:cNvSpPr/>
          <p:nvPr/>
        </p:nvSpPr>
        <p:spPr>
          <a:xfrm>
            <a:off x="4298400" y="2934000"/>
            <a:ext cx="207740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BAR_2"/>
          <p:cNvSpPr/>
          <p:nvPr/>
        </p:nvSpPr>
        <p:spPr>
          <a:xfrm>
            <a:off x="8798400" y="29340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8_ROW_1_VALUE_1"/>
          <p:cNvSpPr txBox="1"/>
          <p:nvPr/>
        </p:nvSpPr>
        <p:spPr>
          <a:xfrm>
            <a:off x="641180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250kg</a:t>
            </a:r>
          </a:p>
        </p:txBody>
      </p:sp>
      <p:sp>
        <p:nvSpPr>
          <p:cNvPr id="17" name="S08_ROW_1_VALUE_2"/>
          <p:cNvSpPr txBox="1"/>
          <p:nvPr/>
        </p:nvSpPr>
        <p:spPr>
          <a:xfrm>
            <a:off x="1107738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450kg</a:t>
            </a:r>
          </a:p>
        </p:txBody>
      </p:sp>
      <p:sp>
        <p:nvSpPr>
          <p:cNvPr id="18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Longueur (cm)</a:t>
            </a:r>
          </a:p>
        </p:txBody>
      </p:sp>
      <p:sp>
        <p:nvSpPr>
          <p:cNvPr id="19" name="S08_ROW_2_BAR_1"/>
          <p:cNvSpPr/>
          <p:nvPr/>
        </p:nvSpPr>
        <p:spPr>
          <a:xfrm>
            <a:off x="4298400" y="3401999"/>
            <a:ext cx="2670942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BAR_2"/>
          <p:cNvSpPr/>
          <p:nvPr/>
        </p:nvSpPr>
        <p:spPr>
          <a:xfrm>
            <a:off x="8798400" y="3401999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8_ROW_2_VALUE_1"/>
          <p:cNvSpPr txBox="1"/>
          <p:nvPr/>
        </p:nvSpPr>
        <p:spPr>
          <a:xfrm>
            <a:off x="7005342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150cm</a:t>
            </a:r>
          </a:p>
        </p:txBody>
      </p:sp>
      <p:sp>
        <p:nvSpPr>
          <p:cNvPr id="22" name="S08_ROW_2_VALUE_2"/>
          <p:cNvSpPr txBox="1"/>
          <p:nvPr/>
        </p:nvSpPr>
        <p:spPr>
          <a:xfrm>
            <a:off x="1107738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210cm</a:t>
            </a:r>
          </a:p>
        </p:txBody>
      </p:sp>
      <p:sp>
        <p:nvSpPr>
          <p:cNvPr id="23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Complexité</a:t>
            </a:r>
          </a:p>
        </p:txBody>
      </p:sp>
      <p:sp>
        <p:nvSpPr>
          <p:cNvPr id="24" name="S08_ROW_3_BAR_1"/>
          <p:cNvSpPr/>
          <p:nvPr/>
        </p:nvSpPr>
        <p:spPr>
          <a:xfrm>
            <a:off x="4298400" y="3873600"/>
            <a:ext cx="1968063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8_ROW_3_VALUE_1"/>
          <p:cNvSpPr txBox="1"/>
          <p:nvPr/>
        </p:nvSpPr>
        <p:spPr>
          <a:xfrm>
            <a:off x="6302463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50.0</a:t>
            </a:r>
          </a:p>
        </p:txBody>
      </p:sp>
      <p:sp>
        <p:nvSpPr>
          <p:cNvPr id="27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95.0</a:t>
            </a:r>
          </a:p>
        </p:txBody>
      </p:sp>
      <p:sp>
        <p:nvSpPr>
          <p:cNvPr id="28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Volume sonore</a:t>
            </a:r>
          </a:p>
        </p:txBody>
      </p:sp>
      <p:sp>
        <p:nvSpPr>
          <p:cNvPr id="29" name="S08_ROW_4_BAR_1"/>
          <p:cNvSpPr/>
          <p:nvPr/>
        </p:nvSpPr>
        <p:spPr>
          <a:xfrm>
            <a:off x="4298400" y="4345200"/>
            <a:ext cx="2617524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BAR_2"/>
          <p:cNvSpPr/>
          <p:nvPr/>
        </p:nvSpPr>
        <p:spPr>
          <a:xfrm>
            <a:off x="8798400" y="4345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8_ROW_4_VALUE_1"/>
          <p:cNvSpPr txBox="1"/>
          <p:nvPr/>
        </p:nvSpPr>
        <p:spPr>
          <a:xfrm>
            <a:off x="6951924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70.0</a:t>
            </a:r>
          </a:p>
        </p:txBody>
      </p:sp>
      <p:sp>
        <p:nvSpPr>
          <p:cNvPr id="32" name="S08_ROW_4_VALUE_2"/>
          <p:cNvSpPr txBox="1"/>
          <p:nvPr/>
        </p:nvSpPr>
        <p:spPr>
          <a:xfrm>
            <a:off x="1107738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100.0</a:t>
            </a:r>
          </a:p>
        </p:txBody>
      </p:sp>
      <p:sp>
        <p:nvSpPr>
          <p:cNvPr id="33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Prix moyen</a:t>
            </a:r>
          </a:p>
        </p:txBody>
      </p:sp>
      <p:sp>
        <p:nvSpPr>
          <p:cNvPr id="34" name="S08_ROW_5_BAR_1"/>
          <p:cNvSpPr/>
          <p:nvPr/>
        </p:nvSpPr>
        <p:spPr>
          <a:xfrm>
            <a:off x="4298400" y="4813200"/>
            <a:ext cx="534188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8_ROW_5_VALUE_1"/>
          <p:cNvSpPr txBox="1"/>
          <p:nvPr/>
        </p:nvSpPr>
        <p:spPr>
          <a:xfrm>
            <a:off x="4868588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5000.0</a:t>
            </a:r>
          </a:p>
        </p:txBody>
      </p:sp>
      <p:sp>
        <p:nvSpPr>
          <p:cNvPr id="37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35000.0</a:t>
            </a:r>
          </a:p>
        </p:txBody>
      </p:sp>
      <p:sp>
        <p:nvSpPr>
          <p:cNvPr id="38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piano à queue reste la référence pour le concert.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Préservation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09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9_RISK_1_CARD"/>
          <p:cNvSpPr/>
          <p:nvPr/>
        </p:nvSpPr>
        <p:spPr>
          <a:xfrm>
            <a:off x="121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ICON"/>
          <p:cNvSpPr/>
          <p:nvPr/>
        </p:nvSpPr>
        <p:spPr>
          <a:xfrm>
            <a:off x="168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0" name="S09_RISK_1_TITLE"/>
          <p:cNvSpPr txBox="1"/>
          <p:nvPr/>
        </p:nvSpPr>
        <p:spPr>
          <a:xfrm>
            <a:off x="553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Humidité excessive</a:t>
            </a:r>
          </a:p>
        </p:txBody>
      </p:sp>
      <p:sp>
        <p:nvSpPr>
          <p:cNvPr id="11" name="S09_RISK_1_LEVEL"/>
          <p:cNvSpPr/>
          <p:nvPr/>
        </p:nvSpPr>
        <p:spPr>
          <a:xfrm>
            <a:off x="553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2" name="S09_RISK_1_BODY"/>
          <p:cNvSpPr txBox="1"/>
          <p:nvPr/>
        </p:nvSpPr>
        <p:spPr>
          <a:xfrm>
            <a:off x="168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Gonflement des bois et blocage.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4" name="S09_RISK_1_ACTION_TAG"/>
          <p:cNvSpPr/>
          <p:nvPr/>
        </p:nvSpPr>
        <p:spPr>
          <a:xfrm>
            <a:off x="193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5" name="S09_RISK_1_ACTION_BODY"/>
          <p:cNvSpPr txBox="1"/>
          <p:nvPr/>
        </p:nvSpPr>
        <p:spPr>
          <a:xfrm>
            <a:off x="877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Utiliser un Dampp-Chaser.</a:t>
            </a:r>
          </a:p>
        </p:txBody>
      </p:sp>
      <p:sp>
        <p:nvSpPr>
          <p:cNvPr id="16" name="S09_RISK_2_CARD"/>
          <p:cNvSpPr/>
          <p:nvPr/>
        </p:nvSpPr>
        <p:spPr>
          <a:xfrm>
            <a:off x="4135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ICON"/>
          <p:cNvSpPr/>
          <p:nvPr/>
        </p:nvSpPr>
        <p:spPr>
          <a:xfrm>
            <a:off x="4182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8" name="S09_RISK_2_TITLE"/>
          <p:cNvSpPr txBox="1"/>
          <p:nvPr/>
        </p:nvSpPr>
        <p:spPr>
          <a:xfrm>
            <a:off x="4567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Sécheresse</a:t>
            </a:r>
          </a:p>
        </p:txBody>
      </p:sp>
      <p:sp>
        <p:nvSpPr>
          <p:cNvPr id="19" name="S09_RISK_2_LEVEL"/>
          <p:cNvSpPr/>
          <p:nvPr/>
        </p:nvSpPr>
        <p:spPr>
          <a:xfrm>
            <a:off x="4567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20" name="S09_RISK_2_BODY"/>
          <p:cNvSpPr txBox="1"/>
          <p:nvPr/>
        </p:nvSpPr>
        <p:spPr>
          <a:xfrm>
            <a:off x="4182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Fente de la table d'harmonie.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7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2" name="S09_RISK_2_ACTION_TAG"/>
          <p:cNvSpPr/>
          <p:nvPr/>
        </p:nvSpPr>
        <p:spPr>
          <a:xfrm>
            <a:off x="4207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3" name="S09_RISK_2_ACTION_BODY"/>
          <p:cNvSpPr txBox="1"/>
          <p:nvPr/>
        </p:nvSpPr>
        <p:spPr>
          <a:xfrm>
            <a:off x="4891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Humidificateur de pièce.</a:t>
            </a:r>
          </a:p>
        </p:txBody>
      </p:sp>
      <p:sp>
        <p:nvSpPr>
          <p:cNvPr id="24" name="S09_RISK_3_CARD"/>
          <p:cNvSpPr/>
          <p:nvPr/>
        </p:nvSpPr>
        <p:spPr>
          <a:xfrm>
            <a:off x="8149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ICON"/>
          <p:cNvSpPr/>
          <p:nvPr/>
        </p:nvSpPr>
        <p:spPr>
          <a:xfrm>
            <a:off x="8196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26" name="S09_RISK_3_TITLE"/>
          <p:cNvSpPr txBox="1"/>
          <p:nvPr/>
        </p:nvSpPr>
        <p:spPr>
          <a:xfrm>
            <a:off x="8581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Instabilité thermique</a:t>
            </a:r>
          </a:p>
        </p:txBody>
      </p:sp>
      <p:sp>
        <p:nvSpPr>
          <p:cNvPr id="27" name="S09_RISK_3_LEVEL"/>
          <p:cNvSpPr/>
          <p:nvPr/>
        </p:nvSpPr>
        <p:spPr>
          <a:xfrm>
            <a:off x="8581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8" name="S09_RISK_3_BODY"/>
          <p:cNvSpPr txBox="1"/>
          <p:nvPr/>
        </p:nvSpPr>
        <p:spPr>
          <a:xfrm>
            <a:off x="8196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Désaccordage rapide.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1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0" name="S09_RISK_3_ACTION_TAG"/>
          <p:cNvSpPr/>
          <p:nvPr/>
        </p:nvSpPr>
        <p:spPr>
          <a:xfrm>
            <a:off x="8221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1" name="S09_RISK_3_ACTION_BODY"/>
          <p:cNvSpPr txBox="1"/>
          <p:nvPr/>
        </p:nvSpPr>
        <p:spPr>
          <a:xfrm>
            <a:off x="890586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Éloigner du chauffage.</a:t>
            </a:r>
          </a:p>
        </p:txBody>
      </p:sp>
      <p:sp>
        <p:nvSpPr>
          <p:cNvPr id="32" name="S09_OPP_1_CARD"/>
          <p:cNvSpPr/>
          <p:nvPr/>
        </p:nvSpPr>
        <p:spPr>
          <a:xfrm>
            <a:off x="121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ICON"/>
          <p:cNvSpPr/>
          <p:nvPr/>
        </p:nvSpPr>
        <p:spPr>
          <a:xfrm>
            <a:off x="168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34" name="S09_OPP_1_TITLE"/>
          <p:cNvSpPr txBox="1"/>
          <p:nvPr/>
        </p:nvSpPr>
        <p:spPr>
          <a:xfrm>
            <a:off x="553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Restauration</a:t>
            </a:r>
          </a:p>
        </p:txBody>
      </p:sp>
      <p:sp>
        <p:nvSpPr>
          <p:cNvPr id="35" name="S09_OPP_1_LEVEL"/>
          <p:cNvSpPr/>
          <p:nvPr/>
        </p:nvSpPr>
        <p:spPr>
          <a:xfrm>
            <a:off x="553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6" name="S09_OPP_1_BODY"/>
          <p:cNvSpPr txBox="1"/>
          <p:nvPr/>
        </p:nvSpPr>
        <p:spPr>
          <a:xfrm>
            <a:off x="168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Redonne vie aux instruments anciens.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3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8" name="S09_OPP_1_ACTION_TAG"/>
          <p:cNvSpPr/>
          <p:nvPr/>
        </p:nvSpPr>
        <p:spPr>
          <a:xfrm>
            <a:off x="193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9" name="S09_OPP_1_ACTION_BODY"/>
          <p:cNvSpPr txBox="1"/>
          <p:nvPr/>
        </p:nvSpPr>
        <p:spPr>
          <a:xfrm>
            <a:off x="877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Expertise par un maître artisan.</a:t>
            </a:r>
          </a:p>
        </p:txBody>
      </p:sp>
      <p:sp>
        <p:nvSpPr>
          <p:cNvPr id="40" name="S09_OPP_2_CARD"/>
          <p:cNvSpPr/>
          <p:nvPr/>
        </p:nvSpPr>
        <p:spPr>
          <a:xfrm>
            <a:off x="4135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ICON"/>
          <p:cNvSpPr/>
          <p:nvPr/>
        </p:nvSpPr>
        <p:spPr>
          <a:xfrm>
            <a:off x="4182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2" name="S09_OPP_2_TITLE"/>
          <p:cNvSpPr txBox="1"/>
          <p:nvPr/>
        </p:nvSpPr>
        <p:spPr>
          <a:xfrm>
            <a:off x="4567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Silent System</a:t>
            </a:r>
          </a:p>
        </p:txBody>
      </p:sp>
      <p:sp>
        <p:nvSpPr>
          <p:cNvPr id="43" name="S09_OPP_2_LEVEL"/>
          <p:cNvSpPr/>
          <p:nvPr/>
        </p:nvSpPr>
        <p:spPr>
          <a:xfrm>
            <a:off x="4567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FF8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44" name="S09_OPP_2_BODY"/>
          <p:cNvSpPr txBox="1"/>
          <p:nvPr/>
        </p:nvSpPr>
        <p:spPr>
          <a:xfrm>
            <a:off x="4182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Jouer au casque sur acoustique.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07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6" name="S09_OPP_2_ACTION_TAG"/>
          <p:cNvSpPr/>
          <p:nvPr/>
        </p:nvSpPr>
        <p:spPr>
          <a:xfrm>
            <a:off x="4207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7" name="S09_OPP_2_ACTION_BODY"/>
          <p:cNvSpPr txBox="1"/>
          <p:nvPr/>
        </p:nvSpPr>
        <p:spPr>
          <a:xfrm>
            <a:off x="4891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Installation post-achat.</a:t>
            </a:r>
          </a:p>
        </p:txBody>
      </p:sp>
      <p:sp>
        <p:nvSpPr>
          <p:cNvPr id="48" name="S09_OPP_3_CARD"/>
          <p:cNvSpPr/>
          <p:nvPr/>
        </p:nvSpPr>
        <p:spPr>
          <a:xfrm>
            <a:off x="8149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ICON"/>
          <p:cNvSpPr/>
          <p:nvPr/>
        </p:nvSpPr>
        <p:spPr>
          <a:xfrm>
            <a:off x="8196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50" name="S09_OPP_3_TITLE"/>
          <p:cNvSpPr txBox="1"/>
          <p:nvPr/>
        </p:nvSpPr>
        <p:spPr>
          <a:xfrm>
            <a:off x="8581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Échantillonnage</a:t>
            </a:r>
          </a:p>
        </p:txBody>
      </p:sp>
      <p:sp>
        <p:nvSpPr>
          <p:cNvPr id="51" name="S09_OPP_3_LEVEL"/>
          <p:cNvSpPr/>
          <p:nvPr/>
        </p:nvSpPr>
        <p:spPr>
          <a:xfrm>
            <a:off x="8581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52" name="S09_OPP_3_BODY"/>
          <p:cNvSpPr txBox="1"/>
          <p:nvPr/>
        </p:nvSpPr>
        <p:spPr>
          <a:xfrm>
            <a:off x="8196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Numérisation du son.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1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4" name="S09_OPP_3_ACTION_TAG"/>
          <p:cNvSpPr/>
          <p:nvPr/>
        </p:nvSpPr>
        <p:spPr>
          <a:xfrm>
            <a:off x="8221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5" name="S09_OPP_3_ACTION_BODY"/>
          <p:cNvSpPr txBox="1"/>
          <p:nvPr/>
        </p:nvSpPr>
        <p:spPr>
          <a:xfrm>
            <a:off x="890586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VST haute fidélité.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Parcours d'apprentissage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10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2026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Initiation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1-2 ans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Lecture de notes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Clé de Sol et Clé de Fa.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Indépendance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Travail séparé des deux mains.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Posture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Position du dos et des poignets.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Intermédiaire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3-6 ans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Technique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Gammes, arpèges et vélocité.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Nuances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Maîtrise du toucher et pédale.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Répertoire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Classique, Jazz ou Pop.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Maîtrise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7 ans +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Interprétation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Donner du sens à l'œuvre.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Improvisation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Liberté harmonique totale.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Performance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Gestion du trac et concert.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La patience est la clé de la virtuosité.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Conclusion : Un instrument d'avenir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Une prouesse technique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piano est une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merveille d'ingénierie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mécanique et acoustique.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Un héritage culturel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Porté par des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compositeurs légendaires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à travers les siècles.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Démocratisation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numérique permet de transmettre cet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héritage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aux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mélomanes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Êtes-vous prêts à commencer votre voyage musical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Process d'accordage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Préparation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Ouverture du meuble et nettoyage.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Tempérament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Accordage de l'octave centrale au diapason.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Unissons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Calage des deux ou trois cordes par note.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Octaves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Extension vers les graves et les aigus.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Vérification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Test de la tenue d'accord sur des accords.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Réglage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Ajustement fin de l'harmonisation.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Entretien du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3_LEFT_TITLE"/>
          <p:cNvSpPr txBox="1"/>
          <p:nvPr/>
        </p:nvSpPr>
        <p:spPr>
          <a:xfrm>
            <a:off x="345600" y="1576800"/>
            <a:ext cx="55044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Segoe UI"/>
              </a:rPr>
              <a:t>À faire</a:t>
            </a:r>
          </a:p>
        </p:txBody>
      </p:sp>
      <p:sp>
        <p:nvSpPr>
          <p:cNvPr id="9" name="S13_RIGHT_TITLE"/>
          <p:cNvSpPr txBox="1"/>
          <p:nvPr/>
        </p:nvSpPr>
        <p:spPr>
          <a:xfrm>
            <a:off x="6094800" y="1576800"/>
            <a:ext cx="57492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Segoe UI"/>
              </a:rPr>
              <a:t>À éviter</a:t>
            </a:r>
          </a:p>
        </p:txBody>
      </p:sp>
      <p:sp>
        <p:nvSpPr>
          <p:cNvPr id="10" name="S13_LEFT_1_BOX"/>
          <p:cNvSpPr/>
          <p:nvPr/>
        </p:nvSpPr>
        <p:spPr>
          <a:xfrm>
            <a:off x="345600" y="2030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3_RIGHT_1_BOX"/>
          <p:cNvSpPr/>
          <p:nvPr/>
        </p:nvSpPr>
        <p:spPr>
          <a:xfrm>
            <a:off x="6094800" y="2030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3_LEFT_1_BULLET"/>
          <p:cNvSpPr/>
          <p:nvPr/>
        </p:nvSpPr>
        <p:spPr>
          <a:xfrm>
            <a:off x="468000" y="21276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3" name="S13_RIGHT_1_BULLET"/>
          <p:cNvSpPr/>
          <p:nvPr/>
        </p:nvSpPr>
        <p:spPr>
          <a:xfrm>
            <a:off x="6217200" y="21276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14" name="S13_LEFT_1_ITEM"/>
          <p:cNvSpPr txBox="1"/>
          <p:nvPr/>
        </p:nvSpPr>
        <p:spPr>
          <a:xfrm>
            <a:off x="896400" y="2080799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Accorder 1 fois par an</a:t>
            </a:r>
          </a:p>
        </p:txBody>
      </p:sp>
      <p:sp>
        <p:nvSpPr>
          <p:cNvPr id="15" name="S13_RIGHT_1_ITEM"/>
          <p:cNvSpPr txBox="1"/>
          <p:nvPr/>
        </p:nvSpPr>
        <p:spPr>
          <a:xfrm>
            <a:off x="6645600" y="2080799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Poser un vase d'eau</a:t>
            </a:r>
          </a:p>
        </p:txBody>
      </p:sp>
      <p:sp>
        <p:nvSpPr>
          <p:cNvPr id="16" name="S13_LEFT_2_BOX"/>
          <p:cNvSpPr/>
          <p:nvPr/>
        </p:nvSpPr>
        <p:spPr>
          <a:xfrm>
            <a:off x="345600" y="2667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3_RIGHT_2_BOX"/>
          <p:cNvSpPr/>
          <p:nvPr/>
        </p:nvSpPr>
        <p:spPr>
          <a:xfrm>
            <a:off x="6094800" y="2667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3_LEFT_2_BULLET"/>
          <p:cNvSpPr/>
          <p:nvPr/>
        </p:nvSpPr>
        <p:spPr>
          <a:xfrm>
            <a:off x="468000" y="2764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9" name="S13_RIGHT_2_BULLET"/>
          <p:cNvSpPr/>
          <p:nvPr/>
        </p:nvSpPr>
        <p:spPr>
          <a:xfrm>
            <a:off x="6217200" y="2764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0" name="S13_LEFT_2_ITEM"/>
          <p:cNvSpPr txBox="1"/>
          <p:nvPr/>
        </p:nvSpPr>
        <p:spPr>
          <a:xfrm>
            <a:off x="896400" y="2718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Nettoyer avec un plumeau</a:t>
            </a:r>
          </a:p>
        </p:txBody>
      </p:sp>
      <p:sp>
        <p:nvSpPr>
          <p:cNvPr id="21" name="S13_RIGHT_2_ITEM"/>
          <p:cNvSpPr txBox="1"/>
          <p:nvPr/>
        </p:nvSpPr>
        <p:spPr>
          <a:xfrm>
            <a:off x="6645600" y="2718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Utiliser des produits gras</a:t>
            </a:r>
          </a:p>
        </p:txBody>
      </p:sp>
      <p:sp>
        <p:nvSpPr>
          <p:cNvPr id="22" name="S13_LEFT_3_BOX"/>
          <p:cNvSpPr/>
          <p:nvPr/>
        </p:nvSpPr>
        <p:spPr>
          <a:xfrm>
            <a:off x="345600" y="33012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3_RIGHT_3_BOX"/>
          <p:cNvSpPr/>
          <p:nvPr/>
        </p:nvSpPr>
        <p:spPr>
          <a:xfrm>
            <a:off x="6094800" y="33012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3_LEFT_3_BULLET"/>
          <p:cNvSpPr/>
          <p:nvPr/>
        </p:nvSpPr>
        <p:spPr>
          <a:xfrm>
            <a:off x="468000" y="33984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25" name="S13_RIGHT_3_BULLET"/>
          <p:cNvSpPr/>
          <p:nvPr/>
        </p:nvSpPr>
        <p:spPr>
          <a:xfrm>
            <a:off x="6217200" y="33984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6" name="S13_LEFT_3_ITEM"/>
          <p:cNvSpPr txBox="1"/>
          <p:nvPr/>
        </p:nvSpPr>
        <p:spPr>
          <a:xfrm>
            <a:off x="896400" y="33516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Maintenir 50% d'humidité</a:t>
            </a:r>
          </a:p>
        </p:txBody>
      </p:sp>
      <p:sp>
        <p:nvSpPr>
          <p:cNvPr id="27" name="S13_RIGHT_3_ITEM"/>
          <p:cNvSpPr txBox="1"/>
          <p:nvPr/>
        </p:nvSpPr>
        <p:spPr>
          <a:xfrm>
            <a:off x="6645600" y="33516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Exposer au soleil direct</a:t>
            </a:r>
          </a:p>
        </p:txBody>
      </p:sp>
      <p:sp>
        <p:nvSpPr>
          <p:cNvPr id="28" name="S13_LEFT_4_BOX"/>
          <p:cNvSpPr/>
          <p:nvPr/>
        </p:nvSpPr>
        <p:spPr>
          <a:xfrm>
            <a:off x="345600" y="3938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3_RIGHT_4_BOX"/>
          <p:cNvSpPr/>
          <p:nvPr/>
        </p:nvSpPr>
        <p:spPr>
          <a:xfrm>
            <a:off x="6094800" y="3938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3_LEFT_4_BULLET"/>
          <p:cNvSpPr/>
          <p:nvPr/>
        </p:nvSpPr>
        <p:spPr>
          <a:xfrm>
            <a:off x="468000" y="4035599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1" name="S13_RIGHT_4_BULLET"/>
          <p:cNvSpPr/>
          <p:nvPr/>
        </p:nvSpPr>
        <p:spPr>
          <a:xfrm>
            <a:off x="6217200" y="4035599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2" name="S13_LEFT_4_ITEM"/>
          <p:cNvSpPr txBox="1"/>
          <p:nvPr/>
        </p:nvSpPr>
        <p:spPr>
          <a:xfrm>
            <a:off x="896400" y="39888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3" name="S13_RIGHT_4_ITEM"/>
          <p:cNvSpPr txBox="1"/>
          <p:nvPr/>
        </p:nvSpPr>
        <p:spPr>
          <a:xfrm>
            <a:off x="6645600" y="39888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13_LEFT_5_BOX"/>
          <p:cNvSpPr/>
          <p:nvPr/>
        </p:nvSpPr>
        <p:spPr>
          <a:xfrm>
            <a:off x="345600" y="4575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3_RIGHT_5_BOX"/>
          <p:cNvSpPr/>
          <p:nvPr/>
        </p:nvSpPr>
        <p:spPr>
          <a:xfrm>
            <a:off x="6094800" y="4575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13_LEFT_5_BULLET"/>
          <p:cNvSpPr/>
          <p:nvPr/>
        </p:nvSpPr>
        <p:spPr>
          <a:xfrm>
            <a:off x="468000" y="4672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7" name="S13_RIGHT_5_BULLET"/>
          <p:cNvSpPr/>
          <p:nvPr/>
        </p:nvSpPr>
        <p:spPr>
          <a:xfrm>
            <a:off x="6217200" y="4672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8" name="S13_LEFT_5_ITEM"/>
          <p:cNvSpPr txBox="1"/>
          <p:nvPr/>
        </p:nvSpPr>
        <p:spPr>
          <a:xfrm>
            <a:off x="896400" y="4626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9" name="S13_RIGHT_5_ITEM"/>
          <p:cNvSpPr txBox="1"/>
          <p:nvPr/>
        </p:nvSpPr>
        <p:spPr>
          <a:xfrm>
            <a:off x="6645600" y="4626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Acoustique vs Numérique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pic>
        <p:nvPicPr>
          <p:cNvPr id="8" name="Comp_quali_bg" descr="Comp_quali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00" y="1411200"/>
            <a:ext cx="9910800" cy="4190400"/>
          </a:xfrm>
          <a:prstGeom prst="rect">
            <a:avLst/>
          </a:prstGeom>
        </p:spPr>
      </p:pic>
      <p:sp>
        <p:nvSpPr>
          <p:cNvPr id="9" name="S14_LEFT_TITLE"/>
          <p:cNvSpPr txBox="1"/>
          <p:nvPr/>
        </p:nvSpPr>
        <p:spPr>
          <a:xfrm>
            <a:off x="20484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6A5D79"/>
                </a:solidFill>
                <a:latin typeface="Segoe UI"/>
              </a:rPr>
              <a:t>Acoustique</a:t>
            </a:r>
          </a:p>
        </p:txBody>
      </p:sp>
      <p:sp>
        <p:nvSpPr>
          <p:cNvPr id="10" name="S14_RIGHT_TITLE"/>
          <p:cNvSpPr txBox="1"/>
          <p:nvPr/>
        </p:nvSpPr>
        <p:spPr>
          <a:xfrm>
            <a:off x="74412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FDA85B"/>
                </a:solidFill>
                <a:latin typeface="Segoe UI"/>
              </a:rPr>
              <a:t>Numérique</a:t>
            </a:r>
          </a:p>
        </p:txBody>
      </p:sp>
      <p:sp>
        <p:nvSpPr>
          <p:cNvPr id="11" name="S14_LEFT_1_ITEM"/>
          <p:cNvSpPr txBox="1"/>
          <p:nvPr/>
        </p:nvSpPr>
        <p:spPr>
          <a:xfrm>
            <a:off x="13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Toucher et son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organique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authentique</a:t>
            </a:r>
          </a:p>
        </p:txBody>
      </p:sp>
      <p:sp>
        <p:nvSpPr>
          <p:cNvPr id="12" name="S14_RIGHT_1_ITEM"/>
          <p:cNvSpPr txBox="1"/>
          <p:nvPr/>
        </p:nvSpPr>
        <p:spPr>
          <a:xfrm>
            <a:off x="67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Volume réglable et casque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numérique</a:t>
            </a:r>
          </a:p>
        </p:txBody>
      </p:sp>
      <p:sp>
        <p:nvSpPr>
          <p:cNvPr id="13" name="S14_LEFT_2_ITEM"/>
          <p:cNvSpPr txBox="1"/>
          <p:nvPr/>
        </p:nvSpPr>
        <p:spPr>
          <a:xfrm>
            <a:off x="13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Meuble de prestige</a:t>
            </a:r>
          </a:p>
        </p:txBody>
      </p:sp>
      <p:sp>
        <p:nvSpPr>
          <p:cNvPr id="14" name="S14_RIGHT_2_ITEM"/>
          <p:cNvSpPr txBox="1"/>
          <p:nvPr/>
        </p:nvSpPr>
        <p:spPr>
          <a:xfrm>
            <a:off x="67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Pas d'accordage nécessaire</a:t>
            </a:r>
          </a:p>
        </p:txBody>
      </p:sp>
      <p:sp>
        <p:nvSpPr>
          <p:cNvPr id="15" name="S14_LEFT_3_ITEM"/>
          <p:cNvSpPr txBox="1"/>
          <p:nvPr/>
        </p:nvSpPr>
        <p:spPr>
          <a:xfrm>
            <a:off x="13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Durée de vie (100 ans)</a:t>
            </a:r>
          </a:p>
        </p:txBody>
      </p:sp>
      <p:sp>
        <p:nvSpPr>
          <p:cNvPr id="16" name="S14_RIGHT_3_ITEM"/>
          <p:cNvSpPr txBox="1"/>
          <p:nvPr/>
        </p:nvSpPr>
        <p:spPr>
          <a:xfrm>
            <a:off x="67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Compact et léger</a:t>
            </a:r>
          </a:p>
        </p:txBody>
      </p:sp>
      <p:sp>
        <p:nvSpPr>
          <p:cNvPr id="17" name="S14_LEFT_4_ITEM"/>
          <p:cNvSpPr txBox="1"/>
          <p:nvPr/>
        </p:nvSpPr>
        <p:spPr>
          <a:xfrm>
            <a:off x="13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8" name="S14_RIGHT_4_ITEM"/>
          <p:cNvSpPr txBox="1"/>
          <p:nvPr/>
        </p:nvSpPr>
        <p:spPr>
          <a:xfrm>
            <a:off x="67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9" name="S14_LEFT_5_ITEM"/>
          <p:cNvSpPr txBox="1"/>
          <p:nvPr/>
        </p:nvSpPr>
        <p:spPr>
          <a:xfrm>
            <a:off x="13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0" name="S14_RIGHT_5_ITEM"/>
          <p:cNvSpPr txBox="1"/>
          <p:nvPr/>
        </p:nvSpPr>
        <p:spPr>
          <a:xfrm>
            <a:off x="67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choix dépend du budget et de l'usage recherché.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