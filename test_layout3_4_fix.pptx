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Pourquoi accélérer maintenant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01/11</a:t>
            </a:r>
          </a:p>
        </p:txBody>
      </p:sp>
      <p:sp>
        <p:nvSpPr>
          <p:cNvPr id="7" name="LeftAccentBar"/>
          <p:cNvSpPr/>
          <p:nvPr/>
        </p:nvSpPr>
        <p:spPr>
          <a:xfrm>
            <a:off x="720000" y="1260000"/>
            <a:ext cx="39600" cy="2268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01_MANIFESTO"/>
          <p:cNvSpPr txBox="1"/>
          <p:nvPr/>
        </p:nvSpPr>
        <p:spPr>
          <a:xfrm>
            <a:off x="838800" y="1238400"/>
            <a:ext cx="7617600" cy="102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474E67"/>
                </a:solidFill>
                <a:latin typeface="Segoe UI Light"/>
              </a:rPr>
              <a:t>Le </a:t>
            </a:r>
            <a:r>
              <a:rPr sz="2400" b="1" i="0">
                <a:solidFill>
                  <a:srgbClr val="A25871"/>
                </a:solidFill>
                <a:latin typeface="Segoe UI"/>
              </a:rPr>
              <a:t>statu quo</a:t>
            </a:r>
            <a:r>
              <a:rPr sz="2400" b="0" i="0">
                <a:solidFill>
                  <a:srgbClr val="474E67"/>
                </a:solidFill>
                <a:latin typeface="Segoe UI Light"/>
              </a:rPr>
              <a:t> ralentit les équipes. Le pilote donne un </a:t>
            </a:r>
            <a:r>
              <a:rPr sz="2400" b="1" i="0">
                <a:solidFill>
                  <a:srgbClr val="A25871"/>
                </a:solidFill>
                <a:latin typeface="Segoe UI"/>
              </a:rPr>
              <a:t>rythme clair</a:t>
            </a:r>
            <a:r>
              <a:rPr sz="2400" b="0" i="0">
                <a:solidFill>
                  <a:srgbClr val="474E67"/>
                </a:solidFill>
                <a:latin typeface="Segoe UI Light"/>
              </a:rPr>
              <a:t> et rend la </a:t>
            </a:r>
            <a:r>
              <a:rPr sz="2400" b="1" i="0">
                <a:solidFill>
                  <a:srgbClr val="A25871"/>
                </a:solidFill>
                <a:latin typeface="Segoe UI"/>
              </a:rPr>
              <a:t>décision visible</a:t>
            </a:r>
            <a:r>
              <a:rPr sz="2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9" name="S01_BODY"/>
          <p:cNvSpPr txBox="1"/>
          <p:nvPr/>
        </p:nvSpPr>
        <p:spPr>
          <a:xfrm>
            <a:off x="838800" y="2865600"/>
            <a:ext cx="7365600" cy="1015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74E67"/>
                </a:solidFill>
                <a:latin typeface="Segoe UI"/>
              </a:rPr>
              <a:t>Les 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signaux convergent</a:t>
            </a:r>
            <a:r>
              <a:rPr sz="1300" b="0" i="0">
                <a:solidFill>
                  <a:srgbClr val="474E67"/>
                </a:solidFill>
                <a:latin typeface="Segoe UI"/>
              </a:rPr>
              <a:t> : délais instables, arbitrages tardifs et énergie dispersée. Avec un 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pilote court</a:t>
            </a:r>
            <a:r>
              <a:rPr sz="1300" b="0" i="0">
                <a:solidFill>
                  <a:srgbClr val="474E67"/>
                </a:solidFill>
                <a:latin typeface="Segoe UI"/>
              </a:rPr>
              <a:t>, nous créons une 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preuve mesurable</a:t>
            </a:r>
            <a:r>
              <a:rPr sz="1300" b="0" i="0">
                <a:solidFill>
                  <a:srgbClr val="474E67"/>
                </a:solidFill>
                <a:latin typeface="Segoe UI"/>
              </a:rPr>
              <a:t> pour décider vite.</a:t>
            </a:r>
          </a:p>
        </p:txBody>
      </p:sp>
      <p:sp>
        <p:nvSpPr>
          <p:cNvPr id="10" name="KpiAccent_1"/>
          <p:cNvSpPr/>
          <p:nvPr/>
        </p:nvSpPr>
        <p:spPr>
          <a:xfrm>
            <a:off x="8712000" y="1040400"/>
            <a:ext cx="406799" cy="25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01_STAT_1_VALUE"/>
          <p:cNvSpPr txBox="1"/>
          <p:nvPr/>
        </p:nvSpPr>
        <p:spPr>
          <a:xfrm>
            <a:off x="8712000" y="11448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6A5D79"/>
                </a:solidFill>
                <a:latin typeface="Segoe UI Black"/>
              </a:rPr>
              <a:t>+18%</a:t>
            </a:r>
          </a:p>
        </p:txBody>
      </p:sp>
      <p:sp>
        <p:nvSpPr>
          <p:cNvPr id="12" name="S01_STAT_1_LABEL"/>
          <p:cNvSpPr txBox="1"/>
          <p:nvPr/>
        </p:nvSpPr>
        <p:spPr>
          <a:xfrm>
            <a:off x="8712000" y="19044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Engagement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 équipe</a:t>
            </a:r>
          </a:p>
        </p:txBody>
      </p:sp>
      <p:sp>
        <p:nvSpPr>
          <p:cNvPr id="13" name="S01_STAT_1_SUBLABEL"/>
          <p:cNvSpPr txBox="1"/>
          <p:nvPr/>
        </p:nvSpPr>
        <p:spPr>
          <a:xfrm>
            <a:off x="8712000" y="21852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sur équipe 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pilote</a:t>
            </a:r>
          </a:p>
        </p:txBody>
      </p:sp>
      <p:sp>
        <p:nvSpPr>
          <p:cNvPr id="14" name="KpiAccent_2"/>
          <p:cNvSpPr/>
          <p:nvPr/>
        </p:nvSpPr>
        <p:spPr>
          <a:xfrm>
            <a:off x="8712000" y="2692800"/>
            <a:ext cx="406799" cy="252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01_STAT_2_VALUE"/>
          <p:cNvSpPr txBox="1"/>
          <p:nvPr/>
        </p:nvSpPr>
        <p:spPr>
          <a:xfrm>
            <a:off x="8712000" y="27936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A25871"/>
                </a:solidFill>
                <a:latin typeface="Segoe UI Black"/>
              </a:rPr>
              <a:t>12 j</a:t>
            </a:r>
          </a:p>
        </p:txBody>
      </p:sp>
      <p:sp>
        <p:nvSpPr>
          <p:cNvPr id="16" name="S01_STAT_2_LABEL"/>
          <p:cNvSpPr txBox="1"/>
          <p:nvPr/>
        </p:nvSpPr>
        <p:spPr>
          <a:xfrm>
            <a:off x="8712000" y="35568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Cycle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 cible</a:t>
            </a:r>
          </a:p>
        </p:txBody>
      </p:sp>
      <p:sp>
        <p:nvSpPr>
          <p:cNvPr id="17" name="S01_STAT_2_SUBLABEL"/>
          <p:cNvSpPr txBox="1"/>
          <p:nvPr/>
        </p:nvSpPr>
        <p:spPr>
          <a:xfrm>
            <a:off x="8712000" y="38340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contre 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21 j</a:t>
            </a:r>
          </a:p>
        </p:txBody>
      </p:sp>
      <p:sp>
        <p:nvSpPr>
          <p:cNvPr id="18" name="KpiAccent_3"/>
          <p:cNvSpPr/>
          <p:nvPr/>
        </p:nvSpPr>
        <p:spPr>
          <a:xfrm>
            <a:off x="8712000" y="4338000"/>
            <a:ext cx="406799" cy="252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01_STAT_3_VALUE"/>
          <p:cNvSpPr txBox="1"/>
          <p:nvPr/>
        </p:nvSpPr>
        <p:spPr>
          <a:xfrm>
            <a:off x="8712000" y="44460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FDA85B"/>
                </a:solidFill>
                <a:latin typeface="Segoe UI Black"/>
              </a:rPr>
              <a:t>90 j</a:t>
            </a:r>
          </a:p>
        </p:txBody>
      </p:sp>
      <p:sp>
        <p:nvSpPr>
          <p:cNvPr id="20" name="S01_STAT_3_LABEL"/>
          <p:cNvSpPr txBox="1"/>
          <p:nvPr/>
        </p:nvSpPr>
        <p:spPr>
          <a:xfrm>
            <a:off x="8712000" y="52056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Preuve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 de valeur</a:t>
            </a:r>
          </a:p>
        </p:txBody>
      </p:sp>
      <p:sp>
        <p:nvSpPr>
          <p:cNvPr id="21" name="S01_STAT_3_SUBLABEL"/>
          <p:cNvSpPr txBox="1"/>
          <p:nvPr/>
        </p:nvSpPr>
        <p:spPr>
          <a:xfrm>
            <a:off x="8712000" y="54864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avant 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scale-up</a:t>
            </a:r>
          </a:p>
        </p:txBody>
      </p:sp>
      <p:sp>
        <p:nvSpPr>
          <p:cNvPr id="22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Décider vite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pour apprendre vite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Trois principes d'exécution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02/11</a:t>
            </a:r>
          </a:p>
        </p:txBody>
      </p:sp>
      <p:sp>
        <p:nvSpPr>
          <p:cNvPr id="7" name="S02_SEP_1"/>
          <p:cNvSpPr/>
          <p:nvPr/>
        </p:nvSpPr>
        <p:spPr>
          <a:xfrm>
            <a:off x="608400" y="1695600"/>
            <a:ext cx="36000" cy="35640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02_COL_1_TITLE"/>
          <p:cNvSpPr txBox="1"/>
          <p:nvPr/>
        </p:nvSpPr>
        <p:spPr>
          <a:xfrm>
            <a:off x="849600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6A5D79"/>
                </a:solidFill>
                <a:latin typeface="Segoe UI"/>
              </a:rPr>
              <a:t>Commencer petit, </a:t>
            </a:r>
            <a:r>
              <a:rPr sz="2000" b="1" i="0" cap="small">
                <a:solidFill>
                  <a:srgbClr val="6A5D79"/>
                </a:solidFill>
                <a:latin typeface="Segoe UI"/>
              </a:rPr>
              <a:t>mesurer vite</a:t>
            </a:r>
          </a:p>
        </p:txBody>
      </p:sp>
      <p:sp>
        <p:nvSpPr>
          <p:cNvPr id="9" name="S02_COL_1_BODY"/>
          <p:cNvSpPr txBox="1"/>
          <p:nvPr/>
        </p:nvSpPr>
        <p:spPr>
          <a:xfrm>
            <a:off x="849600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Un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périmètre pilote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évite la dispersion. Les apprentissages deviennent des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standards simples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10" name="S02_SEP_2"/>
          <p:cNvSpPr/>
          <p:nvPr/>
        </p:nvSpPr>
        <p:spPr>
          <a:xfrm>
            <a:off x="4359600" y="1695600"/>
            <a:ext cx="36000" cy="3564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02_COL_2_TITLE"/>
          <p:cNvSpPr txBox="1"/>
          <p:nvPr/>
        </p:nvSpPr>
        <p:spPr>
          <a:xfrm>
            <a:off x="4597200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A25871"/>
                </a:solidFill>
                <a:latin typeface="Segoe UI"/>
              </a:rPr>
              <a:t>Donner un rôle au </a:t>
            </a:r>
            <a:r>
              <a:rPr sz="2000" b="1" i="0" cap="small">
                <a:solidFill>
                  <a:srgbClr val="A25871"/>
                </a:solidFill>
                <a:latin typeface="Segoe UI"/>
              </a:rPr>
              <a:t>terrain</a:t>
            </a:r>
          </a:p>
        </p:txBody>
      </p:sp>
      <p:sp>
        <p:nvSpPr>
          <p:cNvPr id="12" name="S02_COL_2_BODY"/>
          <p:cNvSpPr txBox="1"/>
          <p:nvPr/>
        </p:nvSpPr>
        <p:spPr>
          <a:xfrm>
            <a:off x="4597200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Les équipes valident les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irritants réels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, priorisent les actions utiles et rendent les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gains visibles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13" name="S02_SEP_3"/>
          <p:cNvSpPr/>
          <p:nvPr/>
        </p:nvSpPr>
        <p:spPr>
          <a:xfrm>
            <a:off x="8110800" y="1695600"/>
            <a:ext cx="36000" cy="35640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02_COL_3_TITLE"/>
          <p:cNvSpPr txBox="1"/>
          <p:nvPr/>
        </p:nvSpPr>
        <p:spPr>
          <a:xfrm>
            <a:off x="8348400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FDA85B"/>
                </a:solidFill>
                <a:latin typeface="Segoe UI"/>
              </a:rPr>
              <a:t>Installer une </a:t>
            </a:r>
            <a:r>
              <a:rPr sz="2000" b="1" i="0" cap="small">
                <a:solidFill>
                  <a:srgbClr val="FDA85B"/>
                </a:solidFill>
                <a:latin typeface="Segoe UI"/>
              </a:rPr>
              <a:t>cadence commune</a:t>
            </a:r>
          </a:p>
        </p:txBody>
      </p:sp>
      <p:sp>
        <p:nvSpPr>
          <p:cNvPr id="15" name="S02_COL_3_BODY"/>
          <p:cNvSpPr txBox="1"/>
          <p:nvPr/>
        </p:nvSpPr>
        <p:spPr>
          <a:xfrm>
            <a:off x="8348400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Un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rythme court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synchronise sponsor, managers et contributeurs autour des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mêmes faits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Six facteurs critiques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03/11</a:t>
            </a:r>
          </a:p>
        </p:txBody>
      </p:sp>
      <p:sp>
        <p:nvSpPr>
          <p:cNvPr id="7" name="S03_TEARDROP_1"/>
          <p:cNvSpPr/>
          <p:nvPr/>
        </p:nvSpPr>
        <p:spPr>
          <a:xfrm rot="10800000">
            <a:off x="1231200" y="1292400"/>
            <a:ext cx="1080000" cy="1080000"/>
          </a:xfrm>
          <a:prstGeom prst="teardrop">
            <a:avLst/>
          </a:prstGeom>
          <a:solidFill>
            <a:srgbClr val="D8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03_FACTOR_1_LABEL"/>
          <p:cNvSpPr txBox="1"/>
          <p:nvPr/>
        </p:nvSpPr>
        <p:spPr>
          <a:xfrm>
            <a:off x="521999" y="24804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 cap="small">
                <a:solidFill>
                  <a:srgbClr val="070E1D"/>
                </a:solidFill>
                <a:latin typeface="Segoe UI Black"/>
              </a:rPr>
              <a:t>Sponsor</a:t>
            </a:r>
            <a:r>
              <a:rPr sz="1400" b="1" i="0" cap="small">
                <a:solidFill>
                  <a:srgbClr val="070E1D"/>
                </a:solidFill>
                <a:latin typeface="Segoe UI Black"/>
              </a:rPr>
              <a:t> exécutif</a:t>
            </a:r>
          </a:p>
        </p:txBody>
      </p:sp>
      <p:sp>
        <p:nvSpPr>
          <p:cNvPr id="9" name="S03_TEARDROP_2"/>
          <p:cNvSpPr/>
          <p:nvPr/>
        </p:nvSpPr>
        <p:spPr>
          <a:xfrm rot="10800000">
            <a:off x="5529600" y="1314000"/>
            <a:ext cx="1080000" cy="1080000"/>
          </a:xfrm>
          <a:prstGeom prst="teardrop">
            <a:avLst/>
          </a:prstGeom>
          <a:solidFill>
            <a:srgbClr val="BB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03_FACTOR_2_LABEL"/>
          <p:cNvSpPr txBox="1"/>
          <p:nvPr/>
        </p:nvSpPr>
        <p:spPr>
          <a:xfrm>
            <a:off x="4820400" y="25020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 cap="small">
                <a:solidFill>
                  <a:srgbClr val="070E1D"/>
                </a:solidFill>
                <a:latin typeface="Segoe UI Black"/>
              </a:rPr>
              <a:t>Vision</a:t>
            </a:r>
            <a:r>
              <a:rPr sz="1400" b="1" i="0" cap="small">
                <a:solidFill>
                  <a:srgbClr val="070E1D"/>
                </a:solidFill>
                <a:latin typeface="Segoe UI Black"/>
              </a:rPr>
              <a:t> partagée</a:t>
            </a:r>
          </a:p>
        </p:txBody>
      </p:sp>
      <p:sp>
        <p:nvSpPr>
          <p:cNvPr id="11" name="S03_TEARDROP_3"/>
          <p:cNvSpPr/>
          <p:nvPr/>
        </p:nvSpPr>
        <p:spPr>
          <a:xfrm rot="10800000">
            <a:off x="9669600" y="1314000"/>
            <a:ext cx="1080000" cy="1080000"/>
          </a:xfrm>
          <a:prstGeom prst="teardrop">
            <a:avLst/>
          </a:prstGeom>
          <a:solidFill>
            <a:srgbClr val="D5B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03_FACTOR_3_LABEL"/>
          <p:cNvSpPr txBox="1"/>
          <p:nvPr/>
        </p:nvSpPr>
        <p:spPr>
          <a:xfrm>
            <a:off x="8960400" y="25020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 cap="small">
                <a:solidFill>
                  <a:srgbClr val="070E1D"/>
                </a:solidFill>
                <a:latin typeface="Segoe UI Black"/>
              </a:rPr>
              <a:t>Equipe </a:t>
            </a:r>
            <a:r>
              <a:rPr sz="1400" b="1" i="0" cap="small">
                <a:solidFill>
                  <a:srgbClr val="070E1D"/>
                </a:solidFill>
                <a:latin typeface="Segoe UI Black"/>
              </a:rPr>
              <a:t>dédiée</a:t>
            </a:r>
          </a:p>
        </p:txBody>
      </p:sp>
      <p:sp>
        <p:nvSpPr>
          <p:cNvPr id="13" name="S03_TEARDROP_4"/>
          <p:cNvSpPr/>
          <p:nvPr/>
        </p:nvSpPr>
        <p:spPr>
          <a:xfrm rot="10800000">
            <a:off x="1245600" y="3927600"/>
            <a:ext cx="1080000" cy="1080000"/>
          </a:xfrm>
          <a:prstGeom prst="teardrop">
            <a:avLst/>
          </a:prstGeom>
          <a:solidFill>
            <a:srgbClr val="F1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03_FACTOR_4_LABEL"/>
          <p:cNvSpPr txBox="1"/>
          <p:nvPr/>
        </p:nvSpPr>
        <p:spPr>
          <a:xfrm>
            <a:off x="536399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 cap="small">
                <a:solidFill>
                  <a:srgbClr val="070E1D"/>
                </a:solidFill>
                <a:latin typeface="Segoe UI Black"/>
              </a:rPr>
              <a:t>Indicateurs </a:t>
            </a:r>
            <a:r>
              <a:rPr sz="1400" b="1" i="0" cap="small">
                <a:solidFill>
                  <a:srgbClr val="070E1D"/>
                </a:solidFill>
                <a:latin typeface="Segoe UI Black"/>
              </a:rPr>
              <a:t>simples</a:t>
            </a:r>
          </a:p>
        </p:txBody>
      </p:sp>
      <p:sp>
        <p:nvSpPr>
          <p:cNvPr id="15" name="S03_TEARDROP_5"/>
          <p:cNvSpPr/>
          <p:nvPr/>
        </p:nvSpPr>
        <p:spPr>
          <a:xfrm rot="10800000">
            <a:off x="5472000" y="3927600"/>
            <a:ext cx="1080000" cy="1080000"/>
          </a:xfrm>
          <a:prstGeom prst="teardrop">
            <a:avLst/>
          </a:prstGeom>
          <a:solidFill>
            <a:srgbClr val="FEE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03_FACTOR_5_LABEL"/>
          <p:cNvSpPr txBox="1"/>
          <p:nvPr/>
        </p:nvSpPr>
        <p:spPr>
          <a:xfrm>
            <a:off x="4762799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 cap="small">
                <a:solidFill>
                  <a:srgbClr val="070E1D"/>
                </a:solidFill>
                <a:latin typeface="Segoe UI Black"/>
              </a:rPr>
              <a:t>Communication </a:t>
            </a:r>
            <a:r>
              <a:rPr sz="1400" b="1" i="0" cap="small">
                <a:solidFill>
                  <a:srgbClr val="070E1D"/>
                </a:solidFill>
                <a:latin typeface="Segoe UI Black"/>
              </a:rPr>
              <a:t>continue</a:t>
            </a:r>
          </a:p>
        </p:txBody>
      </p:sp>
      <p:sp>
        <p:nvSpPr>
          <p:cNvPr id="17" name="S03_TEARDROP_6"/>
          <p:cNvSpPr/>
          <p:nvPr/>
        </p:nvSpPr>
        <p:spPr>
          <a:xfrm rot="10800000">
            <a:off x="9561600" y="3927600"/>
            <a:ext cx="1080000" cy="1080000"/>
          </a:xfrm>
          <a:prstGeom prst="teardrop">
            <a:avLst/>
          </a:prstGeom>
          <a:solidFill>
            <a:srgbClr val="FEF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03_FACTOR_6_LABEL"/>
          <p:cNvSpPr txBox="1"/>
          <p:nvPr/>
        </p:nvSpPr>
        <p:spPr>
          <a:xfrm>
            <a:off x="8852400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 cap="small">
                <a:solidFill>
                  <a:srgbClr val="070E1D"/>
                </a:solidFill>
                <a:latin typeface="Segoe UI Black"/>
              </a:rPr>
              <a:t>Quick wins </a:t>
            </a:r>
            <a:r>
              <a:rPr sz="1400" b="1" i="0" cap="small">
                <a:solidFill>
                  <a:srgbClr val="070E1D"/>
                </a:solidFill>
                <a:latin typeface="Segoe UI Black"/>
              </a:rPr>
              <a:t>visibles</a:t>
            </a:r>
          </a:p>
        </p:txBody>
      </p:sp>
      <p:sp>
        <p:nvSpPr>
          <p:cNvPr id="19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Aligner les facteurs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avant le lancement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iang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059" y="280800"/>
            <a:ext cx="5328000" cy="4644000"/>
          </a:xfrm>
          <a:prstGeom prst="rect">
            <a:avLst/>
          </a:prstGeom>
        </p:spPr>
      </p:pic>
      <p:sp>
        <p:nvSpPr>
          <p:cNvPr id="3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Trois dimensions liées</a:t>
            </a:r>
          </a:p>
        </p:txBody>
      </p:sp>
      <p:sp>
        <p:nvSpPr>
          <p:cNvPr id="4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04/11</a:t>
            </a:r>
          </a:p>
        </p:txBody>
      </p:sp>
      <p:sp>
        <p:nvSpPr>
          <p:cNvPr id="8" name="S04_TOP_LABEL"/>
          <p:cNvSpPr txBox="1"/>
          <p:nvPr/>
        </p:nvSpPr>
        <p:spPr>
          <a:xfrm>
            <a:off x="7059600" y="6408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Personnes</a:t>
            </a:r>
          </a:p>
        </p:txBody>
      </p:sp>
      <p:sp>
        <p:nvSpPr>
          <p:cNvPr id="9" name="S04_TOP_SUBLABEL"/>
          <p:cNvSpPr txBox="1"/>
          <p:nvPr/>
        </p:nvSpPr>
        <p:spPr>
          <a:xfrm>
            <a:off x="7059600" y="917999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compétences et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posture</a:t>
            </a:r>
          </a:p>
        </p:txBody>
      </p:sp>
      <p:sp>
        <p:nvSpPr>
          <p:cNvPr id="10" name="S04_LEFT_LABEL"/>
          <p:cNvSpPr txBox="1"/>
          <p:nvPr/>
        </p:nvSpPr>
        <p:spPr>
          <a:xfrm>
            <a:off x="1011600" y="42624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Processus</a:t>
            </a:r>
          </a:p>
        </p:txBody>
      </p:sp>
      <p:sp>
        <p:nvSpPr>
          <p:cNvPr id="11" name="S04_LEFT_SUBLABEL"/>
          <p:cNvSpPr txBox="1"/>
          <p:nvPr/>
        </p:nvSpPr>
        <p:spPr>
          <a:xfrm>
            <a:off x="1011600" y="4539600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rituels et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standards</a:t>
            </a:r>
          </a:p>
        </p:txBody>
      </p:sp>
      <p:sp>
        <p:nvSpPr>
          <p:cNvPr id="12" name="S04_RIGHT_LABEL"/>
          <p:cNvSpPr txBox="1"/>
          <p:nvPr/>
        </p:nvSpPr>
        <p:spPr>
          <a:xfrm>
            <a:off x="8928000" y="42624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Outils</a:t>
            </a:r>
          </a:p>
        </p:txBody>
      </p:sp>
      <p:sp>
        <p:nvSpPr>
          <p:cNvPr id="13" name="S04_RIGHT_SUBLABEL"/>
          <p:cNvSpPr txBox="1"/>
          <p:nvPr/>
        </p:nvSpPr>
        <p:spPr>
          <a:xfrm>
            <a:off x="8928000" y="4539600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données et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pilotage</a:t>
            </a:r>
          </a:p>
        </p:txBody>
      </p:sp>
      <p:sp>
        <p:nvSpPr>
          <p:cNvPr id="14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Aucune dimension ne progresse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seule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Trajectoire en quatre temps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05/11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39600" y="2916000"/>
            <a:ext cx="2458800" cy="0"/>
          </a:xfrm>
          <a:prstGeom prst="line">
            <a:avLst/>
          </a:prstGeom>
          <a:ln w="19050">
            <a:solidFill>
              <a:srgbClr val="BB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729600" y="2916000"/>
            <a:ext cx="2455200" cy="0"/>
          </a:xfrm>
          <a:prstGeom prst="line">
            <a:avLst/>
          </a:prstGeom>
          <a:ln w="19050">
            <a:solidFill>
              <a:srgbClr val="D5B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16000" y="2916000"/>
            <a:ext cx="2455200" cy="0"/>
          </a:xfrm>
          <a:prstGeom prst="line">
            <a:avLst/>
          </a:prstGeom>
          <a:ln w="19050">
            <a:solidFill>
              <a:srgbClr val="F1D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05_STEP_1_BULLET"/>
          <p:cNvSpPr/>
          <p:nvPr/>
        </p:nvSpPr>
        <p:spPr>
          <a:xfrm>
            <a:off x="608400" y="2750400"/>
            <a:ext cx="331200" cy="3312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05_STEP_1_NUMBER"/>
          <p:cNvSpPr txBox="1"/>
          <p:nvPr/>
        </p:nvSpPr>
        <p:spPr>
          <a:xfrm>
            <a:off x="608400" y="2750400"/>
            <a:ext cx="331200" cy="33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1</a:t>
            </a:r>
          </a:p>
        </p:txBody>
      </p:sp>
      <p:sp>
        <p:nvSpPr>
          <p:cNvPr id="12" name="S05_STEP_1_PERIOD"/>
          <p:cNvSpPr txBox="1"/>
          <p:nvPr/>
        </p:nvSpPr>
        <p:spPr>
          <a:xfrm>
            <a:off x="608400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6A5D79"/>
                </a:solidFill>
                <a:latin typeface="Segoe UI"/>
              </a:rPr>
              <a:t>S1</a:t>
            </a:r>
            <a:r>
              <a:rPr sz="1200" b="1" i="0" cap="small">
                <a:solidFill>
                  <a:srgbClr val="6A5D79"/>
                </a:solidFill>
                <a:latin typeface="Segoe UI"/>
              </a:rPr>
              <a:t>-S2</a:t>
            </a:r>
          </a:p>
        </p:txBody>
      </p:sp>
      <p:sp>
        <p:nvSpPr>
          <p:cNvPr id="13" name="S05_STEP_1_TITLE"/>
          <p:cNvSpPr txBox="1"/>
          <p:nvPr/>
        </p:nvSpPr>
        <p:spPr>
          <a:xfrm>
            <a:off x="608400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Cadrer</a:t>
            </a:r>
          </a:p>
        </p:txBody>
      </p:sp>
      <p:sp>
        <p:nvSpPr>
          <p:cNvPr id="14" name="S05_STEP_1_BODY"/>
          <p:cNvSpPr txBox="1"/>
          <p:nvPr/>
        </p:nvSpPr>
        <p:spPr>
          <a:xfrm>
            <a:off x="608400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Aligner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sponsor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, périmètre pilote,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indicateurs de succès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 et règles d'arbitrage.</a:t>
            </a:r>
          </a:p>
        </p:txBody>
      </p:sp>
      <p:sp>
        <p:nvSpPr>
          <p:cNvPr id="15" name="S05_STEP_2_BULLET"/>
          <p:cNvSpPr/>
          <p:nvPr/>
        </p:nvSpPr>
        <p:spPr>
          <a:xfrm>
            <a:off x="3398400" y="2750400"/>
            <a:ext cx="331200" cy="3312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05_STEP_2_NUMBER"/>
          <p:cNvSpPr txBox="1"/>
          <p:nvPr/>
        </p:nvSpPr>
        <p:spPr>
          <a:xfrm>
            <a:off x="3398400" y="2750400"/>
            <a:ext cx="331200" cy="33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2</a:t>
            </a:r>
          </a:p>
        </p:txBody>
      </p:sp>
      <p:sp>
        <p:nvSpPr>
          <p:cNvPr id="17" name="S05_STEP_2_PERIOD"/>
          <p:cNvSpPr txBox="1"/>
          <p:nvPr/>
        </p:nvSpPr>
        <p:spPr>
          <a:xfrm>
            <a:off x="3398400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A25871"/>
                </a:solidFill>
                <a:latin typeface="Segoe UI"/>
              </a:rPr>
              <a:t>S3</a:t>
            </a:r>
            <a:r>
              <a:rPr sz="1200" b="1" i="0" cap="small">
                <a:solidFill>
                  <a:srgbClr val="A25871"/>
                </a:solidFill>
                <a:latin typeface="Segoe UI"/>
              </a:rPr>
              <a:t>-S6</a:t>
            </a:r>
          </a:p>
        </p:txBody>
      </p:sp>
      <p:sp>
        <p:nvSpPr>
          <p:cNvPr id="18" name="S05_STEP_2_TITLE"/>
          <p:cNvSpPr txBox="1"/>
          <p:nvPr/>
        </p:nvSpPr>
        <p:spPr>
          <a:xfrm>
            <a:off x="3398400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Tester</a:t>
            </a:r>
          </a:p>
        </p:txBody>
      </p:sp>
      <p:sp>
        <p:nvSpPr>
          <p:cNvPr id="19" name="S05_STEP_2_BODY"/>
          <p:cNvSpPr txBox="1"/>
          <p:nvPr/>
        </p:nvSpPr>
        <p:spPr>
          <a:xfrm>
            <a:off x="3398400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Mener les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cycles courts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, mesurer les écarts et décider les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corrections utiles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20" name="S05_STEP_3_BULLET"/>
          <p:cNvSpPr/>
          <p:nvPr/>
        </p:nvSpPr>
        <p:spPr>
          <a:xfrm>
            <a:off x="6184800" y="2750400"/>
            <a:ext cx="331200" cy="331200"/>
          </a:xfrm>
          <a:prstGeom prst="ellipse">
            <a:avLst/>
          </a:prstGeom>
          <a:solidFill>
            <a:srgbClr val="D47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05_STEP_3_NUMBER"/>
          <p:cNvSpPr txBox="1"/>
          <p:nvPr/>
        </p:nvSpPr>
        <p:spPr>
          <a:xfrm>
            <a:off x="6184800" y="2750400"/>
            <a:ext cx="331200" cy="33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3</a:t>
            </a:r>
          </a:p>
        </p:txBody>
      </p:sp>
      <p:sp>
        <p:nvSpPr>
          <p:cNvPr id="22" name="S05_STEP_3_PERIOD"/>
          <p:cNvSpPr txBox="1"/>
          <p:nvPr/>
        </p:nvSpPr>
        <p:spPr>
          <a:xfrm>
            <a:off x="6184800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D4737A"/>
                </a:solidFill>
                <a:latin typeface="Segoe UI"/>
              </a:rPr>
              <a:t>S7</a:t>
            </a:r>
            <a:r>
              <a:rPr sz="1200" b="1" i="0" cap="small">
                <a:solidFill>
                  <a:srgbClr val="D4737A"/>
                </a:solidFill>
                <a:latin typeface="Segoe UI"/>
              </a:rPr>
              <a:t>-S10</a:t>
            </a:r>
          </a:p>
        </p:txBody>
      </p:sp>
      <p:sp>
        <p:nvSpPr>
          <p:cNvPr id="23" name="S05_STEP_3_TITLE"/>
          <p:cNvSpPr txBox="1"/>
          <p:nvPr/>
        </p:nvSpPr>
        <p:spPr>
          <a:xfrm>
            <a:off x="6184800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Stabiliser</a:t>
            </a:r>
          </a:p>
        </p:txBody>
      </p:sp>
      <p:sp>
        <p:nvSpPr>
          <p:cNvPr id="24" name="S05_STEP_3_BODY"/>
          <p:cNvSpPr txBox="1"/>
          <p:nvPr/>
        </p:nvSpPr>
        <p:spPr>
          <a:xfrm>
            <a:off x="6184800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Transformer les pratiques validées en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standards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 et former les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relais locaux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25" name="S05_STEP_4_BULLET"/>
          <p:cNvSpPr/>
          <p:nvPr/>
        </p:nvSpPr>
        <p:spPr>
          <a:xfrm>
            <a:off x="8971200" y="2750400"/>
            <a:ext cx="331200" cy="3312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05_STEP_4_NUMBER"/>
          <p:cNvSpPr txBox="1"/>
          <p:nvPr/>
        </p:nvSpPr>
        <p:spPr>
          <a:xfrm>
            <a:off x="8971200" y="2750400"/>
            <a:ext cx="331200" cy="33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4</a:t>
            </a:r>
          </a:p>
        </p:txBody>
      </p:sp>
      <p:sp>
        <p:nvSpPr>
          <p:cNvPr id="27" name="S05_STEP_4_PERIOD"/>
          <p:cNvSpPr txBox="1"/>
          <p:nvPr/>
        </p:nvSpPr>
        <p:spPr>
          <a:xfrm>
            <a:off x="8971200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FDA85B"/>
                </a:solidFill>
                <a:latin typeface="Segoe UI"/>
              </a:rPr>
              <a:t>S11</a:t>
            </a:r>
            <a:r>
              <a:rPr sz="1200" b="1" i="0" cap="small">
                <a:solidFill>
                  <a:srgbClr val="FDA85B"/>
                </a:solidFill>
                <a:latin typeface="Segoe UI"/>
              </a:rPr>
              <a:t>-S12</a:t>
            </a:r>
          </a:p>
        </p:txBody>
      </p:sp>
      <p:sp>
        <p:nvSpPr>
          <p:cNvPr id="28" name="S05_STEP_4_TITLE"/>
          <p:cNvSpPr txBox="1"/>
          <p:nvPr/>
        </p:nvSpPr>
        <p:spPr>
          <a:xfrm>
            <a:off x="8971200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Décider</a:t>
            </a:r>
          </a:p>
        </p:txBody>
      </p:sp>
      <p:sp>
        <p:nvSpPr>
          <p:cNvPr id="29" name="S05_STEP_4_BODY"/>
          <p:cNvSpPr txBox="1"/>
          <p:nvPr/>
        </p:nvSpPr>
        <p:spPr>
          <a:xfrm>
            <a:off x="8971200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Présenter les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résultats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, qualifier les risques et choisir le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scénario de déploiement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Comparer les scénarios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06/11</a:t>
            </a:r>
          </a:p>
        </p:txBody>
      </p:sp>
      <p:sp>
        <p:nvSpPr>
          <p:cNvPr id="7" name="S06_HEADER_1_BG"/>
          <p:cNvSpPr/>
          <p:nvPr/>
        </p:nvSpPr>
        <p:spPr>
          <a:xfrm>
            <a:off x="547200" y="1897199"/>
            <a:ext cx="3416400" cy="2556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06_HEADER_C1"/>
          <p:cNvSpPr txBox="1"/>
          <p:nvPr/>
        </p:nvSpPr>
        <p:spPr>
          <a:xfrm>
            <a:off x="547200" y="1897199"/>
            <a:ext cx="3416400" cy="25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Scénario</a:t>
            </a:r>
          </a:p>
        </p:txBody>
      </p:sp>
      <p:sp>
        <p:nvSpPr>
          <p:cNvPr id="9" name="S06_HEADER_2_BG"/>
          <p:cNvSpPr/>
          <p:nvPr/>
        </p:nvSpPr>
        <p:spPr>
          <a:xfrm>
            <a:off x="4172400" y="1897199"/>
            <a:ext cx="1828800" cy="2556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06_HEADER_C2"/>
          <p:cNvSpPr txBox="1"/>
          <p:nvPr/>
        </p:nvSpPr>
        <p:spPr>
          <a:xfrm>
            <a:off x="4172400" y="1897199"/>
            <a:ext cx="1828800" cy="25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Coût</a:t>
            </a:r>
          </a:p>
        </p:txBody>
      </p:sp>
      <p:sp>
        <p:nvSpPr>
          <p:cNvPr id="11" name="S06_HEADER_3_BG"/>
          <p:cNvSpPr/>
          <p:nvPr/>
        </p:nvSpPr>
        <p:spPr>
          <a:xfrm>
            <a:off x="6256800" y="1897199"/>
            <a:ext cx="1494000" cy="2556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06_HEADER_C3"/>
          <p:cNvSpPr txBox="1"/>
          <p:nvPr/>
        </p:nvSpPr>
        <p:spPr>
          <a:xfrm>
            <a:off x="6256800" y="1897199"/>
            <a:ext cx="1494000" cy="25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Délai</a:t>
            </a:r>
          </a:p>
        </p:txBody>
      </p:sp>
      <p:sp>
        <p:nvSpPr>
          <p:cNvPr id="13" name="S06_HEADER_4_BG"/>
          <p:cNvSpPr/>
          <p:nvPr/>
        </p:nvSpPr>
        <p:spPr>
          <a:xfrm>
            <a:off x="8013600" y="1897199"/>
            <a:ext cx="2070000" cy="2556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06_HEADER_C4"/>
          <p:cNvSpPr txBox="1"/>
          <p:nvPr/>
        </p:nvSpPr>
        <p:spPr>
          <a:xfrm>
            <a:off x="8013600" y="1897199"/>
            <a:ext cx="2070000" cy="25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Risque</a:t>
            </a:r>
          </a:p>
        </p:txBody>
      </p:sp>
      <p:sp>
        <p:nvSpPr>
          <p:cNvPr id="15" name="S06_HEADER_5_BG"/>
          <p:cNvSpPr/>
          <p:nvPr/>
        </p:nvSpPr>
        <p:spPr>
          <a:xfrm>
            <a:off x="10332000" y="1897199"/>
            <a:ext cx="1364400" cy="2556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06_HEADER_C5"/>
          <p:cNvSpPr txBox="1"/>
          <p:nvPr/>
        </p:nvSpPr>
        <p:spPr>
          <a:xfrm>
            <a:off x="10332000" y="1897199"/>
            <a:ext cx="1364400" cy="25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Score</a:t>
            </a:r>
          </a:p>
        </p:txBody>
      </p:sp>
      <p:sp>
        <p:nvSpPr>
          <p:cNvPr id="17" name="S06_R1_BG"/>
          <p:cNvSpPr/>
          <p:nvPr/>
        </p:nvSpPr>
        <p:spPr>
          <a:xfrm>
            <a:off x="547200" y="2361600"/>
            <a:ext cx="10173600" cy="288000"/>
          </a:xfrm>
          <a:prstGeom prst="rect">
            <a:avLst/>
          </a:prstGeom>
          <a:solidFill>
            <a:srgbClr val="F4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06_R1C1"/>
          <p:cNvSpPr txBox="1"/>
          <p:nvPr/>
        </p:nvSpPr>
        <p:spPr>
          <a:xfrm>
            <a:off x="547200" y="2361600"/>
            <a:ext cx="34164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070E1D"/>
                </a:solidFill>
                <a:latin typeface="Segoe UI"/>
              </a:rPr>
              <a:t>A -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Statu quo</a:t>
            </a:r>
          </a:p>
        </p:txBody>
      </p:sp>
      <p:sp>
        <p:nvSpPr>
          <p:cNvPr id="19" name="S06_R1C2"/>
          <p:cNvSpPr txBox="1"/>
          <p:nvPr/>
        </p:nvSpPr>
        <p:spPr>
          <a:xfrm>
            <a:off x="4172400" y="2361600"/>
            <a:ext cx="18288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 i="0">
                <a:solidFill>
                  <a:srgbClr val="474E67"/>
                </a:solidFill>
                <a:latin typeface="Segoe UI"/>
              </a:rPr>
              <a:t>0,5 M€</a:t>
            </a:r>
          </a:p>
        </p:txBody>
      </p:sp>
      <p:sp>
        <p:nvSpPr>
          <p:cNvPr id="20" name="S06_R1C3"/>
          <p:cNvSpPr txBox="1"/>
          <p:nvPr/>
        </p:nvSpPr>
        <p:spPr>
          <a:xfrm>
            <a:off x="6256800" y="2361600"/>
            <a:ext cx="14940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 i="0">
                <a:solidFill>
                  <a:srgbClr val="474E67"/>
                </a:solidFill>
                <a:latin typeface="Segoe UI"/>
              </a:rPr>
              <a:t>6 mois</a:t>
            </a:r>
          </a:p>
        </p:txBody>
      </p:sp>
      <p:sp>
        <p:nvSpPr>
          <p:cNvPr id="21" name="S06_R1C4"/>
          <p:cNvSpPr txBox="1"/>
          <p:nvPr/>
        </p:nvSpPr>
        <p:spPr>
          <a:xfrm>
            <a:off x="8013600" y="2361600"/>
            <a:ext cx="20700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6A5D79"/>
                </a:solidFill>
                <a:latin typeface="Segoe UI"/>
              </a:rPr>
              <a:t>Faible</a:t>
            </a:r>
          </a:p>
        </p:txBody>
      </p:sp>
      <p:sp>
        <p:nvSpPr>
          <p:cNvPr id="22" name="S06_R1C5"/>
          <p:cNvSpPr txBox="1"/>
          <p:nvPr/>
        </p:nvSpPr>
        <p:spPr>
          <a:xfrm>
            <a:off x="10332000" y="2361600"/>
            <a:ext cx="13644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474E67"/>
                </a:solidFill>
                <a:latin typeface="Segoe UI"/>
              </a:rPr>
              <a:t>★★</a:t>
            </a:r>
          </a:p>
        </p:txBody>
      </p:sp>
      <p:sp>
        <p:nvSpPr>
          <p:cNvPr id="23" name="S06_R2_BG"/>
          <p:cNvSpPr/>
          <p:nvPr/>
        </p:nvSpPr>
        <p:spPr>
          <a:xfrm>
            <a:off x="547200" y="2869200"/>
            <a:ext cx="10173600" cy="2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06_R2C1"/>
          <p:cNvSpPr txBox="1"/>
          <p:nvPr/>
        </p:nvSpPr>
        <p:spPr>
          <a:xfrm>
            <a:off x="547200" y="2869200"/>
            <a:ext cx="34164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070E1D"/>
                </a:solidFill>
                <a:latin typeface="Segoe UI"/>
              </a:rPr>
              <a:t>B -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Pilote ciblé</a:t>
            </a:r>
          </a:p>
        </p:txBody>
      </p:sp>
      <p:sp>
        <p:nvSpPr>
          <p:cNvPr id="25" name="S06_R2C2"/>
          <p:cNvSpPr txBox="1"/>
          <p:nvPr/>
        </p:nvSpPr>
        <p:spPr>
          <a:xfrm>
            <a:off x="4172400" y="2869200"/>
            <a:ext cx="18288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 i="0">
                <a:solidFill>
                  <a:srgbClr val="474E67"/>
                </a:solidFill>
                <a:latin typeface="Segoe UI"/>
              </a:rPr>
              <a:t>1,2 M€</a:t>
            </a:r>
          </a:p>
        </p:txBody>
      </p:sp>
      <p:sp>
        <p:nvSpPr>
          <p:cNvPr id="26" name="S06_R2C3"/>
          <p:cNvSpPr txBox="1"/>
          <p:nvPr/>
        </p:nvSpPr>
        <p:spPr>
          <a:xfrm>
            <a:off x="6256800" y="2869200"/>
            <a:ext cx="14940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 i="0">
                <a:solidFill>
                  <a:srgbClr val="474E67"/>
                </a:solidFill>
                <a:latin typeface="Segoe UI"/>
              </a:rPr>
              <a:t>9 mois</a:t>
            </a:r>
          </a:p>
        </p:txBody>
      </p:sp>
      <p:sp>
        <p:nvSpPr>
          <p:cNvPr id="27" name="S06_R2C4"/>
          <p:cNvSpPr txBox="1"/>
          <p:nvPr/>
        </p:nvSpPr>
        <p:spPr>
          <a:xfrm>
            <a:off x="8013600" y="2869200"/>
            <a:ext cx="20700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6A5D79"/>
                </a:solidFill>
                <a:latin typeface="Segoe UI"/>
              </a:rPr>
              <a:t>Moyen</a:t>
            </a:r>
          </a:p>
        </p:txBody>
      </p:sp>
      <p:sp>
        <p:nvSpPr>
          <p:cNvPr id="28" name="S06_R2C5"/>
          <p:cNvSpPr txBox="1"/>
          <p:nvPr/>
        </p:nvSpPr>
        <p:spPr>
          <a:xfrm>
            <a:off x="10332000" y="2869200"/>
            <a:ext cx="13644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474E67"/>
                </a:solidFill>
                <a:latin typeface="Segoe UI"/>
              </a:rPr>
              <a:t>★★★★</a:t>
            </a:r>
          </a:p>
        </p:txBody>
      </p:sp>
      <p:sp>
        <p:nvSpPr>
          <p:cNvPr id="29" name="S06_R3_BG"/>
          <p:cNvSpPr/>
          <p:nvPr/>
        </p:nvSpPr>
        <p:spPr>
          <a:xfrm>
            <a:off x="547200" y="3376800"/>
            <a:ext cx="10173600" cy="288000"/>
          </a:xfrm>
          <a:prstGeom prst="rect">
            <a:avLst/>
          </a:prstGeom>
          <a:solidFill>
            <a:srgbClr val="F4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06_R3C1"/>
          <p:cNvSpPr txBox="1"/>
          <p:nvPr/>
        </p:nvSpPr>
        <p:spPr>
          <a:xfrm>
            <a:off x="547200" y="3376800"/>
            <a:ext cx="34164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070E1D"/>
                </a:solidFill>
                <a:latin typeface="Segoe UI"/>
              </a:rPr>
              <a:t>C - Transformation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totale</a:t>
            </a:r>
          </a:p>
        </p:txBody>
      </p:sp>
      <p:sp>
        <p:nvSpPr>
          <p:cNvPr id="31" name="S06_R3C2"/>
          <p:cNvSpPr txBox="1"/>
          <p:nvPr/>
        </p:nvSpPr>
        <p:spPr>
          <a:xfrm>
            <a:off x="4172400" y="3376800"/>
            <a:ext cx="18288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 i="0">
                <a:solidFill>
                  <a:srgbClr val="474E67"/>
                </a:solidFill>
                <a:latin typeface="Segoe UI"/>
              </a:rPr>
              <a:t>4,0 M€</a:t>
            </a:r>
          </a:p>
        </p:txBody>
      </p:sp>
      <p:sp>
        <p:nvSpPr>
          <p:cNvPr id="32" name="S06_R3C3"/>
          <p:cNvSpPr txBox="1"/>
          <p:nvPr/>
        </p:nvSpPr>
        <p:spPr>
          <a:xfrm>
            <a:off x="6256800" y="3376800"/>
            <a:ext cx="14940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 i="0">
                <a:solidFill>
                  <a:srgbClr val="474E67"/>
                </a:solidFill>
                <a:latin typeface="Segoe UI"/>
              </a:rPr>
              <a:t>24 mois</a:t>
            </a:r>
          </a:p>
        </p:txBody>
      </p:sp>
      <p:sp>
        <p:nvSpPr>
          <p:cNvPr id="33" name="S06_R3C4"/>
          <p:cNvSpPr txBox="1"/>
          <p:nvPr/>
        </p:nvSpPr>
        <p:spPr>
          <a:xfrm>
            <a:off x="8013600" y="3376800"/>
            <a:ext cx="20700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6A5D79"/>
                </a:solidFill>
                <a:latin typeface="Segoe UI"/>
              </a:rPr>
              <a:t>Elevé</a:t>
            </a:r>
          </a:p>
        </p:txBody>
      </p:sp>
      <p:sp>
        <p:nvSpPr>
          <p:cNvPr id="34" name="S06_R3C5"/>
          <p:cNvSpPr txBox="1"/>
          <p:nvPr/>
        </p:nvSpPr>
        <p:spPr>
          <a:xfrm>
            <a:off x="10332000" y="3376800"/>
            <a:ext cx="13644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474E67"/>
                </a:solidFill>
                <a:latin typeface="Segoe UI"/>
              </a:rPr>
              <a:t>★★★</a:t>
            </a:r>
          </a:p>
        </p:txBody>
      </p:sp>
      <p:sp>
        <p:nvSpPr>
          <p:cNvPr id="35" name="S06_R4_BG"/>
          <p:cNvSpPr/>
          <p:nvPr/>
        </p:nvSpPr>
        <p:spPr>
          <a:xfrm>
            <a:off x="547200" y="3884399"/>
            <a:ext cx="10173600" cy="2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06_R4C1"/>
          <p:cNvSpPr txBox="1"/>
          <p:nvPr/>
        </p:nvSpPr>
        <p:spPr>
          <a:xfrm>
            <a:off x="547200" y="3884399"/>
            <a:ext cx="34164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070E1D"/>
                </a:solidFill>
                <a:latin typeface="Segoe UI"/>
              </a:rPr>
              <a:t>D -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Externalisation</a:t>
            </a:r>
          </a:p>
        </p:txBody>
      </p:sp>
      <p:sp>
        <p:nvSpPr>
          <p:cNvPr id="37" name="S06_R4C2"/>
          <p:cNvSpPr txBox="1"/>
          <p:nvPr/>
        </p:nvSpPr>
        <p:spPr>
          <a:xfrm>
            <a:off x="4172400" y="3884399"/>
            <a:ext cx="18288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 i="0">
                <a:solidFill>
                  <a:srgbClr val="474E67"/>
                </a:solidFill>
                <a:latin typeface="Segoe UI"/>
              </a:rPr>
              <a:t>2,5 M€</a:t>
            </a:r>
          </a:p>
        </p:txBody>
      </p:sp>
      <p:sp>
        <p:nvSpPr>
          <p:cNvPr id="38" name="S06_R4C3"/>
          <p:cNvSpPr txBox="1"/>
          <p:nvPr/>
        </p:nvSpPr>
        <p:spPr>
          <a:xfrm>
            <a:off x="6256800" y="3884399"/>
            <a:ext cx="14940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 i="0">
                <a:solidFill>
                  <a:srgbClr val="474E67"/>
                </a:solidFill>
                <a:latin typeface="Segoe UI"/>
              </a:rPr>
              <a:t>12 mois</a:t>
            </a:r>
          </a:p>
        </p:txBody>
      </p:sp>
      <p:sp>
        <p:nvSpPr>
          <p:cNvPr id="39" name="S06_R4C4"/>
          <p:cNvSpPr txBox="1"/>
          <p:nvPr/>
        </p:nvSpPr>
        <p:spPr>
          <a:xfrm>
            <a:off x="8013600" y="3884399"/>
            <a:ext cx="20700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6A5D79"/>
                </a:solidFill>
                <a:latin typeface="Segoe UI"/>
              </a:rPr>
              <a:t>Moyen</a:t>
            </a:r>
          </a:p>
        </p:txBody>
      </p:sp>
      <p:sp>
        <p:nvSpPr>
          <p:cNvPr id="40" name="S06_R4C5"/>
          <p:cNvSpPr txBox="1"/>
          <p:nvPr/>
        </p:nvSpPr>
        <p:spPr>
          <a:xfrm>
            <a:off x="10332000" y="3884399"/>
            <a:ext cx="13644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474E67"/>
                </a:solidFill>
                <a:latin typeface="Segoe UI"/>
              </a:rPr>
              <a:t>★★</a:t>
            </a:r>
          </a:p>
        </p:txBody>
      </p:sp>
      <p:sp>
        <p:nvSpPr>
          <p:cNvPr id="41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Scénario B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: meilleur équilibre valeur/risque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Indicateurs de pilotage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07/11</a:t>
            </a:r>
          </a:p>
        </p:txBody>
      </p:sp>
      <p:sp>
        <p:nvSpPr>
          <p:cNvPr id="7" name="S07_KPI_1_CARD"/>
          <p:cNvSpPr/>
          <p:nvPr/>
        </p:nvSpPr>
        <p:spPr>
          <a:xfrm>
            <a:off x="3816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D8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07_KPI_1_LABEL"/>
          <p:cNvSpPr txBox="1"/>
          <p:nvPr/>
        </p:nvSpPr>
        <p:spPr>
          <a:xfrm>
            <a:off x="421200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484C6A"/>
                </a:solidFill>
                <a:latin typeface="Segoe UI Black"/>
              </a:rPr>
              <a:t>94%</a:t>
            </a:r>
          </a:p>
        </p:txBody>
      </p:sp>
      <p:sp>
        <p:nvSpPr>
          <p:cNvPr id="9" name="S07_KPI_1_SUBLABEL"/>
          <p:cNvSpPr txBox="1"/>
          <p:nvPr/>
        </p:nvSpPr>
        <p:spPr>
          <a:xfrm>
            <a:off x="421200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Adhésion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 équipes</a:t>
            </a:r>
          </a:p>
        </p:txBody>
      </p:sp>
      <p:sp>
        <p:nvSpPr>
          <p:cNvPr id="10" name="S07_KPI_2_CARD"/>
          <p:cNvSpPr/>
          <p:nvPr/>
        </p:nvSpPr>
        <p:spPr>
          <a:xfrm>
            <a:off x="22644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BB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07_KPI_2_LABEL"/>
          <p:cNvSpPr txBox="1"/>
          <p:nvPr/>
        </p:nvSpPr>
        <p:spPr>
          <a:xfrm>
            <a:off x="2304000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6A5D79"/>
                </a:solidFill>
                <a:latin typeface="Segoe UI Black"/>
              </a:rPr>
              <a:t>12 j</a:t>
            </a:r>
          </a:p>
        </p:txBody>
      </p:sp>
      <p:sp>
        <p:nvSpPr>
          <p:cNvPr id="12" name="S07_KPI_2_SUBLABEL"/>
          <p:cNvSpPr txBox="1"/>
          <p:nvPr/>
        </p:nvSpPr>
        <p:spPr>
          <a:xfrm>
            <a:off x="2304000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Cycle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 moyen</a:t>
            </a:r>
          </a:p>
        </p:txBody>
      </p:sp>
      <p:sp>
        <p:nvSpPr>
          <p:cNvPr id="13" name="S07_KPI_3_CARD"/>
          <p:cNvSpPr/>
          <p:nvPr/>
        </p:nvSpPr>
        <p:spPr>
          <a:xfrm>
            <a:off x="41436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07_KPI_3_LABEL"/>
          <p:cNvSpPr txBox="1"/>
          <p:nvPr/>
        </p:nvSpPr>
        <p:spPr>
          <a:xfrm>
            <a:off x="4183199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A25871"/>
                </a:solidFill>
                <a:latin typeface="Segoe UI Black"/>
              </a:rPr>
              <a:t>+18%</a:t>
            </a:r>
          </a:p>
        </p:txBody>
      </p:sp>
      <p:sp>
        <p:nvSpPr>
          <p:cNvPr id="15" name="S07_KPI_3_SUBLABEL"/>
          <p:cNvSpPr txBox="1"/>
          <p:nvPr/>
        </p:nvSpPr>
        <p:spPr>
          <a:xfrm>
            <a:off x="4183199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Engagement</a:t>
            </a:r>
          </a:p>
        </p:txBody>
      </p:sp>
      <p:sp>
        <p:nvSpPr>
          <p:cNvPr id="16" name="S07_KPI_4_CARD"/>
          <p:cNvSpPr/>
          <p:nvPr/>
        </p:nvSpPr>
        <p:spPr>
          <a:xfrm>
            <a:off x="60228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F1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07_KPI_4_LABEL"/>
          <p:cNvSpPr txBox="1"/>
          <p:nvPr/>
        </p:nvSpPr>
        <p:spPr>
          <a:xfrm>
            <a:off x="6062400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D4737A"/>
                </a:solidFill>
                <a:latin typeface="Segoe UI Black"/>
              </a:rPr>
              <a:t>1,2</a:t>
            </a:r>
          </a:p>
        </p:txBody>
      </p:sp>
      <p:sp>
        <p:nvSpPr>
          <p:cNvPr id="18" name="S07_KPI_4_SUBLABEL"/>
          <p:cNvSpPr txBox="1"/>
          <p:nvPr/>
        </p:nvSpPr>
        <p:spPr>
          <a:xfrm>
            <a:off x="6062400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Sigma 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qualité</a:t>
            </a:r>
          </a:p>
        </p:txBody>
      </p:sp>
      <p:sp>
        <p:nvSpPr>
          <p:cNvPr id="19" name="S07_KPI_5_CARD"/>
          <p:cNvSpPr/>
          <p:nvPr/>
        </p:nvSpPr>
        <p:spPr>
          <a:xfrm>
            <a:off x="79020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07_KPI_5_LABEL"/>
          <p:cNvSpPr txBox="1"/>
          <p:nvPr/>
        </p:nvSpPr>
        <p:spPr>
          <a:xfrm>
            <a:off x="7941600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FDA85B"/>
                </a:solidFill>
                <a:latin typeface="Segoe UI Black"/>
              </a:rPr>
              <a:t>2,4 M€</a:t>
            </a:r>
          </a:p>
        </p:txBody>
      </p:sp>
      <p:sp>
        <p:nvSpPr>
          <p:cNvPr id="21" name="S07_KPI_5_SUBLABEL"/>
          <p:cNvSpPr txBox="1"/>
          <p:nvPr/>
        </p:nvSpPr>
        <p:spPr>
          <a:xfrm>
            <a:off x="7941600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Gains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 annualisés</a:t>
            </a:r>
          </a:p>
        </p:txBody>
      </p:sp>
      <p:sp>
        <p:nvSpPr>
          <p:cNvPr id="22" name="S07_KPI_6_CARD"/>
          <p:cNvSpPr/>
          <p:nvPr/>
        </p:nvSpPr>
        <p:spPr>
          <a:xfrm>
            <a:off x="97848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FEF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07_KPI_6_LABEL"/>
          <p:cNvSpPr txBox="1"/>
          <p:nvPr/>
        </p:nvSpPr>
        <p:spPr>
          <a:xfrm>
            <a:off x="9824400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FBCC58"/>
                </a:solidFill>
                <a:latin typeface="Segoe UI Black"/>
              </a:rPr>
              <a:t>98%</a:t>
            </a:r>
          </a:p>
        </p:txBody>
      </p:sp>
      <p:sp>
        <p:nvSpPr>
          <p:cNvPr id="24" name="S07_KPI_6_SUBLABEL"/>
          <p:cNvSpPr txBox="1"/>
          <p:nvPr/>
        </p:nvSpPr>
        <p:spPr>
          <a:xfrm>
            <a:off x="9824400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OTD 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client</a:t>
            </a:r>
          </a:p>
        </p:txBody>
      </p:sp>
      <p:sp>
        <p:nvSpPr>
          <p:cNvPr id="25" name="S07_SECTION_LABEL"/>
          <p:cNvSpPr txBox="1"/>
          <p:nvPr/>
        </p:nvSpPr>
        <p:spPr>
          <a:xfrm>
            <a:off x="392400" y="3060000"/>
            <a:ext cx="11188800" cy="421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1">
                <a:solidFill>
                  <a:srgbClr val="474E67"/>
                </a:solidFill>
                <a:latin typeface="Segoe UI"/>
              </a:rPr>
              <a:t>Avancement</a:t>
            </a:r>
            <a:r>
              <a:rPr sz="1200" b="1" i="1">
                <a:solidFill>
                  <a:srgbClr val="474E67"/>
                </a:solidFill>
                <a:latin typeface="Segoe UI"/>
              </a:rPr>
              <a:t> par chantier en mai 2026</a:t>
            </a:r>
          </a:p>
        </p:txBody>
      </p:sp>
      <p:sp>
        <p:nvSpPr>
          <p:cNvPr id="26" name="S07_BAR_1_LABEL"/>
          <p:cNvSpPr txBox="1"/>
          <p:nvPr/>
        </p:nvSpPr>
        <p:spPr>
          <a:xfrm>
            <a:off x="381600" y="36324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Standards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opérationnels</a:t>
            </a:r>
          </a:p>
        </p:txBody>
      </p:sp>
      <p:sp>
        <p:nvSpPr>
          <p:cNvPr id="27" name="S07_BAR_1_BAR"/>
          <p:cNvSpPr/>
          <p:nvPr/>
        </p:nvSpPr>
        <p:spPr>
          <a:xfrm>
            <a:off x="2951999" y="3704399"/>
            <a:ext cx="7343999" cy="198000"/>
          </a:xfrm>
          <a:prstGeom prst="roundRect">
            <a:avLst>
              <a:gd name="adj" fmla="val 10000"/>
            </a:avLst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07_BAR_1_VALUE"/>
          <p:cNvSpPr txBox="1"/>
          <p:nvPr/>
        </p:nvSpPr>
        <p:spPr>
          <a:xfrm>
            <a:off x="10332000" y="36684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85%</a:t>
            </a:r>
          </a:p>
        </p:txBody>
      </p:sp>
      <p:sp>
        <p:nvSpPr>
          <p:cNvPr id="29" name="S07_BAR_2_LABEL"/>
          <p:cNvSpPr txBox="1"/>
          <p:nvPr/>
        </p:nvSpPr>
        <p:spPr>
          <a:xfrm>
            <a:off x="381600" y="41040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Outils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data</a:t>
            </a:r>
          </a:p>
        </p:txBody>
      </p:sp>
      <p:sp>
        <p:nvSpPr>
          <p:cNvPr id="30" name="S07_BAR_2_BAR"/>
          <p:cNvSpPr/>
          <p:nvPr/>
        </p:nvSpPr>
        <p:spPr>
          <a:xfrm>
            <a:off x="2951999" y="4176000"/>
            <a:ext cx="5356800" cy="198000"/>
          </a:xfrm>
          <a:prstGeom prst="roundRect">
            <a:avLst>
              <a:gd name="adj" fmla="val 10000"/>
            </a:avLst>
          </a:prstGeom>
          <a:solidFill>
            <a:srgbClr val="A25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07_BAR_2_VALUE"/>
          <p:cNvSpPr txBox="1"/>
          <p:nvPr/>
        </p:nvSpPr>
        <p:spPr>
          <a:xfrm>
            <a:off x="8344800" y="41400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62%</a:t>
            </a:r>
          </a:p>
        </p:txBody>
      </p:sp>
      <p:sp>
        <p:nvSpPr>
          <p:cNvPr id="32" name="S07_BAR_3_LABEL"/>
          <p:cNvSpPr txBox="1"/>
          <p:nvPr/>
        </p:nvSpPr>
        <p:spPr>
          <a:xfrm>
            <a:off x="381600" y="45648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Compétences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relais</a:t>
            </a:r>
          </a:p>
        </p:txBody>
      </p:sp>
      <p:sp>
        <p:nvSpPr>
          <p:cNvPr id="33" name="S07_BAR_3_BAR"/>
          <p:cNvSpPr/>
          <p:nvPr/>
        </p:nvSpPr>
        <p:spPr>
          <a:xfrm>
            <a:off x="2951999" y="4636800"/>
            <a:ext cx="3542400" cy="198000"/>
          </a:xfrm>
          <a:prstGeom prst="roundRect">
            <a:avLst>
              <a:gd name="adj" fmla="val 10000"/>
            </a:avLst>
          </a:prstGeom>
          <a:solidFill>
            <a:srgbClr val="D47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07_BAR_3_VALUE"/>
          <p:cNvSpPr txBox="1"/>
          <p:nvPr/>
        </p:nvSpPr>
        <p:spPr>
          <a:xfrm>
            <a:off x="6530400" y="46008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41%</a:t>
            </a:r>
          </a:p>
        </p:txBody>
      </p:sp>
      <p:sp>
        <p:nvSpPr>
          <p:cNvPr id="35" name="S07_BAR_4_LABEL"/>
          <p:cNvSpPr txBox="1"/>
          <p:nvPr/>
        </p:nvSpPr>
        <p:spPr>
          <a:xfrm>
            <a:off x="381600" y="50256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Pilotage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KPI</a:t>
            </a:r>
          </a:p>
        </p:txBody>
      </p:sp>
      <p:sp>
        <p:nvSpPr>
          <p:cNvPr id="36" name="S07_BAR_4_BAR"/>
          <p:cNvSpPr/>
          <p:nvPr/>
        </p:nvSpPr>
        <p:spPr>
          <a:xfrm>
            <a:off x="2951999" y="5097600"/>
            <a:ext cx="6739200" cy="198000"/>
          </a:xfrm>
          <a:prstGeom prst="roundRect">
            <a:avLst>
              <a:gd name="adj" fmla="val 10000"/>
            </a:avLst>
          </a:prstGeom>
          <a:solidFill>
            <a:srgbClr val="FD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07_BAR_4_VALUE"/>
          <p:cNvSpPr txBox="1"/>
          <p:nvPr/>
        </p:nvSpPr>
        <p:spPr>
          <a:xfrm>
            <a:off x="9727200" y="50616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78%</a:t>
            </a:r>
          </a:p>
        </p:txBody>
      </p:sp>
      <p:sp>
        <p:nvSpPr>
          <p:cNvPr id="38" name="S07_BAR_5_LABEL"/>
          <p:cNvSpPr txBox="1"/>
          <p:nvPr/>
        </p:nvSpPr>
        <p:spPr>
          <a:xfrm>
            <a:off x="381600" y="54648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Communication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change</a:t>
            </a:r>
          </a:p>
        </p:txBody>
      </p:sp>
      <p:sp>
        <p:nvSpPr>
          <p:cNvPr id="39" name="S07_BAR_5_BAR"/>
          <p:cNvSpPr/>
          <p:nvPr/>
        </p:nvSpPr>
        <p:spPr>
          <a:xfrm>
            <a:off x="2951999" y="5536800"/>
            <a:ext cx="7776000" cy="198000"/>
          </a:xfrm>
          <a:prstGeom prst="roundRect">
            <a:avLst>
              <a:gd name="adj" fmla="val 10000"/>
            </a:avLst>
          </a:prstGeom>
          <a:solidFill>
            <a:srgbClr val="FBC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07_BAR_5_VALUE"/>
          <p:cNvSpPr txBox="1"/>
          <p:nvPr/>
        </p:nvSpPr>
        <p:spPr>
          <a:xfrm>
            <a:off x="10764000" y="55008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90%</a:t>
            </a:r>
          </a:p>
        </p:txBody>
      </p:sp>
      <p:sp>
        <p:nvSpPr>
          <p:cNvPr id="41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Accélérer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trois chantiers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prioritaires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Avant / Après pilote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08/11</a:t>
            </a:r>
          </a:p>
        </p:txBody>
      </p:sp>
      <p:sp>
        <p:nvSpPr>
          <p:cNvPr id="7" name="S08_SUBTITLE"/>
          <p:cNvSpPr txBox="1"/>
          <p:nvPr/>
        </p:nvSpPr>
        <p:spPr>
          <a:xfrm>
            <a:off x="388800" y="1454400"/>
            <a:ext cx="11412000" cy="34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 i="0">
                <a:solidFill>
                  <a:srgbClr val="6A5D79"/>
                </a:solidFill>
                <a:latin typeface="Segoe UI Black"/>
              </a:rPr>
              <a:t>Cinq indicateurs mesurés sur </a:t>
            </a:r>
            <a:r>
              <a:rPr sz="2100" b="1" i="0">
                <a:solidFill>
                  <a:srgbClr val="6A5D79"/>
                </a:solidFill>
                <a:latin typeface="Segoe UI Black"/>
              </a:rPr>
              <a:t>90 jours</a:t>
            </a:r>
          </a:p>
        </p:txBody>
      </p:sp>
      <p:sp>
        <p:nvSpPr>
          <p:cNvPr id="8" name="S08_LEGEND_1"/>
          <p:cNvSpPr txBox="1"/>
          <p:nvPr/>
        </p:nvSpPr>
        <p:spPr>
          <a:xfrm>
            <a:off x="7851600" y="2210400"/>
            <a:ext cx="2001599" cy="320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 i="0">
                <a:solidFill>
                  <a:srgbClr val="474E67"/>
                </a:solidFill>
                <a:latin typeface="Segoe UI"/>
              </a:rPr>
              <a:t>Avant</a:t>
            </a:r>
          </a:p>
        </p:txBody>
      </p:sp>
      <p:sp>
        <p:nvSpPr>
          <p:cNvPr id="9" name="S08_LEGEND_2"/>
          <p:cNvSpPr txBox="1"/>
          <p:nvPr/>
        </p:nvSpPr>
        <p:spPr>
          <a:xfrm>
            <a:off x="10249200" y="2210400"/>
            <a:ext cx="2001599" cy="320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 i="0">
                <a:solidFill>
                  <a:srgbClr val="474E67"/>
                </a:solidFill>
                <a:latin typeface="Segoe UI"/>
              </a:rPr>
              <a:t>Après</a:t>
            </a:r>
          </a:p>
        </p:txBody>
      </p:sp>
      <p:sp>
        <p:nvSpPr>
          <p:cNvPr id="10" name="S08_LEGEND_1_SQ"/>
          <p:cNvSpPr/>
          <p:nvPr/>
        </p:nvSpPr>
        <p:spPr>
          <a:xfrm>
            <a:off x="7668000" y="2268000"/>
            <a:ext cx="162000" cy="162000"/>
          </a:xfrm>
          <a:prstGeom prst="rect">
            <a:avLst/>
          </a:prstGeom>
          <a:solidFill>
            <a:srgbClr val="D5B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08_LEGEND_2_SQ"/>
          <p:cNvSpPr/>
          <p:nvPr/>
        </p:nvSpPr>
        <p:spPr>
          <a:xfrm>
            <a:off x="10065600" y="2268000"/>
            <a:ext cx="162000" cy="162000"/>
          </a:xfrm>
          <a:prstGeom prst="rect">
            <a:avLst/>
          </a:prstGeom>
          <a:solidFill>
            <a:srgbClr val="FEE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08_ROW_1_LABEL"/>
          <p:cNvSpPr txBox="1"/>
          <p:nvPr/>
        </p:nvSpPr>
        <p:spPr>
          <a:xfrm>
            <a:off x="388800" y="28980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Délai de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cycle</a:t>
            </a:r>
          </a:p>
        </p:txBody>
      </p:sp>
      <p:sp>
        <p:nvSpPr>
          <p:cNvPr id="13" name="S08_ROW_1_BAR_1"/>
          <p:cNvSpPr/>
          <p:nvPr/>
        </p:nvSpPr>
        <p:spPr>
          <a:xfrm>
            <a:off x="4298400" y="2934000"/>
            <a:ext cx="3739320" cy="2988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08_ROW_1_BAR_2"/>
          <p:cNvSpPr/>
          <p:nvPr/>
        </p:nvSpPr>
        <p:spPr>
          <a:xfrm>
            <a:off x="8798400" y="2934000"/>
            <a:ext cx="1388511" cy="2988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08_ROW_1_VALUE_1"/>
          <p:cNvSpPr txBox="1"/>
          <p:nvPr/>
        </p:nvSpPr>
        <p:spPr>
          <a:xfrm>
            <a:off x="8073720" y="29340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21 j</a:t>
            </a:r>
          </a:p>
        </p:txBody>
      </p:sp>
      <p:sp>
        <p:nvSpPr>
          <p:cNvPr id="16" name="S08_ROW_1_VALUE_2"/>
          <p:cNvSpPr txBox="1"/>
          <p:nvPr/>
        </p:nvSpPr>
        <p:spPr>
          <a:xfrm>
            <a:off x="10222911" y="29340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13 j</a:t>
            </a:r>
          </a:p>
        </p:txBody>
      </p:sp>
      <p:sp>
        <p:nvSpPr>
          <p:cNvPr id="17" name="S08_ROW_2_LABEL"/>
          <p:cNvSpPr txBox="1"/>
          <p:nvPr/>
        </p:nvSpPr>
        <p:spPr>
          <a:xfrm>
            <a:off x="388800" y="33660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Taux de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défauts</a:t>
            </a:r>
          </a:p>
        </p:txBody>
      </p:sp>
      <p:sp>
        <p:nvSpPr>
          <p:cNvPr id="18" name="S08_ROW_2_BAR_1"/>
          <p:cNvSpPr/>
          <p:nvPr/>
        </p:nvSpPr>
        <p:spPr>
          <a:xfrm>
            <a:off x="4298400" y="3401999"/>
            <a:ext cx="3739320" cy="2988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08_ROW_2_BAR_2"/>
          <p:cNvSpPr/>
          <p:nvPr/>
        </p:nvSpPr>
        <p:spPr>
          <a:xfrm>
            <a:off x="8798400" y="3401999"/>
            <a:ext cx="710276" cy="2988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08_ROW_2_VALUE_1"/>
          <p:cNvSpPr txBox="1"/>
          <p:nvPr/>
        </p:nvSpPr>
        <p:spPr>
          <a:xfrm>
            <a:off x="8073720" y="3401999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1200</a:t>
            </a:r>
          </a:p>
        </p:txBody>
      </p:sp>
      <p:sp>
        <p:nvSpPr>
          <p:cNvPr id="21" name="S08_ROW_2_VALUE_2"/>
          <p:cNvSpPr txBox="1"/>
          <p:nvPr/>
        </p:nvSpPr>
        <p:spPr>
          <a:xfrm>
            <a:off x="9544677" y="3401999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380</a:t>
            </a:r>
          </a:p>
        </p:txBody>
      </p:sp>
      <p:sp>
        <p:nvSpPr>
          <p:cNvPr id="22" name="S08_ROW_3_LABEL"/>
          <p:cNvSpPr txBox="1"/>
          <p:nvPr/>
        </p:nvSpPr>
        <p:spPr>
          <a:xfrm>
            <a:off x="388800" y="38376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Engagement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 équipe</a:t>
            </a:r>
          </a:p>
        </p:txBody>
      </p:sp>
      <p:sp>
        <p:nvSpPr>
          <p:cNvPr id="23" name="S08_ROW_3_BAR_1"/>
          <p:cNvSpPr/>
          <p:nvPr/>
        </p:nvSpPr>
        <p:spPr>
          <a:xfrm>
            <a:off x="4298400" y="3873600"/>
            <a:ext cx="2684640" cy="2988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08_ROW_3_BAR_2"/>
          <p:cNvSpPr/>
          <p:nvPr/>
        </p:nvSpPr>
        <p:spPr>
          <a:xfrm>
            <a:off x="8798400" y="3873600"/>
            <a:ext cx="2242980" cy="2988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08_ROW_3_VALUE_1"/>
          <p:cNvSpPr txBox="1"/>
          <p:nvPr/>
        </p:nvSpPr>
        <p:spPr>
          <a:xfrm>
            <a:off x="7019040" y="38736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56%</a:t>
            </a:r>
          </a:p>
        </p:txBody>
      </p:sp>
      <p:sp>
        <p:nvSpPr>
          <p:cNvPr id="26" name="S08_ROW_3_VALUE_2"/>
          <p:cNvSpPr txBox="1"/>
          <p:nvPr/>
        </p:nvSpPr>
        <p:spPr>
          <a:xfrm>
            <a:off x="11077380" y="38736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78%</a:t>
            </a:r>
          </a:p>
        </p:txBody>
      </p:sp>
      <p:sp>
        <p:nvSpPr>
          <p:cNvPr id="27" name="S08_ROW_4_LABEL"/>
          <p:cNvSpPr txBox="1"/>
          <p:nvPr/>
        </p:nvSpPr>
        <p:spPr>
          <a:xfrm>
            <a:off x="388800" y="43092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Coût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 unitaire</a:t>
            </a:r>
          </a:p>
        </p:txBody>
      </p:sp>
      <p:sp>
        <p:nvSpPr>
          <p:cNvPr id="28" name="S08_ROW_4_BAR_1"/>
          <p:cNvSpPr/>
          <p:nvPr/>
        </p:nvSpPr>
        <p:spPr>
          <a:xfrm>
            <a:off x="4298400" y="4345200"/>
            <a:ext cx="3739320" cy="2988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08_ROW_4_BAR_2"/>
          <p:cNvSpPr/>
          <p:nvPr/>
        </p:nvSpPr>
        <p:spPr>
          <a:xfrm>
            <a:off x="8798400" y="4345200"/>
            <a:ext cx="1822421" cy="2988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08_ROW_4_VALUE_1"/>
          <p:cNvSpPr txBox="1"/>
          <p:nvPr/>
        </p:nvSpPr>
        <p:spPr>
          <a:xfrm>
            <a:off x="8073720" y="4345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240 €</a:t>
            </a:r>
          </a:p>
        </p:txBody>
      </p:sp>
      <p:sp>
        <p:nvSpPr>
          <p:cNvPr id="31" name="S08_ROW_4_VALUE_2"/>
          <p:cNvSpPr txBox="1"/>
          <p:nvPr/>
        </p:nvSpPr>
        <p:spPr>
          <a:xfrm>
            <a:off x="10656821" y="4345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195 €</a:t>
            </a:r>
          </a:p>
        </p:txBody>
      </p:sp>
      <p:sp>
        <p:nvSpPr>
          <p:cNvPr id="32" name="S08_ROW_5_LABEL"/>
          <p:cNvSpPr txBox="1"/>
          <p:nvPr/>
        </p:nvSpPr>
        <p:spPr>
          <a:xfrm>
            <a:off x="388800" y="47772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Satisfaction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client</a:t>
            </a:r>
          </a:p>
        </p:txBody>
      </p:sp>
      <p:sp>
        <p:nvSpPr>
          <p:cNvPr id="33" name="S08_ROW_5_BAR_1"/>
          <p:cNvSpPr/>
          <p:nvPr/>
        </p:nvSpPr>
        <p:spPr>
          <a:xfrm>
            <a:off x="4298400" y="4813200"/>
            <a:ext cx="3130593" cy="2988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08_ROW_5_BAR_2"/>
          <p:cNvSpPr/>
          <p:nvPr/>
        </p:nvSpPr>
        <p:spPr>
          <a:xfrm>
            <a:off x="8798400" y="4813200"/>
            <a:ext cx="2242980" cy="2988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08_ROW_5_VALUE_1"/>
          <p:cNvSpPr txBox="1"/>
          <p:nvPr/>
        </p:nvSpPr>
        <p:spPr>
          <a:xfrm>
            <a:off x="7464993" y="4813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7,2</a:t>
            </a:r>
          </a:p>
        </p:txBody>
      </p:sp>
      <p:sp>
        <p:nvSpPr>
          <p:cNvPr id="36" name="S08_ROW_5_VALUE_2"/>
          <p:cNvSpPr txBox="1"/>
          <p:nvPr/>
        </p:nvSpPr>
        <p:spPr>
          <a:xfrm>
            <a:off x="11077380" y="4813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8,6</a:t>
            </a:r>
          </a:p>
        </p:txBody>
      </p:sp>
      <p:sp>
        <p:nvSpPr>
          <p:cNvPr id="37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Le pilote améliore les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cinq dimensions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Risques &amp; Opportunités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09/11</a:t>
            </a:r>
          </a:p>
        </p:txBody>
      </p:sp>
      <p:sp>
        <p:nvSpPr>
          <p:cNvPr id="7" name="S09_RISK_1_CARD"/>
          <p:cNvSpPr/>
          <p:nvPr/>
        </p:nvSpPr>
        <p:spPr>
          <a:xfrm>
            <a:off x="151200" y="1260000"/>
            <a:ext cx="3798000" cy="210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09_RISK_1_ICON"/>
          <p:cNvSpPr/>
          <p:nvPr/>
        </p:nvSpPr>
        <p:spPr>
          <a:xfrm>
            <a:off x="198000" y="1440000"/>
            <a:ext cx="306000" cy="306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09_RISK_1_TITLE"/>
          <p:cNvSpPr txBox="1"/>
          <p:nvPr/>
        </p:nvSpPr>
        <p:spPr>
          <a:xfrm>
            <a:off x="583200" y="1386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Résistance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 managériale</a:t>
            </a:r>
          </a:p>
        </p:txBody>
      </p:sp>
      <p:sp>
        <p:nvSpPr>
          <p:cNvPr id="10" name="S09_RISK_1_LEVEL"/>
          <p:cNvSpPr txBox="1"/>
          <p:nvPr/>
        </p:nvSpPr>
        <p:spPr>
          <a:xfrm>
            <a:off x="583200" y="1663200"/>
            <a:ext cx="14400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C00000"/>
                </a:solidFill>
                <a:latin typeface="Segoe UI"/>
              </a:rPr>
              <a:t>Risque élevé</a:t>
            </a:r>
          </a:p>
        </p:txBody>
      </p:sp>
      <p:sp>
        <p:nvSpPr>
          <p:cNvPr id="11" name="S09_RISK_1_BODY"/>
          <p:cNvSpPr txBox="1"/>
          <p:nvPr/>
        </p:nvSpPr>
        <p:spPr>
          <a:xfrm>
            <a:off x="223200" y="1908000"/>
            <a:ext cx="36540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Crainte de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surcharge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 et perte de repères.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" y="2448000"/>
            <a:ext cx="36540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09_RISK_1_ACTION_TAG"/>
          <p:cNvSpPr txBox="1"/>
          <p:nvPr/>
        </p:nvSpPr>
        <p:spPr>
          <a:xfrm>
            <a:off x="223200" y="2556000"/>
            <a:ext cx="6156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8DAC95"/>
                </a:solidFill>
                <a:latin typeface="Segoe UI"/>
              </a:rPr>
              <a:t>Parade</a:t>
            </a:r>
          </a:p>
        </p:txBody>
      </p:sp>
      <p:sp>
        <p:nvSpPr>
          <p:cNvPr id="14" name="S09_RISK_1_ACTION_BODY"/>
          <p:cNvSpPr txBox="1"/>
          <p:nvPr/>
        </p:nvSpPr>
        <p:spPr>
          <a:xfrm>
            <a:off x="907200" y="2556000"/>
            <a:ext cx="2970000" cy="360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Former les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relais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et clarifier le rôle du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sponsor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.</a:t>
            </a:r>
          </a:p>
        </p:txBody>
      </p:sp>
      <p:sp>
        <p:nvSpPr>
          <p:cNvPr id="15" name="S09_RISK_2_CARD"/>
          <p:cNvSpPr/>
          <p:nvPr/>
        </p:nvSpPr>
        <p:spPr>
          <a:xfrm>
            <a:off x="4165200" y="1260000"/>
            <a:ext cx="3798000" cy="210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09_RISK_2_ICON"/>
          <p:cNvSpPr/>
          <p:nvPr/>
        </p:nvSpPr>
        <p:spPr>
          <a:xfrm>
            <a:off x="4212000" y="1440000"/>
            <a:ext cx="306000" cy="306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09_RISK_2_TITLE"/>
          <p:cNvSpPr txBox="1"/>
          <p:nvPr/>
        </p:nvSpPr>
        <p:spPr>
          <a:xfrm>
            <a:off x="4597200" y="1386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Disponibilité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terrain</a:t>
            </a:r>
          </a:p>
        </p:txBody>
      </p:sp>
      <p:sp>
        <p:nvSpPr>
          <p:cNvPr id="18" name="S09_RISK_2_LEVEL"/>
          <p:cNvSpPr txBox="1"/>
          <p:nvPr/>
        </p:nvSpPr>
        <p:spPr>
          <a:xfrm>
            <a:off x="4597200" y="1663200"/>
            <a:ext cx="14400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FDA85B"/>
                </a:solidFill>
                <a:latin typeface="Segoe UI"/>
              </a:rPr>
              <a:t>Risque moyen</a:t>
            </a:r>
          </a:p>
        </p:txBody>
      </p:sp>
      <p:sp>
        <p:nvSpPr>
          <p:cNvPr id="19" name="S09_RISK_2_BODY"/>
          <p:cNvSpPr txBox="1"/>
          <p:nvPr/>
        </p:nvSpPr>
        <p:spPr>
          <a:xfrm>
            <a:off x="4237200" y="1908000"/>
            <a:ext cx="36540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Calendrier chargé sur les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sites pilotes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37200" y="2448000"/>
            <a:ext cx="36540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09_RISK_2_ACTION_TAG"/>
          <p:cNvSpPr txBox="1"/>
          <p:nvPr/>
        </p:nvSpPr>
        <p:spPr>
          <a:xfrm>
            <a:off x="4237200" y="2556000"/>
            <a:ext cx="6156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8DAC95"/>
                </a:solidFill>
                <a:latin typeface="Segoe UI"/>
              </a:rPr>
              <a:t>Parade</a:t>
            </a:r>
          </a:p>
        </p:txBody>
      </p:sp>
      <p:sp>
        <p:nvSpPr>
          <p:cNvPr id="22" name="S09_RISK_2_ACTION_BODY"/>
          <p:cNvSpPr txBox="1"/>
          <p:nvPr/>
        </p:nvSpPr>
        <p:spPr>
          <a:xfrm>
            <a:off x="4921200" y="2556000"/>
            <a:ext cx="2970000" cy="360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Limiter les ateliers et préparer les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décisions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en amont.</a:t>
            </a:r>
          </a:p>
        </p:txBody>
      </p:sp>
      <p:sp>
        <p:nvSpPr>
          <p:cNvPr id="23" name="S09_RISK_3_CARD"/>
          <p:cNvSpPr/>
          <p:nvPr/>
        </p:nvSpPr>
        <p:spPr>
          <a:xfrm>
            <a:off x="8175600" y="1260000"/>
            <a:ext cx="3798000" cy="210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09_RISK_3_ICON"/>
          <p:cNvSpPr/>
          <p:nvPr/>
        </p:nvSpPr>
        <p:spPr>
          <a:xfrm>
            <a:off x="8222400" y="1440000"/>
            <a:ext cx="306000" cy="306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09_RISK_3_TITLE"/>
          <p:cNvSpPr txBox="1"/>
          <p:nvPr/>
        </p:nvSpPr>
        <p:spPr>
          <a:xfrm>
            <a:off x="8607600" y="1386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Dépendance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data</a:t>
            </a:r>
          </a:p>
        </p:txBody>
      </p:sp>
      <p:sp>
        <p:nvSpPr>
          <p:cNvPr id="26" name="S09_RISK_3_LEVEL"/>
          <p:cNvSpPr txBox="1"/>
          <p:nvPr/>
        </p:nvSpPr>
        <p:spPr>
          <a:xfrm>
            <a:off x="8607600" y="1663200"/>
            <a:ext cx="14400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FDA85B"/>
                </a:solidFill>
                <a:latin typeface="Segoe UI"/>
              </a:rPr>
              <a:t>Risque moyen</a:t>
            </a:r>
          </a:p>
        </p:txBody>
      </p:sp>
      <p:sp>
        <p:nvSpPr>
          <p:cNvPr id="27" name="S09_RISK_3_BODY"/>
          <p:cNvSpPr txBox="1"/>
          <p:nvPr/>
        </p:nvSpPr>
        <p:spPr>
          <a:xfrm>
            <a:off x="8247600" y="1908000"/>
            <a:ext cx="36540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Qualité variable des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données sources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247600" y="2448000"/>
            <a:ext cx="36540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09_RISK_3_ACTION_TAG"/>
          <p:cNvSpPr txBox="1"/>
          <p:nvPr/>
        </p:nvSpPr>
        <p:spPr>
          <a:xfrm>
            <a:off x="8247600" y="2556000"/>
            <a:ext cx="6156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8DAC95"/>
                </a:solidFill>
                <a:latin typeface="Segoe UI"/>
              </a:rPr>
              <a:t>Parade</a:t>
            </a:r>
          </a:p>
        </p:txBody>
      </p:sp>
      <p:sp>
        <p:nvSpPr>
          <p:cNvPr id="30" name="S09_RISK_3_ACTION_BODY"/>
          <p:cNvSpPr txBox="1"/>
          <p:nvPr/>
        </p:nvSpPr>
        <p:spPr>
          <a:xfrm>
            <a:off x="8931600" y="2556000"/>
            <a:ext cx="2970000" cy="360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Créer une règle simple de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validation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hebdomadaire.</a:t>
            </a:r>
          </a:p>
        </p:txBody>
      </p:sp>
      <p:sp>
        <p:nvSpPr>
          <p:cNvPr id="31" name="S09_OPP_1_CARD"/>
          <p:cNvSpPr/>
          <p:nvPr/>
        </p:nvSpPr>
        <p:spPr>
          <a:xfrm>
            <a:off x="151200" y="3708000"/>
            <a:ext cx="3798000" cy="210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09_OPP_1_ICON"/>
          <p:cNvSpPr/>
          <p:nvPr/>
        </p:nvSpPr>
        <p:spPr>
          <a:xfrm>
            <a:off x="198000" y="3888000"/>
            <a:ext cx="306000" cy="306000"/>
          </a:xfrm>
          <a:prstGeom prst="ellipse">
            <a:avLst/>
          </a:prstGeom>
          <a:solidFill>
            <a:srgbClr val="FBC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09_OPP_1_TITLE"/>
          <p:cNvSpPr txBox="1"/>
          <p:nvPr/>
        </p:nvSpPr>
        <p:spPr>
          <a:xfrm>
            <a:off x="583200" y="3834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Engagement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 post-pilote</a:t>
            </a:r>
          </a:p>
        </p:txBody>
      </p:sp>
      <p:sp>
        <p:nvSpPr>
          <p:cNvPr id="34" name="S09_OPP_1_LEVEL"/>
          <p:cNvSpPr txBox="1"/>
          <p:nvPr/>
        </p:nvSpPr>
        <p:spPr>
          <a:xfrm>
            <a:off x="583200" y="4111200"/>
            <a:ext cx="14400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00B050"/>
                </a:solidFill>
                <a:latin typeface="Segoe UI"/>
              </a:rPr>
              <a:t>Gain élevé</a:t>
            </a:r>
          </a:p>
        </p:txBody>
      </p:sp>
      <p:sp>
        <p:nvSpPr>
          <p:cNvPr id="35" name="S09_OPP_1_BODY"/>
          <p:cNvSpPr txBox="1"/>
          <p:nvPr/>
        </p:nvSpPr>
        <p:spPr>
          <a:xfrm>
            <a:off x="223200" y="4356000"/>
            <a:ext cx="36540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Témoignages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 spontanés des équipes.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23200" y="4896000"/>
            <a:ext cx="36540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S09_OPP_1_ACTION_TAG"/>
          <p:cNvSpPr txBox="1"/>
          <p:nvPr/>
        </p:nvSpPr>
        <p:spPr>
          <a:xfrm>
            <a:off x="223200" y="5004000"/>
            <a:ext cx="6156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8DAC95"/>
                </a:solidFill>
                <a:latin typeface="Segoe UI"/>
              </a:rPr>
              <a:t>Levier</a:t>
            </a:r>
          </a:p>
        </p:txBody>
      </p:sp>
      <p:sp>
        <p:nvSpPr>
          <p:cNvPr id="38" name="S09_OPP_1_ACTION_BODY"/>
          <p:cNvSpPr txBox="1"/>
          <p:nvPr/>
        </p:nvSpPr>
        <p:spPr>
          <a:xfrm>
            <a:off x="907200" y="5004000"/>
            <a:ext cx="2970000" cy="360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Capitaliser via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communication interne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.</a:t>
            </a:r>
          </a:p>
        </p:txBody>
      </p:sp>
      <p:sp>
        <p:nvSpPr>
          <p:cNvPr id="39" name="S09_OPP_2_CARD"/>
          <p:cNvSpPr/>
          <p:nvPr/>
        </p:nvSpPr>
        <p:spPr>
          <a:xfrm>
            <a:off x="4165200" y="3708000"/>
            <a:ext cx="3798000" cy="210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09_OPP_2_ICON"/>
          <p:cNvSpPr/>
          <p:nvPr/>
        </p:nvSpPr>
        <p:spPr>
          <a:xfrm>
            <a:off x="4212000" y="3888000"/>
            <a:ext cx="306000" cy="306000"/>
          </a:xfrm>
          <a:prstGeom prst="ellipse">
            <a:avLst/>
          </a:prstGeom>
          <a:solidFill>
            <a:srgbClr val="FBC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09_OPP_2_TITLE"/>
          <p:cNvSpPr txBox="1"/>
          <p:nvPr/>
        </p:nvSpPr>
        <p:spPr>
          <a:xfrm>
            <a:off x="4597200" y="3834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Réplicabilité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multi-sites</a:t>
            </a:r>
          </a:p>
        </p:txBody>
      </p:sp>
      <p:sp>
        <p:nvSpPr>
          <p:cNvPr id="42" name="S09_OPP_2_LEVEL"/>
          <p:cNvSpPr txBox="1"/>
          <p:nvPr/>
        </p:nvSpPr>
        <p:spPr>
          <a:xfrm>
            <a:off x="4597200" y="4111200"/>
            <a:ext cx="14400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00B050"/>
                </a:solidFill>
                <a:latin typeface="Segoe UI"/>
              </a:rPr>
              <a:t>Gain élevé</a:t>
            </a:r>
          </a:p>
        </p:txBody>
      </p:sp>
      <p:sp>
        <p:nvSpPr>
          <p:cNvPr id="43" name="S09_OPP_2_BODY"/>
          <p:cNvSpPr txBox="1"/>
          <p:nvPr/>
        </p:nvSpPr>
        <p:spPr>
          <a:xfrm>
            <a:off x="4237200" y="4356000"/>
            <a:ext cx="36540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Méthode simple et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transférable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237200" y="4896000"/>
            <a:ext cx="36540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S09_OPP_2_ACTION_TAG"/>
          <p:cNvSpPr txBox="1"/>
          <p:nvPr/>
        </p:nvSpPr>
        <p:spPr>
          <a:xfrm>
            <a:off x="4237200" y="5004000"/>
            <a:ext cx="6156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8DAC95"/>
                </a:solidFill>
                <a:latin typeface="Segoe UI"/>
              </a:rPr>
              <a:t>Levier</a:t>
            </a:r>
          </a:p>
        </p:txBody>
      </p:sp>
      <p:sp>
        <p:nvSpPr>
          <p:cNvPr id="46" name="S09_OPP_2_ACTION_BODY"/>
          <p:cNvSpPr txBox="1"/>
          <p:nvPr/>
        </p:nvSpPr>
        <p:spPr>
          <a:xfrm>
            <a:off x="4921200" y="5004000"/>
            <a:ext cx="2970000" cy="360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Préparer un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kit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de déploiement.</a:t>
            </a:r>
          </a:p>
        </p:txBody>
      </p:sp>
      <p:sp>
        <p:nvSpPr>
          <p:cNvPr id="47" name="S09_OPP_3_CARD"/>
          <p:cNvSpPr/>
          <p:nvPr/>
        </p:nvSpPr>
        <p:spPr>
          <a:xfrm>
            <a:off x="8175600" y="3708000"/>
            <a:ext cx="3798000" cy="210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09_OPP_3_ICON"/>
          <p:cNvSpPr/>
          <p:nvPr/>
        </p:nvSpPr>
        <p:spPr>
          <a:xfrm>
            <a:off x="8222400" y="3888000"/>
            <a:ext cx="306000" cy="306000"/>
          </a:xfrm>
          <a:prstGeom prst="ellipse">
            <a:avLst/>
          </a:prstGeom>
          <a:solidFill>
            <a:srgbClr val="FBC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09_OPP_3_TITLE"/>
          <p:cNvSpPr txBox="1"/>
          <p:nvPr/>
        </p:nvSpPr>
        <p:spPr>
          <a:xfrm>
            <a:off x="8607600" y="3834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Crédibilité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comité</a:t>
            </a:r>
          </a:p>
        </p:txBody>
      </p:sp>
      <p:sp>
        <p:nvSpPr>
          <p:cNvPr id="50" name="S09_OPP_3_LEVEL"/>
          <p:cNvSpPr txBox="1"/>
          <p:nvPr/>
        </p:nvSpPr>
        <p:spPr>
          <a:xfrm>
            <a:off x="8607600" y="4111200"/>
            <a:ext cx="14400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A8A400"/>
                </a:solidFill>
                <a:latin typeface="Segoe UI"/>
              </a:rPr>
              <a:t>Gain moyen</a:t>
            </a:r>
          </a:p>
        </p:txBody>
      </p:sp>
      <p:sp>
        <p:nvSpPr>
          <p:cNvPr id="51" name="S09_OPP_3_BODY"/>
          <p:cNvSpPr txBox="1"/>
          <p:nvPr/>
        </p:nvSpPr>
        <p:spPr>
          <a:xfrm>
            <a:off x="8247600" y="4356000"/>
            <a:ext cx="36540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Décision appuyée sur des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preuves terrain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247600" y="4896000"/>
            <a:ext cx="36540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S09_OPP_3_ACTION_TAG"/>
          <p:cNvSpPr txBox="1"/>
          <p:nvPr/>
        </p:nvSpPr>
        <p:spPr>
          <a:xfrm>
            <a:off x="8247600" y="5004000"/>
            <a:ext cx="6156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8DAC95"/>
                </a:solidFill>
                <a:latin typeface="Segoe UI"/>
              </a:rPr>
              <a:t>Levier</a:t>
            </a:r>
          </a:p>
        </p:txBody>
      </p:sp>
      <p:sp>
        <p:nvSpPr>
          <p:cNvPr id="54" name="S09_OPP_3_ACTION_BODY"/>
          <p:cNvSpPr txBox="1"/>
          <p:nvPr/>
        </p:nvSpPr>
        <p:spPr>
          <a:xfrm>
            <a:off x="8931600" y="5004000"/>
            <a:ext cx="2970000" cy="360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Présenter les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gains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et les risques restants.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Plan d'action 18 mois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10/11</a:t>
            </a:r>
          </a:p>
        </p:txBody>
      </p:sp>
      <p:sp>
        <p:nvSpPr>
          <p:cNvPr id="7" name="S10_DATE"/>
          <p:cNvSpPr txBox="1"/>
          <p:nvPr/>
        </p:nvSpPr>
        <p:spPr>
          <a:xfrm>
            <a:off x="10119600" y="270000"/>
            <a:ext cx="1828800" cy="46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Calibri"/>
              </a:rPr>
              <a:t>Mai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2026</a:t>
            </a:r>
          </a:p>
        </p:txBody>
      </p:sp>
      <p:sp>
        <p:nvSpPr>
          <p:cNvPr id="8" name="S10_PHASE_1_CARD"/>
          <p:cNvSpPr/>
          <p:nvPr/>
        </p:nvSpPr>
        <p:spPr>
          <a:xfrm>
            <a:off x="219600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10_PHASE_1_BAND"/>
          <p:cNvSpPr/>
          <p:nvPr/>
        </p:nvSpPr>
        <p:spPr>
          <a:xfrm>
            <a:off x="219600" y="1475999"/>
            <a:ext cx="3780000" cy="7560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10_PHASE_1_NUMBER"/>
          <p:cNvSpPr txBox="1"/>
          <p:nvPr/>
        </p:nvSpPr>
        <p:spPr>
          <a:xfrm>
            <a:off x="280800" y="1548000"/>
            <a:ext cx="511200" cy="51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S10_PHASE_1_TITLE"/>
          <p:cNvSpPr txBox="1"/>
          <p:nvPr/>
        </p:nvSpPr>
        <p:spPr>
          <a:xfrm>
            <a:off x="853200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Cadrage</a:t>
            </a:r>
          </a:p>
        </p:txBody>
      </p:sp>
      <p:sp>
        <p:nvSpPr>
          <p:cNvPr id="12" name="S10_PHASE_1_SUBTITLE"/>
          <p:cNvSpPr txBox="1"/>
          <p:nvPr/>
        </p:nvSpPr>
        <p:spPr>
          <a:xfrm>
            <a:off x="853200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T2</a:t>
            </a:r>
            <a:r>
              <a:rPr sz="1200" b="0" i="1">
                <a:solidFill>
                  <a:srgbClr val="FFFFFF"/>
                </a:solidFill>
                <a:latin typeface="Segoe UI"/>
              </a:rPr>
              <a:t> 2026</a:t>
            </a:r>
          </a:p>
        </p:txBody>
      </p:sp>
      <p:sp>
        <p:nvSpPr>
          <p:cNvPr id="13" name="S10_PHASE_1_ITEM_1_BULLET"/>
          <p:cNvSpPr/>
          <p:nvPr/>
        </p:nvSpPr>
        <p:spPr>
          <a:xfrm>
            <a:off x="399599" y="2340000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10_PHASE_1_ITEM_1_TITLE"/>
          <p:cNvSpPr txBox="1"/>
          <p:nvPr/>
        </p:nvSpPr>
        <p:spPr>
          <a:xfrm>
            <a:off x="586800" y="22680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Sponsor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+ gouvernance</a:t>
            </a:r>
          </a:p>
        </p:txBody>
      </p:sp>
      <p:sp>
        <p:nvSpPr>
          <p:cNvPr id="15" name="S10_PHASE_1_ITEM_1_BODY"/>
          <p:cNvSpPr txBox="1"/>
          <p:nvPr/>
        </p:nvSpPr>
        <p:spPr>
          <a:xfrm>
            <a:off x="586800" y="26136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COPIL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hebdomadaire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et sponsor nommé.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3600" y="2955599"/>
            <a:ext cx="3491999" cy="0"/>
          </a:xfrm>
          <a:prstGeom prst="line">
            <a:avLst/>
          </a:prstGeom>
          <a:ln w="6350">
            <a:solidFill>
              <a:srgbClr val="E8E9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10_PHASE_1_ITEM_2_BULLET"/>
          <p:cNvSpPr/>
          <p:nvPr/>
        </p:nvSpPr>
        <p:spPr>
          <a:xfrm>
            <a:off x="399599" y="3340800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10_PHASE_1_ITEM_2_TITLE"/>
          <p:cNvSpPr txBox="1"/>
          <p:nvPr/>
        </p:nvSpPr>
        <p:spPr>
          <a:xfrm>
            <a:off x="586800" y="3268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Diagnostic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terrain</a:t>
            </a:r>
          </a:p>
        </p:txBody>
      </p:sp>
      <p:sp>
        <p:nvSpPr>
          <p:cNvPr id="19" name="S10_PHASE_1_ITEM_2_BODY"/>
          <p:cNvSpPr txBox="1"/>
          <p:nvPr/>
        </p:nvSpPr>
        <p:spPr>
          <a:xfrm>
            <a:off x="586800" y="36143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Entretiens, irritants et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baseline KPI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3600" y="3956399"/>
            <a:ext cx="3491999" cy="0"/>
          </a:xfrm>
          <a:prstGeom prst="line">
            <a:avLst/>
          </a:prstGeom>
          <a:ln w="6350">
            <a:solidFill>
              <a:srgbClr val="E8E9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10_PHASE_1_ITEM_3_BULLET"/>
          <p:cNvSpPr/>
          <p:nvPr/>
        </p:nvSpPr>
        <p:spPr>
          <a:xfrm>
            <a:off x="399599" y="4471200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10_PHASE_1_ITEM_3_TITLE"/>
          <p:cNvSpPr txBox="1"/>
          <p:nvPr/>
        </p:nvSpPr>
        <p:spPr>
          <a:xfrm>
            <a:off x="586800" y="43992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Roadmap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détaillée</a:t>
            </a:r>
          </a:p>
        </p:txBody>
      </p:sp>
      <p:sp>
        <p:nvSpPr>
          <p:cNvPr id="23" name="S10_PHASE_1_ITEM_3_BODY"/>
          <p:cNvSpPr txBox="1"/>
          <p:nvPr/>
        </p:nvSpPr>
        <p:spPr>
          <a:xfrm>
            <a:off x="586800" y="47448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Chantiers, jalons et critères de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succès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24" name="S10_PHASE_2_CARD"/>
          <p:cNvSpPr/>
          <p:nvPr/>
        </p:nvSpPr>
        <p:spPr>
          <a:xfrm>
            <a:off x="4204800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10_PHASE_2_BAND"/>
          <p:cNvSpPr/>
          <p:nvPr/>
        </p:nvSpPr>
        <p:spPr>
          <a:xfrm>
            <a:off x="4204800" y="1475999"/>
            <a:ext cx="3780000" cy="756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10_PHASE_2_NUMBER"/>
          <p:cNvSpPr txBox="1"/>
          <p:nvPr/>
        </p:nvSpPr>
        <p:spPr>
          <a:xfrm>
            <a:off x="4305600" y="1548000"/>
            <a:ext cx="511200" cy="51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S10_PHASE_2_TITLE"/>
          <p:cNvSpPr txBox="1"/>
          <p:nvPr/>
        </p:nvSpPr>
        <p:spPr>
          <a:xfrm>
            <a:off x="4878000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Pilote</a:t>
            </a:r>
          </a:p>
        </p:txBody>
      </p:sp>
      <p:sp>
        <p:nvSpPr>
          <p:cNvPr id="28" name="S10_PHASE_2_SUBTITLE"/>
          <p:cNvSpPr txBox="1"/>
          <p:nvPr/>
        </p:nvSpPr>
        <p:spPr>
          <a:xfrm>
            <a:off x="4878000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T3</a:t>
            </a:r>
            <a:r>
              <a:rPr sz="1200" b="0" i="1">
                <a:solidFill>
                  <a:srgbClr val="FFFFFF"/>
                </a:solidFill>
                <a:latin typeface="Segoe UI"/>
              </a:rPr>
              <a:t> 2026</a:t>
            </a:r>
          </a:p>
        </p:txBody>
      </p:sp>
      <p:sp>
        <p:nvSpPr>
          <p:cNvPr id="29" name="S10_PHASE_2_ITEM_1_BULLET"/>
          <p:cNvSpPr/>
          <p:nvPr/>
        </p:nvSpPr>
        <p:spPr>
          <a:xfrm>
            <a:off x="4384800" y="2340000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10_PHASE_2_ITEM_1_TITLE"/>
          <p:cNvSpPr txBox="1"/>
          <p:nvPr/>
        </p:nvSpPr>
        <p:spPr>
          <a:xfrm>
            <a:off x="4608000" y="22680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2 sites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pilotes</a:t>
            </a:r>
          </a:p>
        </p:txBody>
      </p:sp>
      <p:sp>
        <p:nvSpPr>
          <p:cNvPr id="31" name="S10_PHASE_2_ITEM_1_BODY"/>
          <p:cNvSpPr txBox="1"/>
          <p:nvPr/>
        </p:nvSpPr>
        <p:spPr>
          <a:xfrm>
            <a:off x="4608000" y="26136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Deux contextes pour tester la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robustesse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348800" y="2955599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S10_PHASE_2_ITEM_2_BULLET"/>
          <p:cNvSpPr/>
          <p:nvPr/>
        </p:nvSpPr>
        <p:spPr>
          <a:xfrm>
            <a:off x="4384800" y="3340800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10_PHASE_2_ITEM_2_TITLE"/>
          <p:cNvSpPr txBox="1"/>
          <p:nvPr/>
        </p:nvSpPr>
        <p:spPr>
          <a:xfrm>
            <a:off x="4608000" y="3268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Méthode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validée</a:t>
            </a:r>
          </a:p>
        </p:txBody>
      </p:sp>
      <p:sp>
        <p:nvSpPr>
          <p:cNvPr id="35" name="S10_PHASE_2_ITEM_2_BODY"/>
          <p:cNvSpPr txBox="1"/>
          <p:nvPr/>
        </p:nvSpPr>
        <p:spPr>
          <a:xfrm>
            <a:off x="4608000" y="36143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Itérations courtes et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REX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mensuel.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348800" y="3956399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S10_PHASE_2_ITEM_3_BULLET"/>
          <p:cNvSpPr/>
          <p:nvPr/>
        </p:nvSpPr>
        <p:spPr>
          <a:xfrm>
            <a:off x="4384800" y="4471200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10_PHASE_2_ITEM_3_TITLE"/>
          <p:cNvSpPr txBox="1"/>
          <p:nvPr/>
        </p:nvSpPr>
        <p:spPr>
          <a:xfrm>
            <a:off x="4608000" y="43992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Premiers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gains</a:t>
            </a:r>
          </a:p>
        </p:txBody>
      </p:sp>
      <p:sp>
        <p:nvSpPr>
          <p:cNvPr id="39" name="S10_PHASE_2_ITEM_3_BODY"/>
          <p:cNvSpPr txBox="1"/>
          <p:nvPr/>
        </p:nvSpPr>
        <p:spPr>
          <a:xfrm>
            <a:off x="4608000" y="47448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Mesure des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impacts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et communication.</a:t>
            </a:r>
          </a:p>
        </p:txBody>
      </p:sp>
      <p:sp>
        <p:nvSpPr>
          <p:cNvPr id="40" name="S10_PHASE_3_CARD"/>
          <p:cNvSpPr/>
          <p:nvPr/>
        </p:nvSpPr>
        <p:spPr>
          <a:xfrm>
            <a:off x="8229600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10_PHASE_3_BAND"/>
          <p:cNvSpPr/>
          <p:nvPr/>
        </p:nvSpPr>
        <p:spPr>
          <a:xfrm>
            <a:off x="8229600" y="1475999"/>
            <a:ext cx="3780000" cy="7560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10_PHASE_3_NUMBER"/>
          <p:cNvSpPr txBox="1"/>
          <p:nvPr/>
        </p:nvSpPr>
        <p:spPr>
          <a:xfrm>
            <a:off x="8326800" y="1548000"/>
            <a:ext cx="511200" cy="51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3" name="S10_PHASE_3_TITLE"/>
          <p:cNvSpPr txBox="1"/>
          <p:nvPr/>
        </p:nvSpPr>
        <p:spPr>
          <a:xfrm>
            <a:off x="8899200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Déploiement</a:t>
            </a:r>
          </a:p>
        </p:txBody>
      </p:sp>
      <p:sp>
        <p:nvSpPr>
          <p:cNvPr id="44" name="S10_PHASE_3_SUBTITLE"/>
          <p:cNvSpPr txBox="1"/>
          <p:nvPr/>
        </p:nvSpPr>
        <p:spPr>
          <a:xfrm>
            <a:off x="8899200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2027</a:t>
            </a:r>
          </a:p>
        </p:txBody>
      </p:sp>
      <p:sp>
        <p:nvSpPr>
          <p:cNvPr id="45" name="S10_PHASE_3_ITEM_1_BULLET"/>
          <p:cNvSpPr/>
          <p:nvPr/>
        </p:nvSpPr>
        <p:spPr>
          <a:xfrm>
            <a:off x="8409600" y="2340000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S10_PHASE_3_ITEM_1_TITLE"/>
          <p:cNvSpPr txBox="1"/>
          <p:nvPr/>
        </p:nvSpPr>
        <p:spPr>
          <a:xfrm>
            <a:off x="8632800" y="22680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Vague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1</a:t>
            </a:r>
          </a:p>
        </p:txBody>
      </p:sp>
      <p:sp>
        <p:nvSpPr>
          <p:cNvPr id="47" name="S10_PHASE_3_ITEM_1_BODY"/>
          <p:cNvSpPr txBox="1"/>
          <p:nvPr/>
        </p:nvSpPr>
        <p:spPr>
          <a:xfrm>
            <a:off x="8632800" y="26136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Six sites avec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relais locaux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73599" y="2955599"/>
            <a:ext cx="3492001" cy="0"/>
          </a:xfrm>
          <a:prstGeom prst="line">
            <a:avLst/>
          </a:prstGeom>
          <a:ln w="6350">
            <a:solidFill>
              <a:srgbClr val="E8E9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S10_PHASE_3_ITEM_2_BULLET"/>
          <p:cNvSpPr/>
          <p:nvPr/>
        </p:nvSpPr>
        <p:spPr>
          <a:xfrm>
            <a:off x="8409600" y="3340800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10_PHASE_3_ITEM_2_TITLE"/>
          <p:cNvSpPr txBox="1"/>
          <p:nvPr/>
        </p:nvSpPr>
        <p:spPr>
          <a:xfrm>
            <a:off x="8632800" y="3268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Vague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2</a:t>
            </a:r>
          </a:p>
        </p:txBody>
      </p:sp>
      <p:sp>
        <p:nvSpPr>
          <p:cNvPr id="51" name="S10_PHASE_3_ITEM_2_BODY"/>
          <p:cNvSpPr txBox="1"/>
          <p:nvPr/>
        </p:nvSpPr>
        <p:spPr>
          <a:xfrm>
            <a:off x="8632800" y="36143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Extension aux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BU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adjacentes.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373599" y="3956399"/>
            <a:ext cx="3492001" cy="0"/>
          </a:xfrm>
          <a:prstGeom prst="line">
            <a:avLst/>
          </a:prstGeom>
          <a:ln w="6350">
            <a:solidFill>
              <a:srgbClr val="E8E9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S10_PHASE_3_ITEM_3_BULLET"/>
          <p:cNvSpPr/>
          <p:nvPr/>
        </p:nvSpPr>
        <p:spPr>
          <a:xfrm>
            <a:off x="8409600" y="4471200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10_PHASE_3_ITEM_3_TITLE"/>
          <p:cNvSpPr txBox="1"/>
          <p:nvPr/>
        </p:nvSpPr>
        <p:spPr>
          <a:xfrm>
            <a:off x="8632800" y="43992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Pérennisation</a:t>
            </a:r>
          </a:p>
        </p:txBody>
      </p:sp>
      <p:sp>
        <p:nvSpPr>
          <p:cNvPr id="55" name="S10_PHASE_3_ITEM_3_BODY"/>
          <p:cNvSpPr txBox="1"/>
          <p:nvPr/>
        </p:nvSpPr>
        <p:spPr>
          <a:xfrm>
            <a:off x="8632800" y="47448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Intégration aux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routines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managériales.</a:t>
            </a:r>
          </a:p>
        </p:txBody>
      </p:sp>
      <p:sp>
        <p:nvSpPr>
          <p:cNvPr id="56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Trois phases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pour sécuriser le scale-up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Synthèse et décision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11/11</a:t>
            </a:r>
          </a:p>
        </p:txBody>
      </p:sp>
      <p:sp>
        <p:nvSpPr>
          <p:cNvPr id="7" name="S11_BLOCK_1_ACCENT_BAR"/>
          <p:cNvSpPr/>
          <p:nvPr/>
        </p:nvSpPr>
        <p:spPr>
          <a:xfrm>
            <a:off x="392400" y="1098000"/>
            <a:ext cx="36000" cy="15120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11_BLOCK_1_NUMBER"/>
          <p:cNvSpPr txBox="1"/>
          <p:nvPr/>
        </p:nvSpPr>
        <p:spPr>
          <a:xfrm>
            <a:off x="648000" y="900000"/>
            <a:ext cx="1440000" cy="79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200" b="1" i="0">
                <a:latin typeface="Segoe UI Black"/>
                <a:solidFill>
                  <a:srgbClr val="BBB4C4">
                    <a:alpha val="40000"/>
                  </a:srgbClr>
                </a:solidFill>
              </a:rPr>
              <a:t>01</a:t>
            </a:r>
          </a:p>
        </p:txBody>
      </p:sp>
      <p:sp>
        <p:nvSpPr>
          <p:cNvPr id="9" name="S11_BLOCK_1_TITLE"/>
          <p:cNvSpPr txBox="1"/>
          <p:nvPr/>
        </p:nvSpPr>
        <p:spPr>
          <a:xfrm>
            <a:off x="720000" y="11880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6A5D79"/>
                </a:solidFill>
                <a:latin typeface="Segoe UI"/>
              </a:rPr>
              <a:t>Ce que le </a:t>
            </a:r>
            <a:r>
              <a:rPr sz="1800" b="1" i="0">
                <a:solidFill>
                  <a:srgbClr val="6A5D79"/>
                </a:solidFill>
                <a:latin typeface="Segoe UI"/>
              </a:rPr>
              <a:t>pilote</a:t>
            </a:r>
            <a:r>
              <a:rPr sz="1800" b="1" i="0">
                <a:solidFill>
                  <a:srgbClr val="6A5D79"/>
                </a:solidFill>
                <a:latin typeface="Segoe UI"/>
              </a:rPr>
              <a:t> prouve</a:t>
            </a:r>
          </a:p>
        </p:txBody>
      </p:sp>
      <p:sp>
        <p:nvSpPr>
          <p:cNvPr id="10" name="S11_BLOCK_1_BODY"/>
          <p:cNvSpPr txBox="1"/>
          <p:nvPr/>
        </p:nvSpPr>
        <p:spPr>
          <a:xfrm>
            <a:off x="720000" y="16200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Le dispositif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réduit le temps d'arbitrage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et rend les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points de blocage visibles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11" name="S11_BLOCK_2_ACCENT_BAR"/>
          <p:cNvSpPr/>
          <p:nvPr/>
        </p:nvSpPr>
        <p:spPr>
          <a:xfrm>
            <a:off x="392400" y="2718000"/>
            <a:ext cx="36000" cy="1512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11_BLOCK_2_NUMBER"/>
          <p:cNvSpPr txBox="1"/>
          <p:nvPr/>
        </p:nvSpPr>
        <p:spPr>
          <a:xfrm>
            <a:off x="648000" y="2520000"/>
            <a:ext cx="1440000" cy="79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200" b="1" i="0">
                <a:latin typeface="Segoe UI Black"/>
                <a:solidFill>
                  <a:srgbClr val="D5B3BE">
                    <a:alpha val="40000"/>
                  </a:srgbClr>
                </a:solidFill>
              </a:rPr>
              <a:t>02</a:t>
            </a:r>
          </a:p>
        </p:txBody>
      </p:sp>
      <p:sp>
        <p:nvSpPr>
          <p:cNvPr id="13" name="S11_BLOCK_2_TITLE"/>
          <p:cNvSpPr txBox="1"/>
          <p:nvPr/>
        </p:nvSpPr>
        <p:spPr>
          <a:xfrm>
            <a:off x="720000" y="28188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A25871"/>
                </a:solidFill>
                <a:latin typeface="Segoe UI"/>
              </a:rPr>
              <a:t>Ce qui change pour les </a:t>
            </a:r>
            <a:r>
              <a:rPr sz="1800" b="1" i="0">
                <a:solidFill>
                  <a:srgbClr val="A25871"/>
                </a:solidFill>
                <a:latin typeface="Segoe UI"/>
              </a:rPr>
              <a:t>équipes</a:t>
            </a:r>
          </a:p>
        </p:txBody>
      </p:sp>
      <p:sp>
        <p:nvSpPr>
          <p:cNvPr id="14" name="S11_BLOCK_2_BODY"/>
          <p:cNvSpPr txBox="1"/>
          <p:nvPr/>
        </p:nvSpPr>
        <p:spPr>
          <a:xfrm>
            <a:off x="720000" y="32508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Les équipes disposent d'une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cadence stable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, de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décisions plus rapides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et d'un espace clair pour remonter les irritants.</a:t>
            </a:r>
          </a:p>
        </p:txBody>
      </p:sp>
      <p:sp>
        <p:nvSpPr>
          <p:cNvPr id="15" name="S11_BLOCK_3_ACCENT_BAR"/>
          <p:cNvSpPr/>
          <p:nvPr/>
        </p:nvSpPr>
        <p:spPr>
          <a:xfrm>
            <a:off x="392400" y="4338000"/>
            <a:ext cx="36000" cy="15120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11_BLOCK_3_NUMBER"/>
          <p:cNvSpPr txBox="1"/>
          <p:nvPr/>
        </p:nvSpPr>
        <p:spPr>
          <a:xfrm>
            <a:off x="648000" y="4140000"/>
            <a:ext cx="1440000" cy="79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200" b="1" i="0">
                <a:latin typeface="Segoe UI Black"/>
                <a:solidFill>
                  <a:srgbClr val="FEE3CA">
                    <a:alpha val="40000"/>
                  </a:srgbClr>
                </a:solidFill>
              </a:rPr>
              <a:t>03</a:t>
            </a:r>
          </a:p>
        </p:txBody>
      </p:sp>
      <p:sp>
        <p:nvSpPr>
          <p:cNvPr id="17" name="S11_BLOCK_3_TITLE"/>
          <p:cNvSpPr txBox="1"/>
          <p:nvPr/>
        </p:nvSpPr>
        <p:spPr>
          <a:xfrm>
            <a:off x="720000" y="44280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FDA85B"/>
                </a:solidFill>
                <a:latin typeface="Segoe UI"/>
              </a:rPr>
              <a:t>Ce que nous </a:t>
            </a:r>
            <a:r>
              <a:rPr sz="1800" b="1" i="0">
                <a:solidFill>
                  <a:srgbClr val="FDA85B"/>
                </a:solidFill>
                <a:latin typeface="Segoe UI"/>
              </a:rPr>
              <a:t>proposons</a:t>
            </a:r>
          </a:p>
        </p:txBody>
      </p:sp>
      <p:sp>
        <p:nvSpPr>
          <p:cNvPr id="18" name="S11_BLOCK_3_BODY"/>
          <p:cNvSpPr txBox="1"/>
          <p:nvPr/>
        </p:nvSpPr>
        <p:spPr>
          <a:xfrm>
            <a:off x="720000" y="48600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Valider le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scale-up sur trois sites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, avec un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sponsor unique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et un reporting centré sur les impacts.</a:t>
            </a:r>
          </a:p>
        </p:txBody>
      </p:sp>
      <p:sp>
        <p:nvSpPr>
          <p:cNvPr id="19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Validez-vous le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scale-up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dès ce mois-ci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