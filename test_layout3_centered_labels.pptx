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Pourquoi accélérer maintenant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01/11</a:t>
            </a:r>
          </a:p>
        </p:txBody>
      </p:sp>
      <p:sp>
        <p:nvSpPr>
          <p:cNvPr id="7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statu quo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ralentit les équipes. Le pilote donne un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rythme clair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et rend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décision visible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9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Les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signaux convergent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: délais instables, arbitrages tardifs et énergie dispersée. Avec un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pilote court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, nous créons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preuve mesurable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pour décider vite.</a:t>
            </a:r>
          </a:p>
        </p:txBody>
      </p:sp>
      <p:sp>
        <p:nvSpPr>
          <p:cNvPr id="10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+18%</a:t>
            </a:r>
          </a:p>
        </p:txBody>
      </p:sp>
      <p:sp>
        <p:nvSpPr>
          <p:cNvPr id="12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13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sur équipe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pilote</a:t>
            </a:r>
          </a:p>
        </p:txBody>
      </p:sp>
      <p:sp>
        <p:nvSpPr>
          <p:cNvPr id="14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12 j</a:t>
            </a:r>
          </a:p>
        </p:txBody>
      </p:sp>
      <p:sp>
        <p:nvSpPr>
          <p:cNvPr id="16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Cycle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cible</a:t>
            </a:r>
          </a:p>
        </p:txBody>
      </p:sp>
      <p:sp>
        <p:nvSpPr>
          <p:cNvPr id="17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contre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8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90 j</a:t>
            </a:r>
          </a:p>
        </p:txBody>
      </p:sp>
      <p:sp>
        <p:nvSpPr>
          <p:cNvPr id="20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Preuve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de valeur</a:t>
            </a:r>
          </a:p>
        </p:txBody>
      </p:sp>
      <p:sp>
        <p:nvSpPr>
          <p:cNvPr id="21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scale-up</a:t>
            </a:r>
          </a:p>
        </p:txBody>
      </p:sp>
      <p:sp>
        <p:nvSpPr>
          <p:cNvPr id="22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Décider vite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apprendre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principes d'exécution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02/11</a:t>
            </a:r>
          </a:p>
        </p:txBody>
      </p:sp>
      <p:sp>
        <p:nvSpPr>
          <p:cNvPr id="7" name="S02_SEP_1"/>
          <p:cNvSpPr/>
          <p:nvPr/>
        </p:nvSpPr>
        <p:spPr>
          <a:xfrm>
            <a:off x="608400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2_COL_1_TITLE"/>
          <p:cNvSpPr txBox="1"/>
          <p:nvPr/>
        </p:nvSpPr>
        <p:spPr>
          <a:xfrm>
            <a:off x="8496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Commencer petit, </a:t>
            </a:r>
            <a:r>
              <a:rPr sz="2000" b="1" i="0" cap="small">
                <a:solidFill>
                  <a:srgbClr val="6A5D79"/>
                </a:solidFill>
                <a:latin typeface="Segoe UI"/>
              </a:rPr>
              <a:t>mesurer vite</a:t>
            </a:r>
          </a:p>
        </p:txBody>
      </p:sp>
      <p:sp>
        <p:nvSpPr>
          <p:cNvPr id="9" name="S02_COL_1_BODY"/>
          <p:cNvSpPr txBox="1"/>
          <p:nvPr/>
        </p:nvSpPr>
        <p:spPr>
          <a:xfrm>
            <a:off x="8496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périmètre pilote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évite la dispersion. Les apprentissages deviennent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 simples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2_SEP_2"/>
          <p:cNvSpPr/>
          <p:nvPr/>
        </p:nvSpPr>
        <p:spPr>
          <a:xfrm>
            <a:off x="4359600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2_COL_2_TITLE"/>
          <p:cNvSpPr txBox="1"/>
          <p:nvPr/>
        </p:nvSpPr>
        <p:spPr>
          <a:xfrm>
            <a:off x="45972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Donner un rôle au </a:t>
            </a:r>
            <a:r>
              <a:rPr sz="2000" b="1" i="0" cap="small">
                <a:solidFill>
                  <a:srgbClr val="A25871"/>
                </a:solidFill>
                <a:latin typeface="Segoe UI"/>
              </a:rPr>
              <a:t>terrain</a:t>
            </a:r>
          </a:p>
        </p:txBody>
      </p:sp>
      <p:sp>
        <p:nvSpPr>
          <p:cNvPr id="12" name="S02_COL_2_BODY"/>
          <p:cNvSpPr txBox="1"/>
          <p:nvPr/>
        </p:nvSpPr>
        <p:spPr>
          <a:xfrm>
            <a:off x="45972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valident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irritants réels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priorisent les actions utiles et rendent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gains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3" name="S02_SEP_3"/>
          <p:cNvSpPr/>
          <p:nvPr/>
        </p:nvSpPr>
        <p:spPr>
          <a:xfrm>
            <a:off x="8110800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2_COL_3_TITLE"/>
          <p:cNvSpPr txBox="1"/>
          <p:nvPr/>
        </p:nvSpPr>
        <p:spPr>
          <a:xfrm>
            <a:off x="83484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Installer une </a:t>
            </a:r>
            <a:r>
              <a:rPr sz="2000" b="1" i="0" cap="small">
                <a:solidFill>
                  <a:srgbClr val="FDA85B"/>
                </a:solidFill>
                <a:latin typeface="Segoe UI"/>
              </a:rPr>
              <a:t>cadence commune</a:t>
            </a:r>
          </a:p>
        </p:txBody>
      </p:sp>
      <p:sp>
        <p:nvSpPr>
          <p:cNvPr id="15" name="S02_COL_3_BODY"/>
          <p:cNvSpPr txBox="1"/>
          <p:nvPr/>
        </p:nvSpPr>
        <p:spPr>
          <a:xfrm>
            <a:off x="83484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rythme court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synchronise sponsor, managers et contributeurs autour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mêmes faits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Six facteurs critiques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03/11</a:t>
            </a:r>
          </a:p>
        </p:txBody>
      </p:sp>
      <p:sp>
        <p:nvSpPr>
          <p:cNvPr id="7" name="S03_TEARDROP_1"/>
          <p:cNvSpPr/>
          <p:nvPr/>
        </p:nvSpPr>
        <p:spPr>
          <a:xfrm rot="10800000">
            <a:off x="1231200" y="1292400"/>
            <a:ext cx="1080000" cy="1080000"/>
          </a:xfrm>
          <a:prstGeom prst="teardrop">
            <a:avLst/>
          </a:prstGeom>
          <a:solidFill>
            <a:srgbClr val="D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3_FACTOR_1_LABEL"/>
          <p:cNvSpPr txBox="1"/>
          <p:nvPr/>
        </p:nvSpPr>
        <p:spPr>
          <a:xfrm>
            <a:off x="52199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Sponsor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 exécutif</a:t>
            </a:r>
          </a:p>
        </p:txBody>
      </p:sp>
      <p:sp>
        <p:nvSpPr>
          <p:cNvPr id="9" name="S03_TEARDROP_2"/>
          <p:cNvSpPr/>
          <p:nvPr/>
        </p:nvSpPr>
        <p:spPr>
          <a:xfrm rot="10800000">
            <a:off x="5529600" y="1314000"/>
            <a:ext cx="1080000" cy="1080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3_FACTOR_2_LABEL"/>
          <p:cNvSpPr txBox="1"/>
          <p:nvPr/>
        </p:nvSpPr>
        <p:spPr>
          <a:xfrm>
            <a:off x="482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Vision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 partagée</a:t>
            </a:r>
          </a:p>
        </p:txBody>
      </p:sp>
      <p:sp>
        <p:nvSpPr>
          <p:cNvPr id="11" name="S03_TEARDROP_3"/>
          <p:cNvSpPr/>
          <p:nvPr/>
        </p:nvSpPr>
        <p:spPr>
          <a:xfrm rot="10800000">
            <a:off x="9669600" y="1314000"/>
            <a:ext cx="1080000" cy="1080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3_FACTOR_3_LABEL"/>
          <p:cNvSpPr txBox="1"/>
          <p:nvPr/>
        </p:nvSpPr>
        <p:spPr>
          <a:xfrm>
            <a:off x="896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Equipe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dédiée</a:t>
            </a:r>
          </a:p>
        </p:txBody>
      </p:sp>
      <p:sp>
        <p:nvSpPr>
          <p:cNvPr id="13" name="S03_TEARDROP_4"/>
          <p:cNvSpPr/>
          <p:nvPr/>
        </p:nvSpPr>
        <p:spPr>
          <a:xfrm rot="10800000">
            <a:off x="1245600" y="3927600"/>
            <a:ext cx="1080000" cy="1080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3_FACTOR_4_LABEL"/>
          <p:cNvSpPr txBox="1"/>
          <p:nvPr/>
        </p:nvSpPr>
        <p:spPr>
          <a:xfrm>
            <a:off x="5363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Indicateurs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simples</a:t>
            </a:r>
          </a:p>
        </p:txBody>
      </p:sp>
      <p:sp>
        <p:nvSpPr>
          <p:cNvPr id="15" name="S03_TEARDROP_5"/>
          <p:cNvSpPr/>
          <p:nvPr/>
        </p:nvSpPr>
        <p:spPr>
          <a:xfrm rot="10800000">
            <a:off x="5472000" y="3927600"/>
            <a:ext cx="1080000" cy="1080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3_FACTOR_5_LABEL"/>
          <p:cNvSpPr txBox="1"/>
          <p:nvPr/>
        </p:nvSpPr>
        <p:spPr>
          <a:xfrm>
            <a:off x="47627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Communication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continue</a:t>
            </a:r>
          </a:p>
        </p:txBody>
      </p:sp>
      <p:sp>
        <p:nvSpPr>
          <p:cNvPr id="17" name="S03_TEARDROP_6"/>
          <p:cNvSpPr/>
          <p:nvPr/>
        </p:nvSpPr>
        <p:spPr>
          <a:xfrm rot="10800000">
            <a:off x="9561600" y="3927600"/>
            <a:ext cx="1080000" cy="1080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3_FACTOR_6_LABEL"/>
          <p:cNvSpPr txBox="1"/>
          <p:nvPr/>
        </p:nvSpPr>
        <p:spPr>
          <a:xfrm>
            <a:off x="885240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Quick wins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visibles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Aligner les facteurs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avant le lancement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059" y="1080000"/>
            <a:ext cx="5328000" cy="4644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dimensions liées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04/11</a:t>
            </a:r>
          </a:p>
        </p:txBody>
      </p:sp>
      <p:sp>
        <p:nvSpPr>
          <p:cNvPr id="8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Personnes</a:t>
            </a:r>
          </a:p>
        </p:txBody>
      </p:sp>
      <p:sp>
        <p:nvSpPr>
          <p:cNvPr id="9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compétences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posture</a:t>
            </a:r>
          </a:p>
        </p:txBody>
      </p:sp>
      <p:sp>
        <p:nvSpPr>
          <p:cNvPr id="10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Processus</a:t>
            </a:r>
          </a:p>
        </p:txBody>
      </p:sp>
      <p:sp>
        <p:nvSpPr>
          <p:cNvPr id="11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rituels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</a:t>
            </a:r>
          </a:p>
        </p:txBody>
      </p:sp>
      <p:sp>
        <p:nvSpPr>
          <p:cNvPr id="12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13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données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pilotage</a:t>
            </a:r>
          </a:p>
        </p:txBody>
      </p:sp>
      <p:sp>
        <p:nvSpPr>
          <p:cNvPr id="14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Aucune dimension ne progresse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seule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Trajectoire en quatre temps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05/11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9600" y="2916000"/>
            <a:ext cx="2458800" cy="0"/>
          </a:xfrm>
          <a:prstGeom prst="line">
            <a:avLst/>
          </a:prstGeom>
          <a:ln w="19050">
            <a:solidFill>
              <a:srgbClr val="BB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29600" y="2916000"/>
            <a:ext cx="2455200" cy="0"/>
          </a:xfrm>
          <a:prstGeom prst="line">
            <a:avLst/>
          </a:prstGeom>
          <a:ln w="19050">
            <a:solidFill>
              <a:srgbClr val="D5B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16000" y="2916000"/>
            <a:ext cx="2455200" cy="0"/>
          </a:xfrm>
          <a:prstGeom prst="line">
            <a:avLst/>
          </a:prstGeom>
          <a:ln w="19050">
            <a:solidFill>
              <a:srgbClr val="F1D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05_STEP_1_BULLET"/>
          <p:cNvSpPr/>
          <p:nvPr/>
        </p:nvSpPr>
        <p:spPr>
          <a:xfrm>
            <a:off x="608400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5_STEP_1_NUMBER"/>
          <p:cNvSpPr txBox="1"/>
          <p:nvPr/>
        </p:nvSpPr>
        <p:spPr>
          <a:xfrm>
            <a:off x="60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2" name="S05_STEP_1_PERIOD"/>
          <p:cNvSpPr txBox="1"/>
          <p:nvPr/>
        </p:nvSpPr>
        <p:spPr>
          <a:xfrm>
            <a:off x="60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S1</a:t>
            </a:r>
            <a:r>
              <a:rPr sz="1200" b="1" i="0" cap="small">
                <a:solidFill>
                  <a:srgbClr val="6A5D79"/>
                </a:solidFill>
                <a:latin typeface="Segoe UI"/>
              </a:rPr>
              <a:t>-S2</a:t>
            </a:r>
          </a:p>
        </p:txBody>
      </p:sp>
      <p:sp>
        <p:nvSpPr>
          <p:cNvPr id="13" name="S05_STEP_1_TITLE"/>
          <p:cNvSpPr txBox="1"/>
          <p:nvPr/>
        </p:nvSpPr>
        <p:spPr>
          <a:xfrm>
            <a:off x="60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Cadrer</a:t>
            </a:r>
          </a:p>
        </p:txBody>
      </p:sp>
      <p:sp>
        <p:nvSpPr>
          <p:cNvPr id="14" name="S05_STEP_1_BODY"/>
          <p:cNvSpPr txBox="1"/>
          <p:nvPr/>
        </p:nvSpPr>
        <p:spPr>
          <a:xfrm>
            <a:off x="60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Aligner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sponsor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périmètre pilote,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indicateurs de succès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règles d'arbitrage.</a:t>
            </a:r>
          </a:p>
        </p:txBody>
      </p:sp>
      <p:sp>
        <p:nvSpPr>
          <p:cNvPr id="15" name="S05_STEP_2_BULLET"/>
          <p:cNvSpPr/>
          <p:nvPr/>
        </p:nvSpPr>
        <p:spPr>
          <a:xfrm>
            <a:off x="3398400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5_STEP_2_NUMBER"/>
          <p:cNvSpPr txBox="1"/>
          <p:nvPr/>
        </p:nvSpPr>
        <p:spPr>
          <a:xfrm>
            <a:off x="339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7" name="S05_STEP_2_PERIOD"/>
          <p:cNvSpPr txBox="1"/>
          <p:nvPr/>
        </p:nvSpPr>
        <p:spPr>
          <a:xfrm>
            <a:off x="339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S3</a:t>
            </a:r>
            <a:r>
              <a:rPr sz="1200" b="1" i="0" cap="small">
                <a:solidFill>
                  <a:srgbClr val="A25871"/>
                </a:solidFill>
                <a:latin typeface="Segoe UI"/>
              </a:rPr>
              <a:t>-S6</a:t>
            </a:r>
          </a:p>
        </p:txBody>
      </p:sp>
      <p:sp>
        <p:nvSpPr>
          <p:cNvPr id="18" name="S05_STEP_2_TITLE"/>
          <p:cNvSpPr txBox="1"/>
          <p:nvPr/>
        </p:nvSpPr>
        <p:spPr>
          <a:xfrm>
            <a:off x="339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Tester</a:t>
            </a:r>
          </a:p>
        </p:txBody>
      </p:sp>
      <p:sp>
        <p:nvSpPr>
          <p:cNvPr id="19" name="S05_STEP_2_BODY"/>
          <p:cNvSpPr txBox="1"/>
          <p:nvPr/>
        </p:nvSpPr>
        <p:spPr>
          <a:xfrm>
            <a:off x="339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Mener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cycles courts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mesurer les écarts et décider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corrections utiles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0" name="S05_STEP_3_BULLET"/>
          <p:cNvSpPr/>
          <p:nvPr/>
        </p:nvSpPr>
        <p:spPr>
          <a:xfrm>
            <a:off x="618480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05_STEP_3_NUMBER"/>
          <p:cNvSpPr txBox="1"/>
          <p:nvPr/>
        </p:nvSpPr>
        <p:spPr>
          <a:xfrm>
            <a:off x="61848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2" name="S05_STEP_3_PERIOD"/>
          <p:cNvSpPr txBox="1"/>
          <p:nvPr/>
        </p:nvSpPr>
        <p:spPr>
          <a:xfrm>
            <a:off x="61848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S7</a:t>
            </a:r>
            <a:r>
              <a:rPr sz="1200" b="1" i="0" cap="small">
                <a:solidFill>
                  <a:srgbClr val="D4737A"/>
                </a:solidFill>
                <a:latin typeface="Segoe UI"/>
              </a:rPr>
              <a:t>-S10</a:t>
            </a:r>
          </a:p>
        </p:txBody>
      </p:sp>
      <p:sp>
        <p:nvSpPr>
          <p:cNvPr id="23" name="S05_STEP_3_TITLE"/>
          <p:cNvSpPr txBox="1"/>
          <p:nvPr/>
        </p:nvSpPr>
        <p:spPr>
          <a:xfrm>
            <a:off x="61848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Stabiliser</a:t>
            </a:r>
          </a:p>
        </p:txBody>
      </p:sp>
      <p:sp>
        <p:nvSpPr>
          <p:cNvPr id="24" name="S05_STEP_3_BODY"/>
          <p:cNvSpPr txBox="1"/>
          <p:nvPr/>
        </p:nvSpPr>
        <p:spPr>
          <a:xfrm>
            <a:off x="61848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Transformer les pratiques validées en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standards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former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5" name="S05_STEP_4_BULLET"/>
          <p:cNvSpPr/>
          <p:nvPr/>
        </p:nvSpPr>
        <p:spPr>
          <a:xfrm>
            <a:off x="897120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05_STEP_4_NUMBER"/>
          <p:cNvSpPr txBox="1"/>
          <p:nvPr/>
        </p:nvSpPr>
        <p:spPr>
          <a:xfrm>
            <a:off x="89712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7" name="S05_STEP_4_PERIOD"/>
          <p:cNvSpPr txBox="1"/>
          <p:nvPr/>
        </p:nvSpPr>
        <p:spPr>
          <a:xfrm>
            <a:off x="89712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S11</a:t>
            </a:r>
            <a:r>
              <a:rPr sz="1200" b="1" i="0" cap="small">
                <a:solidFill>
                  <a:srgbClr val="FDA85B"/>
                </a:solidFill>
                <a:latin typeface="Segoe UI"/>
              </a:rPr>
              <a:t>-S12</a:t>
            </a:r>
          </a:p>
        </p:txBody>
      </p:sp>
      <p:sp>
        <p:nvSpPr>
          <p:cNvPr id="28" name="S05_STEP_4_TITLE"/>
          <p:cNvSpPr txBox="1"/>
          <p:nvPr/>
        </p:nvSpPr>
        <p:spPr>
          <a:xfrm>
            <a:off x="89712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Décider</a:t>
            </a:r>
          </a:p>
        </p:txBody>
      </p:sp>
      <p:sp>
        <p:nvSpPr>
          <p:cNvPr id="29" name="S05_STEP_4_BODY"/>
          <p:cNvSpPr txBox="1"/>
          <p:nvPr/>
        </p:nvSpPr>
        <p:spPr>
          <a:xfrm>
            <a:off x="89712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Présenter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résultats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qualifier les risques et choisir le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scénario de déploiement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Comparer les scénarios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06/11</a:t>
            </a:r>
          </a:p>
        </p:txBody>
      </p:sp>
      <p:sp>
        <p:nvSpPr>
          <p:cNvPr id="7" name="S06_HEADER_1_BG"/>
          <p:cNvSpPr/>
          <p:nvPr/>
        </p:nvSpPr>
        <p:spPr>
          <a:xfrm>
            <a:off x="547200" y="1897199"/>
            <a:ext cx="34164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6_HEADER_C1"/>
          <p:cNvSpPr txBox="1"/>
          <p:nvPr/>
        </p:nvSpPr>
        <p:spPr>
          <a:xfrm>
            <a:off x="547200" y="1897199"/>
            <a:ext cx="34164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</a:t>
            </a:r>
          </a:p>
        </p:txBody>
      </p:sp>
      <p:sp>
        <p:nvSpPr>
          <p:cNvPr id="9" name="S06_HEADER_2_BG"/>
          <p:cNvSpPr/>
          <p:nvPr/>
        </p:nvSpPr>
        <p:spPr>
          <a:xfrm>
            <a:off x="4172400" y="1897199"/>
            <a:ext cx="18288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6_HEADER_C2"/>
          <p:cNvSpPr txBox="1"/>
          <p:nvPr/>
        </p:nvSpPr>
        <p:spPr>
          <a:xfrm>
            <a:off x="4172400" y="1897199"/>
            <a:ext cx="18288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Coût</a:t>
            </a:r>
          </a:p>
        </p:txBody>
      </p:sp>
      <p:sp>
        <p:nvSpPr>
          <p:cNvPr id="11" name="S06_HEADER_3_BG"/>
          <p:cNvSpPr/>
          <p:nvPr/>
        </p:nvSpPr>
        <p:spPr>
          <a:xfrm>
            <a:off x="6256800" y="1897199"/>
            <a:ext cx="14940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6_HEADER_C3"/>
          <p:cNvSpPr txBox="1"/>
          <p:nvPr/>
        </p:nvSpPr>
        <p:spPr>
          <a:xfrm>
            <a:off x="6256800" y="1897199"/>
            <a:ext cx="14940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Délai</a:t>
            </a:r>
          </a:p>
        </p:txBody>
      </p:sp>
      <p:sp>
        <p:nvSpPr>
          <p:cNvPr id="13" name="S06_HEADER_4_BG"/>
          <p:cNvSpPr/>
          <p:nvPr/>
        </p:nvSpPr>
        <p:spPr>
          <a:xfrm>
            <a:off x="8013600" y="1897199"/>
            <a:ext cx="20700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6_HEADER_C4"/>
          <p:cNvSpPr txBox="1"/>
          <p:nvPr/>
        </p:nvSpPr>
        <p:spPr>
          <a:xfrm>
            <a:off x="8013600" y="1897199"/>
            <a:ext cx="20700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Risque</a:t>
            </a:r>
          </a:p>
        </p:txBody>
      </p:sp>
      <p:sp>
        <p:nvSpPr>
          <p:cNvPr id="15" name="S06_HEADER_5_BG"/>
          <p:cNvSpPr/>
          <p:nvPr/>
        </p:nvSpPr>
        <p:spPr>
          <a:xfrm>
            <a:off x="10332000" y="1897199"/>
            <a:ext cx="13644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6_HEADER_C5"/>
          <p:cNvSpPr txBox="1"/>
          <p:nvPr/>
        </p:nvSpPr>
        <p:spPr>
          <a:xfrm>
            <a:off x="10332000" y="1897199"/>
            <a:ext cx="13644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7" name="S06_R1_BG"/>
          <p:cNvSpPr/>
          <p:nvPr/>
        </p:nvSpPr>
        <p:spPr>
          <a:xfrm>
            <a:off x="547200" y="2361600"/>
            <a:ext cx="10173600" cy="288000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6_R1C1"/>
          <p:cNvSpPr txBox="1"/>
          <p:nvPr/>
        </p:nvSpPr>
        <p:spPr>
          <a:xfrm>
            <a:off x="547200" y="23616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A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Statu quo</a:t>
            </a:r>
          </a:p>
        </p:txBody>
      </p:sp>
      <p:sp>
        <p:nvSpPr>
          <p:cNvPr id="19" name="S06_R1C2"/>
          <p:cNvSpPr txBox="1"/>
          <p:nvPr/>
        </p:nvSpPr>
        <p:spPr>
          <a:xfrm>
            <a:off x="4172400" y="23616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0,5 M€</a:t>
            </a:r>
          </a:p>
        </p:txBody>
      </p:sp>
      <p:sp>
        <p:nvSpPr>
          <p:cNvPr id="20" name="S06_R1C3"/>
          <p:cNvSpPr txBox="1"/>
          <p:nvPr/>
        </p:nvSpPr>
        <p:spPr>
          <a:xfrm>
            <a:off x="6256800" y="23616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6 mois</a:t>
            </a:r>
          </a:p>
        </p:txBody>
      </p:sp>
      <p:sp>
        <p:nvSpPr>
          <p:cNvPr id="21" name="S06_R1C4"/>
          <p:cNvSpPr txBox="1"/>
          <p:nvPr/>
        </p:nvSpPr>
        <p:spPr>
          <a:xfrm>
            <a:off x="8013600" y="23616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sp>
        <p:nvSpPr>
          <p:cNvPr id="22" name="S06_R1C5"/>
          <p:cNvSpPr txBox="1"/>
          <p:nvPr/>
        </p:nvSpPr>
        <p:spPr>
          <a:xfrm>
            <a:off x="10332000" y="23616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sp>
        <p:nvSpPr>
          <p:cNvPr id="23" name="S06_R2_BG"/>
          <p:cNvSpPr/>
          <p:nvPr/>
        </p:nvSpPr>
        <p:spPr>
          <a:xfrm>
            <a:off x="547200" y="2869200"/>
            <a:ext cx="101736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6_R2C1"/>
          <p:cNvSpPr txBox="1"/>
          <p:nvPr/>
        </p:nvSpPr>
        <p:spPr>
          <a:xfrm>
            <a:off x="547200" y="28692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B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Pilote ciblé</a:t>
            </a:r>
          </a:p>
        </p:txBody>
      </p:sp>
      <p:sp>
        <p:nvSpPr>
          <p:cNvPr id="25" name="S06_R2C2"/>
          <p:cNvSpPr txBox="1"/>
          <p:nvPr/>
        </p:nvSpPr>
        <p:spPr>
          <a:xfrm>
            <a:off x="4172400" y="28692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1,2 M€</a:t>
            </a:r>
          </a:p>
        </p:txBody>
      </p:sp>
      <p:sp>
        <p:nvSpPr>
          <p:cNvPr id="26" name="S06_R2C3"/>
          <p:cNvSpPr txBox="1"/>
          <p:nvPr/>
        </p:nvSpPr>
        <p:spPr>
          <a:xfrm>
            <a:off x="6256800" y="28692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9 mois</a:t>
            </a:r>
          </a:p>
        </p:txBody>
      </p:sp>
      <p:sp>
        <p:nvSpPr>
          <p:cNvPr id="27" name="S06_R2C4"/>
          <p:cNvSpPr txBox="1"/>
          <p:nvPr/>
        </p:nvSpPr>
        <p:spPr>
          <a:xfrm>
            <a:off x="8013600" y="28692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sp>
        <p:nvSpPr>
          <p:cNvPr id="28" name="S06_R2C5"/>
          <p:cNvSpPr txBox="1"/>
          <p:nvPr/>
        </p:nvSpPr>
        <p:spPr>
          <a:xfrm>
            <a:off x="10332000" y="28692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★★★★</a:t>
            </a:r>
          </a:p>
        </p:txBody>
      </p:sp>
      <p:sp>
        <p:nvSpPr>
          <p:cNvPr id="29" name="S06_R3_BG"/>
          <p:cNvSpPr/>
          <p:nvPr/>
        </p:nvSpPr>
        <p:spPr>
          <a:xfrm>
            <a:off x="547200" y="3376800"/>
            <a:ext cx="10173600" cy="288000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6_R3C1"/>
          <p:cNvSpPr txBox="1"/>
          <p:nvPr/>
        </p:nvSpPr>
        <p:spPr>
          <a:xfrm>
            <a:off x="547200" y="33768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C - Transformation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totale</a:t>
            </a:r>
          </a:p>
        </p:txBody>
      </p:sp>
      <p:sp>
        <p:nvSpPr>
          <p:cNvPr id="31" name="S06_R3C2"/>
          <p:cNvSpPr txBox="1"/>
          <p:nvPr/>
        </p:nvSpPr>
        <p:spPr>
          <a:xfrm>
            <a:off x="4172400" y="33768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4,0 M€</a:t>
            </a:r>
          </a:p>
        </p:txBody>
      </p:sp>
      <p:sp>
        <p:nvSpPr>
          <p:cNvPr id="32" name="S06_R3C3"/>
          <p:cNvSpPr txBox="1"/>
          <p:nvPr/>
        </p:nvSpPr>
        <p:spPr>
          <a:xfrm>
            <a:off x="6256800" y="33768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24 mois</a:t>
            </a:r>
          </a:p>
        </p:txBody>
      </p:sp>
      <p:sp>
        <p:nvSpPr>
          <p:cNvPr id="33" name="S06_R3C4"/>
          <p:cNvSpPr txBox="1"/>
          <p:nvPr/>
        </p:nvSpPr>
        <p:spPr>
          <a:xfrm>
            <a:off x="8013600" y="33768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Elevé</a:t>
            </a:r>
          </a:p>
        </p:txBody>
      </p:sp>
      <p:sp>
        <p:nvSpPr>
          <p:cNvPr id="34" name="S06_R3C5"/>
          <p:cNvSpPr txBox="1"/>
          <p:nvPr/>
        </p:nvSpPr>
        <p:spPr>
          <a:xfrm>
            <a:off x="10332000" y="33768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★★★</a:t>
            </a:r>
          </a:p>
        </p:txBody>
      </p:sp>
      <p:sp>
        <p:nvSpPr>
          <p:cNvPr id="35" name="S06_R4_BG"/>
          <p:cNvSpPr/>
          <p:nvPr/>
        </p:nvSpPr>
        <p:spPr>
          <a:xfrm>
            <a:off x="547200" y="3884399"/>
            <a:ext cx="101736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06_R4C1"/>
          <p:cNvSpPr txBox="1"/>
          <p:nvPr/>
        </p:nvSpPr>
        <p:spPr>
          <a:xfrm>
            <a:off x="547200" y="3884399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D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Externalisation</a:t>
            </a:r>
          </a:p>
        </p:txBody>
      </p:sp>
      <p:sp>
        <p:nvSpPr>
          <p:cNvPr id="37" name="S06_R4C2"/>
          <p:cNvSpPr txBox="1"/>
          <p:nvPr/>
        </p:nvSpPr>
        <p:spPr>
          <a:xfrm>
            <a:off x="4172400" y="3884399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2,5 M€</a:t>
            </a:r>
          </a:p>
        </p:txBody>
      </p:sp>
      <p:sp>
        <p:nvSpPr>
          <p:cNvPr id="38" name="S06_R4C3"/>
          <p:cNvSpPr txBox="1"/>
          <p:nvPr/>
        </p:nvSpPr>
        <p:spPr>
          <a:xfrm>
            <a:off x="6256800" y="3884399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12 mois</a:t>
            </a:r>
          </a:p>
        </p:txBody>
      </p:sp>
      <p:sp>
        <p:nvSpPr>
          <p:cNvPr id="39" name="S06_R4C4"/>
          <p:cNvSpPr txBox="1"/>
          <p:nvPr/>
        </p:nvSpPr>
        <p:spPr>
          <a:xfrm>
            <a:off x="8013600" y="3884399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sp>
        <p:nvSpPr>
          <p:cNvPr id="40" name="S06_R4C5"/>
          <p:cNvSpPr txBox="1"/>
          <p:nvPr/>
        </p:nvSpPr>
        <p:spPr>
          <a:xfrm>
            <a:off x="10332000" y="3884399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 B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: meilleur équilibre valeur/risque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Indicateurs de pilotage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07/11</a:t>
            </a:r>
          </a:p>
        </p:txBody>
      </p:sp>
      <p:sp>
        <p:nvSpPr>
          <p:cNvPr id="7" name="S07_KPI_1_CARD"/>
          <p:cNvSpPr/>
          <p:nvPr/>
        </p:nvSpPr>
        <p:spPr>
          <a:xfrm>
            <a:off x="381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7_KPI_1_LABEL"/>
          <p:cNvSpPr txBox="1"/>
          <p:nvPr/>
        </p:nvSpPr>
        <p:spPr>
          <a:xfrm>
            <a:off x="4212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94%</a:t>
            </a:r>
          </a:p>
        </p:txBody>
      </p:sp>
      <p:sp>
        <p:nvSpPr>
          <p:cNvPr id="9" name="S07_KPI_1_SUBLABEL"/>
          <p:cNvSpPr txBox="1"/>
          <p:nvPr/>
        </p:nvSpPr>
        <p:spPr>
          <a:xfrm>
            <a:off x="4212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Adhésion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équipes</a:t>
            </a:r>
          </a:p>
        </p:txBody>
      </p:sp>
      <p:sp>
        <p:nvSpPr>
          <p:cNvPr id="10" name="S07_KPI_2_CARD"/>
          <p:cNvSpPr/>
          <p:nvPr/>
        </p:nvSpPr>
        <p:spPr>
          <a:xfrm>
            <a:off x="22644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7_KPI_2_LABEL"/>
          <p:cNvSpPr txBox="1"/>
          <p:nvPr/>
        </p:nvSpPr>
        <p:spPr>
          <a:xfrm>
            <a:off x="23040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2" name="S07_KPI_2_SUBLABEL"/>
          <p:cNvSpPr txBox="1"/>
          <p:nvPr/>
        </p:nvSpPr>
        <p:spPr>
          <a:xfrm>
            <a:off x="23040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Cycle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moyen</a:t>
            </a:r>
          </a:p>
        </p:txBody>
      </p:sp>
      <p:sp>
        <p:nvSpPr>
          <p:cNvPr id="13" name="S07_KPI_3_CARD"/>
          <p:cNvSpPr/>
          <p:nvPr/>
        </p:nvSpPr>
        <p:spPr>
          <a:xfrm>
            <a:off x="4143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7_KPI_3_LABEL"/>
          <p:cNvSpPr txBox="1"/>
          <p:nvPr/>
        </p:nvSpPr>
        <p:spPr>
          <a:xfrm>
            <a:off x="418319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+18%</a:t>
            </a:r>
          </a:p>
        </p:txBody>
      </p:sp>
      <p:sp>
        <p:nvSpPr>
          <p:cNvPr id="15" name="S07_KPI_3_SUBLABEL"/>
          <p:cNvSpPr txBox="1"/>
          <p:nvPr/>
        </p:nvSpPr>
        <p:spPr>
          <a:xfrm>
            <a:off x="418319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Engagement</a:t>
            </a:r>
          </a:p>
        </p:txBody>
      </p:sp>
      <p:sp>
        <p:nvSpPr>
          <p:cNvPr id="16" name="S07_KPI_4_CARD"/>
          <p:cNvSpPr/>
          <p:nvPr/>
        </p:nvSpPr>
        <p:spPr>
          <a:xfrm>
            <a:off x="6022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07_KPI_4_LABEL"/>
          <p:cNvSpPr txBox="1"/>
          <p:nvPr/>
        </p:nvSpPr>
        <p:spPr>
          <a:xfrm>
            <a:off x="6062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1,2</a:t>
            </a:r>
          </a:p>
        </p:txBody>
      </p:sp>
      <p:sp>
        <p:nvSpPr>
          <p:cNvPr id="18" name="S07_KPI_4_SUBLABEL"/>
          <p:cNvSpPr txBox="1"/>
          <p:nvPr/>
        </p:nvSpPr>
        <p:spPr>
          <a:xfrm>
            <a:off x="6062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Sigma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qualité</a:t>
            </a:r>
          </a:p>
        </p:txBody>
      </p:sp>
      <p:sp>
        <p:nvSpPr>
          <p:cNvPr id="19" name="S07_KPI_5_CARD"/>
          <p:cNvSpPr/>
          <p:nvPr/>
        </p:nvSpPr>
        <p:spPr>
          <a:xfrm>
            <a:off x="79020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07_KPI_5_LABEL"/>
          <p:cNvSpPr txBox="1"/>
          <p:nvPr/>
        </p:nvSpPr>
        <p:spPr>
          <a:xfrm>
            <a:off x="79416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2,4 M€</a:t>
            </a:r>
          </a:p>
        </p:txBody>
      </p:sp>
      <p:sp>
        <p:nvSpPr>
          <p:cNvPr id="21" name="S07_KPI_5_SUBLABEL"/>
          <p:cNvSpPr txBox="1"/>
          <p:nvPr/>
        </p:nvSpPr>
        <p:spPr>
          <a:xfrm>
            <a:off x="79416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Gains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annualisés</a:t>
            </a:r>
          </a:p>
        </p:txBody>
      </p:sp>
      <p:sp>
        <p:nvSpPr>
          <p:cNvPr id="22" name="S07_KPI_6_CARD"/>
          <p:cNvSpPr/>
          <p:nvPr/>
        </p:nvSpPr>
        <p:spPr>
          <a:xfrm>
            <a:off x="9784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07_KPI_6_LABEL"/>
          <p:cNvSpPr txBox="1"/>
          <p:nvPr/>
        </p:nvSpPr>
        <p:spPr>
          <a:xfrm>
            <a:off x="9824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98%</a:t>
            </a:r>
          </a:p>
        </p:txBody>
      </p:sp>
      <p:sp>
        <p:nvSpPr>
          <p:cNvPr id="24" name="S07_KPI_6_SUBLABEL"/>
          <p:cNvSpPr txBox="1"/>
          <p:nvPr/>
        </p:nvSpPr>
        <p:spPr>
          <a:xfrm>
            <a:off x="9824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OTD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client</a:t>
            </a:r>
          </a:p>
        </p:txBody>
      </p:sp>
      <p:sp>
        <p:nvSpPr>
          <p:cNvPr id="25" name="S07_SECTION_LABEL"/>
          <p:cNvSpPr txBox="1"/>
          <p:nvPr/>
        </p:nvSpPr>
        <p:spPr>
          <a:xfrm>
            <a:off x="392400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1">
                <a:solidFill>
                  <a:srgbClr val="474E67"/>
                </a:solidFill>
                <a:latin typeface="Segoe UI"/>
              </a:rPr>
              <a:t>Avancement</a:t>
            </a:r>
            <a:r>
              <a:rPr sz="1200" b="1" i="1">
                <a:solidFill>
                  <a:srgbClr val="474E67"/>
                </a:solidFill>
                <a:latin typeface="Segoe UI"/>
              </a:rPr>
              <a:t> par chantier en mai 2026</a:t>
            </a:r>
          </a:p>
        </p:txBody>
      </p:sp>
      <p:sp>
        <p:nvSpPr>
          <p:cNvPr id="26" name="S07_BAR_1_LABEL"/>
          <p:cNvSpPr txBox="1"/>
          <p:nvPr/>
        </p:nvSpPr>
        <p:spPr>
          <a:xfrm>
            <a:off x="381600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Standards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opérationnels</a:t>
            </a:r>
          </a:p>
        </p:txBody>
      </p:sp>
      <p:sp>
        <p:nvSpPr>
          <p:cNvPr id="27" name="S07_BAR_1_BAR"/>
          <p:cNvSpPr/>
          <p:nvPr/>
        </p:nvSpPr>
        <p:spPr>
          <a:xfrm>
            <a:off x="2951999" y="3704399"/>
            <a:ext cx="7343999" cy="198000"/>
          </a:xfrm>
          <a:prstGeom prst="roundRect">
            <a:avLst>
              <a:gd name="adj" fmla="val 10000"/>
            </a:avLst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07_BAR_1_VALUE"/>
          <p:cNvSpPr txBox="1"/>
          <p:nvPr/>
        </p:nvSpPr>
        <p:spPr>
          <a:xfrm>
            <a:off x="1033200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29" name="S07_BAR_2_LABEL"/>
          <p:cNvSpPr txBox="1"/>
          <p:nvPr/>
        </p:nvSpPr>
        <p:spPr>
          <a:xfrm>
            <a:off x="381600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Outils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30" name="S07_BAR_2_BAR"/>
          <p:cNvSpPr/>
          <p:nvPr/>
        </p:nvSpPr>
        <p:spPr>
          <a:xfrm>
            <a:off x="2951999" y="4176000"/>
            <a:ext cx="5356800" cy="198000"/>
          </a:xfrm>
          <a:prstGeom prst="roundRect">
            <a:avLst>
              <a:gd name="adj" fmla="val 10000"/>
            </a:avLst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07_BAR_2_VALUE"/>
          <p:cNvSpPr txBox="1"/>
          <p:nvPr/>
        </p:nvSpPr>
        <p:spPr>
          <a:xfrm>
            <a:off x="834480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62%</a:t>
            </a:r>
          </a:p>
        </p:txBody>
      </p:sp>
      <p:sp>
        <p:nvSpPr>
          <p:cNvPr id="32" name="S07_BAR_3_LABEL"/>
          <p:cNvSpPr txBox="1"/>
          <p:nvPr/>
        </p:nvSpPr>
        <p:spPr>
          <a:xfrm>
            <a:off x="381600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Compétences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relais</a:t>
            </a:r>
          </a:p>
        </p:txBody>
      </p:sp>
      <p:sp>
        <p:nvSpPr>
          <p:cNvPr id="33" name="S07_BAR_3_BAR"/>
          <p:cNvSpPr/>
          <p:nvPr/>
        </p:nvSpPr>
        <p:spPr>
          <a:xfrm>
            <a:off x="2951999" y="4636800"/>
            <a:ext cx="3542400" cy="198000"/>
          </a:xfrm>
          <a:prstGeom prst="roundRect">
            <a:avLst>
              <a:gd name="adj" fmla="val 10000"/>
            </a:avLst>
          </a:prstGeom>
          <a:solidFill>
            <a:srgbClr val="D4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07_BAR_3_VALUE"/>
          <p:cNvSpPr txBox="1"/>
          <p:nvPr/>
        </p:nvSpPr>
        <p:spPr>
          <a:xfrm>
            <a:off x="653040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41%</a:t>
            </a:r>
          </a:p>
        </p:txBody>
      </p:sp>
      <p:sp>
        <p:nvSpPr>
          <p:cNvPr id="35" name="S07_BAR_4_LABEL"/>
          <p:cNvSpPr txBox="1"/>
          <p:nvPr/>
        </p:nvSpPr>
        <p:spPr>
          <a:xfrm>
            <a:off x="381600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Pilotage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KPI</a:t>
            </a:r>
          </a:p>
        </p:txBody>
      </p:sp>
      <p:sp>
        <p:nvSpPr>
          <p:cNvPr id="36" name="S07_BAR_4_BAR"/>
          <p:cNvSpPr/>
          <p:nvPr/>
        </p:nvSpPr>
        <p:spPr>
          <a:xfrm>
            <a:off x="2951999" y="5097600"/>
            <a:ext cx="6739200" cy="198000"/>
          </a:xfrm>
          <a:prstGeom prst="roundRect">
            <a:avLst>
              <a:gd name="adj" fmla="val 10000"/>
            </a:avLst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07_BAR_4_VALUE"/>
          <p:cNvSpPr txBox="1"/>
          <p:nvPr/>
        </p:nvSpPr>
        <p:spPr>
          <a:xfrm>
            <a:off x="972720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78%</a:t>
            </a:r>
          </a:p>
        </p:txBody>
      </p:sp>
      <p:sp>
        <p:nvSpPr>
          <p:cNvPr id="38" name="S07_BAR_5_LABEL"/>
          <p:cNvSpPr txBox="1"/>
          <p:nvPr/>
        </p:nvSpPr>
        <p:spPr>
          <a:xfrm>
            <a:off x="381600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change</a:t>
            </a:r>
          </a:p>
        </p:txBody>
      </p:sp>
      <p:sp>
        <p:nvSpPr>
          <p:cNvPr id="39" name="S07_BAR_5_BAR"/>
          <p:cNvSpPr/>
          <p:nvPr/>
        </p:nvSpPr>
        <p:spPr>
          <a:xfrm>
            <a:off x="2951999" y="5536800"/>
            <a:ext cx="7776000" cy="198000"/>
          </a:xfrm>
          <a:prstGeom prst="roundRect">
            <a:avLst>
              <a:gd name="adj" fmla="val 10000"/>
            </a:avLst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07_BAR_5_VALUE"/>
          <p:cNvSpPr txBox="1"/>
          <p:nvPr/>
        </p:nvSpPr>
        <p:spPr>
          <a:xfrm>
            <a:off x="1076400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Accélérer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trois chantiers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prioritaires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Avant / Après pilote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08/11</a:t>
            </a:r>
          </a:p>
        </p:txBody>
      </p:sp>
      <p:sp>
        <p:nvSpPr>
          <p:cNvPr id="7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Cinq indicateurs mesurés sur </a:t>
            </a:r>
            <a:r>
              <a:rPr sz="2100" b="1" i="0">
                <a:solidFill>
                  <a:srgbClr val="6A5D79"/>
                </a:solidFill>
                <a:latin typeface="Segoe UI Black"/>
              </a:rPr>
              <a:t>90 jours</a:t>
            </a:r>
          </a:p>
        </p:txBody>
      </p:sp>
      <p:sp>
        <p:nvSpPr>
          <p:cNvPr id="8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Avant</a:t>
            </a:r>
          </a:p>
        </p:txBody>
      </p:sp>
      <p:sp>
        <p:nvSpPr>
          <p:cNvPr id="9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Après</a:t>
            </a:r>
          </a:p>
        </p:txBody>
      </p:sp>
      <p:sp>
        <p:nvSpPr>
          <p:cNvPr id="10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Délai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cycle</a:t>
            </a:r>
          </a:p>
        </p:txBody>
      </p:sp>
      <p:sp>
        <p:nvSpPr>
          <p:cNvPr id="13" name="S08_ROW_1_BAR_1"/>
          <p:cNvSpPr/>
          <p:nvPr/>
        </p:nvSpPr>
        <p:spPr>
          <a:xfrm>
            <a:off x="4298400" y="29340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8_ROW_1_BAR_2"/>
          <p:cNvSpPr/>
          <p:nvPr/>
        </p:nvSpPr>
        <p:spPr>
          <a:xfrm>
            <a:off x="8798400" y="2934000"/>
            <a:ext cx="138851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8_ROW_1_VALUE_1"/>
          <p:cNvSpPr txBox="1"/>
          <p:nvPr/>
        </p:nvSpPr>
        <p:spPr>
          <a:xfrm>
            <a:off x="807372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6" name="S08_ROW_1_VALUE_2"/>
          <p:cNvSpPr txBox="1"/>
          <p:nvPr/>
        </p:nvSpPr>
        <p:spPr>
          <a:xfrm>
            <a:off x="10222911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13 j</a:t>
            </a:r>
          </a:p>
        </p:txBody>
      </p:sp>
      <p:sp>
        <p:nvSpPr>
          <p:cNvPr id="17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Taux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défauts</a:t>
            </a:r>
          </a:p>
        </p:txBody>
      </p:sp>
      <p:sp>
        <p:nvSpPr>
          <p:cNvPr id="18" name="S08_ROW_2_BAR_1"/>
          <p:cNvSpPr/>
          <p:nvPr/>
        </p:nvSpPr>
        <p:spPr>
          <a:xfrm>
            <a:off x="4298400" y="3401999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08_ROW_2_BAR_2"/>
          <p:cNvSpPr/>
          <p:nvPr/>
        </p:nvSpPr>
        <p:spPr>
          <a:xfrm>
            <a:off x="8798400" y="3401999"/>
            <a:ext cx="710276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08_ROW_2_VALUE_1"/>
          <p:cNvSpPr txBox="1"/>
          <p:nvPr/>
        </p:nvSpPr>
        <p:spPr>
          <a:xfrm>
            <a:off x="80737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1200</a:t>
            </a:r>
          </a:p>
        </p:txBody>
      </p:sp>
      <p:sp>
        <p:nvSpPr>
          <p:cNvPr id="21" name="S08_ROW_2_VALUE_2"/>
          <p:cNvSpPr txBox="1"/>
          <p:nvPr/>
        </p:nvSpPr>
        <p:spPr>
          <a:xfrm>
            <a:off x="9544677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380</a:t>
            </a:r>
          </a:p>
        </p:txBody>
      </p:sp>
      <p:sp>
        <p:nvSpPr>
          <p:cNvPr id="22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23" name="S08_ROW_3_BAR_1"/>
          <p:cNvSpPr/>
          <p:nvPr/>
        </p:nvSpPr>
        <p:spPr>
          <a:xfrm>
            <a:off x="4298400" y="3873600"/>
            <a:ext cx="268464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08_ROW_3_VALUE_1"/>
          <p:cNvSpPr txBox="1"/>
          <p:nvPr/>
        </p:nvSpPr>
        <p:spPr>
          <a:xfrm>
            <a:off x="701904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56%</a:t>
            </a:r>
          </a:p>
        </p:txBody>
      </p:sp>
      <p:sp>
        <p:nvSpPr>
          <p:cNvPr id="26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78%</a:t>
            </a:r>
          </a:p>
        </p:txBody>
      </p:sp>
      <p:sp>
        <p:nvSpPr>
          <p:cNvPr id="27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unitaire</a:t>
            </a:r>
          </a:p>
        </p:txBody>
      </p:sp>
      <p:sp>
        <p:nvSpPr>
          <p:cNvPr id="28" name="S08_ROW_4_BAR_1"/>
          <p:cNvSpPr/>
          <p:nvPr/>
        </p:nvSpPr>
        <p:spPr>
          <a:xfrm>
            <a:off x="4298400" y="43452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08_ROW_4_BAR_2"/>
          <p:cNvSpPr/>
          <p:nvPr/>
        </p:nvSpPr>
        <p:spPr>
          <a:xfrm>
            <a:off x="8798400" y="4345200"/>
            <a:ext cx="182242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8_ROW_4_VALUE_1"/>
          <p:cNvSpPr txBox="1"/>
          <p:nvPr/>
        </p:nvSpPr>
        <p:spPr>
          <a:xfrm>
            <a:off x="807372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240 €</a:t>
            </a:r>
          </a:p>
        </p:txBody>
      </p:sp>
      <p:sp>
        <p:nvSpPr>
          <p:cNvPr id="31" name="S08_ROW_4_VALUE_2"/>
          <p:cNvSpPr txBox="1"/>
          <p:nvPr/>
        </p:nvSpPr>
        <p:spPr>
          <a:xfrm>
            <a:off x="10656821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195 €</a:t>
            </a:r>
          </a:p>
        </p:txBody>
      </p:sp>
      <p:sp>
        <p:nvSpPr>
          <p:cNvPr id="32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Satisfaction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</a:t>
            </a:r>
          </a:p>
        </p:txBody>
      </p:sp>
      <p:sp>
        <p:nvSpPr>
          <p:cNvPr id="33" name="S08_ROW_5_BAR_1"/>
          <p:cNvSpPr/>
          <p:nvPr/>
        </p:nvSpPr>
        <p:spPr>
          <a:xfrm>
            <a:off x="4298400" y="4813200"/>
            <a:ext cx="3130593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08_ROW_5_VALUE_1"/>
          <p:cNvSpPr txBox="1"/>
          <p:nvPr/>
        </p:nvSpPr>
        <p:spPr>
          <a:xfrm>
            <a:off x="7464993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7,2</a:t>
            </a:r>
          </a:p>
        </p:txBody>
      </p:sp>
      <p:sp>
        <p:nvSpPr>
          <p:cNvPr id="36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8,6</a:t>
            </a:r>
          </a:p>
        </p:txBody>
      </p:sp>
      <p:sp>
        <p:nvSpPr>
          <p:cNvPr id="37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pilote améliore les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cinq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Opportunités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09/11</a:t>
            </a:r>
          </a:p>
        </p:txBody>
      </p:sp>
      <p:sp>
        <p:nvSpPr>
          <p:cNvPr id="7" name="S09_RISK_1_CARD"/>
          <p:cNvSpPr/>
          <p:nvPr/>
        </p:nvSpPr>
        <p:spPr>
          <a:xfrm>
            <a:off x="151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9_RISK_1_ICON"/>
          <p:cNvSpPr/>
          <p:nvPr/>
        </p:nvSpPr>
        <p:spPr>
          <a:xfrm>
            <a:off x="198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9_RISK_1_TITLE"/>
          <p:cNvSpPr txBox="1"/>
          <p:nvPr/>
        </p:nvSpPr>
        <p:spPr>
          <a:xfrm>
            <a:off x="583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Résistance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managériale</a:t>
            </a:r>
          </a:p>
        </p:txBody>
      </p:sp>
      <p:sp>
        <p:nvSpPr>
          <p:cNvPr id="10" name="S09_RISK_1_LEVEL"/>
          <p:cNvSpPr txBox="1"/>
          <p:nvPr/>
        </p:nvSpPr>
        <p:spPr>
          <a:xfrm>
            <a:off x="583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1" name="S09_RISK_1_BODY"/>
          <p:cNvSpPr txBox="1"/>
          <p:nvPr/>
        </p:nvSpPr>
        <p:spPr>
          <a:xfrm>
            <a:off x="223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Crainte de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surcharge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et perte de repères.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09_RISK_1_ACTION_TAG"/>
          <p:cNvSpPr txBox="1"/>
          <p:nvPr/>
        </p:nvSpPr>
        <p:spPr>
          <a:xfrm>
            <a:off x="223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4" name="S09_RISK_1_ACTION_BODY"/>
          <p:cNvSpPr txBox="1"/>
          <p:nvPr/>
        </p:nvSpPr>
        <p:spPr>
          <a:xfrm>
            <a:off x="907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Former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relais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clarifier le rôle du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sponsor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15" name="S09_RISK_2_CARD"/>
          <p:cNvSpPr/>
          <p:nvPr/>
        </p:nvSpPr>
        <p:spPr>
          <a:xfrm>
            <a:off x="4165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9_RISK_2_ICON"/>
          <p:cNvSpPr/>
          <p:nvPr/>
        </p:nvSpPr>
        <p:spPr>
          <a:xfrm>
            <a:off x="4212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09_RISK_2_TITLE"/>
          <p:cNvSpPr txBox="1"/>
          <p:nvPr/>
        </p:nvSpPr>
        <p:spPr>
          <a:xfrm>
            <a:off x="4597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Disponibilité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8" name="S09_RISK_2_LEVEL"/>
          <p:cNvSpPr txBox="1"/>
          <p:nvPr/>
        </p:nvSpPr>
        <p:spPr>
          <a:xfrm>
            <a:off x="4597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19" name="S09_RISK_2_BODY"/>
          <p:cNvSpPr txBox="1"/>
          <p:nvPr/>
        </p:nvSpPr>
        <p:spPr>
          <a:xfrm>
            <a:off x="4237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Calendrier chargé sur les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sites pilotes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37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09_RISK_2_ACTION_TAG"/>
          <p:cNvSpPr txBox="1"/>
          <p:nvPr/>
        </p:nvSpPr>
        <p:spPr>
          <a:xfrm>
            <a:off x="4237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2" name="S09_RISK_2_ACTION_BODY"/>
          <p:cNvSpPr txBox="1"/>
          <p:nvPr/>
        </p:nvSpPr>
        <p:spPr>
          <a:xfrm>
            <a:off x="4921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Limiter les ateliers et préparer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décisions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en amont.</a:t>
            </a:r>
          </a:p>
        </p:txBody>
      </p:sp>
      <p:sp>
        <p:nvSpPr>
          <p:cNvPr id="23" name="S09_RISK_3_CARD"/>
          <p:cNvSpPr/>
          <p:nvPr/>
        </p:nvSpPr>
        <p:spPr>
          <a:xfrm>
            <a:off x="81756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9_RISK_3_ICON"/>
          <p:cNvSpPr/>
          <p:nvPr/>
        </p:nvSpPr>
        <p:spPr>
          <a:xfrm>
            <a:off x="82224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09_RISK_3_TITLE"/>
          <p:cNvSpPr txBox="1"/>
          <p:nvPr/>
        </p:nvSpPr>
        <p:spPr>
          <a:xfrm>
            <a:off x="86076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Dépendance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26" name="S09_RISK_3_LEVEL"/>
          <p:cNvSpPr txBox="1"/>
          <p:nvPr/>
        </p:nvSpPr>
        <p:spPr>
          <a:xfrm>
            <a:off x="86076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7" name="S09_RISK_3_BODY"/>
          <p:cNvSpPr txBox="1"/>
          <p:nvPr/>
        </p:nvSpPr>
        <p:spPr>
          <a:xfrm>
            <a:off x="82476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Qualité variable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données sources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476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09_RISK_3_ACTION_TAG"/>
          <p:cNvSpPr txBox="1"/>
          <p:nvPr/>
        </p:nvSpPr>
        <p:spPr>
          <a:xfrm>
            <a:off x="82476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0" name="S09_RISK_3_ACTION_BODY"/>
          <p:cNvSpPr txBox="1"/>
          <p:nvPr/>
        </p:nvSpPr>
        <p:spPr>
          <a:xfrm>
            <a:off x="89316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Créer une règle simple de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validation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hebdomadaire.</a:t>
            </a:r>
          </a:p>
        </p:txBody>
      </p:sp>
      <p:sp>
        <p:nvSpPr>
          <p:cNvPr id="31" name="S09_OPP_1_CARD"/>
          <p:cNvSpPr/>
          <p:nvPr/>
        </p:nvSpPr>
        <p:spPr>
          <a:xfrm>
            <a:off x="151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09_OPP_1_ICON"/>
          <p:cNvSpPr/>
          <p:nvPr/>
        </p:nvSpPr>
        <p:spPr>
          <a:xfrm>
            <a:off x="198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09_OPP_1_TITLE"/>
          <p:cNvSpPr txBox="1"/>
          <p:nvPr/>
        </p:nvSpPr>
        <p:spPr>
          <a:xfrm>
            <a:off x="583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post-pilote</a:t>
            </a:r>
          </a:p>
        </p:txBody>
      </p:sp>
      <p:sp>
        <p:nvSpPr>
          <p:cNvPr id="34" name="S09_OPP_1_LEVEL"/>
          <p:cNvSpPr txBox="1"/>
          <p:nvPr/>
        </p:nvSpPr>
        <p:spPr>
          <a:xfrm>
            <a:off x="583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5" name="S09_OPP_1_BODY"/>
          <p:cNvSpPr txBox="1"/>
          <p:nvPr/>
        </p:nvSpPr>
        <p:spPr>
          <a:xfrm>
            <a:off x="223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Témoignages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spontanés des équipes.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3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09_OPP_1_ACTION_TAG"/>
          <p:cNvSpPr txBox="1"/>
          <p:nvPr/>
        </p:nvSpPr>
        <p:spPr>
          <a:xfrm>
            <a:off x="223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8" name="S09_OPP_1_ACTION_BODY"/>
          <p:cNvSpPr txBox="1"/>
          <p:nvPr/>
        </p:nvSpPr>
        <p:spPr>
          <a:xfrm>
            <a:off x="907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Capitaliser via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communication interne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39" name="S09_OPP_2_CARD"/>
          <p:cNvSpPr/>
          <p:nvPr/>
        </p:nvSpPr>
        <p:spPr>
          <a:xfrm>
            <a:off x="4165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09_OPP_2_ICON"/>
          <p:cNvSpPr/>
          <p:nvPr/>
        </p:nvSpPr>
        <p:spPr>
          <a:xfrm>
            <a:off x="4212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09_OPP_2_TITLE"/>
          <p:cNvSpPr txBox="1"/>
          <p:nvPr/>
        </p:nvSpPr>
        <p:spPr>
          <a:xfrm>
            <a:off x="4597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Réplicabilité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multi-sites</a:t>
            </a:r>
          </a:p>
        </p:txBody>
      </p:sp>
      <p:sp>
        <p:nvSpPr>
          <p:cNvPr id="42" name="S09_OPP_2_LEVEL"/>
          <p:cNvSpPr txBox="1"/>
          <p:nvPr/>
        </p:nvSpPr>
        <p:spPr>
          <a:xfrm>
            <a:off x="4597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43" name="S09_OPP_2_BODY"/>
          <p:cNvSpPr txBox="1"/>
          <p:nvPr/>
        </p:nvSpPr>
        <p:spPr>
          <a:xfrm>
            <a:off x="4237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Méthode simple et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transférable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37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S09_OPP_2_ACTION_TAG"/>
          <p:cNvSpPr txBox="1"/>
          <p:nvPr/>
        </p:nvSpPr>
        <p:spPr>
          <a:xfrm>
            <a:off x="4237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6" name="S09_OPP_2_ACTION_BODY"/>
          <p:cNvSpPr txBox="1"/>
          <p:nvPr/>
        </p:nvSpPr>
        <p:spPr>
          <a:xfrm>
            <a:off x="4921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Préparer un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kit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de déploiement.</a:t>
            </a:r>
          </a:p>
        </p:txBody>
      </p:sp>
      <p:sp>
        <p:nvSpPr>
          <p:cNvPr id="47" name="S09_OPP_3_CARD"/>
          <p:cNvSpPr/>
          <p:nvPr/>
        </p:nvSpPr>
        <p:spPr>
          <a:xfrm>
            <a:off x="81756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9_OPP_3_ICON"/>
          <p:cNvSpPr/>
          <p:nvPr/>
        </p:nvSpPr>
        <p:spPr>
          <a:xfrm>
            <a:off x="82224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09_OPP_3_TITLE"/>
          <p:cNvSpPr txBox="1"/>
          <p:nvPr/>
        </p:nvSpPr>
        <p:spPr>
          <a:xfrm>
            <a:off x="86076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Crédibilité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comité</a:t>
            </a:r>
          </a:p>
        </p:txBody>
      </p:sp>
      <p:sp>
        <p:nvSpPr>
          <p:cNvPr id="50" name="S09_OPP_3_LEVEL"/>
          <p:cNvSpPr txBox="1"/>
          <p:nvPr/>
        </p:nvSpPr>
        <p:spPr>
          <a:xfrm>
            <a:off x="86076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51" name="S09_OPP_3_BODY"/>
          <p:cNvSpPr txBox="1"/>
          <p:nvPr/>
        </p:nvSpPr>
        <p:spPr>
          <a:xfrm>
            <a:off x="82476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Décision appuyée sur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preuves terrain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476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09_OPP_3_ACTION_TAG"/>
          <p:cNvSpPr txBox="1"/>
          <p:nvPr/>
        </p:nvSpPr>
        <p:spPr>
          <a:xfrm>
            <a:off x="82476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4" name="S09_OPP_3_ACTION_BODY"/>
          <p:cNvSpPr txBox="1"/>
          <p:nvPr/>
        </p:nvSpPr>
        <p:spPr>
          <a:xfrm>
            <a:off x="89316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Présenter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gains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les risques restants.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Plan d'action 18 mois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10/11</a:t>
            </a:r>
          </a:p>
        </p:txBody>
      </p:sp>
      <p:sp>
        <p:nvSpPr>
          <p:cNvPr id="7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8" name="S10_PHASE_1_CARD"/>
          <p:cNvSpPr/>
          <p:nvPr/>
        </p:nvSpPr>
        <p:spPr>
          <a:xfrm>
            <a:off x="21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0_PHASE_1_BAND"/>
          <p:cNvSpPr/>
          <p:nvPr/>
        </p:nvSpPr>
        <p:spPr>
          <a:xfrm>
            <a:off x="219600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0_PHASE_1_NUMBER"/>
          <p:cNvSpPr txBox="1"/>
          <p:nvPr/>
        </p:nvSpPr>
        <p:spPr>
          <a:xfrm>
            <a:off x="280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10_PHASE_1_TITLE"/>
          <p:cNvSpPr txBox="1"/>
          <p:nvPr/>
        </p:nvSpPr>
        <p:spPr>
          <a:xfrm>
            <a:off x="853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Cadrage</a:t>
            </a:r>
          </a:p>
        </p:txBody>
      </p:sp>
      <p:sp>
        <p:nvSpPr>
          <p:cNvPr id="12" name="S10_PHASE_1_SUBTITLE"/>
          <p:cNvSpPr txBox="1"/>
          <p:nvPr/>
        </p:nvSpPr>
        <p:spPr>
          <a:xfrm>
            <a:off x="853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T2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13" name="S10_PHASE_1_ITEM_1_BULLET"/>
          <p:cNvSpPr/>
          <p:nvPr/>
        </p:nvSpPr>
        <p:spPr>
          <a:xfrm>
            <a:off x="399599" y="23400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0_PHASE_1_ITEM_1_TITLE"/>
          <p:cNvSpPr txBox="1"/>
          <p:nvPr/>
        </p:nvSpPr>
        <p:spPr>
          <a:xfrm>
            <a:off x="586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Sponsor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+ gouvernance</a:t>
            </a:r>
          </a:p>
        </p:txBody>
      </p:sp>
      <p:sp>
        <p:nvSpPr>
          <p:cNvPr id="15" name="S10_PHASE_1_ITEM_1_BODY"/>
          <p:cNvSpPr txBox="1"/>
          <p:nvPr/>
        </p:nvSpPr>
        <p:spPr>
          <a:xfrm>
            <a:off x="586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COPIL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hebdomadaire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sponsor nommé.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600" y="29555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10_PHASE_1_ITEM_2_BULLET"/>
          <p:cNvSpPr/>
          <p:nvPr/>
        </p:nvSpPr>
        <p:spPr>
          <a:xfrm>
            <a:off x="399599" y="33408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10_PHASE_1_ITEM_2_TITLE"/>
          <p:cNvSpPr txBox="1"/>
          <p:nvPr/>
        </p:nvSpPr>
        <p:spPr>
          <a:xfrm>
            <a:off x="586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Diagnostic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9" name="S10_PHASE_1_ITEM_2_BODY"/>
          <p:cNvSpPr txBox="1"/>
          <p:nvPr/>
        </p:nvSpPr>
        <p:spPr>
          <a:xfrm>
            <a:off x="586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Entretiens, irritants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baseline KPI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600" y="39563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10_PHASE_1_ITEM_3_BULLET"/>
          <p:cNvSpPr/>
          <p:nvPr/>
        </p:nvSpPr>
        <p:spPr>
          <a:xfrm>
            <a:off x="399599" y="447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10_PHASE_1_ITEM_3_TITLE"/>
          <p:cNvSpPr txBox="1"/>
          <p:nvPr/>
        </p:nvSpPr>
        <p:spPr>
          <a:xfrm>
            <a:off x="586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Roadmap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détaillée</a:t>
            </a:r>
          </a:p>
        </p:txBody>
      </p:sp>
      <p:sp>
        <p:nvSpPr>
          <p:cNvPr id="23" name="S10_PHASE_1_ITEM_3_BODY"/>
          <p:cNvSpPr txBox="1"/>
          <p:nvPr/>
        </p:nvSpPr>
        <p:spPr>
          <a:xfrm>
            <a:off x="586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Chantiers, jalons et critères de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succès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4" name="S10_PHASE_2_CARD"/>
          <p:cNvSpPr/>
          <p:nvPr/>
        </p:nvSpPr>
        <p:spPr>
          <a:xfrm>
            <a:off x="42048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10_PHASE_2_BAND"/>
          <p:cNvSpPr/>
          <p:nvPr/>
        </p:nvSpPr>
        <p:spPr>
          <a:xfrm>
            <a:off x="4204800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10_PHASE_2_NUMBER"/>
          <p:cNvSpPr txBox="1"/>
          <p:nvPr/>
        </p:nvSpPr>
        <p:spPr>
          <a:xfrm>
            <a:off x="43056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S10_PHASE_2_TITLE"/>
          <p:cNvSpPr txBox="1"/>
          <p:nvPr/>
        </p:nvSpPr>
        <p:spPr>
          <a:xfrm>
            <a:off x="48780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Pilote</a:t>
            </a:r>
          </a:p>
        </p:txBody>
      </p:sp>
      <p:sp>
        <p:nvSpPr>
          <p:cNvPr id="28" name="S10_PHASE_2_SUBTITLE"/>
          <p:cNvSpPr txBox="1"/>
          <p:nvPr/>
        </p:nvSpPr>
        <p:spPr>
          <a:xfrm>
            <a:off x="48780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T3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29" name="S10_PHASE_2_ITEM_1_BULLET"/>
          <p:cNvSpPr/>
          <p:nvPr/>
        </p:nvSpPr>
        <p:spPr>
          <a:xfrm>
            <a:off x="4384800" y="23400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10_PHASE_2_ITEM_1_TITLE"/>
          <p:cNvSpPr txBox="1"/>
          <p:nvPr/>
        </p:nvSpPr>
        <p:spPr>
          <a:xfrm>
            <a:off x="46080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 sites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pilotes</a:t>
            </a:r>
          </a:p>
        </p:txBody>
      </p:sp>
      <p:sp>
        <p:nvSpPr>
          <p:cNvPr id="31" name="S10_PHASE_2_ITEM_1_BODY"/>
          <p:cNvSpPr txBox="1"/>
          <p:nvPr/>
        </p:nvSpPr>
        <p:spPr>
          <a:xfrm>
            <a:off x="46080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Deux contextes pour tester la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robustesse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48800" y="29555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10_PHASE_2_ITEM_2_BULLET"/>
          <p:cNvSpPr/>
          <p:nvPr/>
        </p:nvSpPr>
        <p:spPr>
          <a:xfrm>
            <a:off x="4384800" y="33408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10_PHASE_2_ITEM_2_TITLE"/>
          <p:cNvSpPr txBox="1"/>
          <p:nvPr/>
        </p:nvSpPr>
        <p:spPr>
          <a:xfrm>
            <a:off x="46080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Méthode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validée</a:t>
            </a:r>
          </a:p>
        </p:txBody>
      </p:sp>
      <p:sp>
        <p:nvSpPr>
          <p:cNvPr id="35" name="S10_PHASE_2_ITEM_2_BODY"/>
          <p:cNvSpPr txBox="1"/>
          <p:nvPr/>
        </p:nvSpPr>
        <p:spPr>
          <a:xfrm>
            <a:off x="46080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Itérations courtes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mensuel.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48800" y="39563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10_PHASE_2_ITEM_3_BULLET"/>
          <p:cNvSpPr/>
          <p:nvPr/>
        </p:nvSpPr>
        <p:spPr>
          <a:xfrm>
            <a:off x="4384800" y="447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10_PHASE_2_ITEM_3_TITLE"/>
          <p:cNvSpPr txBox="1"/>
          <p:nvPr/>
        </p:nvSpPr>
        <p:spPr>
          <a:xfrm>
            <a:off x="46080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Premiers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39" name="S10_PHASE_2_ITEM_3_BODY"/>
          <p:cNvSpPr txBox="1"/>
          <p:nvPr/>
        </p:nvSpPr>
        <p:spPr>
          <a:xfrm>
            <a:off x="46080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des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impacts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communication.</a:t>
            </a:r>
          </a:p>
        </p:txBody>
      </p:sp>
      <p:sp>
        <p:nvSpPr>
          <p:cNvPr id="40" name="S10_PHASE_3_CARD"/>
          <p:cNvSpPr/>
          <p:nvPr/>
        </p:nvSpPr>
        <p:spPr>
          <a:xfrm>
            <a:off x="822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10_PHASE_3_BAND"/>
          <p:cNvSpPr/>
          <p:nvPr/>
        </p:nvSpPr>
        <p:spPr>
          <a:xfrm>
            <a:off x="8229600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10_PHASE_3_NUMBER"/>
          <p:cNvSpPr txBox="1"/>
          <p:nvPr/>
        </p:nvSpPr>
        <p:spPr>
          <a:xfrm>
            <a:off x="8326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S10_PHASE_3_TITLE"/>
          <p:cNvSpPr txBox="1"/>
          <p:nvPr/>
        </p:nvSpPr>
        <p:spPr>
          <a:xfrm>
            <a:off x="8899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44" name="S10_PHASE_3_SUBTITLE"/>
          <p:cNvSpPr txBox="1"/>
          <p:nvPr/>
        </p:nvSpPr>
        <p:spPr>
          <a:xfrm>
            <a:off x="8899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45" name="S10_PHASE_3_ITEM_1_BULLET"/>
          <p:cNvSpPr/>
          <p:nvPr/>
        </p:nvSpPr>
        <p:spPr>
          <a:xfrm>
            <a:off x="8409600" y="23400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10_PHASE_3_ITEM_1_TITLE"/>
          <p:cNvSpPr txBox="1"/>
          <p:nvPr/>
        </p:nvSpPr>
        <p:spPr>
          <a:xfrm>
            <a:off x="8632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1</a:t>
            </a:r>
          </a:p>
        </p:txBody>
      </p:sp>
      <p:sp>
        <p:nvSpPr>
          <p:cNvPr id="47" name="S10_PHASE_3_ITEM_1_BODY"/>
          <p:cNvSpPr txBox="1"/>
          <p:nvPr/>
        </p:nvSpPr>
        <p:spPr>
          <a:xfrm>
            <a:off x="8632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Six sites avec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73599" y="29555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10_PHASE_3_ITEM_2_BULLET"/>
          <p:cNvSpPr/>
          <p:nvPr/>
        </p:nvSpPr>
        <p:spPr>
          <a:xfrm>
            <a:off x="8409600" y="33408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10_PHASE_3_ITEM_2_TITLE"/>
          <p:cNvSpPr txBox="1"/>
          <p:nvPr/>
        </p:nvSpPr>
        <p:spPr>
          <a:xfrm>
            <a:off x="8632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2</a:t>
            </a:r>
          </a:p>
        </p:txBody>
      </p:sp>
      <p:sp>
        <p:nvSpPr>
          <p:cNvPr id="51" name="S10_PHASE_3_ITEM_2_BODY"/>
          <p:cNvSpPr txBox="1"/>
          <p:nvPr/>
        </p:nvSpPr>
        <p:spPr>
          <a:xfrm>
            <a:off x="8632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Extension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BU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adjacentes.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73599" y="39563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10_PHASE_3_ITEM_3_BULLET"/>
          <p:cNvSpPr/>
          <p:nvPr/>
        </p:nvSpPr>
        <p:spPr>
          <a:xfrm>
            <a:off x="8409600" y="447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0_PHASE_3_ITEM_3_TITLE"/>
          <p:cNvSpPr txBox="1"/>
          <p:nvPr/>
        </p:nvSpPr>
        <p:spPr>
          <a:xfrm>
            <a:off x="8632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Pérennisation</a:t>
            </a:r>
          </a:p>
        </p:txBody>
      </p:sp>
      <p:sp>
        <p:nvSpPr>
          <p:cNvPr id="55" name="S10_PHASE_3_ITEM_3_BODY"/>
          <p:cNvSpPr txBox="1"/>
          <p:nvPr/>
        </p:nvSpPr>
        <p:spPr>
          <a:xfrm>
            <a:off x="8632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Intégration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routines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managériales.</a:t>
            </a:r>
          </a:p>
        </p:txBody>
      </p:sp>
      <p:sp>
        <p:nvSpPr>
          <p:cNvPr id="56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Trois phases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sécuriser le scale-up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Synthèse et décision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11/11</a:t>
            </a:r>
          </a:p>
        </p:txBody>
      </p:sp>
      <p:sp>
        <p:nvSpPr>
          <p:cNvPr id="7" name="S11_BLOCK_1_ACCENT_BAR"/>
          <p:cNvSpPr/>
          <p:nvPr/>
        </p:nvSpPr>
        <p:spPr>
          <a:xfrm>
            <a:off x="392400" y="1098000"/>
            <a:ext cx="36000" cy="1512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11_BLOCK_1_NUMBER"/>
          <p:cNvSpPr txBox="1"/>
          <p:nvPr/>
        </p:nvSpPr>
        <p:spPr>
          <a:xfrm>
            <a:off x="648000" y="90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BBB4C4">
                    <a:alpha val="40000"/>
                  </a:srgbClr>
                </a:solidFill>
              </a:rPr>
              <a:t>01</a:t>
            </a:r>
          </a:p>
        </p:txBody>
      </p:sp>
      <p:sp>
        <p:nvSpPr>
          <p:cNvPr id="9" name="S11_BLOCK_1_TITLE"/>
          <p:cNvSpPr txBox="1"/>
          <p:nvPr/>
        </p:nvSpPr>
        <p:spPr>
          <a:xfrm>
            <a:off x="720000" y="118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Ce que le 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pilote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 prouve</a:t>
            </a:r>
          </a:p>
        </p:txBody>
      </p:sp>
      <p:sp>
        <p:nvSpPr>
          <p:cNvPr id="10" name="S11_BLOCK_1_BODY"/>
          <p:cNvSpPr txBox="1"/>
          <p:nvPr/>
        </p:nvSpPr>
        <p:spPr>
          <a:xfrm>
            <a:off x="720000" y="162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dispositif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réduit le temps d'arbitrage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rend les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points de blocage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1" name="S11_BLOCK_2_ACCENT_BAR"/>
          <p:cNvSpPr/>
          <p:nvPr/>
        </p:nvSpPr>
        <p:spPr>
          <a:xfrm>
            <a:off x="392400" y="2718000"/>
            <a:ext cx="36000" cy="1512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11_BLOCK_2_NUMBER"/>
          <p:cNvSpPr txBox="1"/>
          <p:nvPr/>
        </p:nvSpPr>
        <p:spPr>
          <a:xfrm>
            <a:off x="648000" y="252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D5B3BE">
                    <a:alpha val="40000"/>
                  </a:srgbClr>
                </a:solidFill>
              </a:rPr>
              <a:t>02</a:t>
            </a:r>
          </a:p>
        </p:txBody>
      </p:sp>
      <p:sp>
        <p:nvSpPr>
          <p:cNvPr id="13" name="S11_BLOCK_2_TITLE"/>
          <p:cNvSpPr txBox="1"/>
          <p:nvPr/>
        </p:nvSpPr>
        <p:spPr>
          <a:xfrm>
            <a:off x="720000" y="2818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Ce qui change pour les </a:t>
            </a:r>
            <a:r>
              <a:rPr sz="1800" b="1" i="0">
                <a:solidFill>
                  <a:srgbClr val="A25871"/>
                </a:solidFill>
                <a:latin typeface="Segoe UI"/>
              </a:rPr>
              <a:t>équipes</a:t>
            </a:r>
          </a:p>
        </p:txBody>
      </p:sp>
      <p:sp>
        <p:nvSpPr>
          <p:cNvPr id="14" name="S11_BLOCK_2_BODY"/>
          <p:cNvSpPr txBox="1"/>
          <p:nvPr/>
        </p:nvSpPr>
        <p:spPr>
          <a:xfrm>
            <a:off x="720000" y="3250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disposent d'une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cadence stable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de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décisions plus rapides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d'un espace clair pour remonter les irritants.</a:t>
            </a:r>
          </a:p>
        </p:txBody>
      </p:sp>
      <p:sp>
        <p:nvSpPr>
          <p:cNvPr id="15" name="S11_BLOCK_3_ACCENT_BAR"/>
          <p:cNvSpPr/>
          <p:nvPr/>
        </p:nvSpPr>
        <p:spPr>
          <a:xfrm>
            <a:off x="392400" y="4338000"/>
            <a:ext cx="36000" cy="1512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11_BLOCK_3_NUMBER"/>
          <p:cNvSpPr txBox="1"/>
          <p:nvPr/>
        </p:nvSpPr>
        <p:spPr>
          <a:xfrm>
            <a:off x="648000" y="414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FEE3CA">
                    <a:alpha val="40000"/>
                  </a:srgbClr>
                </a:solidFill>
              </a:rPr>
              <a:t>03</a:t>
            </a:r>
          </a:p>
        </p:txBody>
      </p:sp>
      <p:sp>
        <p:nvSpPr>
          <p:cNvPr id="17" name="S11_BLOCK_3_TITLE"/>
          <p:cNvSpPr txBox="1"/>
          <p:nvPr/>
        </p:nvSpPr>
        <p:spPr>
          <a:xfrm>
            <a:off x="720000" y="442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Ce que nous </a:t>
            </a:r>
            <a:r>
              <a:rPr sz="1800" b="1" i="0">
                <a:solidFill>
                  <a:srgbClr val="FDA85B"/>
                </a:solidFill>
                <a:latin typeface="Segoe UI"/>
              </a:rPr>
              <a:t>proposons</a:t>
            </a:r>
          </a:p>
        </p:txBody>
      </p:sp>
      <p:sp>
        <p:nvSpPr>
          <p:cNvPr id="18" name="S11_BLOCK_3_BODY"/>
          <p:cNvSpPr txBox="1"/>
          <p:nvPr/>
        </p:nvSpPr>
        <p:spPr>
          <a:xfrm>
            <a:off x="720000" y="486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Valider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scale-up sur trois sites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avec un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sponsor unique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un reporting centré sur les impacts.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Validez-vous le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scale-up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dès ce mois-ci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