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L'évolution du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piano 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révolutionné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la musique occidentale, devenant l'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instrument roi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de notre époque.</a:t>
            </a:r>
          </a:p>
        </p:txBody>
      </p:sp>
      <p:sp>
        <p:nvSpPr>
          <p:cNvPr id="10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Depuis son invention par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Bartolomeo Cristofori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au début du XVIIIe siècle, il n'a cessé d'évoluer techniquement et musicalement pour offrir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expressivité unique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.</a:t>
            </a:r>
          </a:p>
        </p:txBody>
      </p:sp>
      <p:sp>
        <p:nvSpPr>
          <p:cNvPr id="11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1700</a:t>
            </a:r>
          </a:p>
        </p:txBody>
      </p:sp>
      <p:sp>
        <p:nvSpPr>
          <p:cNvPr id="13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Invention</a:t>
            </a:r>
          </a:p>
        </p:txBody>
      </p:sp>
      <p:sp>
        <p:nvSpPr>
          <p:cNvPr id="14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par Cristofori</a:t>
            </a:r>
          </a:p>
        </p:txBody>
      </p:sp>
      <p:sp>
        <p:nvSpPr>
          <p:cNvPr id="15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88</a:t>
            </a:r>
          </a:p>
        </p:txBody>
      </p:sp>
      <p:sp>
        <p:nvSpPr>
          <p:cNvPr id="17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Touches</a:t>
            </a:r>
          </a:p>
        </p:txBody>
      </p:sp>
      <p:sp>
        <p:nvSpPr>
          <p:cNvPr id="18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standard actuel</a:t>
            </a:r>
          </a:p>
        </p:txBody>
      </p:sp>
      <p:sp>
        <p:nvSpPr>
          <p:cNvPr id="19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10k+</a:t>
            </a:r>
          </a:p>
        </p:txBody>
      </p:sp>
      <p:sp>
        <p:nvSpPr>
          <p:cNvPr id="21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Pièces</a:t>
            </a:r>
          </a:p>
        </p:txBody>
      </p:sp>
      <p:sp>
        <p:nvSpPr>
          <p:cNvPr id="22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mécaniques</a:t>
            </a:r>
          </a:p>
        </p:txBody>
      </p:sp>
      <p:sp>
        <p:nvSpPr>
          <p:cNvPr id="2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Une mécanique complexe au service de l'émotion musicale.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3 grandes époques du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2_SEP_1"/>
          <p:cNvSpPr/>
          <p:nvPr/>
        </p:nvSpPr>
        <p:spPr>
          <a:xfrm>
            <a:off x="607859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0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Le pianoforte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0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L'instrument originel aux cordes frappées, remplaçant peu à peu le clavecin.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5459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2_COL_2_TITLE"/>
          <p:cNvSpPr txBox="1"/>
          <p:nvPr/>
        </p:nvSpPr>
        <p:spPr>
          <a:xfrm>
            <a:off x="45966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Le piano romantique</a:t>
            </a:r>
          </a:p>
        </p:txBody>
      </p:sp>
      <p:sp>
        <p:nvSpPr>
          <p:cNvPr id="13" name="S02_COL_2_BODY"/>
          <p:cNvSpPr txBox="1"/>
          <p:nvPr/>
        </p:nvSpPr>
        <p:spPr>
          <a:xfrm>
            <a:off x="45966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L'âge d'or avec Chopin et Liszt, cadre en fonte et cordes croisées.</a:t>
            </a:r>
          </a:p>
        </p:txBody>
      </p:sp>
      <p:sp>
        <p:nvSpPr>
          <p:cNvPr id="14" name="S02_SEP_3"/>
          <p:cNvSpPr/>
          <p:nvPr/>
        </p:nvSpPr>
        <p:spPr>
          <a:xfrm>
            <a:off x="8103059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2_COL_3_TITLE"/>
          <p:cNvSpPr txBox="1"/>
          <p:nvPr/>
        </p:nvSpPr>
        <p:spPr>
          <a:xfrm>
            <a:off x="834426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Le piano moderne</a:t>
            </a:r>
          </a:p>
        </p:txBody>
      </p:sp>
      <p:sp>
        <p:nvSpPr>
          <p:cNvPr id="16" name="S02_COL_3_BODY"/>
          <p:cNvSpPr txBox="1"/>
          <p:nvPr/>
        </p:nvSpPr>
        <p:spPr>
          <a:xfrm>
            <a:off x="834426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Mécanique perfectionnée, puissance sonore et standardisation complète.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Les évolutions majeures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3_TEARDROP_1"/>
          <p:cNvSpPr/>
          <p:nvPr/>
        </p:nvSpPr>
        <p:spPr>
          <a:xfrm>
            <a:off x="1336859" y="1475999"/>
            <a:ext cx="864000" cy="864000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3_FACTOR_1_LABEL"/>
          <p:cNvSpPr txBox="1"/>
          <p:nvPr/>
        </p:nvSpPr>
        <p:spPr>
          <a:xfrm>
            <a:off x="62765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Mécanique à échappement</a:t>
            </a:r>
          </a:p>
        </p:txBody>
      </p:sp>
      <p:sp>
        <p:nvSpPr>
          <p:cNvPr id="10" name="S03_TEARDROP_2"/>
          <p:cNvSpPr/>
          <p:nvPr/>
        </p:nvSpPr>
        <p:spPr>
          <a:xfrm>
            <a:off x="5635260" y="1475999"/>
            <a:ext cx="864000" cy="864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3_FACTOR_2_LABEL"/>
          <p:cNvSpPr txBox="1"/>
          <p:nvPr/>
        </p:nvSpPr>
        <p:spPr>
          <a:xfrm>
            <a:off x="492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Pédale forte et douce</a:t>
            </a:r>
          </a:p>
        </p:txBody>
      </p:sp>
      <p:sp>
        <p:nvSpPr>
          <p:cNvPr id="12" name="S03_TEARDROP_3"/>
          <p:cNvSpPr/>
          <p:nvPr/>
        </p:nvSpPr>
        <p:spPr>
          <a:xfrm>
            <a:off x="9775260" y="1475999"/>
            <a:ext cx="864000" cy="864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3_FACTOR_3_LABEL"/>
          <p:cNvSpPr txBox="1"/>
          <p:nvPr/>
        </p:nvSpPr>
        <p:spPr>
          <a:xfrm>
            <a:off x="906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Cadre métallique</a:t>
            </a:r>
          </a:p>
        </p:txBody>
      </p:sp>
      <p:sp>
        <p:nvSpPr>
          <p:cNvPr id="14" name="S03_TEARDROP_4"/>
          <p:cNvSpPr/>
          <p:nvPr/>
        </p:nvSpPr>
        <p:spPr>
          <a:xfrm>
            <a:off x="1336859" y="4111200"/>
            <a:ext cx="864000" cy="864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3_FACTOR_4_LABEL"/>
          <p:cNvSpPr txBox="1"/>
          <p:nvPr/>
        </p:nvSpPr>
        <p:spPr>
          <a:xfrm>
            <a:off x="62765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Cordes croisées</a:t>
            </a:r>
          </a:p>
        </p:txBody>
      </p:sp>
      <p:sp>
        <p:nvSpPr>
          <p:cNvPr id="16" name="S03_TEARDROP_5"/>
          <p:cNvSpPr/>
          <p:nvPr/>
        </p:nvSpPr>
        <p:spPr>
          <a:xfrm>
            <a:off x="5635260" y="4111200"/>
            <a:ext cx="864000" cy="864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3_FACTOR_5_LABEL"/>
          <p:cNvSpPr txBox="1"/>
          <p:nvPr/>
        </p:nvSpPr>
        <p:spPr>
          <a:xfrm>
            <a:off x="492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Clavier étendu</a:t>
            </a:r>
          </a:p>
        </p:txBody>
      </p:sp>
      <p:sp>
        <p:nvSpPr>
          <p:cNvPr id="18" name="S03_TEARDROP_6"/>
          <p:cNvSpPr/>
          <p:nvPr/>
        </p:nvSpPr>
        <p:spPr>
          <a:xfrm>
            <a:off x="9775260" y="4111200"/>
            <a:ext cx="864000" cy="864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3_FACTOR_6_LABEL"/>
          <p:cNvSpPr txBox="1"/>
          <p:nvPr/>
        </p:nvSpPr>
        <p:spPr>
          <a:xfrm>
            <a:off x="906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Tension accrue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L'innovation continue au service de la puissance sonore.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9" y="1080000"/>
            <a:ext cx="5929200" cy="4860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La composition d'un piano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04      |</a:t>
            </a:r>
          </a:p>
        </p:txBody>
      </p:sp>
      <p:pic>
        <p:nvPicPr>
          <p:cNvPr id="8" name="Picture 7" descr="safr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9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Le meuble</a:t>
            </a:r>
          </a:p>
        </p:txBody>
      </p:sp>
      <p:sp>
        <p:nvSpPr>
          <p:cNvPr id="10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Esthétique et résonance</a:t>
            </a:r>
          </a:p>
        </p:txBody>
      </p:sp>
      <p:sp>
        <p:nvSpPr>
          <p:cNvPr id="11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La mécanique</a:t>
            </a:r>
          </a:p>
        </p:txBody>
      </p:sp>
      <p:sp>
        <p:nvSpPr>
          <p:cNvPr id="12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Touches, marteaux</a:t>
            </a:r>
          </a:p>
        </p:txBody>
      </p:sp>
      <p:sp>
        <p:nvSpPr>
          <p:cNvPr id="13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La structure</a:t>
            </a:r>
          </a:p>
        </p:txBody>
      </p:sp>
      <p:sp>
        <p:nvSpPr>
          <p:cNvPr id="14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Cadre et table d'harmonie</a:t>
            </a:r>
          </a:p>
        </p:txBody>
      </p:sp>
      <p:sp>
        <p:nvSpPr>
          <p:cNvPr id="15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 équilibre parfait entre lutherie traditionnelle et ingénierie.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Chronologie de l'instrument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10459" y="2462400"/>
            <a:ext cx="25020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500460" y="2462400"/>
            <a:ext cx="25020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290459" y="2462400"/>
            <a:ext cx="2502001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1" name="S05_STEP_1_BULLET"/>
          <p:cNvSpPr/>
          <p:nvPr/>
        </p:nvSpPr>
        <p:spPr>
          <a:xfrm>
            <a:off x="566459" y="2390400"/>
            <a:ext cx="144000" cy="144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5_STEP_1_NUMBER"/>
          <p:cNvSpPr/>
          <p:nvPr/>
        </p:nvSpPr>
        <p:spPr>
          <a:xfrm>
            <a:off x="566459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3" name="S05_STEP_1_PERIOD"/>
          <p:cNvSpPr txBox="1"/>
          <p:nvPr/>
        </p:nvSpPr>
        <p:spPr>
          <a:xfrm>
            <a:off x="56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1700</a:t>
            </a:r>
          </a:p>
        </p:txBody>
      </p:sp>
      <p:sp>
        <p:nvSpPr>
          <p:cNvPr id="14" name="S05_STEP_1_TITLE"/>
          <p:cNvSpPr txBox="1"/>
          <p:nvPr/>
        </p:nvSpPr>
        <p:spPr>
          <a:xfrm>
            <a:off x="56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Invention</a:t>
            </a:r>
          </a:p>
        </p:txBody>
      </p:sp>
      <p:sp>
        <p:nvSpPr>
          <p:cNvPr id="15" name="S05_STEP_1_BODY"/>
          <p:cNvSpPr txBox="1"/>
          <p:nvPr/>
        </p:nvSpPr>
        <p:spPr>
          <a:xfrm>
            <a:off x="56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Cristofori crée le gravicembalo col piano e forte.</a:t>
            </a:r>
          </a:p>
        </p:txBody>
      </p:sp>
      <p:sp>
        <p:nvSpPr>
          <p:cNvPr id="16" name="S05_STEP_2_BULLET"/>
          <p:cNvSpPr/>
          <p:nvPr/>
        </p:nvSpPr>
        <p:spPr>
          <a:xfrm>
            <a:off x="3356459" y="2390400"/>
            <a:ext cx="144000" cy="144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5_STEP_2_NUMBER"/>
          <p:cNvSpPr/>
          <p:nvPr/>
        </p:nvSpPr>
        <p:spPr>
          <a:xfrm>
            <a:off x="3356459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8" name="S05_STEP_2_PERIOD"/>
          <p:cNvSpPr txBox="1"/>
          <p:nvPr/>
        </p:nvSpPr>
        <p:spPr>
          <a:xfrm>
            <a:off x="335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1780</a:t>
            </a:r>
          </a:p>
        </p:txBody>
      </p:sp>
      <p:sp>
        <p:nvSpPr>
          <p:cNvPr id="19" name="S05_STEP_2_TITLE"/>
          <p:cNvSpPr txBox="1"/>
          <p:nvPr/>
        </p:nvSpPr>
        <p:spPr>
          <a:xfrm>
            <a:off x="335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Classique</a:t>
            </a:r>
          </a:p>
        </p:txBody>
      </p:sp>
      <p:sp>
        <p:nvSpPr>
          <p:cNvPr id="20" name="S05_STEP_2_BODY"/>
          <p:cNvSpPr txBox="1"/>
          <p:nvPr/>
        </p:nvSpPr>
        <p:spPr>
          <a:xfrm>
            <a:off x="335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Mozart adopte le piano viennois, plus léger.</a:t>
            </a:r>
          </a:p>
        </p:txBody>
      </p:sp>
      <p:sp>
        <p:nvSpPr>
          <p:cNvPr id="21" name="S05_STEP_3_BULLET"/>
          <p:cNvSpPr/>
          <p:nvPr/>
        </p:nvSpPr>
        <p:spPr>
          <a:xfrm>
            <a:off x="6146460" y="2390400"/>
            <a:ext cx="144000" cy="1440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05_STEP_3_NUMBER"/>
          <p:cNvSpPr/>
          <p:nvPr/>
        </p:nvSpPr>
        <p:spPr>
          <a:xfrm>
            <a:off x="614646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3" name="S05_STEP_3_PERIOD"/>
          <p:cNvSpPr txBox="1"/>
          <p:nvPr/>
        </p:nvSpPr>
        <p:spPr>
          <a:xfrm>
            <a:off x="614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1850</a:t>
            </a:r>
          </a:p>
        </p:txBody>
      </p:sp>
      <p:sp>
        <p:nvSpPr>
          <p:cNvPr id="24" name="S05_STEP_3_TITLE"/>
          <p:cNvSpPr txBox="1"/>
          <p:nvPr/>
        </p:nvSpPr>
        <p:spPr>
          <a:xfrm>
            <a:off x="614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Romantique</a:t>
            </a:r>
          </a:p>
        </p:txBody>
      </p:sp>
      <p:sp>
        <p:nvSpPr>
          <p:cNvPr id="25" name="S05_STEP_3_BODY"/>
          <p:cNvSpPr txBox="1"/>
          <p:nvPr/>
        </p:nvSpPr>
        <p:spPr>
          <a:xfrm>
            <a:off x="614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Développement du piano de concert moderne.</a:t>
            </a:r>
          </a:p>
        </p:txBody>
      </p:sp>
      <p:sp>
        <p:nvSpPr>
          <p:cNvPr id="26" name="S05_STEP_4_BULLET"/>
          <p:cNvSpPr/>
          <p:nvPr/>
        </p:nvSpPr>
        <p:spPr>
          <a:xfrm>
            <a:off x="8936460" y="2390400"/>
            <a:ext cx="144000" cy="144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5_STEP_4_NUMBER"/>
          <p:cNvSpPr/>
          <p:nvPr/>
        </p:nvSpPr>
        <p:spPr>
          <a:xfrm>
            <a:off x="893646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8" name="S05_STEP_4_PERIOD"/>
          <p:cNvSpPr txBox="1"/>
          <p:nvPr/>
        </p:nvSpPr>
        <p:spPr>
          <a:xfrm>
            <a:off x="893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1980</a:t>
            </a:r>
          </a:p>
        </p:txBody>
      </p:sp>
      <p:sp>
        <p:nvSpPr>
          <p:cNvPr id="29" name="S05_STEP_4_TITLE"/>
          <p:cNvSpPr txBox="1"/>
          <p:nvPr/>
        </p:nvSpPr>
        <p:spPr>
          <a:xfrm>
            <a:off x="893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Électronique</a:t>
            </a:r>
          </a:p>
        </p:txBody>
      </p:sp>
      <p:sp>
        <p:nvSpPr>
          <p:cNvPr id="30" name="S05_STEP_4_BODY"/>
          <p:cNvSpPr txBox="1"/>
          <p:nvPr/>
        </p:nvSpPr>
        <p:spPr>
          <a:xfrm>
            <a:off x="893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Apparition des pianos numériques.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Comparatif des ancêtres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6_HEADER_1_BG"/>
          <p:cNvSpPr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6_HEADER_C1"/>
          <p:cNvSpPr txBox="1"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Instrument</a:t>
            </a:r>
          </a:p>
        </p:txBody>
      </p:sp>
      <p:sp>
        <p:nvSpPr>
          <p:cNvPr id="10" name="S06_HEADER_2_BG"/>
          <p:cNvSpPr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6_HEADER_C2"/>
          <p:cNvSpPr txBox="1"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Mécanisme</a:t>
            </a:r>
          </a:p>
        </p:txBody>
      </p:sp>
      <p:sp>
        <p:nvSpPr>
          <p:cNvPr id="12" name="S06_HEADER_3_BG"/>
          <p:cNvSpPr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6_HEADER_C3"/>
          <p:cNvSpPr txBox="1"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Nuances</a:t>
            </a:r>
          </a:p>
        </p:txBody>
      </p:sp>
      <p:sp>
        <p:nvSpPr>
          <p:cNvPr id="14" name="S06_HEADER_4_BG"/>
          <p:cNvSpPr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6_HEADER_C4"/>
          <p:cNvSpPr txBox="1"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Puissance</a:t>
            </a:r>
          </a:p>
        </p:txBody>
      </p:sp>
      <p:sp>
        <p:nvSpPr>
          <p:cNvPr id="16" name="S06_HEADER_5_BG"/>
          <p:cNvSpPr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6_HEADER_C5"/>
          <p:cNvSpPr txBox="1"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Époque</a:t>
            </a:r>
          </a:p>
        </p:txBody>
      </p:sp>
      <p:sp>
        <p:nvSpPr>
          <p:cNvPr id="18" name="S06_R1_BG"/>
          <p:cNvSpPr/>
          <p:nvPr/>
        </p:nvSpPr>
        <p:spPr>
          <a:xfrm>
            <a:off x="375659" y="23616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6_R1C1"/>
          <p:cNvSpPr txBox="1"/>
          <p:nvPr/>
        </p:nvSpPr>
        <p:spPr>
          <a:xfrm>
            <a:off x="375659" y="23616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Clavecin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1" name="S06_R1C2"/>
          <p:cNvSpPr txBox="1"/>
          <p:nvPr/>
        </p:nvSpPr>
        <p:spPr>
          <a:xfrm>
            <a:off x="4000859" y="23616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Cordes pincées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3" name="S06_R1C3"/>
          <p:cNvSpPr txBox="1"/>
          <p:nvPr/>
        </p:nvSpPr>
        <p:spPr>
          <a:xfrm>
            <a:off x="6096059" y="23616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Non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5" name="S06_R1C4"/>
          <p:cNvSpPr txBox="1"/>
          <p:nvPr/>
        </p:nvSpPr>
        <p:spPr>
          <a:xfrm>
            <a:off x="7860060" y="23616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7" name="S06_R1C5"/>
          <p:cNvSpPr txBox="1"/>
          <p:nvPr/>
        </p:nvSpPr>
        <p:spPr>
          <a:xfrm>
            <a:off x="10189260" y="23616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Baroque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9" name="S06_R2_BG"/>
          <p:cNvSpPr/>
          <p:nvPr/>
        </p:nvSpPr>
        <p:spPr>
          <a:xfrm>
            <a:off x="375659" y="2869200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6_R2C1"/>
          <p:cNvSpPr txBox="1"/>
          <p:nvPr/>
        </p:nvSpPr>
        <p:spPr>
          <a:xfrm>
            <a:off x="375659" y="28692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Clavicorde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2" name="S06_R2C2"/>
          <p:cNvSpPr txBox="1"/>
          <p:nvPr/>
        </p:nvSpPr>
        <p:spPr>
          <a:xfrm>
            <a:off x="4000859" y="28692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Cordes frappées (tangentes)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4" name="S06_R2C3"/>
          <p:cNvSpPr txBox="1"/>
          <p:nvPr/>
        </p:nvSpPr>
        <p:spPr>
          <a:xfrm>
            <a:off x="6096059" y="28692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Oui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6" name="S06_R2C4"/>
          <p:cNvSpPr txBox="1"/>
          <p:nvPr/>
        </p:nvSpPr>
        <p:spPr>
          <a:xfrm>
            <a:off x="7860060" y="28692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Très faible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8" name="S06_R2C5"/>
          <p:cNvSpPr txBox="1"/>
          <p:nvPr/>
        </p:nvSpPr>
        <p:spPr>
          <a:xfrm>
            <a:off x="10189260" y="28692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Renaissance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0" name="S06_R3_BG"/>
          <p:cNvSpPr/>
          <p:nvPr/>
        </p:nvSpPr>
        <p:spPr>
          <a:xfrm>
            <a:off x="375659" y="33768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6_R3C1"/>
          <p:cNvSpPr txBox="1"/>
          <p:nvPr/>
        </p:nvSpPr>
        <p:spPr>
          <a:xfrm>
            <a:off x="375659" y="33768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Pianoforte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3" name="S06_R3C2"/>
          <p:cNvSpPr txBox="1"/>
          <p:nvPr/>
        </p:nvSpPr>
        <p:spPr>
          <a:xfrm>
            <a:off x="4000859" y="33768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Cordes frappées (marteaux)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5" name="S06_R3C3"/>
          <p:cNvSpPr txBox="1"/>
          <p:nvPr/>
        </p:nvSpPr>
        <p:spPr>
          <a:xfrm>
            <a:off x="6096059" y="33768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Oui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7" name="S06_R3C4"/>
          <p:cNvSpPr txBox="1"/>
          <p:nvPr/>
        </p:nvSpPr>
        <p:spPr>
          <a:xfrm>
            <a:off x="7860060" y="33768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Moyenne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9" name="S06_R3C5"/>
          <p:cNvSpPr txBox="1"/>
          <p:nvPr/>
        </p:nvSpPr>
        <p:spPr>
          <a:xfrm>
            <a:off x="10189260" y="33768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Classique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1" name="S06_R4_BG"/>
          <p:cNvSpPr/>
          <p:nvPr/>
        </p:nvSpPr>
        <p:spPr>
          <a:xfrm>
            <a:off x="375659" y="3884399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06_R4C1"/>
          <p:cNvSpPr txBox="1"/>
          <p:nvPr/>
        </p:nvSpPr>
        <p:spPr>
          <a:xfrm>
            <a:off x="375659" y="3884399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Piano moderne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4" name="S06_R4C2"/>
          <p:cNvSpPr txBox="1"/>
          <p:nvPr/>
        </p:nvSpPr>
        <p:spPr>
          <a:xfrm>
            <a:off x="4000859" y="3884399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Double échappement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6" name="S06_R4C3"/>
          <p:cNvSpPr txBox="1"/>
          <p:nvPr/>
        </p:nvSpPr>
        <p:spPr>
          <a:xfrm>
            <a:off x="6096059" y="3884399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Oui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8" name="S06_R4C4"/>
          <p:cNvSpPr txBox="1"/>
          <p:nvPr/>
        </p:nvSpPr>
        <p:spPr>
          <a:xfrm>
            <a:off x="7860060" y="3884399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Forte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0" name="S06_R4C5"/>
          <p:cNvSpPr txBox="1"/>
          <p:nvPr/>
        </p:nvSpPr>
        <p:spPr>
          <a:xfrm>
            <a:off x="10189260" y="3884399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Contemporaine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2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piano s'est imposé par sa capacité expressive.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 piano en chiffres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07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7_KPI_1_CARD"/>
          <p:cNvSpPr/>
          <p:nvPr/>
        </p:nvSpPr>
        <p:spPr>
          <a:xfrm>
            <a:off x="498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7_KPI_1_LABEL"/>
          <p:cNvSpPr txBox="1"/>
          <p:nvPr/>
        </p:nvSpPr>
        <p:spPr>
          <a:xfrm>
            <a:off x="537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88</a:t>
            </a:r>
          </a:p>
        </p:txBody>
      </p:sp>
      <p:sp>
        <p:nvSpPr>
          <p:cNvPr id="10" name="S07_KPI_1_SUBLABEL"/>
          <p:cNvSpPr txBox="1"/>
          <p:nvPr/>
        </p:nvSpPr>
        <p:spPr>
          <a:xfrm>
            <a:off x="537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Touches</a:t>
            </a:r>
          </a:p>
        </p:txBody>
      </p:sp>
      <p:sp>
        <p:nvSpPr>
          <p:cNvPr id="11" name="S07_KPI_2_CARD"/>
          <p:cNvSpPr/>
          <p:nvPr/>
        </p:nvSpPr>
        <p:spPr>
          <a:xfrm>
            <a:off x="23772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7_KPI_2_LABEL"/>
          <p:cNvSpPr txBox="1"/>
          <p:nvPr/>
        </p:nvSpPr>
        <p:spPr>
          <a:xfrm>
            <a:off x="24168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3</a:t>
            </a:r>
          </a:p>
        </p:txBody>
      </p:sp>
      <p:sp>
        <p:nvSpPr>
          <p:cNvPr id="13" name="S07_KPI_2_SUBLABEL"/>
          <p:cNvSpPr txBox="1"/>
          <p:nvPr/>
        </p:nvSpPr>
        <p:spPr>
          <a:xfrm>
            <a:off x="24168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Pédales</a:t>
            </a:r>
          </a:p>
        </p:txBody>
      </p:sp>
      <p:sp>
        <p:nvSpPr>
          <p:cNvPr id="14" name="S07_KPI_3_CARD"/>
          <p:cNvSpPr/>
          <p:nvPr/>
        </p:nvSpPr>
        <p:spPr>
          <a:xfrm>
            <a:off x="42564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7_KPI_3_LABEL"/>
          <p:cNvSpPr txBox="1"/>
          <p:nvPr/>
        </p:nvSpPr>
        <p:spPr>
          <a:xfrm>
            <a:off x="42960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10k+</a:t>
            </a:r>
          </a:p>
        </p:txBody>
      </p:sp>
      <p:sp>
        <p:nvSpPr>
          <p:cNvPr id="16" name="S07_KPI_3_SUBLABEL"/>
          <p:cNvSpPr txBox="1"/>
          <p:nvPr/>
        </p:nvSpPr>
        <p:spPr>
          <a:xfrm>
            <a:off x="42960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Pièces</a:t>
            </a:r>
          </a:p>
        </p:txBody>
      </p:sp>
      <p:sp>
        <p:nvSpPr>
          <p:cNvPr id="17" name="S07_KPI_4_CARD"/>
          <p:cNvSpPr/>
          <p:nvPr/>
        </p:nvSpPr>
        <p:spPr>
          <a:xfrm>
            <a:off x="61356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7_KPI_4_LABEL"/>
          <p:cNvSpPr txBox="1"/>
          <p:nvPr/>
        </p:nvSpPr>
        <p:spPr>
          <a:xfrm>
            <a:off x="61752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220+</a:t>
            </a:r>
          </a:p>
        </p:txBody>
      </p:sp>
      <p:sp>
        <p:nvSpPr>
          <p:cNvPr id="19" name="S07_KPI_4_SUBLABEL"/>
          <p:cNvSpPr txBox="1"/>
          <p:nvPr/>
        </p:nvSpPr>
        <p:spPr>
          <a:xfrm>
            <a:off x="61752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Cordes</a:t>
            </a:r>
          </a:p>
        </p:txBody>
      </p:sp>
      <p:sp>
        <p:nvSpPr>
          <p:cNvPr id="20" name="S07_KPI_5_CARD"/>
          <p:cNvSpPr/>
          <p:nvPr/>
        </p:nvSpPr>
        <p:spPr>
          <a:xfrm>
            <a:off x="80148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7_KPI_5_LABEL"/>
          <p:cNvSpPr txBox="1"/>
          <p:nvPr/>
        </p:nvSpPr>
        <p:spPr>
          <a:xfrm>
            <a:off x="80544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20 t</a:t>
            </a:r>
          </a:p>
        </p:txBody>
      </p:sp>
      <p:sp>
        <p:nvSpPr>
          <p:cNvPr id="22" name="S07_KPI_5_SUBLABEL"/>
          <p:cNvSpPr txBox="1"/>
          <p:nvPr/>
        </p:nvSpPr>
        <p:spPr>
          <a:xfrm>
            <a:off x="80544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Tension totale</a:t>
            </a:r>
          </a:p>
        </p:txBody>
      </p:sp>
      <p:sp>
        <p:nvSpPr>
          <p:cNvPr id="23" name="S07_KPI_6_CARD"/>
          <p:cNvSpPr/>
          <p:nvPr/>
        </p:nvSpPr>
        <p:spPr>
          <a:xfrm>
            <a:off x="9894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7_KPI_6_LABEL"/>
          <p:cNvSpPr txBox="1"/>
          <p:nvPr/>
        </p:nvSpPr>
        <p:spPr>
          <a:xfrm>
            <a:off x="9933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7 oct.</a:t>
            </a:r>
          </a:p>
        </p:txBody>
      </p:sp>
      <p:sp>
        <p:nvSpPr>
          <p:cNvPr id="25" name="S07_KPI_6_SUBLABEL"/>
          <p:cNvSpPr txBox="1"/>
          <p:nvPr/>
        </p:nvSpPr>
        <p:spPr>
          <a:xfrm>
            <a:off x="9933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Ambitus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7_SECTION_LABEL"/>
          <p:cNvSpPr txBox="1"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070E1D"/>
                </a:solidFill>
                <a:latin typeface="Segoe UI"/>
              </a:rPr>
              <a:t>Répartition du répertoire</a:t>
            </a:r>
          </a:p>
        </p:txBody>
      </p:sp>
      <p:sp>
        <p:nvSpPr>
          <p:cNvPr id="28" name="S07_BAR_1_LABEL"/>
          <p:cNvSpPr txBox="1"/>
          <p:nvPr/>
        </p:nvSpPr>
        <p:spPr>
          <a:xfrm>
            <a:off x="498059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Musique Classique</a:t>
            </a:r>
          </a:p>
        </p:txBody>
      </p:sp>
      <p:sp>
        <p:nvSpPr>
          <p:cNvPr id="29" name="S07_BAR_1_BAR"/>
          <p:cNvSpPr/>
          <p:nvPr/>
        </p:nvSpPr>
        <p:spPr>
          <a:xfrm>
            <a:off x="3068459" y="3704399"/>
            <a:ext cx="3606120" cy="198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7_BAR_1_VALUE"/>
          <p:cNvSpPr txBox="1"/>
          <p:nvPr/>
        </p:nvSpPr>
        <p:spPr>
          <a:xfrm>
            <a:off x="1111806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45%</a:t>
            </a:r>
          </a:p>
        </p:txBody>
      </p:sp>
      <p:sp>
        <p:nvSpPr>
          <p:cNvPr id="31" name="S07_BAR_2_LABEL"/>
          <p:cNvSpPr txBox="1"/>
          <p:nvPr/>
        </p:nvSpPr>
        <p:spPr>
          <a:xfrm>
            <a:off x="498059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Jazz &amp; Blues</a:t>
            </a:r>
          </a:p>
        </p:txBody>
      </p:sp>
      <p:sp>
        <p:nvSpPr>
          <p:cNvPr id="32" name="S07_BAR_2_BAR"/>
          <p:cNvSpPr/>
          <p:nvPr/>
        </p:nvSpPr>
        <p:spPr>
          <a:xfrm>
            <a:off x="3068459" y="4176000"/>
            <a:ext cx="2003399" cy="198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7_BAR_2_VALUE"/>
          <p:cNvSpPr txBox="1"/>
          <p:nvPr/>
        </p:nvSpPr>
        <p:spPr>
          <a:xfrm>
            <a:off x="1111806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25%</a:t>
            </a:r>
          </a:p>
        </p:txBody>
      </p:sp>
      <p:sp>
        <p:nvSpPr>
          <p:cNvPr id="34" name="S07_BAR_3_LABEL"/>
          <p:cNvSpPr txBox="1"/>
          <p:nvPr/>
        </p:nvSpPr>
        <p:spPr>
          <a:xfrm>
            <a:off x="498059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Musique Pop</a:t>
            </a:r>
          </a:p>
        </p:txBody>
      </p:sp>
      <p:sp>
        <p:nvSpPr>
          <p:cNvPr id="35" name="S07_BAR_3_BAR"/>
          <p:cNvSpPr/>
          <p:nvPr/>
        </p:nvSpPr>
        <p:spPr>
          <a:xfrm>
            <a:off x="3068459" y="4636800"/>
            <a:ext cx="1202039" cy="198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7_BAR_3_VALUE"/>
          <p:cNvSpPr txBox="1"/>
          <p:nvPr/>
        </p:nvSpPr>
        <p:spPr>
          <a:xfrm>
            <a:off x="1111806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15%</a:t>
            </a:r>
          </a:p>
        </p:txBody>
      </p:sp>
      <p:sp>
        <p:nvSpPr>
          <p:cNvPr id="37" name="S07_BAR_4_LABEL"/>
          <p:cNvSpPr txBox="1"/>
          <p:nvPr/>
        </p:nvSpPr>
        <p:spPr>
          <a:xfrm>
            <a:off x="498059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Musique de Film</a:t>
            </a:r>
          </a:p>
        </p:txBody>
      </p:sp>
      <p:sp>
        <p:nvSpPr>
          <p:cNvPr id="38" name="S07_BAR_4_BAR"/>
          <p:cNvSpPr/>
          <p:nvPr/>
        </p:nvSpPr>
        <p:spPr>
          <a:xfrm>
            <a:off x="3068459" y="5097600"/>
            <a:ext cx="801360" cy="198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07_BAR_4_VALUE"/>
          <p:cNvSpPr txBox="1"/>
          <p:nvPr/>
        </p:nvSpPr>
        <p:spPr>
          <a:xfrm>
            <a:off x="1111806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10%</a:t>
            </a:r>
          </a:p>
        </p:txBody>
      </p:sp>
      <p:sp>
        <p:nvSpPr>
          <p:cNvPr id="40" name="S07_BAR_5_LABEL"/>
          <p:cNvSpPr txBox="1"/>
          <p:nvPr/>
        </p:nvSpPr>
        <p:spPr>
          <a:xfrm>
            <a:off x="498059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Autres styles</a:t>
            </a:r>
          </a:p>
        </p:txBody>
      </p:sp>
      <p:sp>
        <p:nvSpPr>
          <p:cNvPr id="41" name="S07_BAR_5_BAR"/>
          <p:cNvSpPr/>
          <p:nvPr/>
        </p:nvSpPr>
        <p:spPr>
          <a:xfrm>
            <a:off x="3068459" y="5536800"/>
            <a:ext cx="400680" cy="198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07_BAR_5_VALUE"/>
          <p:cNvSpPr txBox="1"/>
          <p:nvPr/>
        </p:nvSpPr>
        <p:spPr>
          <a:xfrm>
            <a:off x="1111806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5%</a:t>
            </a:r>
          </a:p>
        </p:txBody>
      </p:sp>
      <p:sp>
        <p:nvSpPr>
          <p:cNvPr id="4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 instrument aux caractéristiques hors normes.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Droit vs À queue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08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Comparatif des caractéristiques</a:t>
            </a:r>
          </a:p>
        </p:txBody>
      </p:sp>
      <p:sp>
        <p:nvSpPr>
          <p:cNvPr id="9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Piano droit</a:t>
            </a:r>
          </a:p>
        </p:txBody>
      </p:sp>
      <p:sp>
        <p:nvSpPr>
          <p:cNvPr id="10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Piano à queue</a:t>
            </a:r>
          </a:p>
        </p:txBody>
      </p:sp>
      <p:sp>
        <p:nvSpPr>
          <p:cNvPr id="11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Longueur max (cm)</a:t>
            </a:r>
          </a:p>
        </p:txBody>
      </p:sp>
      <p:sp>
        <p:nvSpPr>
          <p:cNvPr id="14" name="S08_ROW_1_BAR_1"/>
          <p:cNvSpPr/>
          <p:nvPr/>
        </p:nvSpPr>
        <p:spPr>
          <a:xfrm>
            <a:off x="4298400" y="2934000"/>
            <a:ext cx="186966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BAR_2"/>
          <p:cNvSpPr/>
          <p:nvPr/>
        </p:nvSpPr>
        <p:spPr>
          <a:xfrm>
            <a:off x="8798400" y="29340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8_ROW_1_VALUE_1"/>
          <p:cNvSpPr txBox="1"/>
          <p:nvPr/>
        </p:nvSpPr>
        <p:spPr>
          <a:xfrm>
            <a:off x="620406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150 cm</a:t>
            </a:r>
          </a:p>
        </p:txBody>
      </p:sp>
      <p:sp>
        <p:nvSpPr>
          <p:cNvPr id="17" name="S08_ROW_1_VALUE_2"/>
          <p:cNvSpPr txBox="1"/>
          <p:nvPr/>
        </p:nvSpPr>
        <p:spPr>
          <a:xfrm>
            <a:off x="1107738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300 cm</a:t>
            </a:r>
          </a:p>
        </p:txBody>
      </p:sp>
      <p:sp>
        <p:nvSpPr>
          <p:cNvPr id="18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Poids moyen (kg)</a:t>
            </a:r>
          </a:p>
        </p:txBody>
      </p:sp>
      <p:sp>
        <p:nvSpPr>
          <p:cNvPr id="19" name="S08_ROW_2_BAR_1"/>
          <p:cNvSpPr/>
          <p:nvPr/>
        </p:nvSpPr>
        <p:spPr>
          <a:xfrm>
            <a:off x="4298400" y="3401999"/>
            <a:ext cx="16619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BAR_2"/>
          <p:cNvSpPr/>
          <p:nvPr/>
        </p:nvSpPr>
        <p:spPr>
          <a:xfrm>
            <a:off x="8798400" y="3401999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8_ROW_2_VALUE_1"/>
          <p:cNvSpPr txBox="1"/>
          <p:nvPr/>
        </p:nvSpPr>
        <p:spPr>
          <a:xfrm>
            <a:off x="59963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200 kg</a:t>
            </a:r>
          </a:p>
        </p:txBody>
      </p:sp>
      <p:sp>
        <p:nvSpPr>
          <p:cNvPr id="22" name="S08_ROW_2_VALUE_2"/>
          <p:cNvSpPr txBox="1"/>
          <p:nvPr/>
        </p:nvSpPr>
        <p:spPr>
          <a:xfrm>
            <a:off x="1107738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450 kg</a:t>
            </a:r>
          </a:p>
        </p:txBody>
      </p:sp>
      <p:sp>
        <p:nvSpPr>
          <p:cNvPr id="23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Résonance (score)</a:t>
            </a:r>
          </a:p>
        </p:txBody>
      </p:sp>
      <p:sp>
        <p:nvSpPr>
          <p:cNvPr id="24" name="S08_ROW_3_BAR_1"/>
          <p:cNvSpPr/>
          <p:nvPr/>
        </p:nvSpPr>
        <p:spPr>
          <a:xfrm>
            <a:off x="4298400" y="3873600"/>
            <a:ext cx="2243592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8_ROW_3_VALUE_1"/>
          <p:cNvSpPr txBox="1"/>
          <p:nvPr/>
        </p:nvSpPr>
        <p:spPr>
          <a:xfrm>
            <a:off x="6577992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6.0</a:t>
            </a:r>
          </a:p>
        </p:txBody>
      </p:sp>
      <p:sp>
        <p:nvSpPr>
          <p:cNvPr id="27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10.0</a:t>
            </a:r>
          </a:p>
        </p:txBody>
      </p:sp>
      <p:sp>
        <p:nvSpPr>
          <p:cNvPr id="28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Prix d'entrée (€)</a:t>
            </a:r>
          </a:p>
        </p:txBody>
      </p:sp>
      <p:sp>
        <p:nvSpPr>
          <p:cNvPr id="29" name="S08_ROW_4_BAR_1"/>
          <p:cNvSpPr/>
          <p:nvPr/>
        </p:nvSpPr>
        <p:spPr>
          <a:xfrm>
            <a:off x="4298400" y="4345200"/>
            <a:ext cx="747864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BAR_2"/>
          <p:cNvSpPr/>
          <p:nvPr/>
        </p:nvSpPr>
        <p:spPr>
          <a:xfrm>
            <a:off x="8798400" y="4345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08_ROW_4_VALUE_1"/>
          <p:cNvSpPr txBox="1"/>
          <p:nvPr/>
        </p:nvSpPr>
        <p:spPr>
          <a:xfrm>
            <a:off x="5082264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3k €</a:t>
            </a:r>
          </a:p>
        </p:txBody>
      </p:sp>
      <p:sp>
        <p:nvSpPr>
          <p:cNvPr id="32" name="S08_ROW_4_VALUE_2"/>
          <p:cNvSpPr txBox="1"/>
          <p:nvPr/>
        </p:nvSpPr>
        <p:spPr>
          <a:xfrm>
            <a:off x="1107738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15k €</a:t>
            </a:r>
          </a:p>
        </p:txBody>
      </p:sp>
      <p:sp>
        <p:nvSpPr>
          <p:cNvPr id="33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Vitesse de répétition</a:t>
            </a:r>
          </a:p>
        </p:txBody>
      </p:sp>
      <p:sp>
        <p:nvSpPr>
          <p:cNvPr id="34" name="S08_ROW_5_BAR_1"/>
          <p:cNvSpPr/>
          <p:nvPr/>
        </p:nvSpPr>
        <p:spPr>
          <a:xfrm>
            <a:off x="4298400" y="4813200"/>
            <a:ext cx="186966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8_ROW_5_VALUE_1"/>
          <p:cNvSpPr txBox="1"/>
          <p:nvPr/>
        </p:nvSpPr>
        <p:spPr>
          <a:xfrm>
            <a:off x="620406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 n/s</a:t>
            </a:r>
          </a:p>
        </p:txBody>
      </p:sp>
      <p:sp>
        <p:nvSpPr>
          <p:cNvPr id="37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14 n/s</a:t>
            </a:r>
          </a:p>
        </p:txBody>
      </p:sp>
      <p:sp>
        <p:nvSpPr>
          <p:cNvPr id="38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piano à queue reste la référence absolue pour les concerts.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L'apprentissage aujourd'hui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09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9_RISK_1_CARD"/>
          <p:cNvSpPr/>
          <p:nvPr/>
        </p:nvSpPr>
        <p:spPr>
          <a:xfrm>
            <a:off x="121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9_RISK_1_ICON"/>
          <p:cNvSpPr/>
          <p:nvPr/>
        </p:nvSpPr>
        <p:spPr>
          <a:xfrm>
            <a:off x="168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0" name="S09_RISK_1_TITLE"/>
          <p:cNvSpPr txBox="1"/>
          <p:nvPr/>
        </p:nvSpPr>
        <p:spPr>
          <a:xfrm>
            <a:off x="553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 de l'instrument</a:t>
            </a:r>
          </a:p>
        </p:txBody>
      </p:sp>
      <p:sp>
        <p:nvSpPr>
          <p:cNvPr id="11" name="S09_RISK_1_LEVEL"/>
          <p:cNvSpPr/>
          <p:nvPr/>
        </p:nvSpPr>
        <p:spPr>
          <a:xfrm>
            <a:off x="553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2" name="S09_RISK_1_BODY"/>
          <p:cNvSpPr txBox="1"/>
          <p:nvPr/>
        </p:nvSpPr>
        <p:spPr>
          <a:xfrm>
            <a:off x="168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Un bon acoustique reste cher.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4" name="S09_RISK_1_ACTION_TAG"/>
          <p:cNvSpPr/>
          <p:nvPr/>
        </p:nvSpPr>
        <p:spPr>
          <a:xfrm>
            <a:off x="193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5" name="S09_RISK_1_ACTION_BODY"/>
          <p:cNvSpPr txBox="1"/>
          <p:nvPr/>
        </p:nvSpPr>
        <p:spPr>
          <a:xfrm>
            <a:off x="877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Location ou numérique.</a:t>
            </a:r>
          </a:p>
        </p:txBody>
      </p:sp>
      <p:sp>
        <p:nvSpPr>
          <p:cNvPr id="16" name="S09_RISK_2_CARD"/>
          <p:cNvSpPr/>
          <p:nvPr/>
        </p:nvSpPr>
        <p:spPr>
          <a:xfrm>
            <a:off x="4135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9_RISK_2_ICON"/>
          <p:cNvSpPr/>
          <p:nvPr/>
        </p:nvSpPr>
        <p:spPr>
          <a:xfrm>
            <a:off x="4182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8" name="S09_RISK_2_TITLE"/>
          <p:cNvSpPr txBox="1"/>
          <p:nvPr/>
        </p:nvSpPr>
        <p:spPr>
          <a:xfrm>
            <a:off x="4567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Encombrement</a:t>
            </a:r>
          </a:p>
        </p:txBody>
      </p:sp>
      <p:sp>
        <p:nvSpPr>
          <p:cNvPr id="19" name="S09_RISK_2_LEVEL"/>
          <p:cNvSpPr/>
          <p:nvPr/>
        </p:nvSpPr>
        <p:spPr>
          <a:xfrm>
            <a:off x="4567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0" name="S09_RISK_2_BODY"/>
          <p:cNvSpPr txBox="1"/>
          <p:nvPr/>
        </p:nvSpPr>
        <p:spPr>
          <a:xfrm>
            <a:off x="4182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Nécessite de l'espace.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7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2" name="S09_RISK_2_ACTION_TAG"/>
          <p:cNvSpPr/>
          <p:nvPr/>
        </p:nvSpPr>
        <p:spPr>
          <a:xfrm>
            <a:off x="4207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3" name="S09_RISK_2_ACTION_BODY"/>
          <p:cNvSpPr txBox="1"/>
          <p:nvPr/>
        </p:nvSpPr>
        <p:spPr>
          <a:xfrm>
            <a:off x="4891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Opter pour un piano droit.</a:t>
            </a:r>
          </a:p>
        </p:txBody>
      </p:sp>
      <p:sp>
        <p:nvSpPr>
          <p:cNvPr id="24" name="S09_RISK_3_CARD"/>
          <p:cNvSpPr/>
          <p:nvPr/>
        </p:nvSpPr>
        <p:spPr>
          <a:xfrm>
            <a:off x="8149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9_RISK_3_ICON"/>
          <p:cNvSpPr/>
          <p:nvPr/>
        </p:nvSpPr>
        <p:spPr>
          <a:xfrm>
            <a:off x="8196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26" name="S09_RISK_3_TITLE"/>
          <p:cNvSpPr txBox="1"/>
          <p:nvPr/>
        </p:nvSpPr>
        <p:spPr>
          <a:xfrm>
            <a:off x="8581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Nuisances sonores</a:t>
            </a:r>
          </a:p>
        </p:txBody>
      </p:sp>
      <p:sp>
        <p:nvSpPr>
          <p:cNvPr id="27" name="S09_RISK_3_LEVEL"/>
          <p:cNvSpPr/>
          <p:nvPr/>
        </p:nvSpPr>
        <p:spPr>
          <a:xfrm>
            <a:off x="8581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28" name="S09_RISK_3_BODY"/>
          <p:cNvSpPr txBox="1"/>
          <p:nvPr/>
        </p:nvSpPr>
        <p:spPr>
          <a:xfrm>
            <a:off x="8196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Peut déranger le voisinage.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1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0" name="S09_RISK_3_ACTION_TAG"/>
          <p:cNvSpPr/>
          <p:nvPr/>
        </p:nvSpPr>
        <p:spPr>
          <a:xfrm>
            <a:off x="8221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1" name="S09_RISK_3_ACTION_BODY"/>
          <p:cNvSpPr txBox="1"/>
          <p:nvPr/>
        </p:nvSpPr>
        <p:spPr>
          <a:xfrm>
            <a:off x="890586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Système silencieux.</a:t>
            </a:r>
          </a:p>
        </p:txBody>
      </p:sp>
      <p:sp>
        <p:nvSpPr>
          <p:cNvPr id="32" name="S09_OPP_1_CARD"/>
          <p:cNvSpPr/>
          <p:nvPr/>
        </p:nvSpPr>
        <p:spPr>
          <a:xfrm>
            <a:off x="121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9_OPP_1_ICON"/>
          <p:cNvSpPr/>
          <p:nvPr/>
        </p:nvSpPr>
        <p:spPr>
          <a:xfrm>
            <a:off x="168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34" name="S09_OPP_1_TITLE"/>
          <p:cNvSpPr txBox="1"/>
          <p:nvPr/>
        </p:nvSpPr>
        <p:spPr>
          <a:xfrm>
            <a:off x="553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Pianos numériques</a:t>
            </a:r>
          </a:p>
        </p:txBody>
      </p:sp>
      <p:sp>
        <p:nvSpPr>
          <p:cNvPr id="35" name="S09_OPP_1_LEVEL"/>
          <p:cNvSpPr/>
          <p:nvPr/>
        </p:nvSpPr>
        <p:spPr>
          <a:xfrm>
            <a:off x="553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6" name="S09_OPP_1_BODY"/>
          <p:cNvSpPr txBox="1"/>
          <p:nvPr/>
        </p:nvSpPr>
        <p:spPr>
          <a:xfrm>
            <a:off x="168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Accessibilité et jeu au casque.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3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8" name="S09_OPP_1_ACTION_TAG"/>
          <p:cNvSpPr/>
          <p:nvPr/>
        </p:nvSpPr>
        <p:spPr>
          <a:xfrm>
            <a:off x="193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9" name="S09_OPP_1_ACTION_BODY"/>
          <p:cNvSpPr txBox="1"/>
          <p:nvPr/>
        </p:nvSpPr>
        <p:spPr>
          <a:xfrm>
            <a:off x="877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Démocratisation.</a:t>
            </a:r>
          </a:p>
        </p:txBody>
      </p:sp>
      <p:sp>
        <p:nvSpPr>
          <p:cNvPr id="40" name="S09_OPP_2_CARD"/>
          <p:cNvSpPr/>
          <p:nvPr/>
        </p:nvSpPr>
        <p:spPr>
          <a:xfrm>
            <a:off x="4135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9_OPP_2_ICON"/>
          <p:cNvSpPr/>
          <p:nvPr/>
        </p:nvSpPr>
        <p:spPr>
          <a:xfrm>
            <a:off x="4182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42" name="S09_OPP_2_TITLE"/>
          <p:cNvSpPr txBox="1"/>
          <p:nvPr/>
        </p:nvSpPr>
        <p:spPr>
          <a:xfrm>
            <a:off x="4567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Applications d'apprentissage</a:t>
            </a:r>
          </a:p>
        </p:txBody>
      </p:sp>
      <p:sp>
        <p:nvSpPr>
          <p:cNvPr id="43" name="S09_OPP_2_LEVEL"/>
          <p:cNvSpPr/>
          <p:nvPr/>
        </p:nvSpPr>
        <p:spPr>
          <a:xfrm>
            <a:off x="4567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FF85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44" name="S09_OPP_2_BODY"/>
          <p:cNvSpPr txBox="1"/>
          <p:nvPr/>
        </p:nvSpPr>
        <p:spPr>
          <a:xfrm>
            <a:off x="4182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Nouvelles méthodes ludiques.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207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6" name="S09_OPP_2_ACTION_TAG"/>
          <p:cNvSpPr/>
          <p:nvPr/>
        </p:nvSpPr>
        <p:spPr>
          <a:xfrm>
            <a:off x="4207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7" name="S09_OPP_2_ACTION_BODY"/>
          <p:cNvSpPr txBox="1"/>
          <p:nvPr/>
        </p:nvSpPr>
        <p:spPr>
          <a:xfrm>
            <a:off x="4891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Complément idéal.</a:t>
            </a:r>
          </a:p>
        </p:txBody>
      </p:sp>
      <p:sp>
        <p:nvSpPr>
          <p:cNvPr id="48" name="S09_OPP_3_CARD"/>
          <p:cNvSpPr/>
          <p:nvPr/>
        </p:nvSpPr>
        <p:spPr>
          <a:xfrm>
            <a:off x="8149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09_OPP_3_ICON"/>
          <p:cNvSpPr/>
          <p:nvPr/>
        </p:nvSpPr>
        <p:spPr>
          <a:xfrm>
            <a:off x="8196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50" name="S09_OPP_3_TITLE"/>
          <p:cNvSpPr txBox="1"/>
          <p:nvPr/>
        </p:nvSpPr>
        <p:spPr>
          <a:xfrm>
            <a:off x="8581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Revalorisation de l'occasion</a:t>
            </a:r>
          </a:p>
        </p:txBody>
      </p:sp>
      <p:sp>
        <p:nvSpPr>
          <p:cNvPr id="51" name="S09_OPP_3_LEVEL"/>
          <p:cNvSpPr/>
          <p:nvPr/>
        </p:nvSpPr>
        <p:spPr>
          <a:xfrm>
            <a:off x="8581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52" name="S09_OPP_3_BODY"/>
          <p:cNvSpPr txBox="1"/>
          <p:nvPr/>
        </p:nvSpPr>
        <p:spPr>
          <a:xfrm>
            <a:off x="8196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Marché de seconde main dynamique.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1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4" name="S09_OPP_3_ACTION_TAG"/>
          <p:cNvSpPr/>
          <p:nvPr/>
        </p:nvSpPr>
        <p:spPr>
          <a:xfrm>
            <a:off x="8221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5" name="S09_OPP_3_ACTION_BODY"/>
          <p:cNvSpPr txBox="1"/>
          <p:nvPr/>
        </p:nvSpPr>
        <p:spPr>
          <a:xfrm>
            <a:off x="890586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Économie circulaire.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Fabriquer un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10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Artisanat</a:t>
            </a:r>
          </a:p>
        </p:txBody>
      </p:sp>
      <p:sp>
        <p:nvSpPr>
          <p:cNvPr id="9" name="S10_PHASE_1_CARD"/>
          <p:cNvSpPr/>
          <p:nvPr/>
        </p:nvSpPr>
        <p:spPr>
          <a:xfrm>
            <a:off x="2028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BAND"/>
          <p:cNvSpPr/>
          <p:nvPr/>
        </p:nvSpPr>
        <p:spPr>
          <a:xfrm>
            <a:off x="202859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0_PHASE_1_NUMBER"/>
          <p:cNvSpPr/>
          <p:nvPr/>
        </p:nvSpPr>
        <p:spPr>
          <a:xfrm>
            <a:off x="274859" y="1665000"/>
            <a:ext cx="410399" cy="410399"/>
          </a:xfrm>
          <a:prstGeom prst="ellipse">
            <a:avLst/>
          </a:prstGeom>
          <a:solidFill>
            <a:srgbClr val="6A5D79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S10_PHASE_1_TITLE"/>
          <p:cNvSpPr txBox="1"/>
          <p:nvPr/>
        </p:nvSpPr>
        <p:spPr>
          <a:xfrm>
            <a:off x="8364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Menuiserie</a:t>
            </a:r>
          </a:p>
        </p:txBody>
      </p:sp>
      <p:sp>
        <p:nvSpPr>
          <p:cNvPr id="13" name="S10_PHASE_1_SUBTITLE"/>
          <p:cNvSpPr txBox="1"/>
          <p:nvPr/>
        </p:nvSpPr>
        <p:spPr>
          <a:xfrm>
            <a:off x="8364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Meuble et table</a:t>
            </a:r>
          </a:p>
        </p:txBody>
      </p:sp>
      <p:sp>
        <p:nvSpPr>
          <p:cNvPr id="14" name="S10_PHASE_1_ITEM_1_BULLET"/>
          <p:cNvSpPr/>
          <p:nvPr/>
        </p:nvSpPr>
        <p:spPr>
          <a:xfrm>
            <a:off x="382859" y="23975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10_PHASE_1_ITEM_1_TITLE"/>
          <p:cNvSpPr txBox="1"/>
          <p:nvPr/>
        </p:nvSpPr>
        <p:spPr>
          <a:xfrm>
            <a:off x="5700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Séchage du bois</a:t>
            </a:r>
          </a:p>
        </p:txBody>
      </p:sp>
      <p:sp>
        <p:nvSpPr>
          <p:cNvPr id="16" name="S10_PHASE_1_ITEM_1_BODY"/>
          <p:cNvSpPr txBox="1"/>
          <p:nvPr/>
        </p:nvSpPr>
        <p:spPr>
          <a:xfrm>
            <a:off x="5700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Épicéa séché plusieurs années.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8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8" name="S10_PHASE_1_ITEM_2_BULLET"/>
          <p:cNvSpPr/>
          <p:nvPr/>
        </p:nvSpPr>
        <p:spPr>
          <a:xfrm>
            <a:off x="382859" y="35243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0_PHASE_1_ITEM_2_TITLE"/>
          <p:cNvSpPr txBox="1"/>
          <p:nvPr/>
        </p:nvSpPr>
        <p:spPr>
          <a:xfrm>
            <a:off x="5700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Table d'harmonie</a:t>
            </a:r>
          </a:p>
        </p:txBody>
      </p:sp>
      <p:sp>
        <p:nvSpPr>
          <p:cNvPr id="20" name="S10_PHASE_1_ITEM_2_BODY"/>
          <p:cNvSpPr txBox="1"/>
          <p:nvPr/>
        </p:nvSpPr>
        <p:spPr>
          <a:xfrm>
            <a:off x="5700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Cœur résonnant de l'instrument.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68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2" name="S10_PHASE_1_ITEM_3_BULLET"/>
          <p:cNvSpPr/>
          <p:nvPr/>
        </p:nvSpPr>
        <p:spPr>
          <a:xfrm>
            <a:off x="382859" y="465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0_PHASE_1_ITEM_3_TITLE"/>
          <p:cNvSpPr txBox="1"/>
          <p:nvPr/>
        </p:nvSpPr>
        <p:spPr>
          <a:xfrm>
            <a:off x="5700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Chevalets</a:t>
            </a:r>
          </a:p>
        </p:txBody>
      </p:sp>
      <p:sp>
        <p:nvSpPr>
          <p:cNvPr id="24" name="S10_PHASE_1_ITEM_3_BODY"/>
          <p:cNvSpPr txBox="1"/>
          <p:nvPr/>
        </p:nvSpPr>
        <p:spPr>
          <a:xfrm>
            <a:off x="5700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Transmission des vibrations.</a:t>
            </a:r>
          </a:p>
        </p:txBody>
      </p:sp>
      <p:sp>
        <p:nvSpPr>
          <p:cNvPr id="25" name="S10_PHASE_2_CARD"/>
          <p:cNvSpPr/>
          <p:nvPr/>
        </p:nvSpPr>
        <p:spPr>
          <a:xfrm>
            <a:off x="42060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BAND"/>
          <p:cNvSpPr/>
          <p:nvPr/>
        </p:nvSpPr>
        <p:spPr>
          <a:xfrm>
            <a:off x="4206059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0_PHASE_2_NUMBER"/>
          <p:cNvSpPr/>
          <p:nvPr/>
        </p:nvSpPr>
        <p:spPr>
          <a:xfrm>
            <a:off x="4278059" y="1665000"/>
            <a:ext cx="410399" cy="410399"/>
          </a:xfrm>
          <a:prstGeom prst="ellipse">
            <a:avLst/>
          </a:prstGeom>
          <a:solidFill>
            <a:srgbClr val="A25871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S10_PHASE_2_TITLE"/>
          <p:cNvSpPr txBox="1"/>
          <p:nvPr/>
        </p:nvSpPr>
        <p:spPr>
          <a:xfrm>
            <a:off x="48396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Structure</a:t>
            </a:r>
          </a:p>
        </p:txBody>
      </p:sp>
      <p:sp>
        <p:nvSpPr>
          <p:cNvPr id="29" name="S10_PHASE_2_SUBTITLE"/>
          <p:cNvSpPr txBox="1"/>
          <p:nvPr/>
        </p:nvSpPr>
        <p:spPr>
          <a:xfrm>
            <a:off x="48396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Cadre et cordes</a:t>
            </a:r>
          </a:p>
        </p:txBody>
      </p:sp>
      <p:sp>
        <p:nvSpPr>
          <p:cNvPr id="30" name="S10_PHASE_2_ITEM_1_BULLET"/>
          <p:cNvSpPr/>
          <p:nvPr/>
        </p:nvSpPr>
        <p:spPr>
          <a:xfrm>
            <a:off x="4386059" y="23975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0_PHASE_2_ITEM_1_TITLE"/>
          <p:cNvSpPr txBox="1"/>
          <p:nvPr/>
        </p:nvSpPr>
        <p:spPr>
          <a:xfrm>
            <a:off x="45732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Cadre en fonte</a:t>
            </a:r>
          </a:p>
        </p:txBody>
      </p:sp>
      <p:sp>
        <p:nvSpPr>
          <p:cNvPr id="32" name="S10_PHASE_2_ITEM_1_BODY"/>
          <p:cNvSpPr txBox="1"/>
          <p:nvPr/>
        </p:nvSpPr>
        <p:spPr>
          <a:xfrm>
            <a:off x="45732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Résiste à l'énorme tension.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00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4" name="S10_PHASE_2_ITEM_2_BULLET"/>
          <p:cNvSpPr/>
          <p:nvPr/>
        </p:nvSpPr>
        <p:spPr>
          <a:xfrm>
            <a:off x="4386059" y="35243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0_PHASE_2_ITEM_2_TITLE"/>
          <p:cNvSpPr txBox="1"/>
          <p:nvPr/>
        </p:nvSpPr>
        <p:spPr>
          <a:xfrm>
            <a:off x="45732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Chevillage</a:t>
            </a:r>
          </a:p>
        </p:txBody>
      </p:sp>
      <p:sp>
        <p:nvSpPr>
          <p:cNvPr id="36" name="S10_PHASE_2_ITEM_2_BODY"/>
          <p:cNvSpPr txBox="1"/>
          <p:nvPr/>
        </p:nvSpPr>
        <p:spPr>
          <a:xfrm>
            <a:off x="45732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Pose des chevilles.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500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8" name="S10_PHASE_2_ITEM_3_BULLET"/>
          <p:cNvSpPr/>
          <p:nvPr/>
        </p:nvSpPr>
        <p:spPr>
          <a:xfrm>
            <a:off x="4386059" y="465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0_PHASE_2_ITEM_3_TITLE"/>
          <p:cNvSpPr txBox="1"/>
          <p:nvPr/>
        </p:nvSpPr>
        <p:spPr>
          <a:xfrm>
            <a:off x="45732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Filage des cordes</a:t>
            </a:r>
          </a:p>
        </p:txBody>
      </p:sp>
      <p:sp>
        <p:nvSpPr>
          <p:cNvPr id="40" name="S10_PHASE_2_ITEM_3_BODY"/>
          <p:cNvSpPr txBox="1"/>
          <p:nvPr/>
        </p:nvSpPr>
        <p:spPr>
          <a:xfrm>
            <a:off x="45732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Acier et cuivre filé.</a:t>
            </a:r>
          </a:p>
        </p:txBody>
      </p:sp>
      <p:sp>
        <p:nvSpPr>
          <p:cNvPr id="41" name="S10_PHASE_3_CARD"/>
          <p:cNvSpPr/>
          <p:nvPr/>
        </p:nvSpPr>
        <p:spPr>
          <a:xfrm>
            <a:off x="82092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BAND"/>
          <p:cNvSpPr/>
          <p:nvPr/>
        </p:nvSpPr>
        <p:spPr>
          <a:xfrm>
            <a:off x="8209259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0_PHASE_3_NUMBER"/>
          <p:cNvSpPr/>
          <p:nvPr/>
        </p:nvSpPr>
        <p:spPr>
          <a:xfrm>
            <a:off x="8281259" y="1665000"/>
            <a:ext cx="410399" cy="410399"/>
          </a:xfrm>
          <a:prstGeom prst="ellipse">
            <a:avLst/>
          </a:prstGeom>
          <a:solidFill>
            <a:srgbClr val="FDA85B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S10_PHASE_3_TITLE"/>
          <p:cNvSpPr txBox="1"/>
          <p:nvPr/>
        </p:nvSpPr>
        <p:spPr>
          <a:xfrm>
            <a:off x="884286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Mécanique</a:t>
            </a:r>
          </a:p>
        </p:txBody>
      </p:sp>
      <p:sp>
        <p:nvSpPr>
          <p:cNvPr id="45" name="S10_PHASE_3_SUBTITLE"/>
          <p:cNvSpPr txBox="1"/>
          <p:nvPr/>
        </p:nvSpPr>
        <p:spPr>
          <a:xfrm>
            <a:off x="884286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Touches et marteaux</a:t>
            </a:r>
          </a:p>
        </p:txBody>
      </p:sp>
      <p:sp>
        <p:nvSpPr>
          <p:cNvPr id="46" name="S10_PHASE_3_ITEM_1_BULLET"/>
          <p:cNvSpPr/>
          <p:nvPr/>
        </p:nvSpPr>
        <p:spPr>
          <a:xfrm>
            <a:off x="8389259" y="23975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0_PHASE_3_ITEM_1_TITLE"/>
          <p:cNvSpPr txBox="1"/>
          <p:nvPr/>
        </p:nvSpPr>
        <p:spPr>
          <a:xfrm>
            <a:off x="85764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Clavier</a:t>
            </a:r>
          </a:p>
        </p:txBody>
      </p:sp>
      <p:sp>
        <p:nvSpPr>
          <p:cNvPr id="48" name="S10_PHASE_3_ITEM_1_BODY"/>
          <p:cNvSpPr txBox="1"/>
          <p:nvPr/>
        </p:nvSpPr>
        <p:spPr>
          <a:xfrm>
            <a:off x="85764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Équilibrage des touches.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532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0" name="S10_PHASE_3_ITEM_2_BULLET"/>
          <p:cNvSpPr/>
          <p:nvPr/>
        </p:nvSpPr>
        <p:spPr>
          <a:xfrm>
            <a:off x="8389259" y="35243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0_PHASE_3_ITEM_2_TITLE"/>
          <p:cNvSpPr txBox="1"/>
          <p:nvPr/>
        </p:nvSpPr>
        <p:spPr>
          <a:xfrm>
            <a:off x="85764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Marteaux</a:t>
            </a:r>
          </a:p>
        </p:txBody>
      </p:sp>
      <p:sp>
        <p:nvSpPr>
          <p:cNvPr id="52" name="S10_PHASE_3_ITEM_2_BODY"/>
          <p:cNvSpPr txBox="1"/>
          <p:nvPr/>
        </p:nvSpPr>
        <p:spPr>
          <a:xfrm>
            <a:off x="85764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Garniture en feutre de laine.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32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4" name="S10_PHASE_3_ITEM_3_BULLET"/>
          <p:cNvSpPr/>
          <p:nvPr/>
        </p:nvSpPr>
        <p:spPr>
          <a:xfrm>
            <a:off x="8389259" y="465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0_PHASE_3_ITEM_3_TITLE"/>
          <p:cNvSpPr txBox="1"/>
          <p:nvPr/>
        </p:nvSpPr>
        <p:spPr>
          <a:xfrm>
            <a:off x="85764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Harmonisation</a:t>
            </a:r>
          </a:p>
        </p:txBody>
      </p:sp>
      <p:sp>
        <p:nvSpPr>
          <p:cNvPr id="56" name="S10_PHASE_3_ITEM_3_BODY"/>
          <p:cNvSpPr txBox="1"/>
          <p:nvPr/>
        </p:nvSpPr>
        <p:spPr>
          <a:xfrm>
            <a:off x="85764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Réglage de la sonorité.</a:t>
            </a:r>
          </a:p>
        </p:txBody>
      </p:sp>
      <p:sp>
        <p:nvSpPr>
          <p:cNvPr id="57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 processus complexe alliant art, précision et ingénierie.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L'avenir du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1_BLOCK_1_ACCENT_BAR"/>
          <p:cNvSpPr/>
          <p:nvPr/>
        </p:nvSpPr>
        <p:spPr>
          <a:xfrm>
            <a:off x="392400" y="115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11_BLOCK_1_NUMB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42000"/>
            <a:ext cx="1440000" cy="792000"/>
          </a:xfrm>
          <a:prstGeom prst="rect">
            <a:avLst/>
          </a:prstGeom>
        </p:spPr>
      </p:pic>
      <p:sp>
        <p:nvSpPr>
          <p:cNvPr id="10" name="S11_BLOCK_1_TITLE"/>
          <p:cNvSpPr txBox="1"/>
          <p:nvPr/>
        </p:nvSpPr>
        <p:spPr>
          <a:xfrm>
            <a:off x="720000" y="124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Le constat</a:t>
            </a:r>
          </a:p>
        </p:txBody>
      </p:sp>
      <p:sp>
        <p:nvSpPr>
          <p:cNvPr id="11" name="S11_BLOCK_1_BODY"/>
          <p:cNvSpPr txBox="1"/>
          <p:nvPr/>
        </p:nvSpPr>
        <p:spPr>
          <a:xfrm>
            <a:off x="720000" y="167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piano acoustique garde tout son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prestige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historique mais fait face à l'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essor grandissant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des technologies numériques.</a:t>
            </a:r>
          </a:p>
        </p:txBody>
      </p:sp>
      <p:sp>
        <p:nvSpPr>
          <p:cNvPr id="12" name="S11_BLOCK_2_ACCENT_BAR"/>
          <p:cNvSpPr/>
          <p:nvPr/>
        </p:nvSpPr>
        <p:spPr>
          <a:xfrm>
            <a:off x="392400" y="277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11_BLOCK_2_NUMB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872800"/>
            <a:ext cx="1440000" cy="792000"/>
          </a:xfrm>
          <a:prstGeom prst="rect">
            <a:avLst/>
          </a:prstGeom>
        </p:spPr>
      </p:pic>
      <p:sp>
        <p:nvSpPr>
          <p:cNvPr id="14" name="S11_BLOCK_2_TITLE"/>
          <p:cNvSpPr txBox="1"/>
          <p:nvPr/>
        </p:nvSpPr>
        <p:spPr>
          <a:xfrm>
            <a:off x="720000" y="2872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La tendance</a:t>
            </a:r>
          </a:p>
        </p:txBody>
      </p:sp>
      <p:sp>
        <p:nvSpPr>
          <p:cNvPr id="15" name="S11_BLOCK_2_BODY"/>
          <p:cNvSpPr txBox="1"/>
          <p:nvPr/>
        </p:nvSpPr>
        <p:spPr>
          <a:xfrm>
            <a:off x="720000" y="3304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pianos hybrides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récents combinent parfaitement le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toucher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d'une vraie mécanique et la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polyvalence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du son numérique.</a:t>
            </a:r>
          </a:p>
        </p:txBody>
      </p:sp>
      <p:sp>
        <p:nvSpPr>
          <p:cNvPr id="16" name="S11_BLOCK_3_ACCENT_BAR"/>
          <p:cNvSpPr/>
          <p:nvPr/>
        </p:nvSpPr>
        <p:spPr>
          <a:xfrm>
            <a:off x="392400" y="439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11_BLOCK_3_NUMB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482000"/>
            <a:ext cx="1440000" cy="792000"/>
          </a:xfrm>
          <a:prstGeom prst="rect">
            <a:avLst/>
          </a:prstGeom>
        </p:spPr>
      </p:pic>
      <p:sp>
        <p:nvSpPr>
          <p:cNvPr id="18" name="S11_BLOCK_3_TITLE"/>
          <p:cNvSpPr txBox="1"/>
          <p:nvPr/>
        </p:nvSpPr>
        <p:spPr>
          <a:xfrm>
            <a:off x="720000" y="448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Notre conviction</a:t>
            </a:r>
          </a:p>
        </p:txBody>
      </p:sp>
      <p:sp>
        <p:nvSpPr>
          <p:cNvPr id="19" name="S11_BLOCK_3_BODY"/>
          <p:cNvSpPr txBox="1"/>
          <p:nvPr/>
        </p:nvSpPr>
        <p:spPr>
          <a:xfrm>
            <a:off x="720000" y="491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La pratique de cet instrument magnifique restera toujours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centrale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dans l'apprentissage et la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création musicale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Etes-vous prêts à jouer vos premières notes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L'accord du piano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2_STEP_1_BULLET"/>
          <p:cNvSpPr/>
          <p:nvPr/>
        </p:nvSpPr>
        <p:spPr>
          <a:xfrm>
            <a:off x="392400" y="1303200"/>
            <a:ext cx="442800" cy="442800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2_STEP_1_NUMBER"/>
          <p:cNvSpPr txBox="1"/>
          <p:nvPr/>
        </p:nvSpPr>
        <p:spPr>
          <a:xfrm>
            <a:off x="392400" y="1303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84C6A"/>
                </a:solidFill>
                <a:latin typeface="Segoe UI"/>
              </a:rPr>
              <a:t>1</a:t>
            </a:r>
          </a:p>
        </p:txBody>
      </p:sp>
      <p:sp>
        <p:nvSpPr>
          <p:cNvPr id="10" name="S12_STEP_1_LABEL"/>
          <p:cNvSpPr txBox="1"/>
          <p:nvPr/>
        </p:nvSpPr>
        <p:spPr>
          <a:xfrm>
            <a:off x="1044000" y="1288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Diapason</a:t>
            </a:r>
          </a:p>
        </p:txBody>
      </p:sp>
      <p:sp>
        <p:nvSpPr>
          <p:cNvPr id="11" name="S12_STEP_1_SUBLABEL"/>
          <p:cNvSpPr txBox="1"/>
          <p:nvPr/>
        </p:nvSpPr>
        <p:spPr>
          <a:xfrm>
            <a:off x="1044000" y="1558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Fixation du La 440 Hz.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5600" y="1742400"/>
            <a:ext cx="0" cy="381600"/>
          </a:xfrm>
          <a:prstGeom prst="line">
            <a:avLst/>
          </a:prstGeom>
          <a:ln w="19050">
            <a:solidFill>
              <a:srgbClr val="BABDD0"/>
            </a:solidFill>
          </a:ln>
        </p:spPr>
      </p:cxnSp>
      <p:sp>
        <p:nvSpPr>
          <p:cNvPr id="13" name="S12_STEP_2_BULLET"/>
          <p:cNvSpPr/>
          <p:nvPr/>
        </p:nvSpPr>
        <p:spPr>
          <a:xfrm>
            <a:off x="392400" y="2124000"/>
            <a:ext cx="442800" cy="442800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2_STEP_2_NUMBER"/>
          <p:cNvSpPr txBox="1"/>
          <p:nvPr/>
        </p:nvSpPr>
        <p:spPr>
          <a:xfrm>
            <a:off x="392400" y="2124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A5D79"/>
                </a:solidFill>
                <a:latin typeface="Segoe UI"/>
              </a:rPr>
              <a:t>2</a:t>
            </a:r>
          </a:p>
        </p:txBody>
      </p:sp>
      <p:sp>
        <p:nvSpPr>
          <p:cNvPr id="15" name="S12_STEP_2_LABEL"/>
          <p:cNvSpPr txBox="1"/>
          <p:nvPr/>
        </p:nvSpPr>
        <p:spPr>
          <a:xfrm>
            <a:off x="1044000" y="2113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Tempérament</a:t>
            </a:r>
          </a:p>
        </p:txBody>
      </p:sp>
      <p:sp>
        <p:nvSpPr>
          <p:cNvPr id="16" name="S12_STEP_2_SUBLABEL"/>
          <p:cNvSpPr txBox="1"/>
          <p:nvPr/>
        </p:nvSpPr>
        <p:spPr>
          <a:xfrm>
            <a:off x="1044000" y="2383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Accord de l'octave centrale.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600" y="2563200"/>
            <a:ext cx="0" cy="38160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sp>
        <p:nvSpPr>
          <p:cNvPr id="18" name="S12_STEP_3_BULLET"/>
          <p:cNvSpPr/>
          <p:nvPr/>
        </p:nvSpPr>
        <p:spPr>
          <a:xfrm>
            <a:off x="392400" y="2944800"/>
            <a:ext cx="442800" cy="442800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2_STEP_3_NUMBER"/>
          <p:cNvSpPr txBox="1"/>
          <p:nvPr/>
        </p:nvSpPr>
        <p:spPr>
          <a:xfrm>
            <a:off x="392400" y="29448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25871"/>
                </a:solidFill>
                <a:latin typeface="Segoe UI"/>
              </a:rPr>
              <a:t>3</a:t>
            </a:r>
          </a:p>
        </p:txBody>
      </p:sp>
      <p:sp>
        <p:nvSpPr>
          <p:cNvPr id="20" name="S12_STEP_3_LABEL"/>
          <p:cNvSpPr txBox="1"/>
          <p:nvPr/>
        </p:nvSpPr>
        <p:spPr>
          <a:xfrm>
            <a:off x="1044000" y="2934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Octaves</a:t>
            </a:r>
          </a:p>
        </p:txBody>
      </p:sp>
      <p:sp>
        <p:nvSpPr>
          <p:cNvPr id="21" name="S12_STEP_3_SUBLABEL"/>
          <p:cNvSpPr txBox="1"/>
          <p:nvPr/>
        </p:nvSpPr>
        <p:spPr>
          <a:xfrm>
            <a:off x="1044000" y="3204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Report sur tout le clavier.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5600" y="3384000"/>
            <a:ext cx="0" cy="38520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sp>
        <p:nvSpPr>
          <p:cNvPr id="23" name="S12_STEP_4_BULLET"/>
          <p:cNvSpPr/>
          <p:nvPr/>
        </p:nvSpPr>
        <p:spPr>
          <a:xfrm>
            <a:off x="392400" y="3769200"/>
            <a:ext cx="442800" cy="442800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2_STEP_4_NUMBER"/>
          <p:cNvSpPr txBox="1"/>
          <p:nvPr/>
        </p:nvSpPr>
        <p:spPr>
          <a:xfrm>
            <a:off x="392400" y="3769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737A"/>
                </a:solidFill>
                <a:latin typeface="Segoe UI"/>
              </a:rPr>
              <a:t>4</a:t>
            </a:r>
          </a:p>
        </p:txBody>
      </p:sp>
      <p:sp>
        <p:nvSpPr>
          <p:cNvPr id="25" name="S12_STEP_4_LABEL"/>
          <p:cNvSpPr txBox="1"/>
          <p:nvPr/>
        </p:nvSpPr>
        <p:spPr>
          <a:xfrm>
            <a:off x="1044000" y="3754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Unissons</a:t>
            </a:r>
          </a:p>
        </p:txBody>
      </p:sp>
      <p:sp>
        <p:nvSpPr>
          <p:cNvPr id="26" name="S12_STEP_4_SUBLABEL"/>
          <p:cNvSpPr txBox="1"/>
          <p:nvPr/>
        </p:nvSpPr>
        <p:spPr>
          <a:xfrm>
            <a:off x="1044000" y="4024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Accord des cordes identiques.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5600" y="4208400"/>
            <a:ext cx="0" cy="38160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28" name="S12_STEP_5_BULLET"/>
          <p:cNvSpPr/>
          <p:nvPr/>
        </p:nvSpPr>
        <p:spPr>
          <a:xfrm>
            <a:off x="392400" y="4590000"/>
            <a:ext cx="442800" cy="442800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2_STEP_5_NUMBER"/>
          <p:cNvSpPr txBox="1"/>
          <p:nvPr/>
        </p:nvSpPr>
        <p:spPr>
          <a:xfrm>
            <a:off x="392400" y="4590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DA85B"/>
                </a:solidFill>
                <a:latin typeface="Segoe UI"/>
              </a:rPr>
              <a:t>5</a:t>
            </a:r>
          </a:p>
        </p:txBody>
      </p:sp>
      <p:sp>
        <p:nvSpPr>
          <p:cNvPr id="30" name="S12_STEP_5_LABEL"/>
          <p:cNvSpPr txBox="1"/>
          <p:nvPr/>
        </p:nvSpPr>
        <p:spPr>
          <a:xfrm>
            <a:off x="1044000" y="4579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Vérification</a:t>
            </a:r>
          </a:p>
        </p:txBody>
      </p:sp>
      <p:sp>
        <p:nvSpPr>
          <p:cNvPr id="31" name="S12_STEP_5_SUBLABEL"/>
          <p:cNvSpPr txBox="1"/>
          <p:nvPr/>
        </p:nvSpPr>
        <p:spPr>
          <a:xfrm>
            <a:off x="1044000" y="4849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Test des quintes et tierces.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" y="5029200"/>
            <a:ext cx="0" cy="385200"/>
          </a:xfrm>
          <a:prstGeom prst="line">
            <a:avLst/>
          </a:prstGeom>
          <a:ln w="19050">
            <a:solidFill>
              <a:srgbClr val="FEE3CA"/>
            </a:solidFill>
          </a:ln>
        </p:spPr>
      </p:cxnSp>
      <p:sp>
        <p:nvSpPr>
          <p:cNvPr id="33" name="S12_STEP_6_BULLET"/>
          <p:cNvSpPr/>
          <p:nvPr/>
        </p:nvSpPr>
        <p:spPr>
          <a:xfrm>
            <a:off x="392400" y="5414400"/>
            <a:ext cx="442800" cy="442800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2_STEP_6_NUMBER"/>
          <p:cNvSpPr txBox="1"/>
          <p:nvPr/>
        </p:nvSpPr>
        <p:spPr>
          <a:xfrm>
            <a:off x="392400" y="54144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CC58"/>
                </a:solidFill>
                <a:latin typeface="Segoe UI"/>
              </a:rPr>
              <a:t>6</a:t>
            </a:r>
          </a:p>
        </p:txBody>
      </p:sp>
      <p:sp>
        <p:nvSpPr>
          <p:cNvPr id="35" name="S12_STEP_6_LABEL"/>
          <p:cNvSpPr txBox="1"/>
          <p:nvPr/>
        </p:nvSpPr>
        <p:spPr>
          <a:xfrm>
            <a:off x="1044000" y="5400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Harmonisation</a:t>
            </a:r>
          </a:p>
        </p:txBody>
      </p:sp>
      <p:sp>
        <p:nvSpPr>
          <p:cNvPr id="36" name="S12_STEP_6_SUBLABEL"/>
          <p:cNvSpPr txBox="1"/>
          <p:nvPr/>
        </p:nvSpPr>
        <p:spPr>
          <a:xfrm>
            <a:off x="1044000" y="5670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Piquage des marteaux.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Entretien de l'instrument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3_LEFT_TITLE"/>
          <p:cNvSpPr txBox="1"/>
          <p:nvPr/>
        </p:nvSpPr>
        <p:spPr>
          <a:xfrm>
            <a:off x="345600" y="1576800"/>
            <a:ext cx="55044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Segoe UI"/>
              </a:rPr>
              <a:t>À faire</a:t>
            </a:r>
          </a:p>
        </p:txBody>
      </p:sp>
      <p:sp>
        <p:nvSpPr>
          <p:cNvPr id="9" name="S13_RIGHT_TITLE"/>
          <p:cNvSpPr txBox="1"/>
          <p:nvPr/>
        </p:nvSpPr>
        <p:spPr>
          <a:xfrm>
            <a:off x="6094800" y="1576800"/>
            <a:ext cx="57492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Segoe UI"/>
              </a:rPr>
              <a:t>À éviter</a:t>
            </a:r>
          </a:p>
        </p:txBody>
      </p:sp>
      <p:sp>
        <p:nvSpPr>
          <p:cNvPr id="10" name="S13_LEFT_1_BOX"/>
          <p:cNvSpPr/>
          <p:nvPr/>
        </p:nvSpPr>
        <p:spPr>
          <a:xfrm>
            <a:off x="345600" y="2030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3_RIGHT_1_BOX"/>
          <p:cNvSpPr/>
          <p:nvPr/>
        </p:nvSpPr>
        <p:spPr>
          <a:xfrm>
            <a:off x="6094800" y="2030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3_LEFT_1_BULLET"/>
          <p:cNvSpPr/>
          <p:nvPr/>
        </p:nvSpPr>
        <p:spPr>
          <a:xfrm>
            <a:off x="468000" y="21276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3" name="S13_RIGHT_1_BULLET"/>
          <p:cNvSpPr/>
          <p:nvPr/>
        </p:nvSpPr>
        <p:spPr>
          <a:xfrm>
            <a:off x="6217200" y="21276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14" name="S13_LEFT_1_ITEM"/>
          <p:cNvSpPr txBox="1"/>
          <p:nvPr/>
        </p:nvSpPr>
        <p:spPr>
          <a:xfrm>
            <a:off x="896400" y="2080799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Accorder annuellement</a:t>
            </a:r>
          </a:p>
        </p:txBody>
      </p:sp>
      <p:sp>
        <p:nvSpPr>
          <p:cNvPr id="15" name="S13_RIGHT_1_ITEM"/>
          <p:cNvSpPr txBox="1"/>
          <p:nvPr/>
        </p:nvSpPr>
        <p:spPr>
          <a:xfrm>
            <a:off x="6645600" y="2080799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Placer près d'un radiateur</a:t>
            </a:r>
          </a:p>
        </p:txBody>
      </p:sp>
      <p:sp>
        <p:nvSpPr>
          <p:cNvPr id="16" name="S13_LEFT_2_BOX"/>
          <p:cNvSpPr/>
          <p:nvPr/>
        </p:nvSpPr>
        <p:spPr>
          <a:xfrm>
            <a:off x="345600" y="2667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3_RIGHT_2_BOX"/>
          <p:cNvSpPr/>
          <p:nvPr/>
        </p:nvSpPr>
        <p:spPr>
          <a:xfrm>
            <a:off x="6094800" y="2667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3_LEFT_2_BULLET"/>
          <p:cNvSpPr/>
          <p:nvPr/>
        </p:nvSpPr>
        <p:spPr>
          <a:xfrm>
            <a:off x="468000" y="2764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9" name="S13_RIGHT_2_BULLET"/>
          <p:cNvSpPr/>
          <p:nvPr/>
        </p:nvSpPr>
        <p:spPr>
          <a:xfrm>
            <a:off x="6217200" y="2764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0" name="S13_LEFT_2_ITEM"/>
          <p:cNvSpPr txBox="1"/>
          <p:nvPr/>
        </p:nvSpPr>
        <p:spPr>
          <a:xfrm>
            <a:off x="896400" y="2718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Humidité stable à 50%</a:t>
            </a:r>
          </a:p>
        </p:txBody>
      </p:sp>
      <p:sp>
        <p:nvSpPr>
          <p:cNvPr id="21" name="S13_RIGHT_2_ITEM"/>
          <p:cNvSpPr txBox="1"/>
          <p:nvPr/>
        </p:nvSpPr>
        <p:spPr>
          <a:xfrm>
            <a:off x="6645600" y="2718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Poser des liquides dessus</a:t>
            </a:r>
          </a:p>
        </p:txBody>
      </p:sp>
      <p:sp>
        <p:nvSpPr>
          <p:cNvPr id="22" name="S13_LEFT_3_BOX"/>
          <p:cNvSpPr/>
          <p:nvPr/>
        </p:nvSpPr>
        <p:spPr>
          <a:xfrm>
            <a:off x="345600" y="33012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3_RIGHT_3_BOX"/>
          <p:cNvSpPr/>
          <p:nvPr/>
        </p:nvSpPr>
        <p:spPr>
          <a:xfrm>
            <a:off x="6094800" y="33012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3_LEFT_3_BULLET"/>
          <p:cNvSpPr/>
          <p:nvPr/>
        </p:nvSpPr>
        <p:spPr>
          <a:xfrm>
            <a:off x="468000" y="33984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25" name="S13_RIGHT_3_BULLET"/>
          <p:cNvSpPr/>
          <p:nvPr/>
        </p:nvSpPr>
        <p:spPr>
          <a:xfrm>
            <a:off x="6217200" y="33984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6" name="S13_LEFT_3_ITEM"/>
          <p:cNvSpPr txBox="1"/>
          <p:nvPr/>
        </p:nvSpPr>
        <p:spPr>
          <a:xfrm>
            <a:off x="896400" y="33516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Protéger du soleil</a:t>
            </a:r>
          </a:p>
        </p:txBody>
      </p:sp>
      <p:sp>
        <p:nvSpPr>
          <p:cNvPr id="27" name="S13_RIGHT_3_ITEM"/>
          <p:cNvSpPr txBox="1"/>
          <p:nvPr/>
        </p:nvSpPr>
        <p:spPr>
          <a:xfrm>
            <a:off x="6645600" y="33516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Exposer aux courants d'air</a:t>
            </a:r>
          </a:p>
        </p:txBody>
      </p:sp>
      <p:sp>
        <p:nvSpPr>
          <p:cNvPr id="28" name="S13_LEFT_4_BOX"/>
          <p:cNvSpPr/>
          <p:nvPr/>
        </p:nvSpPr>
        <p:spPr>
          <a:xfrm>
            <a:off x="345600" y="3938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3_RIGHT_4_BOX"/>
          <p:cNvSpPr/>
          <p:nvPr/>
        </p:nvSpPr>
        <p:spPr>
          <a:xfrm>
            <a:off x="6094800" y="3938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3_LEFT_4_BULLET"/>
          <p:cNvSpPr/>
          <p:nvPr/>
        </p:nvSpPr>
        <p:spPr>
          <a:xfrm>
            <a:off x="468000" y="4035599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1" name="S13_RIGHT_4_BULLET"/>
          <p:cNvSpPr/>
          <p:nvPr/>
        </p:nvSpPr>
        <p:spPr>
          <a:xfrm>
            <a:off x="6217200" y="4035599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2" name="S13_LEFT_4_ITEM"/>
          <p:cNvSpPr txBox="1"/>
          <p:nvPr/>
        </p:nvSpPr>
        <p:spPr>
          <a:xfrm>
            <a:off x="896400" y="39888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Jouer régulièrement</a:t>
            </a:r>
          </a:p>
        </p:txBody>
      </p:sp>
      <p:sp>
        <p:nvSpPr>
          <p:cNvPr id="33" name="S13_RIGHT_4_ITEM"/>
          <p:cNvSpPr txBox="1"/>
          <p:nvPr/>
        </p:nvSpPr>
        <p:spPr>
          <a:xfrm>
            <a:off x="6645600" y="39888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Nettoyer aux produits abrasifs</a:t>
            </a:r>
          </a:p>
        </p:txBody>
      </p:sp>
      <p:sp>
        <p:nvSpPr>
          <p:cNvPr id="34" name="S13_LEFT_5_BOX"/>
          <p:cNvSpPr/>
          <p:nvPr/>
        </p:nvSpPr>
        <p:spPr>
          <a:xfrm>
            <a:off x="345600" y="4575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3_RIGHT_5_BOX"/>
          <p:cNvSpPr/>
          <p:nvPr/>
        </p:nvSpPr>
        <p:spPr>
          <a:xfrm>
            <a:off x="6094800" y="4575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13_LEFT_5_BULLET"/>
          <p:cNvSpPr/>
          <p:nvPr/>
        </p:nvSpPr>
        <p:spPr>
          <a:xfrm>
            <a:off x="468000" y="4672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7" name="S13_RIGHT_5_BULLET"/>
          <p:cNvSpPr/>
          <p:nvPr/>
        </p:nvSpPr>
        <p:spPr>
          <a:xfrm>
            <a:off x="6217200" y="4672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8" name="S13_LEFT_5_ITEM"/>
          <p:cNvSpPr txBox="1"/>
          <p:nvPr/>
        </p:nvSpPr>
        <p:spPr>
          <a:xfrm>
            <a:off x="896400" y="4626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Dépoussiérer en douceur</a:t>
            </a:r>
          </a:p>
        </p:txBody>
      </p:sp>
      <p:sp>
        <p:nvSpPr>
          <p:cNvPr id="39" name="S13_RIGHT_5_ITEM"/>
          <p:cNvSpPr txBox="1"/>
          <p:nvPr/>
        </p:nvSpPr>
        <p:spPr>
          <a:xfrm>
            <a:off x="6645600" y="4626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Négliger la mécanique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Acoustique vs Numérique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14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pic>
        <p:nvPicPr>
          <p:cNvPr id="8" name="Comp_quali_bg" descr="Comp_quali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00" y="1411200"/>
            <a:ext cx="9910800" cy="4190400"/>
          </a:xfrm>
          <a:prstGeom prst="rect">
            <a:avLst/>
          </a:prstGeom>
        </p:spPr>
      </p:pic>
      <p:sp>
        <p:nvSpPr>
          <p:cNvPr id="9" name="S14_LEFT_TITLE"/>
          <p:cNvSpPr txBox="1"/>
          <p:nvPr/>
        </p:nvSpPr>
        <p:spPr>
          <a:xfrm>
            <a:off x="20484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6A5D79"/>
                </a:solidFill>
                <a:latin typeface="Segoe UI"/>
              </a:rPr>
              <a:t>Piano Numérique</a:t>
            </a:r>
          </a:p>
        </p:txBody>
      </p:sp>
      <p:sp>
        <p:nvSpPr>
          <p:cNvPr id="10" name="S14_RIGHT_TITLE"/>
          <p:cNvSpPr txBox="1"/>
          <p:nvPr/>
        </p:nvSpPr>
        <p:spPr>
          <a:xfrm>
            <a:off x="74412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FDA85B"/>
                </a:solidFill>
                <a:latin typeface="Segoe UI"/>
              </a:rPr>
              <a:t>Piano Acoustique</a:t>
            </a:r>
          </a:p>
        </p:txBody>
      </p:sp>
      <p:sp>
        <p:nvSpPr>
          <p:cNvPr id="11" name="S14_LEFT_1_ITEM"/>
          <p:cNvSpPr txBox="1"/>
          <p:nvPr/>
        </p:nvSpPr>
        <p:spPr>
          <a:xfrm>
            <a:off x="13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Instrument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toujours accordé</a:t>
            </a:r>
          </a:p>
        </p:txBody>
      </p:sp>
      <p:sp>
        <p:nvSpPr>
          <p:cNvPr id="12" name="S14_RIGHT_1_ITEM"/>
          <p:cNvSpPr txBox="1"/>
          <p:nvPr/>
        </p:nvSpPr>
        <p:spPr>
          <a:xfrm>
            <a:off x="67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Sonorité vivante et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organique</a:t>
            </a:r>
          </a:p>
        </p:txBody>
      </p:sp>
      <p:sp>
        <p:nvSpPr>
          <p:cNvPr id="13" name="S14_LEFT_2_ITEM"/>
          <p:cNvSpPr txBox="1"/>
          <p:nvPr/>
        </p:nvSpPr>
        <p:spPr>
          <a:xfrm>
            <a:off x="13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Jeu silencieux au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casque</a:t>
            </a:r>
          </a:p>
        </p:txBody>
      </p:sp>
      <p:sp>
        <p:nvSpPr>
          <p:cNvPr id="14" name="S14_RIGHT_2_ITEM"/>
          <p:cNvSpPr txBox="1"/>
          <p:nvPr/>
        </p:nvSpPr>
        <p:spPr>
          <a:xfrm>
            <a:off x="67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Toucher mécanique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authentique</a:t>
            </a:r>
          </a:p>
        </p:txBody>
      </p:sp>
      <p:sp>
        <p:nvSpPr>
          <p:cNvPr id="15" name="S14_LEFT_3_ITEM"/>
          <p:cNvSpPr txBox="1"/>
          <p:nvPr/>
        </p:nvSpPr>
        <p:spPr>
          <a:xfrm>
            <a:off x="13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70E1D"/>
                </a:solidFill>
                <a:latin typeface="Segoe UI"/>
              </a:rPr>
              <a:t>Sons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timbres multiples</a:t>
            </a:r>
          </a:p>
        </p:txBody>
      </p:sp>
      <p:sp>
        <p:nvSpPr>
          <p:cNvPr id="16" name="S14_RIGHT_3_ITEM"/>
          <p:cNvSpPr txBox="1"/>
          <p:nvPr/>
        </p:nvSpPr>
        <p:spPr>
          <a:xfrm>
            <a:off x="67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Durée de vie presque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infinie</a:t>
            </a:r>
          </a:p>
        </p:txBody>
      </p:sp>
      <p:sp>
        <p:nvSpPr>
          <p:cNvPr id="17" name="S14_LEFT_4_ITEM"/>
          <p:cNvSpPr txBox="1"/>
          <p:nvPr/>
        </p:nvSpPr>
        <p:spPr>
          <a:xfrm>
            <a:off x="13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8" name="S14_RIGHT_4_ITEM"/>
          <p:cNvSpPr txBox="1"/>
          <p:nvPr/>
        </p:nvSpPr>
        <p:spPr>
          <a:xfrm>
            <a:off x="67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19" name="S14_LEFT_5_ITEM"/>
          <p:cNvSpPr txBox="1"/>
          <p:nvPr/>
        </p:nvSpPr>
        <p:spPr>
          <a:xfrm>
            <a:off x="13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0" name="S14_RIGHT_5_ITEM"/>
          <p:cNvSpPr txBox="1"/>
          <p:nvPr/>
        </p:nvSpPr>
        <p:spPr>
          <a:xfrm>
            <a:off x="67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2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choix final dépend avant tout de votre espace et de votre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