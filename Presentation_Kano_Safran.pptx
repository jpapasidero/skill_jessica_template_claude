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Modèle de Kano : Comprendre la satisfaction client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2_SEP_1"/>
          <p:cNvSpPr/>
          <p:nvPr/>
        </p:nvSpPr>
        <p:spPr>
          <a:xfrm>
            <a:off x="607859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0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Une approche novatrice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0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Développé par Noriaki Kano en 1984 pour anticiper les exigences clients.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5459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2_COL_2_TITLE"/>
          <p:cNvSpPr txBox="1"/>
          <p:nvPr/>
        </p:nvSpPr>
        <p:spPr>
          <a:xfrm>
            <a:off x="4596659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Impact sur la CX</a:t>
            </a:r>
          </a:p>
        </p:txBody>
      </p:sp>
      <p:sp>
        <p:nvSpPr>
          <p:cNvPr id="13" name="S02_COL_2_BODY"/>
          <p:cNvSpPr txBox="1"/>
          <p:nvPr/>
        </p:nvSpPr>
        <p:spPr>
          <a:xfrm>
            <a:off x="4596659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Évalue les caractéristiques d'un produit selon leur effet sur la satisfaction globale.</a:t>
            </a:r>
          </a:p>
        </p:txBody>
      </p:sp>
      <p:sp>
        <p:nvSpPr>
          <p:cNvPr id="14" name="S02_SEP_3"/>
          <p:cNvSpPr/>
          <p:nvPr/>
        </p:nvSpPr>
        <p:spPr>
          <a:xfrm>
            <a:off x="8103059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2_COL_3_TITLE"/>
          <p:cNvSpPr txBox="1"/>
          <p:nvPr/>
        </p:nvSpPr>
        <p:spPr>
          <a:xfrm>
            <a:off x="834426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Stratégie CX</a:t>
            </a:r>
          </a:p>
        </p:txBody>
      </p:sp>
      <p:sp>
        <p:nvSpPr>
          <p:cNvPr id="16" name="S02_COL_3_BODY"/>
          <p:cNvSpPr txBox="1"/>
          <p:nvPr/>
        </p:nvSpPr>
        <p:spPr>
          <a:xfrm>
            <a:off x="834426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Permet d'orienter les efforts d'amélioration vers les fonctionnalités à fort impact.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L'enjeu de la satisfaction client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La satisfaction est le moteur principal de la croissance durable.</a:t>
            </a:r>
          </a:p>
        </p:txBody>
      </p:sp>
      <p:sp>
        <p:nvSpPr>
          <p:cNvPr id="10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Plus de deux tiers des entreprises se font concurrence sur la base de l'expérience client. La rétention et le bouche-à-oreille positif en dépendent.</a:t>
            </a:r>
          </a:p>
        </p:txBody>
      </p:sp>
      <p:sp>
        <p:nvSpPr>
          <p:cNvPr id="11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2/3</a:t>
            </a:r>
          </a:p>
        </p:txBody>
      </p:sp>
      <p:sp>
        <p:nvSpPr>
          <p:cNvPr id="13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Concurrence</a:t>
            </a:r>
          </a:p>
        </p:txBody>
      </p:sp>
      <p:sp>
        <p:nvSpPr>
          <p:cNvPr id="14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basée sur la CX</a:t>
            </a:r>
          </a:p>
        </p:txBody>
      </p:sp>
      <p:sp>
        <p:nvSpPr>
          <p:cNvPr id="15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+</a:t>
            </a:r>
          </a:p>
        </p:txBody>
      </p:sp>
      <p:sp>
        <p:nvSpPr>
          <p:cNvPr id="17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Rétention</a:t>
            </a:r>
          </a:p>
        </p:txBody>
      </p:sp>
      <p:sp>
        <p:nvSpPr>
          <p:cNvPr id="18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clientèle fidèle</a:t>
            </a:r>
          </a:p>
        </p:txBody>
      </p:sp>
      <p:sp>
        <p:nvSpPr>
          <p:cNvPr id="19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ROI</a:t>
            </a:r>
          </a:p>
        </p:txBody>
      </p:sp>
      <p:sp>
        <p:nvSpPr>
          <p:cNvPr id="21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22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optimisation coûts</a:t>
            </a:r>
          </a:p>
        </p:txBody>
      </p:sp>
      <p:sp>
        <p:nvSpPr>
          <p:cNvPr id="23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Mesurer la satisfaction pour assurer la pérennité.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459" y="1080000"/>
            <a:ext cx="5929200" cy="4860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 Diagramme de Kano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03      |</a:t>
            </a:r>
          </a:p>
        </p:txBody>
      </p:sp>
      <p:pic>
        <p:nvPicPr>
          <p:cNvPr id="8" name="Picture 7" descr="safr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9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Satisfaction</a:t>
            </a:r>
          </a:p>
        </p:txBody>
      </p:sp>
      <p:sp>
        <p:nvSpPr>
          <p:cNvPr id="10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De l'insatisfaction au plaisir</a:t>
            </a:r>
          </a:p>
        </p:txBody>
      </p:sp>
      <p:sp>
        <p:nvSpPr>
          <p:cNvPr id="11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Absence</a:t>
            </a:r>
          </a:p>
        </p:txBody>
      </p:sp>
      <p:sp>
        <p:nvSpPr>
          <p:cNvPr id="12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Fonctionnalité manquante</a:t>
            </a:r>
          </a:p>
        </p:txBody>
      </p:sp>
      <p:sp>
        <p:nvSpPr>
          <p:cNvPr id="13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Présence</a:t>
            </a:r>
          </a:p>
        </p:txBody>
      </p:sp>
      <p:sp>
        <p:nvSpPr>
          <p:cNvPr id="14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Fonctionnalité totale</a:t>
            </a:r>
          </a:p>
        </p:txBody>
      </p:sp>
      <p:sp>
        <p:nvSpPr>
          <p:cNvPr id="15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Une lecture bidimensionnelle des attentes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Les 5 Catégories d'Attributs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04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2_STEP_1_BULLET"/>
          <p:cNvSpPr/>
          <p:nvPr/>
        </p:nvSpPr>
        <p:spPr>
          <a:xfrm>
            <a:off x="392400" y="1303200"/>
            <a:ext cx="442800" cy="442800"/>
          </a:xfrm>
          <a:prstGeom prst="ellipse">
            <a:avLst/>
          </a:prstGeom>
          <a:solidFill>
            <a:srgbClr val="BABDD0"/>
          </a:solidFill>
          <a:ln w="19050">
            <a:solidFill>
              <a:srgbClr val="484C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2_STEP_1_NUMBER"/>
          <p:cNvSpPr txBox="1"/>
          <p:nvPr/>
        </p:nvSpPr>
        <p:spPr>
          <a:xfrm>
            <a:off x="392400" y="1303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484C6A"/>
                </a:solidFill>
                <a:latin typeface="Segoe UI"/>
              </a:rPr>
              <a:t>1</a:t>
            </a:r>
          </a:p>
        </p:txBody>
      </p:sp>
      <p:sp>
        <p:nvSpPr>
          <p:cNvPr id="10" name="S12_STEP_1_LABEL"/>
          <p:cNvSpPr txBox="1"/>
          <p:nvPr/>
        </p:nvSpPr>
        <p:spPr>
          <a:xfrm>
            <a:off x="1044000" y="1288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de base</a:t>
            </a:r>
          </a:p>
        </p:txBody>
      </p:sp>
      <p:sp>
        <p:nvSpPr>
          <p:cNvPr id="11" name="S12_STEP_1_SUBLABEL"/>
          <p:cNvSpPr txBox="1"/>
          <p:nvPr/>
        </p:nvSpPr>
        <p:spPr>
          <a:xfrm>
            <a:off x="1044000" y="1558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L'acquis : leur absence crée une forte insatisfaction.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5600" y="1742400"/>
            <a:ext cx="0" cy="381600"/>
          </a:xfrm>
          <a:prstGeom prst="line">
            <a:avLst/>
          </a:prstGeom>
          <a:ln w="19050">
            <a:solidFill>
              <a:srgbClr val="BABDD0"/>
            </a:solidFill>
          </a:ln>
        </p:spPr>
      </p:cxnSp>
      <p:sp>
        <p:nvSpPr>
          <p:cNvPr id="13" name="S12_STEP_2_BULLET"/>
          <p:cNvSpPr/>
          <p:nvPr/>
        </p:nvSpPr>
        <p:spPr>
          <a:xfrm>
            <a:off x="392400" y="2124000"/>
            <a:ext cx="442800" cy="442800"/>
          </a:xfrm>
          <a:prstGeom prst="ellipse">
            <a:avLst/>
          </a:prstGeom>
          <a:solidFill>
            <a:srgbClr val="BBB4C4"/>
          </a:solidFill>
          <a:ln w="19050">
            <a:solidFill>
              <a:srgbClr val="6A5D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2_STEP_2_NUMBER"/>
          <p:cNvSpPr txBox="1"/>
          <p:nvPr/>
        </p:nvSpPr>
        <p:spPr>
          <a:xfrm>
            <a:off x="392400" y="2124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A5D79"/>
                </a:solidFill>
                <a:latin typeface="Segoe UI"/>
              </a:rPr>
              <a:t>2</a:t>
            </a:r>
          </a:p>
        </p:txBody>
      </p:sp>
      <p:sp>
        <p:nvSpPr>
          <p:cNvPr id="15" name="S12_STEP_2_LABEL"/>
          <p:cNvSpPr txBox="1"/>
          <p:nvPr/>
        </p:nvSpPr>
        <p:spPr>
          <a:xfrm>
            <a:off x="1044000" y="2113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attractifs</a:t>
            </a:r>
          </a:p>
        </p:txBody>
      </p:sp>
      <p:sp>
        <p:nvSpPr>
          <p:cNvPr id="16" name="S12_STEP_2_SUBLABEL"/>
          <p:cNvSpPr txBox="1"/>
          <p:nvPr/>
        </p:nvSpPr>
        <p:spPr>
          <a:xfrm>
            <a:off x="1044000" y="2383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L'innovation : l'effet de surprise et de différenciation.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5600" y="2563200"/>
            <a:ext cx="0" cy="38160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sp>
        <p:nvSpPr>
          <p:cNvPr id="18" name="S12_STEP_3_BULLET"/>
          <p:cNvSpPr/>
          <p:nvPr/>
        </p:nvSpPr>
        <p:spPr>
          <a:xfrm>
            <a:off x="392400" y="2944800"/>
            <a:ext cx="442800" cy="442800"/>
          </a:xfrm>
          <a:prstGeom prst="ellipse">
            <a:avLst/>
          </a:prstGeom>
          <a:solidFill>
            <a:srgbClr val="D5B3BE"/>
          </a:solidFill>
          <a:ln w="19050">
            <a:solidFill>
              <a:srgbClr val="A2587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2_STEP_3_NUMBER"/>
          <p:cNvSpPr txBox="1"/>
          <p:nvPr/>
        </p:nvSpPr>
        <p:spPr>
          <a:xfrm>
            <a:off x="392400" y="29448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25871"/>
                </a:solidFill>
                <a:latin typeface="Segoe UI"/>
              </a:rPr>
              <a:t>3</a:t>
            </a:r>
          </a:p>
        </p:txBody>
      </p:sp>
      <p:sp>
        <p:nvSpPr>
          <p:cNvPr id="20" name="S12_STEP_3_LABEL"/>
          <p:cNvSpPr txBox="1"/>
          <p:nvPr/>
        </p:nvSpPr>
        <p:spPr>
          <a:xfrm>
            <a:off x="1044000" y="2934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proportionnels</a:t>
            </a:r>
          </a:p>
        </p:txBody>
      </p:sp>
      <p:sp>
        <p:nvSpPr>
          <p:cNvPr id="21" name="S12_STEP_3_SUBLABEL"/>
          <p:cNvSpPr txBox="1"/>
          <p:nvPr/>
        </p:nvSpPr>
        <p:spPr>
          <a:xfrm>
            <a:off x="1044000" y="3204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 linéaire : plus il y en a, plus le client est content.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5600" y="3384000"/>
            <a:ext cx="0" cy="38520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sp>
        <p:nvSpPr>
          <p:cNvPr id="23" name="S12_STEP_4_BULLET"/>
          <p:cNvSpPr/>
          <p:nvPr/>
        </p:nvSpPr>
        <p:spPr>
          <a:xfrm>
            <a:off x="392400" y="3769200"/>
            <a:ext cx="442800" cy="442800"/>
          </a:xfrm>
          <a:prstGeom prst="ellipse">
            <a:avLst/>
          </a:prstGeom>
          <a:solidFill>
            <a:srgbClr val="F1D3D5"/>
          </a:solidFill>
          <a:ln w="19050">
            <a:solidFill>
              <a:srgbClr val="D473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2_STEP_4_NUMBER"/>
          <p:cNvSpPr txBox="1"/>
          <p:nvPr/>
        </p:nvSpPr>
        <p:spPr>
          <a:xfrm>
            <a:off x="392400" y="37692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4737A"/>
                </a:solidFill>
                <a:latin typeface="Segoe UI"/>
              </a:rPr>
              <a:t>4</a:t>
            </a:r>
          </a:p>
        </p:txBody>
      </p:sp>
      <p:sp>
        <p:nvSpPr>
          <p:cNvPr id="25" name="S12_STEP_4_LABEL"/>
          <p:cNvSpPr txBox="1"/>
          <p:nvPr/>
        </p:nvSpPr>
        <p:spPr>
          <a:xfrm>
            <a:off x="1044000" y="37548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indifférents</a:t>
            </a:r>
          </a:p>
        </p:txBody>
      </p:sp>
      <p:sp>
        <p:nvSpPr>
          <p:cNvPr id="26" name="S12_STEP_4_SUBLABEL"/>
          <p:cNvSpPr txBox="1"/>
          <p:nvPr/>
        </p:nvSpPr>
        <p:spPr>
          <a:xfrm>
            <a:off x="1044000" y="40248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 neutre : pas d'impact majeur sur la perception globale.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5600" y="4208400"/>
            <a:ext cx="0" cy="38160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28" name="S12_STEP_5_BULLET"/>
          <p:cNvSpPr/>
          <p:nvPr/>
        </p:nvSpPr>
        <p:spPr>
          <a:xfrm>
            <a:off x="392400" y="4590000"/>
            <a:ext cx="442800" cy="442800"/>
          </a:xfrm>
          <a:prstGeom prst="ellipse">
            <a:avLst/>
          </a:prstGeom>
          <a:solidFill>
            <a:srgbClr val="FEE3CA"/>
          </a:solidFill>
          <a:ln w="19050">
            <a:solidFill>
              <a:srgbClr val="FDA8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12_STEP_5_NUMBER"/>
          <p:cNvSpPr txBox="1"/>
          <p:nvPr/>
        </p:nvSpPr>
        <p:spPr>
          <a:xfrm>
            <a:off x="392400" y="45900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DA85B"/>
                </a:solidFill>
                <a:latin typeface="Segoe UI"/>
              </a:rPr>
              <a:t>5</a:t>
            </a:r>
          </a:p>
        </p:txBody>
      </p:sp>
      <p:sp>
        <p:nvSpPr>
          <p:cNvPr id="30" name="S12_STEP_5_LABEL"/>
          <p:cNvSpPr txBox="1"/>
          <p:nvPr/>
        </p:nvSpPr>
        <p:spPr>
          <a:xfrm>
            <a:off x="1044000" y="45792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Attributs négatifs</a:t>
            </a:r>
          </a:p>
        </p:txBody>
      </p:sp>
      <p:sp>
        <p:nvSpPr>
          <p:cNvPr id="31" name="S12_STEP_5_SUBLABEL"/>
          <p:cNvSpPr txBox="1"/>
          <p:nvPr/>
        </p:nvSpPr>
        <p:spPr>
          <a:xfrm>
            <a:off x="1044000" y="48492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L'irritant : leur présence nuit à l'expérience client.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5600" y="5029200"/>
            <a:ext cx="0" cy="385200"/>
          </a:xfrm>
          <a:prstGeom prst="line">
            <a:avLst/>
          </a:prstGeom>
          <a:ln w="19050">
            <a:solidFill>
              <a:srgbClr val="FEE3CA"/>
            </a:solidFill>
          </a:ln>
        </p:spPr>
      </p:cxnSp>
      <p:sp>
        <p:nvSpPr>
          <p:cNvPr id="33" name="S12_STEP_6_BULLET"/>
          <p:cNvSpPr/>
          <p:nvPr/>
        </p:nvSpPr>
        <p:spPr>
          <a:xfrm>
            <a:off x="392400" y="5414400"/>
            <a:ext cx="442800" cy="442800"/>
          </a:xfrm>
          <a:prstGeom prst="ellipse">
            <a:avLst/>
          </a:prstGeom>
          <a:solidFill>
            <a:srgbClr val="FDEBBF"/>
          </a:solidFill>
          <a:ln w="19050">
            <a:solidFill>
              <a:srgbClr val="FBCC5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2_STEP_6_NUMBER"/>
          <p:cNvSpPr txBox="1"/>
          <p:nvPr/>
        </p:nvSpPr>
        <p:spPr>
          <a:xfrm>
            <a:off x="392400" y="5414400"/>
            <a:ext cx="442800" cy="44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CC58"/>
                </a:solidFill>
                <a:latin typeface="Segoe UI"/>
              </a:rPr>
              <a:t>6</a:t>
            </a:r>
          </a:p>
        </p:txBody>
      </p:sp>
      <p:sp>
        <p:nvSpPr>
          <p:cNvPr id="35" name="S12_STEP_6_LABEL"/>
          <p:cNvSpPr txBox="1"/>
          <p:nvPr/>
        </p:nvSpPr>
        <p:spPr>
          <a:xfrm>
            <a:off x="1044000" y="5400000"/>
            <a:ext cx="4417200" cy="2700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Dynamique</a:t>
            </a:r>
          </a:p>
        </p:txBody>
      </p:sp>
      <p:sp>
        <p:nvSpPr>
          <p:cNvPr id="36" name="S12_STEP_6_SUBLABEL"/>
          <p:cNvSpPr txBox="1"/>
          <p:nvPr/>
        </p:nvSpPr>
        <p:spPr>
          <a:xfrm>
            <a:off x="1044000" y="5670000"/>
            <a:ext cx="10188000" cy="36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Les attentes évoluent : un bonus devient vite un standard.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Bénéfices stratégiques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05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03_TEARDROP_1"/>
          <p:cNvSpPr/>
          <p:nvPr/>
        </p:nvSpPr>
        <p:spPr>
          <a:xfrm>
            <a:off x="1336859" y="1475999"/>
            <a:ext cx="864000" cy="864000"/>
          </a:xfrm>
          <a:prstGeom prst="teardrop">
            <a:avLst/>
          </a:prstGeom>
          <a:solidFill>
            <a:srgbClr val="BABD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3_FACTOR_1_LABEL"/>
          <p:cNvSpPr txBox="1"/>
          <p:nvPr/>
        </p:nvSpPr>
        <p:spPr>
          <a:xfrm>
            <a:off x="62765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Innovation guidée</a:t>
            </a:r>
          </a:p>
        </p:txBody>
      </p:sp>
      <p:sp>
        <p:nvSpPr>
          <p:cNvPr id="10" name="S03_TEARDROP_2"/>
          <p:cNvSpPr/>
          <p:nvPr/>
        </p:nvSpPr>
        <p:spPr>
          <a:xfrm>
            <a:off x="5635260" y="1475999"/>
            <a:ext cx="864000" cy="864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3_FACTOR_2_LABEL"/>
          <p:cNvSpPr txBox="1"/>
          <p:nvPr/>
        </p:nvSpPr>
        <p:spPr>
          <a:xfrm>
            <a:off x="492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Compétitivité accrue</a:t>
            </a:r>
          </a:p>
        </p:txBody>
      </p:sp>
      <p:sp>
        <p:nvSpPr>
          <p:cNvPr id="12" name="S03_TEARDROP_3"/>
          <p:cNvSpPr/>
          <p:nvPr/>
        </p:nvSpPr>
        <p:spPr>
          <a:xfrm>
            <a:off x="9775260" y="1475999"/>
            <a:ext cx="864000" cy="864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03_FACTOR_3_LABEL"/>
          <p:cNvSpPr txBox="1"/>
          <p:nvPr/>
        </p:nvSpPr>
        <p:spPr>
          <a:xfrm>
            <a:off x="906606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Optimisation des coûts</a:t>
            </a:r>
          </a:p>
        </p:txBody>
      </p:sp>
      <p:sp>
        <p:nvSpPr>
          <p:cNvPr id="14" name="S03_TEARDROP_4"/>
          <p:cNvSpPr/>
          <p:nvPr/>
        </p:nvSpPr>
        <p:spPr>
          <a:xfrm>
            <a:off x="1336859" y="4111200"/>
            <a:ext cx="864000" cy="864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3_FACTOR_4_LABEL"/>
          <p:cNvSpPr txBox="1"/>
          <p:nvPr/>
        </p:nvSpPr>
        <p:spPr>
          <a:xfrm>
            <a:off x="62765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ROI maximisé</a:t>
            </a:r>
          </a:p>
        </p:txBody>
      </p:sp>
      <p:sp>
        <p:nvSpPr>
          <p:cNvPr id="16" name="S03_TEARDROP_5"/>
          <p:cNvSpPr/>
          <p:nvPr/>
        </p:nvSpPr>
        <p:spPr>
          <a:xfrm>
            <a:off x="5635260" y="4111200"/>
            <a:ext cx="864000" cy="864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3_FACTOR_5_LABEL"/>
          <p:cNvSpPr txBox="1"/>
          <p:nvPr/>
        </p:nvSpPr>
        <p:spPr>
          <a:xfrm>
            <a:off x="492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Alignement cible</a:t>
            </a:r>
          </a:p>
        </p:txBody>
      </p:sp>
      <p:sp>
        <p:nvSpPr>
          <p:cNvPr id="18" name="S03_TEARDROP_6"/>
          <p:cNvSpPr/>
          <p:nvPr/>
        </p:nvSpPr>
        <p:spPr>
          <a:xfrm>
            <a:off x="9775260" y="4111200"/>
            <a:ext cx="864000" cy="864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3_FACTOR_6_LABEL"/>
          <p:cNvSpPr txBox="1"/>
          <p:nvPr/>
        </p:nvSpPr>
        <p:spPr>
          <a:xfrm>
            <a:off x="906606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Fidélisation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Rationaliser le développement produit.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Mise en pratique du modèle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06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2026</a:t>
            </a:r>
          </a:p>
        </p:txBody>
      </p:sp>
      <p:sp>
        <p:nvSpPr>
          <p:cNvPr id="9" name="S10_PHASE_1_CARD"/>
          <p:cNvSpPr/>
          <p:nvPr/>
        </p:nvSpPr>
        <p:spPr>
          <a:xfrm>
            <a:off x="2028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BAND"/>
          <p:cNvSpPr/>
          <p:nvPr/>
        </p:nvSpPr>
        <p:spPr>
          <a:xfrm>
            <a:off x="202859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10_PHASE_1_NUMBER"/>
          <p:cNvSpPr/>
          <p:nvPr/>
        </p:nvSpPr>
        <p:spPr>
          <a:xfrm>
            <a:off x="274859" y="1665000"/>
            <a:ext cx="410399" cy="410399"/>
          </a:xfrm>
          <a:prstGeom prst="ellipse">
            <a:avLst/>
          </a:prstGeom>
          <a:solidFill>
            <a:srgbClr val="6A5D79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S10_PHASE_1_TITLE"/>
          <p:cNvSpPr txBox="1"/>
          <p:nvPr/>
        </p:nvSpPr>
        <p:spPr>
          <a:xfrm>
            <a:off x="8364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Enquête</a:t>
            </a:r>
          </a:p>
        </p:txBody>
      </p:sp>
      <p:sp>
        <p:nvSpPr>
          <p:cNvPr id="13" name="S10_PHASE_1_SUBTITLE"/>
          <p:cNvSpPr txBox="1"/>
          <p:nvPr/>
        </p:nvSpPr>
        <p:spPr>
          <a:xfrm>
            <a:off x="8364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14" name="S10_PHASE_1_ITEM_1_BULLET"/>
          <p:cNvSpPr/>
          <p:nvPr/>
        </p:nvSpPr>
        <p:spPr>
          <a:xfrm>
            <a:off x="382859" y="23975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10_PHASE_1_ITEM_1_TITLE"/>
          <p:cNvSpPr txBox="1"/>
          <p:nvPr/>
        </p:nvSpPr>
        <p:spPr>
          <a:xfrm>
            <a:off x="5700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Questionnaire structuré</a:t>
            </a:r>
          </a:p>
        </p:txBody>
      </p:sp>
      <p:sp>
        <p:nvSpPr>
          <p:cNvPr id="16" name="S10_PHASE_1_ITEM_1_BODY"/>
          <p:cNvSpPr txBox="1"/>
          <p:nvPr/>
        </p:nvSpPr>
        <p:spPr>
          <a:xfrm>
            <a:off x="5700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Panel de consommateurs cible.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8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8" name="S10_PHASE_1_ITEM_2_BULLET"/>
          <p:cNvSpPr/>
          <p:nvPr/>
        </p:nvSpPr>
        <p:spPr>
          <a:xfrm>
            <a:off x="382859" y="3524399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0_PHASE_1_ITEM_2_TITLE"/>
          <p:cNvSpPr txBox="1"/>
          <p:nvPr/>
        </p:nvSpPr>
        <p:spPr>
          <a:xfrm>
            <a:off x="5700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Dualité des questions</a:t>
            </a:r>
          </a:p>
        </p:txBody>
      </p:sp>
      <p:sp>
        <p:nvSpPr>
          <p:cNvPr id="20" name="S10_PHASE_1_ITEM_2_BODY"/>
          <p:cNvSpPr txBox="1"/>
          <p:nvPr/>
        </p:nvSpPr>
        <p:spPr>
          <a:xfrm>
            <a:off x="5700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Demander en présence et en l'absence.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68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2" name="S10_PHASE_1_ITEM_3_BULLET"/>
          <p:cNvSpPr/>
          <p:nvPr/>
        </p:nvSpPr>
        <p:spPr>
          <a:xfrm>
            <a:off x="382859" y="465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10_PHASE_1_ITEM_3_TITLE"/>
          <p:cNvSpPr txBox="1"/>
          <p:nvPr/>
        </p:nvSpPr>
        <p:spPr>
          <a:xfrm>
            <a:off x="5700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Échelle de 1 à 5</a:t>
            </a:r>
          </a:p>
        </p:txBody>
      </p:sp>
      <p:sp>
        <p:nvSpPr>
          <p:cNvPr id="24" name="S10_PHASE_1_ITEM_3_BODY"/>
          <p:cNvSpPr txBox="1"/>
          <p:nvPr/>
        </p:nvSpPr>
        <p:spPr>
          <a:xfrm>
            <a:off x="5700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Notation de la satisfaction perçue.</a:t>
            </a:r>
          </a:p>
        </p:txBody>
      </p:sp>
      <p:sp>
        <p:nvSpPr>
          <p:cNvPr id="25" name="S10_PHASE_2_CARD"/>
          <p:cNvSpPr/>
          <p:nvPr/>
        </p:nvSpPr>
        <p:spPr>
          <a:xfrm>
            <a:off x="42060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BAND"/>
          <p:cNvSpPr/>
          <p:nvPr/>
        </p:nvSpPr>
        <p:spPr>
          <a:xfrm>
            <a:off x="4206059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0_PHASE_2_NUMBER"/>
          <p:cNvSpPr/>
          <p:nvPr/>
        </p:nvSpPr>
        <p:spPr>
          <a:xfrm>
            <a:off x="4278059" y="1665000"/>
            <a:ext cx="410399" cy="410399"/>
          </a:xfrm>
          <a:prstGeom prst="ellipse">
            <a:avLst/>
          </a:prstGeom>
          <a:solidFill>
            <a:srgbClr val="A25871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S10_PHASE_2_TITLE"/>
          <p:cNvSpPr txBox="1"/>
          <p:nvPr/>
        </p:nvSpPr>
        <p:spPr>
          <a:xfrm>
            <a:off x="4839659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Analyse</a:t>
            </a:r>
          </a:p>
        </p:txBody>
      </p:sp>
      <p:sp>
        <p:nvSpPr>
          <p:cNvPr id="29" name="S10_PHASE_2_SUBTITLE"/>
          <p:cNvSpPr txBox="1"/>
          <p:nvPr/>
        </p:nvSpPr>
        <p:spPr>
          <a:xfrm>
            <a:off x="4839659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30" name="S10_PHASE_2_ITEM_1_BULLET"/>
          <p:cNvSpPr/>
          <p:nvPr/>
        </p:nvSpPr>
        <p:spPr>
          <a:xfrm>
            <a:off x="4386059" y="23975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0_PHASE_2_ITEM_1_TITLE"/>
          <p:cNvSpPr txBox="1"/>
          <p:nvPr/>
        </p:nvSpPr>
        <p:spPr>
          <a:xfrm>
            <a:off x="45732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Croisement des données</a:t>
            </a:r>
          </a:p>
        </p:txBody>
      </p:sp>
      <p:sp>
        <p:nvSpPr>
          <p:cNvPr id="32" name="S10_PHASE_2_ITEM_1_BODY"/>
          <p:cNvSpPr txBox="1"/>
          <p:nvPr/>
        </p:nvSpPr>
        <p:spPr>
          <a:xfrm>
            <a:off x="45732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Utilisation d'une matrice de décision.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500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4" name="S10_PHASE_2_ITEM_2_BULLET"/>
          <p:cNvSpPr/>
          <p:nvPr/>
        </p:nvSpPr>
        <p:spPr>
          <a:xfrm>
            <a:off x="4386059" y="3524399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10_PHASE_2_ITEM_2_TITLE"/>
          <p:cNvSpPr txBox="1"/>
          <p:nvPr/>
        </p:nvSpPr>
        <p:spPr>
          <a:xfrm>
            <a:off x="45732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Caractérisation</a:t>
            </a:r>
          </a:p>
        </p:txBody>
      </p:sp>
      <p:sp>
        <p:nvSpPr>
          <p:cNvPr id="36" name="S10_PHASE_2_ITEM_2_BODY"/>
          <p:cNvSpPr txBox="1"/>
          <p:nvPr/>
        </p:nvSpPr>
        <p:spPr>
          <a:xfrm>
            <a:off x="45732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Identifier la nature de chaque attribut.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500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8" name="S10_PHASE_2_ITEM_3_BULLET"/>
          <p:cNvSpPr/>
          <p:nvPr/>
        </p:nvSpPr>
        <p:spPr>
          <a:xfrm>
            <a:off x="4386059" y="465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0_PHASE_2_ITEM_3_TITLE"/>
          <p:cNvSpPr txBox="1"/>
          <p:nvPr/>
        </p:nvSpPr>
        <p:spPr>
          <a:xfrm>
            <a:off x="45732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Visualisation</a:t>
            </a:r>
          </a:p>
        </p:txBody>
      </p:sp>
      <p:sp>
        <p:nvSpPr>
          <p:cNvPr id="40" name="S10_PHASE_2_ITEM_3_BODY"/>
          <p:cNvSpPr txBox="1"/>
          <p:nvPr/>
        </p:nvSpPr>
        <p:spPr>
          <a:xfrm>
            <a:off x="45732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Positionnement sur le diagramme.</a:t>
            </a:r>
          </a:p>
        </p:txBody>
      </p:sp>
      <p:sp>
        <p:nvSpPr>
          <p:cNvPr id="41" name="S10_PHASE_3_CARD"/>
          <p:cNvSpPr/>
          <p:nvPr/>
        </p:nvSpPr>
        <p:spPr>
          <a:xfrm>
            <a:off x="8209259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BAND"/>
          <p:cNvSpPr/>
          <p:nvPr/>
        </p:nvSpPr>
        <p:spPr>
          <a:xfrm>
            <a:off x="8209259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0_PHASE_3_NUMBER"/>
          <p:cNvSpPr/>
          <p:nvPr/>
        </p:nvSpPr>
        <p:spPr>
          <a:xfrm>
            <a:off x="8281259" y="1665000"/>
            <a:ext cx="410399" cy="410399"/>
          </a:xfrm>
          <a:prstGeom prst="ellipse">
            <a:avLst/>
          </a:prstGeom>
          <a:solidFill>
            <a:srgbClr val="FDA85B"/>
          </a:solidFill>
          <a:ln w="28575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S10_PHASE_3_TITLE"/>
          <p:cNvSpPr txBox="1"/>
          <p:nvPr/>
        </p:nvSpPr>
        <p:spPr>
          <a:xfrm>
            <a:off x="884286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45" name="S10_PHASE_3_SUBTITLE"/>
          <p:cNvSpPr txBox="1"/>
          <p:nvPr/>
        </p:nvSpPr>
        <p:spPr>
          <a:xfrm>
            <a:off x="884286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46" name="S10_PHASE_3_ITEM_1_BULLET"/>
          <p:cNvSpPr/>
          <p:nvPr/>
        </p:nvSpPr>
        <p:spPr>
          <a:xfrm>
            <a:off x="8389259" y="23975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0_PHASE_3_ITEM_1_TITLE"/>
          <p:cNvSpPr txBox="1"/>
          <p:nvPr/>
        </p:nvSpPr>
        <p:spPr>
          <a:xfrm>
            <a:off x="8576459" y="2267999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Plan d'action</a:t>
            </a:r>
          </a:p>
        </p:txBody>
      </p:sp>
      <p:sp>
        <p:nvSpPr>
          <p:cNvPr id="48" name="S10_PHASE_3_ITEM_1_BODY"/>
          <p:cNvSpPr txBox="1"/>
          <p:nvPr/>
        </p:nvSpPr>
        <p:spPr>
          <a:xfrm>
            <a:off x="8576459" y="26135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Focus sur les leviers à fort impact.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53259" y="33588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0" name="S10_PHASE_3_ITEM_2_BULLET"/>
          <p:cNvSpPr/>
          <p:nvPr/>
        </p:nvSpPr>
        <p:spPr>
          <a:xfrm>
            <a:off x="8389259" y="3524399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S10_PHASE_3_ITEM_2_TITLE"/>
          <p:cNvSpPr txBox="1"/>
          <p:nvPr/>
        </p:nvSpPr>
        <p:spPr>
          <a:xfrm>
            <a:off x="8576459" y="3394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</a:t>
            </a:r>
          </a:p>
        </p:txBody>
      </p:sp>
      <p:sp>
        <p:nvSpPr>
          <p:cNvPr id="52" name="S10_PHASE_3_ITEM_2_BODY"/>
          <p:cNvSpPr txBox="1"/>
          <p:nvPr/>
        </p:nvSpPr>
        <p:spPr>
          <a:xfrm>
            <a:off x="8576459" y="37404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Mettre en avant les améliorations.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53259" y="4485600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4" name="S10_PHASE_3_ITEM_3_BULLET"/>
          <p:cNvSpPr/>
          <p:nvPr/>
        </p:nvSpPr>
        <p:spPr>
          <a:xfrm>
            <a:off x="8389259" y="465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0_PHASE_3_ITEM_3_TITLE"/>
          <p:cNvSpPr txBox="1"/>
          <p:nvPr/>
        </p:nvSpPr>
        <p:spPr>
          <a:xfrm>
            <a:off x="8576459" y="45216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Surveillance</a:t>
            </a:r>
          </a:p>
        </p:txBody>
      </p:sp>
      <p:sp>
        <p:nvSpPr>
          <p:cNvPr id="56" name="S10_PHASE_3_ITEM_3_BODY"/>
          <p:cNvSpPr txBox="1"/>
          <p:nvPr/>
        </p:nvSpPr>
        <p:spPr>
          <a:xfrm>
            <a:off x="8576459" y="48672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en continu des retours.</a:t>
            </a:r>
          </a:p>
        </p:txBody>
      </p:sp>
      <p:sp>
        <p:nvSpPr>
          <p:cNvPr id="57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Passer de la donnée brute à la stratégie concrète.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L'accompagnement Qualtrics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07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1_BLOCK_1_ACCENT_BAR"/>
          <p:cNvSpPr/>
          <p:nvPr/>
        </p:nvSpPr>
        <p:spPr>
          <a:xfrm>
            <a:off x="392400" y="115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11_BLOCK_1_NUMB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242000"/>
            <a:ext cx="1440000" cy="792000"/>
          </a:xfrm>
          <a:prstGeom prst="rect">
            <a:avLst/>
          </a:prstGeom>
        </p:spPr>
      </p:pic>
      <p:sp>
        <p:nvSpPr>
          <p:cNvPr id="10" name="S11_BLOCK_1_TITLE"/>
          <p:cNvSpPr txBox="1"/>
          <p:nvPr/>
        </p:nvSpPr>
        <p:spPr>
          <a:xfrm>
            <a:off x="720000" y="124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Plateforme XM complète</a:t>
            </a:r>
          </a:p>
        </p:txBody>
      </p:sp>
      <p:sp>
        <p:nvSpPr>
          <p:cNvPr id="11" name="S11_BLOCK_1_BODY"/>
          <p:cNvSpPr txBox="1"/>
          <p:nvPr/>
        </p:nvSpPr>
        <p:spPr>
          <a:xfrm>
            <a:off x="720000" y="167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Outils d'enquêtes simples et puissants pour recueillir le feedback.</a:t>
            </a:r>
          </a:p>
        </p:txBody>
      </p:sp>
      <p:sp>
        <p:nvSpPr>
          <p:cNvPr id="12" name="S11_BLOCK_2_ACCENT_BAR"/>
          <p:cNvSpPr/>
          <p:nvPr/>
        </p:nvSpPr>
        <p:spPr>
          <a:xfrm>
            <a:off x="392400" y="277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11_BLOCK_2_NUMB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2872800"/>
            <a:ext cx="1440000" cy="792000"/>
          </a:xfrm>
          <a:prstGeom prst="rect">
            <a:avLst/>
          </a:prstGeom>
        </p:spPr>
      </p:pic>
      <p:sp>
        <p:nvSpPr>
          <p:cNvPr id="14" name="S11_BLOCK_2_TITLE"/>
          <p:cNvSpPr txBox="1"/>
          <p:nvPr/>
        </p:nvSpPr>
        <p:spPr>
          <a:xfrm>
            <a:off x="720000" y="2872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Analyses avancées</a:t>
            </a:r>
          </a:p>
        </p:txBody>
      </p:sp>
      <p:sp>
        <p:nvSpPr>
          <p:cNvPr id="15" name="S11_BLOCK_2_BODY"/>
          <p:cNvSpPr txBox="1"/>
          <p:nvPr/>
        </p:nvSpPr>
        <p:spPr>
          <a:xfrm>
            <a:off x="720000" y="3304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Identification automatique des types d'attributs Kano.</a:t>
            </a:r>
          </a:p>
        </p:txBody>
      </p:sp>
      <p:sp>
        <p:nvSpPr>
          <p:cNvPr id="16" name="S11_BLOCK_3_ACCENT_BAR"/>
          <p:cNvSpPr/>
          <p:nvPr/>
        </p:nvSpPr>
        <p:spPr>
          <a:xfrm>
            <a:off x="392400" y="4392000"/>
            <a:ext cx="61200" cy="1371600"/>
          </a:xfrm>
          <a:prstGeom prst="roundRect">
            <a:avLst>
              <a:gd name="adj" fmla="val 12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11_BLOCK_3_NUMB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4482000"/>
            <a:ext cx="1440000" cy="792000"/>
          </a:xfrm>
          <a:prstGeom prst="rect">
            <a:avLst/>
          </a:prstGeom>
        </p:spPr>
      </p:pic>
      <p:sp>
        <p:nvSpPr>
          <p:cNvPr id="18" name="S11_BLOCK_3_TITLE"/>
          <p:cNvSpPr txBox="1"/>
          <p:nvPr/>
        </p:nvSpPr>
        <p:spPr>
          <a:xfrm>
            <a:off x="720000" y="4482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Adaptation temps réel</a:t>
            </a:r>
          </a:p>
        </p:txBody>
      </p:sp>
      <p:sp>
        <p:nvSpPr>
          <p:cNvPr id="19" name="S11_BLOCK_3_BODY"/>
          <p:cNvSpPr txBox="1"/>
          <p:nvPr/>
        </p:nvSpPr>
        <p:spPr>
          <a:xfrm>
            <a:off x="720000" y="4914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Suivi continu des attentes pour maintenir votre avance marché.</a:t>
            </a:r>
          </a:p>
        </p:txBody>
      </p:sp>
      <p:sp>
        <p:nvSpPr>
          <p:cNvPr id="20" name="TakeawayBand"/>
          <p:cNvSpPr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akeawayBandText"/>
          <p:cNvSpPr txBox="1"/>
          <p:nvPr/>
        </p:nvSpPr>
        <p:spPr>
          <a:xfrm>
            <a:off x="392400" y="6037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Prêts à optimiser votre satisfaction client avec Qualtrics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