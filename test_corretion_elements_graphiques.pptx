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Pourquoi accélérer maintenant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01/11</a:t>
            </a:r>
          </a:p>
        </p:txBody>
      </p:sp>
      <p:sp>
        <p:nvSpPr>
          <p:cNvPr id="7" name="LeftAccentBar"/>
          <p:cNvSpPr/>
          <p:nvPr/>
        </p:nvSpPr>
        <p:spPr>
          <a:xfrm>
            <a:off x="720000" y="1260000"/>
            <a:ext cx="39600" cy="2268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1_MANIFESTO"/>
          <p:cNvSpPr txBox="1"/>
          <p:nvPr/>
        </p:nvSpPr>
        <p:spPr>
          <a:xfrm>
            <a:off x="838800" y="1238400"/>
            <a:ext cx="7617600" cy="102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474E67"/>
                </a:solidFill>
                <a:latin typeface="Segoe UI Light"/>
              </a:rPr>
              <a:t>Le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statu quo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 ralentit les équipes. Le pilote donne un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rythme clair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 et rend la </a:t>
            </a:r>
            <a:r>
              <a:rPr sz="2400" b="1" i="0">
                <a:solidFill>
                  <a:srgbClr val="A25871"/>
                </a:solidFill>
                <a:latin typeface="Segoe UI"/>
              </a:rPr>
              <a:t>décision visible</a:t>
            </a:r>
            <a:r>
              <a:rPr sz="2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9" name="S01_BODY"/>
          <p:cNvSpPr txBox="1"/>
          <p:nvPr/>
        </p:nvSpPr>
        <p:spPr>
          <a:xfrm>
            <a:off x="838800" y="2865600"/>
            <a:ext cx="7365600" cy="1015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474E67"/>
                </a:solidFill>
                <a:latin typeface="Segoe UI"/>
              </a:rPr>
              <a:t>Les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signaux convergent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 : délais instables, arbitrages tardifs et énergie dispersée. Avec un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pilote court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, nous créons une 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preuve mesurable</a:t>
            </a:r>
            <a:r>
              <a:rPr sz="1300" b="0" i="0">
                <a:solidFill>
                  <a:srgbClr val="474E67"/>
                </a:solidFill>
                <a:latin typeface="Segoe UI"/>
              </a:rPr>
              <a:t> pour décider vite.</a:t>
            </a:r>
          </a:p>
        </p:txBody>
      </p:sp>
      <p:sp>
        <p:nvSpPr>
          <p:cNvPr id="10" name="KpiAccent_1"/>
          <p:cNvSpPr/>
          <p:nvPr/>
        </p:nvSpPr>
        <p:spPr>
          <a:xfrm>
            <a:off x="8712000" y="1040400"/>
            <a:ext cx="406799" cy="25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1_STAT_1_VALUE"/>
          <p:cNvSpPr txBox="1"/>
          <p:nvPr/>
        </p:nvSpPr>
        <p:spPr>
          <a:xfrm>
            <a:off x="8712000" y="11448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6A5D79"/>
                </a:solidFill>
                <a:latin typeface="Segoe UI Black"/>
              </a:rPr>
              <a:t>+18%</a:t>
            </a:r>
          </a:p>
        </p:txBody>
      </p:sp>
      <p:sp>
        <p:nvSpPr>
          <p:cNvPr id="12" name="S01_STAT_1_LABEL"/>
          <p:cNvSpPr txBox="1"/>
          <p:nvPr/>
        </p:nvSpPr>
        <p:spPr>
          <a:xfrm>
            <a:off x="8712000" y="19044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équipe</a:t>
            </a:r>
          </a:p>
        </p:txBody>
      </p:sp>
      <p:sp>
        <p:nvSpPr>
          <p:cNvPr id="13" name="S01_STAT_1_SUBLABEL"/>
          <p:cNvSpPr txBox="1"/>
          <p:nvPr/>
        </p:nvSpPr>
        <p:spPr>
          <a:xfrm>
            <a:off x="8712000" y="21852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sur équipe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pilote</a:t>
            </a:r>
          </a:p>
        </p:txBody>
      </p:sp>
      <p:sp>
        <p:nvSpPr>
          <p:cNvPr id="14" name="KpiAccent_2"/>
          <p:cNvSpPr/>
          <p:nvPr/>
        </p:nvSpPr>
        <p:spPr>
          <a:xfrm>
            <a:off x="8712000" y="2692800"/>
            <a:ext cx="406799" cy="252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01_STAT_2_VALUE"/>
          <p:cNvSpPr txBox="1"/>
          <p:nvPr/>
        </p:nvSpPr>
        <p:spPr>
          <a:xfrm>
            <a:off x="8712000" y="27936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A25871"/>
                </a:solidFill>
                <a:latin typeface="Segoe UI Black"/>
              </a:rPr>
              <a:t>12 j</a:t>
            </a:r>
          </a:p>
        </p:txBody>
      </p:sp>
      <p:sp>
        <p:nvSpPr>
          <p:cNvPr id="16" name="S01_STAT_2_LABEL"/>
          <p:cNvSpPr txBox="1"/>
          <p:nvPr/>
        </p:nvSpPr>
        <p:spPr>
          <a:xfrm>
            <a:off x="8712000" y="35568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Cycle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cible</a:t>
            </a:r>
          </a:p>
        </p:txBody>
      </p:sp>
      <p:sp>
        <p:nvSpPr>
          <p:cNvPr id="17" name="S01_STAT_2_SUBLABEL"/>
          <p:cNvSpPr txBox="1"/>
          <p:nvPr/>
        </p:nvSpPr>
        <p:spPr>
          <a:xfrm>
            <a:off x="8712000" y="38340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contre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21 j</a:t>
            </a:r>
          </a:p>
        </p:txBody>
      </p:sp>
      <p:sp>
        <p:nvSpPr>
          <p:cNvPr id="18" name="KpiAccent_3"/>
          <p:cNvSpPr/>
          <p:nvPr/>
        </p:nvSpPr>
        <p:spPr>
          <a:xfrm>
            <a:off x="8712000" y="4338000"/>
            <a:ext cx="406799" cy="252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01_STAT_3_VALUE"/>
          <p:cNvSpPr txBox="1"/>
          <p:nvPr/>
        </p:nvSpPr>
        <p:spPr>
          <a:xfrm>
            <a:off x="8712000" y="4446000"/>
            <a:ext cx="3401999" cy="76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 i="0">
                <a:solidFill>
                  <a:srgbClr val="FDA85B"/>
                </a:solidFill>
                <a:latin typeface="Segoe UI Black"/>
              </a:rPr>
              <a:t>90 j</a:t>
            </a:r>
          </a:p>
        </p:txBody>
      </p:sp>
      <p:sp>
        <p:nvSpPr>
          <p:cNvPr id="20" name="S01_STAT_3_LABEL"/>
          <p:cNvSpPr txBox="1"/>
          <p:nvPr/>
        </p:nvSpPr>
        <p:spPr>
          <a:xfrm>
            <a:off x="8712000" y="5205600"/>
            <a:ext cx="3401999" cy="28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i="0">
                <a:solidFill>
                  <a:srgbClr val="070E1D"/>
                </a:solidFill>
                <a:latin typeface="Segoe UI"/>
              </a:rPr>
              <a:t>Preuve</a:t>
            </a:r>
            <a:r>
              <a:rPr sz="1300" b="1" i="0">
                <a:solidFill>
                  <a:srgbClr val="070E1D"/>
                </a:solidFill>
                <a:latin typeface="Segoe UI"/>
              </a:rPr>
              <a:t> de valeur</a:t>
            </a:r>
          </a:p>
        </p:txBody>
      </p:sp>
      <p:sp>
        <p:nvSpPr>
          <p:cNvPr id="21" name="S01_STAT_3_SUBLABEL"/>
          <p:cNvSpPr txBox="1"/>
          <p:nvPr/>
        </p:nvSpPr>
        <p:spPr>
          <a:xfrm>
            <a:off x="8712000" y="5486400"/>
            <a:ext cx="3401999" cy="255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avant </a:t>
            </a:r>
            <a:r>
              <a:rPr sz="1000" b="0" i="0">
                <a:solidFill>
                  <a:srgbClr val="474E67"/>
                </a:solidFill>
                <a:latin typeface="Segoe UI"/>
              </a:rPr>
              <a:t>scale-up</a:t>
            </a:r>
          </a:p>
        </p:txBody>
      </p:sp>
      <p:sp>
        <p:nvSpPr>
          <p:cNvPr id="22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Décider vite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pour apprendre vite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Trois principes d'exécution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02/11</a:t>
            </a:r>
          </a:p>
        </p:txBody>
      </p:sp>
      <p:sp>
        <p:nvSpPr>
          <p:cNvPr id="7" name="S02_SEP_1"/>
          <p:cNvSpPr/>
          <p:nvPr/>
        </p:nvSpPr>
        <p:spPr>
          <a:xfrm>
            <a:off x="608400" y="1695600"/>
            <a:ext cx="36000" cy="35640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2_COL_1_TITLE"/>
          <p:cNvSpPr txBox="1"/>
          <p:nvPr/>
        </p:nvSpPr>
        <p:spPr>
          <a:xfrm>
            <a:off x="849600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6A5D79"/>
                </a:solidFill>
                <a:latin typeface="Segoe UI"/>
              </a:rPr>
              <a:t>Commencer petit, </a:t>
            </a:r>
            <a:r>
              <a:rPr sz="2000" b="1" i="0" cap="small">
                <a:solidFill>
                  <a:srgbClr val="6A5D79"/>
                </a:solidFill>
                <a:latin typeface="Segoe UI"/>
              </a:rPr>
              <a:t>mesurer vite</a:t>
            </a:r>
          </a:p>
        </p:txBody>
      </p:sp>
      <p:sp>
        <p:nvSpPr>
          <p:cNvPr id="9" name="S02_COL_1_BODY"/>
          <p:cNvSpPr txBox="1"/>
          <p:nvPr/>
        </p:nvSpPr>
        <p:spPr>
          <a:xfrm>
            <a:off x="849600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Un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périmètre pilote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évite la dispersion. Les apprentissages deviennent des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standards simples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0" name="S02_SEP_2"/>
          <p:cNvSpPr/>
          <p:nvPr/>
        </p:nvSpPr>
        <p:spPr>
          <a:xfrm>
            <a:off x="4359600" y="1695600"/>
            <a:ext cx="36000" cy="3564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2_COL_2_TITLE"/>
          <p:cNvSpPr txBox="1"/>
          <p:nvPr/>
        </p:nvSpPr>
        <p:spPr>
          <a:xfrm>
            <a:off x="4597200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A25871"/>
                </a:solidFill>
                <a:latin typeface="Segoe UI"/>
              </a:rPr>
              <a:t>Donner un rôle au </a:t>
            </a:r>
            <a:r>
              <a:rPr sz="2000" b="1" i="0" cap="small">
                <a:solidFill>
                  <a:srgbClr val="A25871"/>
                </a:solidFill>
                <a:latin typeface="Segoe UI"/>
              </a:rPr>
              <a:t>terrain</a:t>
            </a:r>
          </a:p>
        </p:txBody>
      </p:sp>
      <p:sp>
        <p:nvSpPr>
          <p:cNvPr id="12" name="S02_COL_2_BODY"/>
          <p:cNvSpPr txBox="1"/>
          <p:nvPr/>
        </p:nvSpPr>
        <p:spPr>
          <a:xfrm>
            <a:off x="4597200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Les équipes valident les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irritants réels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priorisent les actions utiles et rendent les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gains visibles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3" name="S02_SEP_3"/>
          <p:cNvSpPr/>
          <p:nvPr/>
        </p:nvSpPr>
        <p:spPr>
          <a:xfrm>
            <a:off x="8110800" y="1695600"/>
            <a:ext cx="36000" cy="35640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2_COL_3_TITLE"/>
          <p:cNvSpPr txBox="1"/>
          <p:nvPr/>
        </p:nvSpPr>
        <p:spPr>
          <a:xfrm>
            <a:off x="8348400" y="2545200"/>
            <a:ext cx="3240000" cy="957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 i="0" cap="small">
                <a:solidFill>
                  <a:srgbClr val="FDA85B"/>
                </a:solidFill>
                <a:latin typeface="Segoe UI"/>
              </a:rPr>
              <a:t>Installer une </a:t>
            </a:r>
            <a:r>
              <a:rPr sz="2000" b="1" i="0" cap="small">
                <a:solidFill>
                  <a:srgbClr val="FDA85B"/>
                </a:solidFill>
                <a:latin typeface="Segoe UI"/>
              </a:rPr>
              <a:t>cadence commune</a:t>
            </a:r>
          </a:p>
        </p:txBody>
      </p:sp>
      <p:sp>
        <p:nvSpPr>
          <p:cNvPr id="15" name="S02_COL_3_BODY"/>
          <p:cNvSpPr txBox="1"/>
          <p:nvPr/>
        </p:nvSpPr>
        <p:spPr>
          <a:xfrm>
            <a:off x="8348400" y="4086000"/>
            <a:ext cx="3240000" cy="1126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Un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rythme court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synchronise sponsor, managers et contributeurs autour des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mêmes faits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Six facteurs critiques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03/11</a:t>
            </a:r>
          </a:p>
        </p:txBody>
      </p:sp>
      <p:sp>
        <p:nvSpPr>
          <p:cNvPr id="7" name="S03_TEARDROP_1"/>
          <p:cNvSpPr/>
          <p:nvPr/>
        </p:nvSpPr>
        <p:spPr>
          <a:xfrm rot="10800000">
            <a:off x="1231200" y="1292400"/>
            <a:ext cx="1080000" cy="1080000"/>
          </a:xfrm>
          <a:prstGeom prst="teardrop">
            <a:avLst/>
          </a:prstGeom>
          <a:solidFill>
            <a:srgbClr val="D8DB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3_FACTOR_1_LABEL"/>
          <p:cNvSpPr txBox="1"/>
          <p:nvPr/>
        </p:nvSpPr>
        <p:spPr>
          <a:xfrm>
            <a:off x="521999" y="24804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Sponsor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 exécutif</a:t>
            </a:r>
          </a:p>
        </p:txBody>
      </p:sp>
      <p:sp>
        <p:nvSpPr>
          <p:cNvPr id="9" name="S03_TEARDROP_2"/>
          <p:cNvSpPr/>
          <p:nvPr/>
        </p:nvSpPr>
        <p:spPr>
          <a:xfrm rot="10800000">
            <a:off x="5529600" y="1314000"/>
            <a:ext cx="1080000" cy="1080000"/>
          </a:xfrm>
          <a:prstGeom prst="teardrop">
            <a:avLst/>
          </a:prstGeom>
          <a:solidFill>
            <a:srgbClr val="BBB4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03_FACTOR_2_LABEL"/>
          <p:cNvSpPr txBox="1"/>
          <p:nvPr/>
        </p:nvSpPr>
        <p:spPr>
          <a:xfrm>
            <a:off x="4820400" y="25020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Vision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 partagée</a:t>
            </a:r>
          </a:p>
        </p:txBody>
      </p:sp>
      <p:sp>
        <p:nvSpPr>
          <p:cNvPr id="11" name="S03_TEARDROP_3"/>
          <p:cNvSpPr/>
          <p:nvPr/>
        </p:nvSpPr>
        <p:spPr>
          <a:xfrm rot="10800000">
            <a:off x="9669600" y="1314000"/>
            <a:ext cx="1080000" cy="1080000"/>
          </a:xfrm>
          <a:prstGeom prst="teardrop">
            <a:avLst/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3_FACTOR_3_LABEL"/>
          <p:cNvSpPr txBox="1"/>
          <p:nvPr/>
        </p:nvSpPr>
        <p:spPr>
          <a:xfrm>
            <a:off x="8960400" y="25020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Equipe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dédiée</a:t>
            </a:r>
          </a:p>
        </p:txBody>
      </p:sp>
      <p:sp>
        <p:nvSpPr>
          <p:cNvPr id="13" name="S03_TEARDROP_4"/>
          <p:cNvSpPr/>
          <p:nvPr/>
        </p:nvSpPr>
        <p:spPr>
          <a:xfrm rot="10800000">
            <a:off x="1245600" y="3927600"/>
            <a:ext cx="1080000" cy="1080000"/>
          </a:xfrm>
          <a:prstGeom prst="teardrop">
            <a:avLst/>
          </a:prstGeom>
          <a:solidFill>
            <a:srgbClr val="F1D3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3_FACTOR_4_LABEL"/>
          <p:cNvSpPr txBox="1"/>
          <p:nvPr/>
        </p:nvSpPr>
        <p:spPr>
          <a:xfrm>
            <a:off x="536399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Indicateurs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simples</a:t>
            </a:r>
          </a:p>
        </p:txBody>
      </p:sp>
      <p:sp>
        <p:nvSpPr>
          <p:cNvPr id="15" name="S03_TEARDROP_5"/>
          <p:cNvSpPr/>
          <p:nvPr/>
        </p:nvSpPr>
        <p:spPr>
          <a:xfrm rot="10800000">
            <a:off x="5472000" y="3927600"/>
            <a:ext cx="1080000" cy="1080000"/>
          </a:xfrm>
          <a:prstGeom prst="teardrop">
            <a:avLst/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3_FACTOR_5_LABEL"/>
          <p:cNvSpPr txBox="1"/>
          <p:nvPr/>
        </p:nvSpPr>
        <p:spPr>
          <a:xfrm>
            <a:off x="4762799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Communication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continue</a:t>
            </a:r>
          </a:p>
        </p:txBody>
      </p:sp>
      <p:sp>
        <p:nvSpPr>
          <p:cNvPr id="17" name="S03_TEARDROP_6"/>
          <p:cNvSpPr/>
          <p:nvPr/>
        </p:nvSpPr>
        <p:spPr>
          <a:xfrm rot="10800000">
            <a:off x="9561600" y="3927600"/>
            <a:ext cx="1080000" cy="1080000"/>
          </a:xfrm>
          <a:prstGeom prst="teardrop">
            <a:avLst/>
          </a:prstGeom>
          <a:solidFill>
            <a:srgbClr val="FEF4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03_FACTOR_6_LABEL"/>
          <p:cNvSpPr txBox="1"/>
          <p:nvPr/>
        </p:nvSpPr>
        <p:spPr>
          <a:xfrm>
            <a:off x="8852400" y="5115600"/>
            <a:ext cx="2498400" cy="309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400" b="1" i="0" cap="small">
                <a:solidFill>
                  <a:srgbClr val="070E1D"/>
                </a:solidFill>
                <a:latin typeface="Segoe UI"/>
              </a:rPr>
              <a:t>Quick wins </a:t>
            </a:r>
            <a:r>
              <a:rPr sz="1400" b="1" i="0" cap="small">
                <a:solidFill>
                  <a:srgbClr val="070E1D"/>
                </a:solidFill>
                <a:latin typeface="Segoe UI"/>
              </a:rPr>
              <a:t>visibles</a:t>
            </a:r>
          </a:p>
        </p:txBody>
      </p:sp>
      <p:sp>
        <p:nvSpPr>
          <p:cNvPr id="19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Aligner les facteurs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avant le lancement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triangl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2059" y="1080000"/>
            <a:ext cx="5328000" cy="4644000"/>
          </a:xfrm>
          <a:prstGeom prst="rect">
            <a:avLst/>
          </a:prstGeom>
        </p:spPr>
      </p:pic>
      <p:sp>
        <p:nvSpPr>
          <p:cNvPr id="3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Trois dimensions liées</a:t>
            </a:r>
          </a:p>
        </p:txBody>
      </p:sp>
      <p:sp>
        <p:nvSpPr>
          <p:cNvPr id="4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7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04/11</a:t>
            </a:r>
          </a:p>
        </p:txBody>
      </p:sp>
      <p:sp>
        <p:nvSpPr>
          <p:cNvPr id="8" name="S04_TOP_LABEL"/>
          <p:cNvSpPr txBox="1"/>
          <p:nvPr/>
        </p:nvSpPr>
        <p:spPr>
          <a:xfrm>
            <a:off x="7059600" y="6408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Personnes</a:t>
            </a:r>
          </a:p>
        </p:txBody>
      </p:sp>
      <p:sp>
        <p:nvSpPr>
          <p:cNvPr id="9" name="S04_TOP_SUBLABEL"/>
          <p:cNvSpPr txBox="1"/>
          <p:nvPr/>
        </p:nvSpPr>
        <p:spPr>
          <a:xfrm>
            <a:off x="7059600" y="917999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compétences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posture</a:t>
            </a:r>
          </a:p>
        </p:txBody>
      </p:sp>
      <p:sp>
        <p:nvSpPr>
          <p:cNvPr id="10" name="S04_LEFT_LABEL"/>
          <p:cNvSpPr txBox="1"/>
          <p:nvPr/>
        </p:nvSpPr>
        <p:spPr>
          <a:xfrm>
            <a:off x="1011600" y="42624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Processus</a:t>
            </a:r>
          </a:p>
        </p:txBody>
      </p:sp>
      <p:sp>
        <p:nvSpPr>
          <p:cNvPr id="11" name="S04_LEFT_SUBLABEL"/>
          <p:cNvSpPr txBox="1"/>
          <p:nvPr/>
        </p:nvSpPr>
        <p:spPr>
          <a:xfrm>
            <a:off x="1011600" y="4539600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rituels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standards</a:t>
            </a:r>
          </a:p>
        </p:txBody>
      </p:sp>
      <p:sp>
        <p:nvSpPr>
          <p:cNvPr id="12" name="S04_RIGHT_LABEL"/>
          <p:cNvSpPr txBox="1"/>
          <p:nvPr/>
        </p:nvSpPr>
        <p:spPr>
          <a:xfrm>
            <a:off x="8928000" y="4262400"/>
            <a:ext cx="2188800" cy="370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070E1D"/>
                </a:solidFill>
                <a:latin typeface="Segoe UI"/>
              </a:rPr>
              <a:t>Outils</a:t>
            </a:r>
          </a:p>
        </p:txBody>
      </p:sp>
      <p:sp>
        <p:nvSpPr>
          <p:cNvPr id="13" name="S04_RIGHT_SUBLABEL"/>
          <p:cNvSpPr txBox="1"/>
          <p:nvPr/>
        </p:nvSpPr>
        <p:spPr>
          <a:xfrm>
            <a:off x="8928000" y="4539600"/>
            <a:ext cx="2188800" cy="309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 Light"/>
              </a:rPr>
              <a:t>données et 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pilotage</a:t>
            </a:r>
          </a:p>
        </p:txBody>
      </p:sp>
      <p:sp>
        <p:nvSpPr>
          <p:cNvPr id="14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Aucune dimension ne progresse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seule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Trajectoire en quatre temps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05/11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39600" y="2916000"/>
            <a:ext cx="2458800" cy="0"/>
          </a:xfrm>
          <a:prstGeom prst="line">
            <a:avLst/>
          </a:prstGeom>
          <a:ln w="19050">
            <a:solidFill>
              <a:srgbClr val="BBB4C4"/>
            </a:solidFill>
          </a:ln>
        </p:spPr>
      </p:cxnSp>
      <p:cxnSp>
        <p:nvCxnSpPr>
          <p:cNvPr id="8" name="Connector 7"/>
          <p:cNvCxnSpPr/>
          <p:nvPr/>
        </p:nvCxnSpPr>
        <p:spPr>
          <a:xfrm>
            <a:off x="3729600" y="2916000"/>
            <a:ext cx="2455200" cy="0"/>
          </a:xfrm>
          <a:prstGeom prst="line">
            <a:avLst/>
          </a:prstGeom>
          <a:ln w="19050">
            <a:solidFill>
              <a:srgbClr val="D5B3BE"/>
            </a:solidFill>
          </a:ln>
        </p:spPr>
      </p:cxnSp>
      <p:cxnSp>
        <p:nvCxnSpPr>
          <p:cNvPr id="9" name="Connector 8"/>
          <p:cNvCxnSpPr/>
          <p:nvPr/>
        </p:nvCxnSpPr>
        <p:spPr>
          <a:xfrm>
            <a:off x="6516000" y="2916000"/>
            <a:ext cx="2455200" cy="0"/>
          </a:xfrm>
          <a:prstGeom prst="line">
            <a:avLst/>
          </a:prstGeom>
          <a:ln w="19050">
            <a:solidFill>
              <a:srgbClr val="F1D3D5"/>
            </a:solidFill>
          </a:ln>
        </p:spPr>
      </p:cxnSp>
      <p:sp>
        <p:nvSpPr>
          <p:cNvPr id="10" name="S05_STEP_1_BULLET"/>
          <p:cNvSpPr/>
          <p:nvPr/>
        </p:nvSpPr>
        <p:spPr>
          <a:xfrm>
            <a:off x="608400" y="2750400"/>
            <a:ext cx="331200" cy="3312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5_STEP_1_NUMBER"/>
          <p:cNvSpPr txBox="1"/>
          <p:nvPr/>
        </p:nvSpPr>
        <p:spPr>
          <a:xfrm>
            <a:off x="608400" y="2750400"/>
            <a:ext cx="331200" cy="33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1</a:t>
            </a:r>
          </a:p>
        </p:txBody>
      </p:sp>
      <p:sp>
        <p:nvSpPr>
          <p:cNvPr id="12" name="S05_STEP_1_PERIOD"/>
          <p:cNvSpPr txBox="1"/>
          <p:nvPr/>
        </p:nvSpPr>
        <p:spPr>
          <a:xfrm>
            <a:off x="60840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6A5D79"/>
                </a:solidFill>
                <a:latin typeface="Segoe UI"/>
              </a:rPr>
              <a:t>S1</a:t>
            </a:r>
            <a:r>
              <a:rPr sz="1200" b="1" i="0" cap="small">
                <a:solidFill>
                  <a:srgbClr val="6A5D79"/>
                </a:solidFill>
                <a:latin typeface="Segoe UI"/>
              </a:rPr>
              <a:t>-S2</a:t>
            </a:r>
          </a:p>
        </p:txBody>
      </p:sp>
      <p:sp>
        <p:nvSpPr>
          <p:cNvPr id="13" name="S05_STEP_1_TITLE"/>
          <p:cNvSpPr txBox="1"/>
          <p:nvPr/>
        </p:nvSpPr>
        <p:spPr>
          <a:xfrm>
            <a:off x="60840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Cadrer</a:t>
            </a:r>
          </a:p>
        </p:txBody>
      </p:sp>
      <p:sp>
        <p:nvSpPr>
          <p:cNvPr id="14" name="S05_STEP_1_BODY"/>
          <p:cNvSpPr txBox="1"/>
          <p:nvPr/>
        </p:nvSpPr>
        <p:spPr>
          <a:xfrm>
            <a:off x="60840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Aligner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sponsor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périmètre pilote,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indicateurs de succès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 et règles d'arbitrage.</a:t>
            </a:r>
          </a:p>
        </p:txBody>
      </p:sp>
      <p:sp>
        <p:nvSpPr>
          <p:cNvPr id="15" name="S05_STEP_2_BULLET"/>
          <p:cNvSpPr/>
          <p:nvPr/>
        </p:nvSpPr>
        <p:spPr>
          <a:xfrm>
            <a:off x="3398400" y="2750400"/>
            <a:ext cx="331200" cy="3312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5_STEP_2_NUMBER"/>
          <p:cNvSpPr txBox="1"/>
          <p:nvPr/>
        </p:nvSpPr>
        <p:spPr>
          <a:xfrm>
            <a:off x="3398400" y="2750400"/>
            <a:ext cx="331200" cy="33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2</a:t>
            </a:r>
          </a:p>
        </p:txBody>
      </p:sp>
      <p:sp>
        <p:nvSpPr>
          <p:cNvPr id="17" name="S05_STEP_2_PERIOD"/>
          <p:cNvSpPr txBox="1"/>
          <p:nvPr/>
        </p:nvSpPr>
        <p:spPr>
          <a:xfrm>
            <a:off x="339840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A25871"/>
                </a:solidFill>
                <a:latin typeface="Segoe UI"/>
              </a:rPr>
              <a:t>S3</a:t>
            </a:r>
            <a:r>
              <a:rPr sz="1200" b="1" i="0" cap="small">
                <a:solidFill>
                  <a:srgbClr val="A25871"/>
                </a:solidFill>
                <a:latin typeface="Segoe UI"/>
              </a:rPr>
              <a:t>-S6</a:t>
            </a:r>
          </a:p>
        </p:txBody>
      </p:sp>
      <p:sp>
        <p:nvSpPr>
          <p:cNvPr id="18" name="S05_STEP_2_TITLE"/>
          <p:cNvSpPr txBox="1"/>
          <p:nvPr/>
        </p:nvSpPr>
        <p:spPr>
          <a:xfrm>
            <a:off x="339840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Tester</a:t>
            </a:r>
          </a:p>
        </p:txBody>
      </p:sp>
      <p:sp>
        <p:nvSpPr>
          <p:cNvPr id="19" name="S05_STEP_2_BODY"/>
          <p:cNvSpPr txBox="1"/>
          <p:nvPr/>
        </p:nvSpPr>
        <p:spPr>
          <a:xfrm>
            <a:off x="339840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Mener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cycles courts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mesurer les écarts et décider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corrections utiles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0" name="S05_STEP_3_BULLET"/>
          <p:cNvSpPr/>
          <p:nvPr/>
        </p:nvSpPr>
        <p:spPr>
          <a:xfrm>
            <a:off x="6184800" y="2750400"/>
            <a:ext cx="331200" cy="331200"/>
          </a:xfrm>
          <a:prstGeom prst="ellipse">
            <a:avLst/>
          </a:prstGeom>
          <a:solidFill>
            <a:srgbClr val="D473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S05_STEP_3_NUMBER"/>
          <p:cNvSpPr txBox="1"/>
          <p:nvPr/>
        </p:nvSpPr>
        <p:spPr>
          <a:xfrm>
            <a:off x="6184800" y="2750400"/>
            <a:ext cx="331200" cy="33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3</a:t>
            </a:r>
          </a:p>
        </p:txBody>
      </p:sp>
      <p:sp>
        <p:nvSpPr>
          <p:cNvPr id="22" name="S05_STEP_3_PERIOD"/>
          <p:cNvSpPr txBox="1"/>
          <p:nvPr/>
        </p:nvSpPr>
        <p:spPr>
          <a:xfrm>
            <a:off x="618480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D4737A"/>
                </a:solidFill>
                <a:latin typeface="Segoe UI"/>
              </a:rPr>
              <a:t>S7</a:t>
            </a:r>
            <a:r>
              <a:rPr sz="1200" b="1" i="0" cap="small">
                <a:solidFill>
                  <a:srgbClr val="D4737A"/>
                </a:solidFill>
                <a:latin typeface="Segoe UI"/>
              </a:rPr>
              <a:t>-S10</a:t>
            </a:r>
          </a:p>
        </p:txBody>
      </p:sp>
      <p:sp>
        <p:nvSpPr>
          <p:cNvPr id="23" name="S05_STEP_3_TITLE"/>
          <p:cNvSpPr txBox="1"/>
          <p:nvPr/>
        </p:nvSpPr>
        <p:spPr>
          <a:xfrm>
            <a:off x="618480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Stabiliser</a:t>
            </a:r>
          </a:p>
        </p:txBody>
      </p:sp>
      <p:sp>
        <p:nvSpPr>
          <p:cNvPr id="24" name="S05_STEP_3_BODY"/>
          <p:cNvSpPr txBox="1"/>
          <p:nvPr/>
        </p:nvSpPr>
        <p:spPr>
          <a:xfrm>
            <a:off x="618480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Transformer les pratiques validées en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standards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 et former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relais locaux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5" name="S05_STEP_4_BULLET"/>
          <p:cNvSpPr/>
          <p:nvPr/>
        </p:nvSpPr>
        <p:spPr>
          <a:xfrm>
            <a:off x="8971200" y="2750400"/>
            <a:ext cx="331200" cy="3312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05_STEP_4_NUMBER"/>
          <p:cNvSpPr txBox="1"/>
          <p:nvPr/>
        </p:nvSpPr>
        <p:spPr>
          <a:xfrm>
            <a:off x="8971200" y="2750400"/>
            <a:ext cx="331200" cy="33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 Black"/>
              </a:rPr>
              <a:t>4</a:t>
            </a:r>
          </a:p>
        </p:txBody>
      </p:sp>
      <p:sp>
        <p:nvSpPr>
          <p:cNvPr id="27" name="S05_STEP_4_PERIOD"/>
          <p:cNvSpPr txBox="1"/>
          <p:nvPr/>
        </p:nvSpPr>
        <p:spPr>
          <a:xfrm>
            <a:off x="8971200" y="3193199"/>
            <a:ext cx="2689200" cy="223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 i="0" cap="small">
                <a:solidFill>
                  <a:srgbClr val="FDA85B"/>
                </a:solidFill>
                <a:latin typeface="Segoe UI"/>
              </a:rPr>
              <a:t>S11</a:t>
            </a:r>
            <a:r>
              <a:rPr sz="1200" b="1" i="0" cap="small">
                <a:solidFill>
                  <a:srgbClr val="FDA85B"/>
                </a:solidFill>
                <a:latin typeface="Segoe UI"/>
              </a:rPr>
              <a:t>-S12</a:t>
            </a:r>
          </a:p>
        </p:txBody>
      </p:sp>
      <p:sp>
        <p:nvSpPr>
          <p:cNvPr id="28" name="S05_STEP_4_TITLE"/>
          <p:cNvSpPr txBox="1"/>
          <p:nvPr/>
        </p:nvSpPr>
        <p:spPr>
          <a:xfrm>
            <a:off x="8971200" y="3456000"/>
            <a:ext cx="2689200" cy="288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070E1D"/>
                </a:solidFill>
                <a:latin typeface="Segoe UI"/>
              </a:rPr>
              <a:t>Décider</a:t>
            </a:r>
          </a:p>
        </p:txBody>
      </p:sp>
      <p:sp>
        <p:nvSpPr>
          <p:cNvPr id="29" name="S05_STEP_4_BODY"/>
          <p:cNvSpPr txBox="1"/>
          <p:nvPr/>
        </p:nvSpPr>
        <p:spPr>
          <a:xfrm>
            <a:off x="8971200" y="3794399"/>
            <a:ext cx="2689200" cy="694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474E67"/>
                </a:solidFill>
                <a:latin typeface="Segoe UI Light"/>
              </a:rPr>
              <a:t>Présenter les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résultats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, qualifier les risques et choisir le 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scénario de déploiement</a:t>
            </a:r>
            <a:r>
              <a:rPr sz="12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Comparer les scénarios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06/11</a:t>
            </a:r>
          </a:p>
        </p:txBody>
      </p:sp>
      <p:sp>
        <p:nvSpPr>
          <p:cNvPr id="7" name="S06_HEADER_1_BG"/>
          <p:cNvSpPr/>
          <p:nvPr/>
        </p:nvSpPr>
        <p:spPr>
          <a:xfrm>
            <a:off x="547200" y="1897199"/>
            <a:ext cx="36252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6_HEADER_C1"/>
          <p:cNvSpPr txBox="1"/>
          <p:nvPr/>
        </p:nvSpPr>
        <p:spPr>
          <a:xfrm>
            <a:off x="547200" y="1897199"/>
            <a:ext cx="3625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Scénario</a:t>
            </a:r>
          </a:p>
        </p:txBody>
      </p:sp>
      <p:sp>
        <p:nvSpPr>
          <p:cNvPr id="9" name="S06_HEADER_2_BG"/>
          <p:cNvSpPr/>
          <p:nvPr/>
        </p:nvSpPr>
        <p:spPr>
          <a:xfrm>
            <a:off x="4172400" y="1897199"/>
            <a:ext cx="20952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06_HEADER_C2"/>
          <p:cNvSpPr txBox="1"/>
          <p:nvPr/>
        </p:nvSpPr>
        <p:spPr>
          <a:xfrm>
            <a:off x="4172400" y="1897199"/>
            <a:ext cx="2095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Coût</a:t>
            </a:r>
          </a:p>
        </p:txBody>
      </p:sp>
      <p:sp>
        <p:nvSpPr>
          <p:cNvPr id="11" name="S06_HEADER_3_BG"/>
          <p:cNvSpPr/>
          <p:nvPr/>
        </p:nvSpPr>
        <p:spPr>
          <a:xfrm>
            <a:off x="6256800" y="1897199"/>
            <a:ext cx="17640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6_HEADER_C3"/>
          <p:cNvSpPr txBox="1"/>
          <p:nvPr/>
        </p:nvSpPr>
        <p:spPr>
          <a:xfrm>
            <a:off x="6256800" y="1897199"/>
            <a:ext cx="17640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Délai</a:t>
            </a:r>
          </a:p>
        </p:txBody>
      </p:sp>
      <p:sp>
        <p:nvSpPr>
          <p:cNvPr id="13" name="S06_HEADER_4_BG"/>
          <p:cNvSpPr/>
          <p:nvPr/>
        </p:nvSpPr>
        <p:spPr>
          <a:xfrm>
            <a:off x="8013600" y="1897199"/>
            <a:ext cx="2329200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6_HEADER_C4"/>
          <p:cNvSpPr txBox="1"/>
          <p:nvPr/>
        </p:nvSpPr>
        <p:spPr>
          <a:xfrm>
            <a:off x="8013600" y="1897199"/>
            <a:ext cx="2329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Risque</a:t>
            </a:r>
          </a:p>
        </p:txBody>
      </p:sp>
      <p:sp>
        <p:nvSpPr>
          <p:cNvPr id="15" name="S06_HEADER_5_BG"/>
          <p:cNvSpPr/>
          <p:nvPr/>
        </p:nvSpPr>
        <p:spPr>
          <a:xfrm>
            <a:off x="10332000" y="1897199"/>
            <a:ext cx="1627199" cy="4572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6_HEADER_C5"/>
          <p:cNvSpPr txBox="1"/>
          <p:nvPr/>
        </p:nvSpPr>
        <p:spPr>
          <a:xfrm>
            <a:off x="10332000" y="1897199"/>
            <a:ext cx="1627199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Score</a:t>
            </a:r>
          </a:p>
        </p:txBody>
      </p:sp>
      <p:sp>
        <p:nvSpPr>
          <p:cNvPr id="17" name="S06_R1_BG"/>
          <p:cNvSpPr/>
          <p:nvPr/>
        </p:nvSpPr>
        <p:spPr>
          <a:xfrm>
            <a:off x="547200" y="2361600"/>
            <a:ext cx="11383200" cy="503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06_R1C1"/>
          <p:cNvSpPr txBox="1"/>
          <p:nvPr/>
        </p:nvSpPr>
        <p:spPr>
          <a:xfrm>
            <a:off x="547200" y="2361600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A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Statu quo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7200" y="28655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0" name="S06_R1C2"/>
          <p:cNvSpPr txBox="1"/>
          <p:nvPr/>
        </p:nvSpPr>
        <p:spPr>
          <a:xfrm>
            <a:off x="4172400" y="2361600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0,5 M€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47200" y="28655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2" name="S06_R1C3"/>
          <p:cNvSpPr txBox="1"/>
          <p:nvPr/>
        </p:nvSpPr>
        <p:spPr>
          <a:xfrm>
            <a:off x="6256800" y="2361600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6 mois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47200" y="28655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4" name="S06_R1C4"/>
          <p:cNvSpPr txBox="1"/>
          <p:nvPr/>
        </p:nvSpPr>
        <p:spPr>
          <a:xfrm>
            <a:off x="8013600" y="2361600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Faible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200" y="28655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6" name="S06_R1C5"/>
          <p:cNvSpPr txBox="1"/>
          <p:nvPr/>
        </p:nvSpPr>
        <p:spPr>
          <a:xfrm>
            <a:off x="10332000" y="2361600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47200" y="28655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28" name="S06_R2_BG"/>
          <p:cNvSpPr/>
          <p:nvPr/>
        </p:nvSpPr>
        <p:spPr>
          <a:xfrm>
            <a:off x="547200" y="2869200"/>
            <a:ext cx="11383200" cy="503999"/>
          </a:xfrm>
          <a:prstGeom prst="rect">
            <a:avLst/>
          </a:prstGeom>
          <a:solidFill>
            <a:srgbClr val="F4F5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06_R2C1"/>
          <p:cNvSpPr txBox="1"/>
          <p:nvPr/>
        </p:nvSpPr>
        <p:spPr>
          <a:xfrm>
            <a:off x="547200" y="2869200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B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Pilote ciblé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547200" y="33731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1" name="S06_R2C2"/>
          <p:cNvSpPr txBox="1"/>
          <p:nvPr/>
        </p:nvSpPr>
        <p:spPr>
          <a:xfrm>
            <a:off x="4172400" y="2869200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1,2 M€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47200" y="33731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3" name="S06_R2C3"/>
          <p:cNvSpPr txBox="1"/>
          <p:nvPr/>
        </p:nvSpPr>
        <p:spPr>
          <a:xfrm>
            <a:off x="6256800" y="2869200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9 mois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47200" y="33731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5" name="S06_R2C4"/>
          <p:cNvSpPr txBox="1"/>
          <p:nvPr/>
        </p:nvSpPr>
        <p:spPr>
          <a:xfrm>
            <a:off x="8013600" y="2869200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Moyen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47200" y="33731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7" name="S06_R2C5"/>
          <p:cNvSpPr txBox="1"/>
          <p:nvPr/>
        </p:nvSpPr>
        <p:spPr>
          <a:xfrm>
            <a:off x="10332000" y="2869200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★★★★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47200" y="3373199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39" name="S06_R3_BG"/>
          <p:cNvSpPr/>
          <p:nvPr/>
        </p:nvSpPr>
        <p:spPr>
          <a:xfrm>
            <a:off x="547200" y="3376800"/>
            <a:ext cx="11383200" cy="50399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S06_R3C1"/>
          <p:cNvSpPr txBox="1"/>
          <p:nvPr/>
        </p:nvSpPr>
        <p:spPr>
          <a:xfrm>
            <a:off x="547200" y="3376800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C - Transformation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totale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47200" y="38808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2" name="S06_R3C2"/>
          <p:cNvSpPr txBox="1"/>
          <p:nvPr/>
        </p:nvSpPr>
        <p:spPr>
          <a:xfrm>
            <a:off x="4172400" y="3376800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4,0 M€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547200" y="38808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4" name="S06_R3C3"/>
          <p:cNvSpPr txBox="1"/>
          <p:nvPr/>
        </p:nvSpPr>
        <p:spPr>
          <a:xfrm>
            <a:off x="6256800" y="3376800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24 mois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47200" y="38808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6" name="S06_R3C4"/>
          <p:cNvSpPr txBox="1"/>
          <p:nvPr/>
        </p:nvSpPr>
        <p:spPr>
          <a:xfrm>
            <a:off x="8013600" y="3376800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Elevé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47200" y="38808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48" name="S06_R3C5"/>
          <p:cNvSpPr txBox="1"/>
          <p:nvPr/>
        </p:nvSpPr>
        <p:spPr>
          <a:xfrm>
            <a:off x="10332000" y="3376800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★★★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47200" y="38808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0" name="S06_R4_BG"/>
          <p:cNvSpPr/>
          <p:nvPr/>
        </p:nvSpPr>
        <p:spPr>
          <a:xfrm>
            <a:off x="547200" y="3884399"/>
            <a:ext cx="11383200" cy="503999"/>
          </a:xfrm>
          <a:prstGeom prst="rect">
            <a:avLst/>
          </a:prstGeom>
          <a:solidFill>
            <a:srgbClr val="F4F5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1" name="S06_R4C1"/>
          <p:cNvSpPr txBox="1"/>
          <p:nvPr/>
        </p:nvSpPr>
        <p:spPr>
          <a:xfrm>
            <a:off x="547200" y="3884399"/>
            <a:ext cx="362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070E1D"/>
                </a:solidFill>
                <a:latin typeface="Segoe UI"/>
              </a:rPr>
              <a:t>D - </a:t>
            </a:r>
            <a:r>
              <a:rPr sz="1400" b="1" i="0">
                <a:solidFill>
                  <a:srgbClr val="070E1D"/>
                </a:solidFill>
                <a:latin typeface="Segoe UI"/>
              </a:rPr>
              <a:t>Externalisation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547200" y="43884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3" name="S06_R4C2"/>
          <p:cNvSpPr txBox="1"/>
          <p:nvPr/>
        </p:nvSpPr>
        <p:spPr>
          <a:xfrm>
            <a:off x="4172400" y="3884399"/>
            <a:ext cx="2095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2,5 M€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47200" y="43884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5" name="S06_R4C3"/>
          <p:cNvSpPr txBox="1"/>
          <p:nvPr/>
        </p:nvSpPr>
        <p:spPr>
          <a:xfrm>
            <a:off x="6256800" y="3884399"/>
            <a:ext cx="17640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0" i="0">
                <a:solidFill>
                  <a:srgbClr val="474E67"/>
                </a:solidFill>
                <a:latin typeface="Segoe UI"/>
              </a:rPr>
              <a:t>12 mois</a:t>
            </a:r>
          </a:p>
        </p:txBody>
      </p:sp>
      <p:cxnSp>
        <p:nvCxnSpPr>
          <p:cNvPr id="56" name="Connector 55"/>
          <p:cNvCxnSpPr/>
          <p:nvPr/>
        </p:nvCxnSpPr>
        <p:spPr>
          <a:xfrm>
            <a:off x="547200" y="43884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7" name="S06_R4C4"/>
          <p:cNvSpPr txBox="1"/>
          <p:nvPr/>
        </p:nvSpPr>
        <p:spPr>
          <a:xfrm>
            <a:off x="8013600" y="3884399"/>
            <a:ext cx="2329200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6A5D79"/>
                </a:solidFill>
                <a:latin typeface="Segoe UI"/>
              </a:rPr>
              <a:t>Moyen</a:t>
            </a:r>
          </a:p>
        </p:txBody>
      </p:sp>
      <p:cxnSp>
        <p:nvCxnSpPr>
          <p:cNvPr id="58" name="Connector 57"/>
          <p:cNvCxnSpPr/>
          <p:nvPr/>
        </p:nvCxnSpPr>
        <p:spPr>
          <a:xfrm>
            <a:off x="547200" y="43884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59" name="S06_R4C5"/>
          <p:cNvSpPr txBox="1"/>
          <p:nvPr/>
        </p:nvSpPr>
        <p:spPr>
          <a:xfrm>
            <a:off x="10332000" y="3884399"/>
            <a:ext cx="1627199" cy="50399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 i="0">
                <a:solidFill>
                  <a:srgbClr val="474E67"/>
                </a:solidFill>
                <a:latin typeface="Segoe UI"/>
              </a:rPr>
              <a:t>★★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547200" y="4388400"/>
            <a:ext cx="11383200" cy="0"/>
          </a:xfrm>
          <a:prstGeom prst="line">
            <a:avLst/>
          </a:prstGeom>
          <a:ln w="9525">
            <a:solidFill>
              <a:srgbClr val="D8DBE8"/>
            </a:solidFill>
          </a:ln>
        </p:spPr>
      </p:cxnSp>
      <p:sp>
        <p:nvSpPr>
          <p:cNvPr id="61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Scénario B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: meilleur équilibre valeur/risque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Indicateurs de pilotage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07/11</a:t>
            </a:r>
          </a:p>
        </p:txBody>
      </p:sp>
      <p:sp>
        <p:nvSpPr>
          <p:cNvPr id="7" name="S07_KPI_1_CARD"/>
          <p:cNvSpPr/>
          <p:nvPr/>
        </p:nvSpPr>
        <p:spPr>
          <a:xfrm>
            <a:off x="3816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D8DBE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7_KPI_1_LABEL"/>
          <p:cNvSpPr txBox="1"/>
          <p:nvPr/>
        </p:nvSpPr>
        <p:spPr>
          <a:xfrm>
            <a:off x="4212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484C6A"/>
                </a:solidFill>
                <a:latin typeface="Segoe UI Black"/>
              </a:rPr>
              <a:t>94%</a:t>
            </a:r>
          </a:p>
        </p:txBody>
      </p:sp>
      <p:sp>
        <p:nvSpPr>
          <p:cNvPr id="9" name="S07_KPI_1_SUBLABEL"/>
          <p:cNvSpPr txBox="1"/>
          <p:nvPr/>
        </p:nvSpPr>
        <p:spPr>
          <a:xfrm>
            <a:off x="4212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Adhésion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équipes</a:t>
            </a:r>
          </a:p>
        </p:txBody>
      </p:sp>
      <p:sp>
        <p:nvSpPr>
          <p:cNvPr id="10" name="S07_KPI_2_CARD"/>
          <p:cNvSpPr/>
          <p:nvPr/>
        </p:nvSpPr>
        <p:spPr>
          <a:xfrm>
            <a:off x="22644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7_KPI_2_LABEL"/>
          <p:cNvSpPr txBox="1"/>
          <p:nvPr/>
        </p:nvSpPr>
        <p:spPr>
          <a:xfrm>
            <a:off x="23040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6A5D79"/>
                </a:solidFill>
                <a:latin typeface="Segoe UI Black"/>
              </a:rPr>
              <a:t>12 j</a:t>
            </a:r>
          </a:p>
        </p:txBody>
      </p:sp>
      <p:sp>
        <p:nvSpPr>
          <p:cNvPr id="12" name="S07_KPI_2_SUBLABEL"/>
          <p:cNvSpPr txBox="1"/>
          <p:nvPr/>
        </p:nvSpPr>
        <p:spPr>
          <a:xfrm>
            <a:off x="23040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Cycle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moyen</a:t>
            </a:r>
          </a:p>
        </p:txBody>
      </p:sp>
      <p:sp>
        <p:nvSpPr>
          <p:cNvPr id="13" name="S07_KPI_3_CARD"/>
          <p:cNvSpPr/>
          <p:nvPr/>
        </p:nvSpPr>
        <p:spPr>
          <a:xfrm>
            <a:off x="41436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7_KPI_3_LABEL"/>
          <p:cNvSpPr txBox="1"/>
          <p:nvPr/>
        </p:nvSpPr>
        <p:spPr>
          <a:xfrm>
            <a:off x="4183199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A25871"/>
                </a:solidFill>
                <a:latin typeface="Segoe UI Black"/>
              </a:rPr>
              <a:t>+18%</a:t>
            </a:r>
          </a:p>
        </p:txBody>
      </p:sp>
      <p:sp>
        <p:nvSpPr>
          <p:cNvPr id="15" name="S07_KPI_3_SUBLABEL"/>
          <p:cNvSpPr txBox="1"/>
          <p:nvPr/>
        </p:nvSpPr>
        <p:spPr>
          <a:xfrm>
            <a:off x="4183199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Engagement</a:t>
            </a:r>
          </a:p>
        </p:txBody>
      </p:sp>
      <p:sp>
        <p:nvSpPr>
          <p:cNvPr id="16" name="S07_KPI_4_CARD"/>
          <p:cNvSpPr/>
          <p:nvPr/>
        </p:nvSpPr>
        <p:spPr>
          <a:xfrm>
            <a:off x="60228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1D3D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S07_KPI_4_LABEL"/>
          <p:cNvSpPr txBox="1"/>
          <p:nvPr/>
        </p:nvSpPr>
        <p:spPr>
          <a:xfrm>
            <a:off x="60624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D4737A"/>
                </a:solidFill>
                <a:latin typeface="Segoe UI Black"/>
              </a:rPr>
              <a:t>1,2</a:t>
            </a:r>
          </a:p>
        </p:txBody>
      </p:sp>
      <p:sp>
        <p:nvSpPr>
          <p:cNvPr id="18" name="S07_KPI_4_SUBLABEL"/>
          <p:cNvSpPr txBox="1"/>
          <p:nvPr/>
        </p:nvSpPr>
        <p:spPr>
          <a:xfrm>
            <a:off x="60624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Sigma 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qualité</a:t>
            </a:r>
          </a:p>
        </p:txBody>
      </p:sp>
      <p:sp>
        <p:nvSpPr>
          <p:cNvPr id="19" name="S07_KPI_5_CARD"/>
          <p:cNvSpPr/>
          <p:nvPr/>
        </p:nvSpPr>
        <p:spPr>
          <a:xfrm>
            <a:off x="79020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07_KPI_5_LABEL"/>
          <p:cNvSpPr txBox="1"/>
          <p:nvPr/>
        </p:nvSpPr>
        <p:spPr>
          <a:xfrm>
            <a:off x="79416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FDA85B"/>
                </a:solidFill>
                <a:latin typeface="Segoe UI Black"/>
              </a:rPr>
              <a:t>2,4 M€</a:t>
            </a:r>
          </a:p>
        </p:txBody>
      </p:sp>
      <p:sp>
        <p:nvSpPr>
          <p:cNvPr id="21" name="S07_KPI_5_SUBLABEL"/>
          <p:cNvSpPr txBox="1"/>
          <p:nvPr/>
        </p:nvSpPr>
        <p:spPr>
          <a:xfrm>
            <a:off x="79416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Gains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 annualisés</a:t>
            </a:r>
          </a:p>
        </p:txBody>
      </p:sp>
      <p:sp>
        <p:nvSpPr>
          <p:cNvPr id="22" name="S07_KPI_6_CARD"/>
          <p:cNvSpPr/>
          <p:nvPr/>
        </p:nvSpPr>
        <p:spPr>
          <a:xfrm>
            <a:off x="9784800" y="1335600"/>
            <a:ext cx="1800000" cy="1598400"/>
          </a:xfrm>
          <a:prstGeom prst="roundRect">
            <a:avLst>
              <a:gd name="adj" fmla="val 10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S07_KPI_6_LABEL"/>
          <p:cNvSpPr txBox="1"/>
          <p:nvPr/>
        </p:nvSpPr>
        <p:spPr>
          <a:xfrm>
            <a:off x="9824400" y="1720800"/>
            <a:ext cx="1728000" cy="648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3600" b="1" i="0">
                <a:solidFill>
                  <a:srgbClr val="FBCC58"/>
                </a:solidFill>
                <a:latin typeface="Segoe UI Black"/>
              </a:rPr>
              <a:t>98%</a:t>
            </a:r>
          </a:p>
        </p:txBody>
      </p:sp>
      <p:sp>
        <p:nvSpPr>
          <p:cNvPr id="24" name="S07_KPI_6_SUBLABEL"/>
          <p:cNvSpPr txBox="1"/>
          <p:nvPr/>
        </p:nvSpPr>
        <p:spPr>
          <a:xfrm>
            <a:off x="9824400" y="2394000"/>
            <a:ext cx="1728000" cy="262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/>
            <a:r>
              <a:rPr sz="1100" b="0" i="0">
                <a:solidFill>
                  <a:srgbClr val="474E67"/>
                </a:solidFill>
                <a:latin typeface="Segoe UI"/>
              </a:rPr>
              <a:t>OTD </a:t>
            </a:r>
            <a:r>
              <a:rPr sz="1100" b="0" i="0">
                <a:solidFill>
                  <a:srgbClr val="474E67"/>
                </a:solidFill>
                <a:latin typeface="Segoe UI"/>
              </a:rPr>
              <a:t>client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92400" y="3060000"/>
            <a:ext cx="11188800" cy="4212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07_SECTION_LABEL"/>
          <p:cNvSpPr txBox="1"/>
          <p:nvPr/>
        </p:nvSpPr>
        <p:spPr>
          <a:xfrm>
            <a:off x="392400" y="3060000"/>
            <a:ext cx="11188800" cy="421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200" b="1" i="1">
                <a:solidFill>
                  <a:srgbClr val="070E1D"/>
                </a:solidFill>
                <a:latin typeface="Segoe UI"/>
              </a:rPr>
              <a:t>Avancement</a:t>
            </a:r>
            <a:r>
              <a:rPr sz="1200" b="1" i="1">
                <a:solidFill>
                  <a:srgbClr val="070E1D"/>
                </a:solidFill>
                <a:latin typeface="Segoe UI"/>
              </a:rPr>
              <a:t> par chantier en mai 2026</a:t>
            </a:r>
          </a:p>
        </p:txBody>
      </p:sp>
      <p:sp>
        <p:nvSpPr>
          <p:cNvPr id="27" name="S07_BAR_1_LABEL"/>
          <p:cNvSpPr txBox="1"/>
          <p:nvPr/>
        </p:nvSpPr>
        <p:spPr>
          <a:xfrm>
            <a:off x="381600" y="36324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Standards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opérationnels</a:t>
            </a:r>
          </a:p>
        </p:txBody>
      </p:sp>
      <p:sp>
        <p:nvSpPr>
          <p:cNvPr id="28" name="S07_BAR_1_BAR"/>
          <p:cNvSpPr/>
          <p:nvPr/>
        </p:nvSpPr>
        <p:spPr>
          <a:xfrm>
            <a:off x="2951999" y="3704399"/>
            <a:ext cx="7343999" cy="198000"/>
          </a:xfrm>
          <a:prstGeom prst="roundRect">
            <a:avLst>
              <a:gd name="adj" fmla="val 50000"/>
            </a:avLst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07_BAR_1_VALUE"/>
          <p:cNvSpPr txBox="1"/>
          <p:nvPr/>
        </p:nvSpPr>
        <p:spPr>
          <a:xfrm>
            <a:off x="10332000" y="36684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85%</a:t>
            </a:r>
          </a:p>
        </p:txBody>
      </p:sp>
      <p:sp>
        <p:nvSpPr>
          <p:cNvPr id="30" name="S07_BAR_2_LABEL"/>
          <p:cNvSpPr txBox="1"/>
          <p:nvPr/>
        </p:nvSpPr>
        <p:spPr>
          <a:xfrm>
            <a:off x="381600" y="41040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Outils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data</a:t>
            </a:r>
          </a:p>
        </p:txBody>
      </p:sp>
      <p:sp>
        <p:nvSpPr>
          <p:cNvPr id="31" name="S07_BAR_2_BAR"/>
          <p:cNvSpPr/>
          <p:nvPr/>
        </p:nvSpPr>
        <p:spPr>
          <a:xfrm>
            <a:off x="2951999" y="4176000"/>
            <a:ext cx="5356800" cy="198000"/>
          </a:xfrm>
          <a:prstGeom prst="roundRect">
            <a:avLst>
              <a:gd name="adj" fmla="val 50000"/>
            </a:avLst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S07_BAR_2_VALUE"/>
          <p:cNvSpPr txBox="1"/>
          <p:nvPr/>
        </p:nvSpPr>
        <p:spPr>
          <a:xfrm>
            <a:off x="8344800" y="41400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62%</a:t>
            </a:r>
          </a:p>
        </p:txBody>
      </p:sp>
      <p:sp>
        <p:nvSpPr>
          <p:cNvPr id="33" name="S07_BAR_3_LABEL"/>
          <p:cNvSpPr txBox="1"/>
          <p:nvPr/>
        </p:nvSpPr>
        <p:spPr>
          <a:xfrm>
            <a:off x="381600" y="45648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Compétences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relais</a:t>
            </a:r>
          </a:p>
        </p:txBody>
      </p:sp>
      <p:sp>
        <p:nvSpPr>
          <p:cNvPr id="34" name="S07_BAR_3_BAR"/>
          <p:cNvSpPr/>
          <p:nvPr/>
        </p:nvSpPr>
        <p:spPr>
          <a:xfrm>
            <a:off x="2951999" y="4636800"/>
            <a:ext cx="3542400" cy="198000"/>
          </a:xfrm>
          <a:prstGeom prst="roundRect">
            <a:avLst>
              <a:gd name="adj" fmla="val 50000"/>
            </a:avLst>
          </a:prstGeom>
          <a:solidFill>
            <a:srgbClr val="D473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S07_BAR_3_VALUE"/>
          <p:cNvSpPr txBox="1"/>
          <p:nvPr/>
        </p:nvSpPr>
        <p:spPr>
          <a:xfrm>
            <a:off x="6530400" y="46008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41%</a:t>
            </a:r>
          </a:p>
        </p:txBody>
      </p:sp>
      <p:sp>
        <p:nvSpPr>
          <p:cNvPr id="36" name="S07_BAR_4_LABEL"/>
          <p:cNvSpPr txBox="1"/>
          <p:nvPr/>
        </p:nvSpPr>
        <p:spPr>
          <a:xfrm>
            <a:off x="381600" y="50256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Pilotage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KPI</a:t>
            </a:r>
          </a:p>
        </p:txBody>
      </p:sp>
      <p:sp>
        <p:nvSpPr>
          <p:cNvPr id="37" name="S07_BAR_4_BAR"/>
          <p:cNvSpPr/>
          <p:nvPr/>
        </p:nvSpPr>
        <p:spPr>
          <a:xfrm>
            <a:off x="2951999" y="5097600"/>
            <a:ext cx="6739200" cy="198000"/>
          </a:xfrm>
          <a:prstGeom prst="roundRect">
            <a:avLst>
              <a:gd name="adj" fmla="val 50000"/>
            </a:avLst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S07_BAR_4_VALUE"/>
          <p:cNvSpPr txBox="1"/>
          <p:nvPr/>
        </p:nvSpPr>
        <p:spPr>
          <a:xfrm>
            <a:off x="9727200" y="50616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78%</a:t>
            </a:r>
          </a:p>
        </p:txBody>
      </p:sp>
      <p:sp>
        <p:nvSpPr>
          <p:cNvPr id="39" name="S07_BAR_5_LABEL"/>
          <p:cNvSpPr txBox="1"/>
          <p:nvPr/>
        </p:nvSpPr>
        <p:spPr>
          <a:xfrm>
            <a:off x="381600" y="5464800"/>
            <a:ext cx="24984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Communication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change</a:t>
            </a:r>
          </a:p>
        </p:txBody>
      </p:sp>
      <p:sp>
        <p:nvSpPr>
          <p:cNvPr id="40" name="S07_BAR_5_BAR"/>
          <p:cNvSpPr/>
          <p:nvPr/>
        </p:nvSpPr>
        <p:spPr>
          <a:xfrm>
            <a:off x="2951999" y="5536800"/>
            <a:ext cx="7776000" cy="198000"/>
          </a:xfrm>
          <a:prstGeom prst="roundRect">
            <a:avLst>
              <a:gd name="adj" fmla="val 50000"/>
            </a:avLst>
          </a:prstGeom>
          <a:solidFill>
            <a:srgbClr val="FBCC5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S07_BAR_5_VALUE"/>
          <p:cNvSpPr txBox="1"/>
          <p:nvPr/>
        </p:nvSpPr>
        <p:spPr>
          <a:xfrm>
            <a:off x="10764000" y="5500800"/>
            <a:ext cx="576000" cy="270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90%</a:t>
            </a:r>
          </a:p>
        </p:txBody>
      </p:sp>
      <p:sp>
        <p:nvSpPr>
          <p:cNvPr id="42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3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Accélérer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trois chantiers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prioritaires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Avant / Après pilote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08/11</a:t>
            </a:r>
          </a:p>
        </p:txBody>
      </p:sp>
      <p:sp>
        <p:nvSpPr>
          <p:cNvPr id="7" name="S08_SUBTITLE"/>
          <p:cNvSpPr txBox="1"/>
          <p:nvPr/>
        </p:nvSpPr>
        <p:spPr>
          <a:xfrm>
            <a:off x="388800" y="1454400"/>
            <a:ext cx="11412000" cy="34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100" b="1" i="0">
                <a:solidFill>
                  <a:srgbClr val="6A5D79"/>
                </a:solidFill>
                <a:latin typeface="Segoe UI Black"/>
              </a:rPr>
              <a:t>Cinq indicateurs mesurés sur </a:t>
            </a:r>
            <a:r>
              <a:rPr sz="2100" b="1" i="0">
                <a:solidFill>
                  <a:srgbClr val="6A5D79"/>
                </a:solidFill>
                <a:latin typeface="Segoe UI Black"/>
              </a:rPr>
              <a:t>90 jours</a:t>
            </a:r>
          </a:p>
        </p:txBody>
      </p:sp>
      <p:sp>
        <p:nvSpPr>
          <p:cNvPr id="8" name="S08_LEGEND_1"/>
          <p:cNvSpPr txBox="1"/>
          <p:nvPr/>
        </p:nvSpPr>
        <p:spPr>
          <a:xfrm>
            <a:off x="7851600" y="2210400"/>
            <a:ext cx="2001599" cy="320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Avant</a:t>
            </a:r>
          </a:p>
        </p:txBody>
      </p:sp>
      <p:sp>
        <p:nvSpPr>
          <p:cNvPr id="9" name="S08_LEGEND_2"/>
          <p:cNvSpPr txBox="1"/>
          <p:nvPr/>
        </p:nvSpPr>
        <p:spPr>
          <a:xfrm>
            <a:off x="10249200" y="2210400"/>
            <a:ext cx="2001599" cy="320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0" i="0">
                <a:solidFill>
                  <a:srgbClr val="474E67"/>
                </a:solidFill>
                <a:latin typeface="Segoe UI"/>
              </a:rPr>
              <a:t>Après</a:t>
            </a:r>
          </a:p>
        </p:txBody>
      </p:sp>
      <p:sp>
        <p:nvSpPr>
          <p:cNvPr id="10" name="S08_LEGEND_1_SQ"/>
          <p:cNvSpPr/>
          <p:nvPr/>
        </p:nvSpPr>
        <p:spPr>
          <a:xfrm>
            <a:off x="7668000" y="2268000"/>
            <a:ext cx="162000" cy="162000"/>
          </a:xfrm>
          <a:prstGeom prst="rect">
            <a:avLst/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S08_LEGEND_2_SQ"/>
          <p:cNvSpPr/>
          <p:nvPr/>
        </p:nvSpPr>
        <p:spPr>
          <a:xfrm>
            <a:off x="10065600" y="2268000"/>
            <a:ext cx="162000" cy="162000"/>
          </a:xfrm>
          <a:prstGeom prst="rect">
            <a:avLst/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S08_ROW_1_LABEL"/>
          <p:cNvSpPr txBox="1"/>
          <p:nvPr/>
        </p:nvSpPr>
        <p:spPr>
          <a:xfrm>
            <a:off x="388800" y="28980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Délai de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cycle</a:t>
            </a:r>
          </a:p>
        </p:txBody>
      </p:sp>
      <p:sp>
        <p:nvSpPr>
          <p:cNvPr id="13" name="S08_ROW_1_BAR_1"/>
          <p:cNvSpPr/>
          <p:nvPr/>
        </p:nvSpPr>
        <p:spPr>
          <a:xfrm>
            <a:off x="4298400" y="2934000"/>
            <a:ext cx="373932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08_ROW_1_BAR_2"/>
          <p:cNvSpPr/>
          <p:nvPr/>
        </p:nvSpPr>
        <p:spPr>
          <a:xfrm>
            <a:off x="8798400" y="2934000"/>
            <a:ext cx="1388511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S08_ROW_1_VALUE_1"/>
          <p:cNvSpPr txBox="1"/>
          <p:nvPr/>
        </p:nvSpPr>
        <p:spPr>
          <a:xfrm>
            <a:off x="8073720" y="29340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21 j</a:t>
            </a:r>
          </a:p>
        </p:txBody>
      </p:sp>
      <p:sp>
        <p:nvSpPr>
          <p:cNvPr id="16" name="S08_ROW_1_VALUE_2"/>
          <p:cNvSpPr txBox="1"/>
          <p:nvPr/>
        </p:nvSpPr>
        <p:spPr>
          <a:xfrm>
            <a:off x="10222911" y="29340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13 j</a:t>
            </a:r>
          </a:p>
        </p:txBody>
      </p:sp>
      <p:sp>
        <p:nvSpPr>
          <p:cNvPr id="17" name="S08_ROW_2_LABEL"/>
          <p:cNvSpPr txBox="1"/>
          <p:nvPr/>
        </p:nvSpPr>
        <p:spPr>
          <a:xfrm>
            <a:off x="388800" y="33660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Taux de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défauts</a:t>
            </a:r>
          </a:p>
        </p:txBody>
      </p:sp>
      <p:sp>
        <p:nvSpPr>
          <p:cNvPr id="18" name="S08_ROW_2_BAR_1"/>
          <p:cNvSpPr/>
          <p:nvPr/>
        </p:nvSpPr>
        <p:spPr>
          <a:xfrm>
            <a:off x="4298400" y="3401999"/>
            <a:ext cx="373932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S08_ROW_2_BAR_2"/>
          <p:cNvSpPr/>
          <p:nvPr/>
        </p:nvSpPr>
        <p:spPr>
          <a:xfrm>
            <a:off x="8798400" y="3401999"/>
            <a:ext cx="710276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S08_ROW_2_VALUE_1"/>
          <p:cNvSpPr txBox="1"/>
          <p:nvPr/>
        </p:nvSpPr>
        <p:spPr>
          <a:xfrm>
            <a:off x="8073720" y="3401999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1200</a:t>
            </a:r>
          </a:p>
        </p:txBody>
      </p:sp>
      <p:sp>
        <p:nvSpPr>
          <p:cNvPr id="21" name="S08_ROW_2_VALUE_2"/>
          <p:cNvSpPr txBox="1"/>
          <p:nvPr/>
        </p:nvSpPr>
        <p:spPr>
          <a:xfrm>
            <a:off x="9544677" y="3401999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380</a:t>
            </a:r>
          </a:p>
        </p:txBody>
      </p:sp>
      <p:sp>
        <p:nvSpPr>
          <p:cNvPr id="22" name="S08_ROW_3_LABEL"/>
          <p:cNvSpPr txBox="1"/>
          <p:nvPr/>
        </p:nvSpPr>
        <p:spPr>
          <a:xfrm>
            <a:off x="388800" y="38376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équipe</a:t>
            </a:r>
          </a:p>
        </p:txBody>
      </p:sp>
      <p:sp>
        <p:nvSpPr>
          <p:cNvPr id="23" name="S08_ROW_3_BAR_1"/>
          <p:cNvSpPr/>
          <p:nvPr/>
        </p:nvSpPr>
        <p:spPr>
          <a:xfrm>
            <a:off x="4298400" y="3873600"/>
            <a:ext cx="268464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S08_ROW_3_BAR_2"/>
          <p:cNvSpPr/>
          <p:nvPr/>
        </p:nvSpPr>
        <p:spPr>
          <a:xfrm>
            <a:off x="8798400" y="3873600"/>
            <a:ext cx="2242980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08_ROW_3_VALUE_1"/>
          <p:cNvSpPr txBox="1"/>
          <p:nvPr/>
        </p:nvSpPr>
        <p:spPr>
          <a:xfrm>
            <a:off x="7019040" y="38736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56%</a:t>
            </a:r>
          </a:p>
        </p:txBody>
      </p:sp>
      <p:sp>
        <p:nvSpPr>
          <p:cNvPr id="26" name="S08_ROW_3_VALUE_2"/>
          <p:cNvSpPr txBox="1"/>
          <p:nvPr/>
        </p:nvSpPr>
        <p:spPr>
          <a:xfrm>
            <a:off x="11077380" y="38736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78%</a:t>
            </a:r>
          </a:p>
        </p:txBody>
      </p:sp>
      <p:sp>
        <p:nvSpPr>
          <p:cNvPr id="27" name="S08_ROW_4_LABEL"/>
          <p:cNvSpPr txBox="1"/>
          <p:nvPr/>
        </p:nvSpPr>
        <p:spPr>
          <a:xfrm>
            <a:off x="388800" y="43092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Coût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unitaire</a:t>
            </a:r>
          </a:p>
        </p:txBody>
      </p:sp>
      <p:sp>
        <p:nvSpPr>
          <p:cNvPr id="28" name="S08_ROW_4_BAR_1"/>
          <p:cNvSpPr/>
          <p:nvPr/>
        </p:nvSpPr>
        <p:spPr>
          <a:xfrm>
            <a:off x="4298400" y="4345200"/>
            <a:ext cx="3739320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S08_ROW_4_BAR_2"/>
          <p:cNvSpPr/>
          <p:nvPr/>
        </p:nvSpPr>
        <p:spPr>
          <a:xfrm>
            <a:off x="8798400" y="4345200"/>
            <a:ext cx="1822421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08_ROW_4_VALUE_1"/>
          <p:cNvSpPr txBox="1"/>
          <p:nvPr/>
        </p:nvSpPr>
        <p:spPr>
          <a:xfrm>
            <a:off x="8073720" y="4345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240 €</a:t>
            </a:r>
          </a:p>
        </p:txBody>
      </p:sp>
      <p:sp>
        <p:nvSpPr>
          <p:cNvPr id="31" name="S08_ROW_4_VALUE_2"/>
          <p:cNvSpPr txBox="1"/>
          <p:nvPr/>
        </p:nvSpPr>
        <p:spPr>
          <a:xfrm>
            <a:off x="10656821" y="4345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195 €</a:t>
            </a:r>
          </a:p>
        </p:txBody>
      </p:sp>
      <p:sp>
        <p:nvSpPr>
          <p:cNvPr id="32" name="S08_ROW_5_LABEL"/>
          <p:cNvSpPr txBox="1"/>
          <p:nvPr/>
        </p:nvSpPr>
        <p:spPr>
          <a:xfrm>
            <a:off x="388800" y="4777200"/>
            <a:ext cx="3801600" cy="349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Satisfaction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client</a:t>
            </a:r>
          </a:p>
        </p:txBody>
      </p:sp>
      <p:sp>
        <p:nvSpPr>
          <p:cNvPr id="33" name="S08_ROW_5_BAR_1"/>
          <p:cNvSpPr/>
          <p:nvPr/>
        </p:nvSpPr>
        <p:spPr>
          <a:xfrm>
            <a:off x="4298400" y="4813200"/>
            <a:ext cx="3130593" cy="298800"/>
          </a:xfrm>
          <a:prstGeom prst="roundRect">
            <a:avLst>
              <a:gd name="adj" fmla="val 30000"/>
            </a:avLst>
          </a:prstGeom>
          <a:solidFill>
            <a:srgbClr val="D5B3B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S08_ROW_5_BAR_2"/>
          <p:cNvSpPr/>
          <p:nvPr/>
        </p:nvSpPr>
        <p:spPr>
          <a:xfrm>
            <a:off x="8798400" y="4813200"/>
            <a:ext cx="2242980" cy="298800"/>
          </a:xfrm>
          <a:prstGeom prst="roundRect">
            <a:avLst>
              <a:gd name="adj" fmla="val 30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5" name="S08_ROW_5_VALUE_1"/>
          <p:cNvSpPr txBox="1"/>
          <p:nvPr/>
        </p:nvSpPr>
        <p:spPr>
          <a:xfrm>
            <a:off x="7464993" y="4813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7,2</a:t>
            </a:r>
          </a:p>
        </p:txBody>
      </p:sp>
      <p:sp>
        <p:nvSpPr>
          <p:cNvPr id="36" name="S08_ROW_5_VALUE_2"/>
          <p:cNvSpPr txBox="1"/>
          <p:nvPr/>
        </p:nvSpPr>
        <p:spPr>
          <a:xfrm>
            <a:off x="11077380" y="4813200"/>
            <a:ext cx="720000" cy="29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1" i="0">
                <a:solidFill>
                  <a:srgbClr val="474E67"/>
                </a:solidFill>
                <a:latin typeface="Segoe UI"/>
              </a:rPr>
              <a:t>8,6</a:t>
            </a:r>
          </a:p>
        </p:txBody>
      </p:sp>
      <p:sp>
        <p:nvSpPr>
          <p:cNvPr id="37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Le pilote améliore les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cinq dimensions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F1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Risques &amp; Opportunités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09/11</a:t>
            </a:r>
          </a:p>
        </p:txBody>
      </p:sp>
      <p:sp>
        <p:nvSpPr>
          <p:cNvPr id="7" name="S09_RISK_1_CARD"/>
          <p:cNvSpPr/>
          <p:nvPr/>
        </p:nvSpPr>
        <p:spPr>
          <a:xfrm>
            <a:off x="121859" y="1260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S09_RISK_1_ICON"/>
          <p:cNvSpPr/>
          <p:nvPr/>
        </p:nvSpPr>
        <p:spPr>
          <a:xfrm>
            <a:off x="168659" y="1440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6A5D79"/>
                </a:solidFill>
                <a:latin typeface="Wingdings"/>
              </a:rPr>
              <a:t>L</a:t>
            </a:r>
          </a:p>
        </p:txBody>
      </p:sp>
      <p:sp>
        <p:nvSpPr>
          <p:cNvPr id="9" name="S09_RISK_1_TITLE"/>
          <p:cNvSpPr txBox="1"/>
          <p:nvPr/>
        </p:nvSpPr>
        <p:spPr>
          <a:xfrm>
            <a:off x="553859" y="1386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Résistance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managériale</a:t>
            </a:r>
          </a:p>
        </p:txBody>
      </p:sp>
      <p:sp>
        <p:nvSpPr>
          <p:cNvPr id="10" name="S09_RISK_1_LEVEL"/>
          <p:cNvSpPr/>
          <p:nvPr/>
        </p:nvSpPr>
        <p:spPr>
          <a:xfrm>
            <a:off x="553859" y="1663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F9797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C00000"/>
                </a:solidFill>
                <a:latin typeface="Segoe UI"/>
              </a:rPr>
              <a:t>Risque élevé</a:t>
            </a:r>
          </a:p>
        </p:txBody>
      </p:sp>
      <p:sp>
        <p:nvSpPr>
          <p:cNvPr id="11" name="S09_RISK_1_BODY"/>
          <p:cNvSpPr txBox="1"/>
          <p:nvPr/>
        </p:nvSpPr>
        <p:spPr>
          <a:xfrm>
            <a:off x="168659" y="1908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Crainte de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surcharge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 et perte de repères.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93859" y="2448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13" name="S09_RISK_1_ACTION_TAG"/>
          <p:cNvSpPr/>
          <p:nvPr/>
        </p:nvSpPr>
        <p:spPr>
          <a:xfrm>
            <a:off x="193859" y="2556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14" name="S09_RISK_1_ACTION_BODY"/>
          <p:cNvSpPr txBox="1"/>
          <p:nvPr/>
        </p:nvSpPr>
        <p:spPr>
          <a:xfrm>
            <a:off x="877859" y="2556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Former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relais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et clarifier le rôle du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sponsor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.</a:t>
            </a:r>
          </a:p>
        </p:txBody>
      </p:sp>
      <p:sp>
        <p:nvSpPr>
          <p:cNvPr id="15" name="S09_RISK_2_CARD"/>
          <p:cNvSpPr/>
          <p:nvPr/>
        </p:nvSpPr>
        <p:spPr>
          <a:xfrm>
            <a:off x="4135859" y="1260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S09_RISK_2_ICON"/>
          <p:cNvSpPr/>
          <p:nvPr/>
        </p:nvSpPr>
        <p:spPr>
          <a:xfrm>
            <a:off x="4182659" y="1440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6A5D79"/>
                </a:solidFill>
                <a:latin typeface="Wingdings"/>
              </a:rPr>
              <a:t>L</a:t>
            </a:r>
          </a:p>
        </p:txBody>
      </p:sp>
      <p:sp>
        <p:nvSpPr>
          <p:cNvPr id="17" name="S09_RISK_2_TITLE"/>
          <p:cNvSpPr txBox="1"/>
          <p:nvPr/>
        </p:nvSpPr>
        <p:spPr>
          <a:xfrm>
            <a:off x="4567859" y="1386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Disponibilité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terrain</a:t>
            </a:r>
          </a:p>
        </p:txBody>
      </p:sp>
      <p:sp>
        <p:nvSpPr>
          <p:cNvPr id="18" name="S09_RISK_2_LEVEL"/>
          <p:cNvSpPr/>
          <p:nvPr/>
        </p:nvSpPr>
        <p:spPr>
          <a:xfrm>
            <a:off x="4567859" y="1663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FDA85B"/>
                </a:solidFill>
                <a:latin typeface="Segoe UI"/>
              </a:rPr>
              <a:t>Risque moyen</a:t>
            </a:r>
          </a:p>
        </p:txBody>
      </p:sp>
      <p:sp>
        <p:nvSpPr>
          <p:cNvPr id="19" name="S09_RISK_2_BODY"/>
          <p:cNvSpPr txBox="1"/>
          <p:nvPr/>
        </p:nvSpPr>
        <p:spPr>
          <a:xfrm>
            <a:off x="4182659" y="1908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Calendrier chargé sur les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sites pilotes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207859" y="2448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21" name="S09_RISK_2_ACTION_TAG"/>
          <p:cNvSpPr/>
          <p:nvPr/>
        </p:nvSpPr>
        <p:spPr>
          <a:xfrm>
            <a:off x="4207859" y="2556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22" name="S09_RISK_2_ACTION_BODY"/>
          <p:cNvSpPr txBox="1"/>
          <p:nvPr/>
        </p:nvSpPr>
        <p:spPr>
          <a:xfrm>
            <a:off x="4891859" y="2556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Limiter les ateliers et préparer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décisions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en amont.</a:t>
            </a:r>
          </a:p>
        </p:txBody>
      </p:sp>
      <p:sp>
        <p:nvSpPr>
          <p:cNvPr id="23" name="S09_RISK_3_CARD"/>
          <p:cNvSpPr/>
          <p:nvPr/>
        </p:nvSpPr>
        <p:spPr>
          <a:xfrm>
            <a:off x="8149859" y="1260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S09_RISK_3_ICON"/>
          <p:cNvSpPr/>
          <p:nvPr/>
        </p:nvSpPr>
        <p:spPr>
          <a:xfrm>
            <a:off x="8196659" y="1440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BBB4C4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6A5D79"/>
                </a:solidFill>
                <a:latin typeface="Wingdings"/>
              </a:rPr>
              <a:t>L</a:t>
            </a:r>
          </a:p>
        </p:txBody>
      </p:sp>
      <p:sp>
        <p:nvSpPr>
          <p:cNvPr id="25" name="S09_RISK_3_TITLE"/>
          <p:cNvSpPr txBox="1"/>
          <p:nvPr/>
        </p:nvSpPr>
        <p:spPr>
          <a:xfrm>
            <a:off x="8581859" y="1386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Dépendance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data</a:t>
            </a:r>
          </a:p>
        </p:txBody>
      </p:sp>
      <p:sp>
        <p:nvSpPr>
          <p:cNvPr id="26" name="S09_RISK_3_LEVEL"/>
          <p:cNvSpPr/>
          <p:nvPr/>
        </p:nvSpPr>
        <p:spPr>
          <a:xfrm>
            <a:off x="8581859" y="1663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EE3C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FDA85B"/>
                </a:solidFill>
                <a:latin typeface="Segoe UI"/>
              </a:rPr>
              <a:t>Risque moyen</a:t>
            </a:r>
          </a:p>
        </p:txBody>
      </p:sp>
      <p:sp>
        <p:nvSpPr>
          <p:cNvPr id="27" name="S09_RISK_3_BODY"/>
          <p:cNvSpPr txBox="1"/>
          <p:nvPr/>
        </p:nvSpPr>
        <p:spPr>
          <a:xfrm>
            <a:off x="8196659" y="1908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Qualité variable des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données sources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221859" y="2448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29" name="S09_RISK_3_ACTION_TAG"/>
          <p:cNvSpPr/>
          <p:nvPr/>
        </p:nvSpPr>
        <p:spPr>
          <a:xfrm>
            <a:off x="8221859" y="2556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Parade</a:t>
            </a:r>
          </a:p>
        </p:txBody>
      </p:sp>
      <p:sp>
        <p:nvSpPr>
          <p:cNvPr id="30" name="S09_RISK_3_ACTION_BODY"/>
          <p:cNvSpPr txBox="1"/>
          <p:nvPr/>
        </p:nvSpPr>
        <p:spPr>
          <a:xfrm>
            <a:off x="8905860" y="2556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Créer une règle simple de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validation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hebdomadaire.</a:t>
            </a:r>
          </a:p>
        </p:txBody>
      </p:sp>
      <p:sp>
        <p:nvSpPr>
          <p:cNvPr id="31" name="S09_OPP_1_CARD"/>
          <p:cNvSpPr/>
          <p:nvPr/>
        </p:nvSpPr>
        <p:spPr>
          <a:xfrm>
            <a:off x="121859" y="3708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S09_OPP_1_ICON"/>
          <p:cNvSpPr/>
          <p:nvPr/>
        </p:nvSpPr>
        <p:spPr>
          <a:xfrm>
            <a:off x="168659" y="3888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FBCC58"/>
                </a:solidFill>
                <a:latin typeface="Wingdings"/>
              </a:rPr>
              <a:t>J</a:t>
            </a:r>
          </a:p>
        </p:txBody>
      </p:sp>
      <p:sp>
        <p:nvSpPr>
          <p:cNvPr id="33" name="S09_OPP_1_TITLE"/>
          <p:cNvSpPr txBox="1"/>
          <p:nvPr/>
        </p:nvSpPr>
        <p:spPr>
          <a:xfrm>
            <a:off x="553859" y="3834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Engagement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 post-pilote</a:t>
            </a:r>
          </a:p>
        </p:txBody>
      </p:sp>
      <p:sp>
        <p:nvSpPr>
          <p:cNvPr id="34" name="S09_OPP_1_LEVEL"/>
          <p:cNvSpPr/>
          <p:nvPr/>
        </p:nvSpPr>
        <p:spPr>
          <a:xfrm>
            <a:off x="553859" y="4111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69FFAD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00B050"/>
                </a:solidFill>
                <a:latin typeface="Segoe UI"/>
              </a:rPr>
              <a:t>Gain élevé</a:t>
            </a:r>
          </a:p>
        </p:txBody>
      </p:sp>
      <p:sp>
        <p:nvSpPr>
          <p:cNvPr id="35" name="S09_OPP_1_BODY"/>
          <p:cNvSpPr txBox="1"/>
          <p:nvPr/>
        </p:nvSpPr>
        <p:spPr>
          <a:xfrm>
            <a:off x="168659" y="4356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Témoignages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 spontanés des équipes.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93859" y="4896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37" name="S09_OPP_1_ACTION_TAG"/>
          <p:cNvSpPr/>
          <p:nvPr/>
        </p:nvSpPr>
        <p:spPr>
          <a:xfrm>
            <a:off x="193859" y="5004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38" name="S09_OPP_1_ACTION_BODY"/>
          <p:cNvSpPr txBox="1"/>
          <p:nvPr/>
        </p:nvSpPr>
        <p:spPr>
          <a:xfrm>
            <a:off x="877859" y="5004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Capitaliser via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communication interne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.</a:t>
            </a:r>
          </a:p>
        </p:txBody>
      </p:sp>
      <p:sp>
        <p:nvSpPr>
          <p:cNvPr id="39" name="S09_OPP_2_CARD"/>
          <p:cNvSpPr/>
          <p:nvPr/>
        </p:nvSpPr>
        <p:spPr>
          <a:xfrm>
            <a:off x="4135859" y="3708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0" name="S09_OPP_2_ICON"/>
          <p:cNvSpPr/>
          <p:nvPr/>
        </p:nvSpPr>
        <p:spPr>
          <a:xfrm>
            <a:off x="4182659" y="3888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FBCC58"/>
                </a:solidFill>
                <a:latin typeface="Wingdings"/>
              </a:rPr>
              <a:t>J</a:t>
            </a:r>
          </a:p>
        </p:txBody>
      </p:sp>
      <p:sp>
        <p:nvSpPr>
          <p:cNvPr id="41" name="S09_OPP_2_TITLE"/>
          <p:cNvSpPr txBox="1"/>
          <p:nvPr/>
        </p:nvSpPr>
        <p:spPr>
          <a:xfrm>
            <a:off x="4567859" y="3834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Réplicabilité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multi-sites</a:t>
            </a:r>
          </a:p>
        </p:txBody>
      </p:sp>
      <p:sp>
        <p:nvSpPr>
          <p:cNvPr id="42" name="S09_OPP_2_LEVEL"/>
          <p:cNvSpPr/>
          <p:nvPr/>
        </p:nvSpPr>
        <p:spPr>
          <a:xfrm>
            <a:off x="4567859" y="4111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69FFAD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00B050"/>
                </a:solidFill>
                <a:latin typeface="Segoe UI"/>
              </a:rPr>
              <a:t>Gain élevé</a:t>
            </a:r>
          </a:p>
        </p:txBody>
      </p:sp>
      <p:sp>
        <p:nvSpPr>
          <p:cNvPr id="43" name="S09_OPP_2_BODY"/>
          <p:cNvSpPr txBox="1"/>
          <p:nvPr/>
        </p:nvSpPr>
        <p:spPr>
          <a:xfrm>
            <a:off x="4182659" y="4356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Méthode simple et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transférable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4207859" y="4896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45" name="S09_OPP_2_ACTION_TAG"/>
          <p:cNvSpPr/>
          <p:nvPr/>
        </p:nvSpPr>
        <p:spPr>
          <a:xfrm>
            <a:off x="4207859" y="5004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46" name="S09_OPP_2_ACTION_BODY"/>
          <p:cNvSpPr txBox="1"/>
          <p:nvPr/>
        </p:nvSpPr>
        <p:spPr>
          <a:xfrm>
            <a:off x="4891859" y="5004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Préparer un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kit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de déploiement.</a:t>
            </a:r>
          </a:p>
        </p:txBody>
      </p:sp>
      <p:sp>
        <p:nvSpPr>
          <p:cNvPr id="47" name="S09_OPP_3_CARD"/>
          <p:cNvSpPr/>
          <p:nvPr/>
        </p:nvSpPr>
        <p:spPr>
          <a:xfrm>
            <a:off x="8149859" y="3708000"/>
            <a:ext cx="3920400" cy="230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3175">
            <a:solidFill>
              <a:srgbClr val="AFB5C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S09_OPP_3_ICON"/>
          <p:cNvSpPr/>
          <p:nvPr/>
        </p:nvSpPr>
        <p:spPr>
          <a:xfrm>
            <a:off x="8196659" y="3888000"/>
            <a:ext cx="306000" cy="306000"/>
          </a:xfrm>
          <a:prstGeom prst="roundRect">
            <a:avLst>
              <a:gd name="adj" fmla="val 15000"/>
            </a:avLst>
          </a:prstGeom>
          <a:solidFill>
            <a:srgbClr val="FEF4DA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800" b="1" i="0">
                <a:solidFill>
                  <a:srgbClr val="FBCC58"/>
                </a:solidFill>
                <a:latin typeface="Wingdings"/>
              </a:rPr>
              <a:t>J</a:t>
            </a:r>
          </a:p>
        </p:txBody>
      </p:sp>
      <p:sp>
        <p:nvSpPr>
          <p:cNvPr id="49" name="S09_OPP_3_TITLE"/>
          <p:cNvSpPr txBox="1"/>
          <p:nvPr/>
        </p:nvSpPr>
        <p:spPr>
          <a:xfrm>
            <a:off x="8581859" y="3834000"/>
            <a:ext cx="3240000" cy="2772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200" b="1" i="0">
                <a:solidFill>
                  <a:srgbClr val="070E1D"/>
                </a:solidFill>
                <a:latin typeface="Segoe UI"/>
              </a:rPr>
              <a:t>Crédibilité </a:t>
            </a:r>
            <a:r>
              <a:rPr sz="1200" b="1" i="0">
                <a:solidFill>
                  <a:srgbClr val="070E1D"/>
                </a:solidFill>
                <a:latin typeface="Segoe UI"/>
              </a:rPr>
              <a:t>comité</a:t>
            </a:r>
          </a:p>
        </p:txBody>
      </p:sp>
      <p:sp>
        <p:nvSpPr>
          <p:cNvPr id="50" name="S09_OPP_3_LEVEL"/>
          <p:cNvSpPr/>
          <p:nvPr/>
        </p:nvSpPr>
        <p:spPr>
          <a:xfrm>
            <a:off x="8581859" y="4111200"/>
            <a:ext cx="892800" cy="190800"/>
          </a:xfrm>
          <a:prstGeom prst="roundRect">
            <a:avLst>
              <a:gd name="adj" fmla="val 15000"/>
            </a:avLst>
          </a:prstGeom>
          <a:solidFill>
            <a:srgbClr val="FFFF85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A8A400"/>
                </a:solidFill>
                <a:latin typeface="Segoe UI"/>
              </a:rPr>
              <a:t>Gain moyen</a:t>
            </a:r>
          </a:p>
        </p:txBody>
      </p:sp>
      <p:sp>
        <p:nvSpPr>
          <p:cNvPr id="51" name="S09_OPP_3_BODY"/>
          <p:cNvSpPr txBox="1"/>
          <p:nvPr/>
        </p:nvSpPr>
        <p:spPr>
          <a:xfrm>
            <a:off x="8196659" y="4356000"/>
            <a:ext cx="3776400" cy="432000"/>
          </a:xfrm>
          <a:prstGeom prst="rect">
            <a:avLst/>
          </a:prstGeom>
          <a:noFill/>
        </p:spPr>
        <p:txBody>
          <a:bodyPr wrap="square" lIns="0" rIns="4572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"/>
              </a:rPr>
              <a:t>Décision appuyée sur des 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preuves terrain</a:t>
            </a:r>
            <a:r>
              <a:rPr sz="1000" b="0" i="0">
                <a:solidFill>
                  <a:srgbClr val="070E1D"/>
                </a:solidFill>
                <a:latin typeface="Segoe UI"/>
              </a:rPr>
              <a:t>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221859" y="4896000"/>
            <a:ext cx="3776400" cy="0"/>
          </a:xfrm>
          <a:prstGeom prst="line">
            <a:avLst/>
          </a:prstGeom>
          <a:ln w="9525">
            <a:solidFill>
              <a:srgbClr val="AFB5C8"/>
            </a:solidFill>
            <a:prstDash val="dash"/>
          </a:ln>
        </p:spPr>
      </p:cxnSp>
      <p:sp>
        <p:nvSpPr>
          <p:cNvPr id="53" name="S09_OPP_3_ACTION_TAG"/>
          <p:cNvSpPr/>
          <p:nvPr/>
        </p:nvSpPr>
        <p:spPr>
          <a:xfrm>
            <a:off x="8221859" y="5004000"/>
            <a:ext cx="615600" cy="190800"/>
          </a:xfrm>
          <a:prstGeom prst="roundRect">
            <a:avLst>
              <a:gd name="adj" fmla="val 15000"/>
            </a:avLst>
          </a:prstGeom>
          <a:solidFill>
            <a:srgbClr val="DDE7CF"/>
          </a:solidFill>
          <a:ln>
            <a:noFill/>
          </a:ln>
        </p:spPr>
        <p:txBody>
          <a:bodyPr rtlCol="0" anchor="ctr" wrap="square" lIns="45720" rIns="45720"/>
          <a:lstStyle/>
          <a:p>
            <a:pPr algn="ctr"/>
            <a:r>
              <a:rPr sz="1000" b="0" i="0" cap="small">
                <a:solidFill>
                  <a:srgbClr val="8DAC95"/>
                </a:solidFill>
                <a:latin typeface="Segoe UI"/>
              </a:rPr>
              <a:t>Levier</a:t>
            </a:r>
          </a:p>
        </p:txBody>
      </p:sp>
      <p:sp>
        <p:nvSpPr>
          <p:cNvPr id="54" name="S09_OPP_3_ACTION_BODY"/>
          <p:cNvSpPr txBox="1"/>
          <p:nvPr/>
        </p:nvSpPr>
        <p:spPr>
          <a:xfrm>
            <a:off x="8905860" y="5004000"/>
            <a:ext cx="3092400" cy="360000"/>
          </a:xfrm>
          <a:prstGeom prst="rect">
            <a:avLst/>
          </a:prstGeom>
          <a:noFill/>
        </p:spPr>
        <p:txBody>
          <a:bodyPr wrap="square" lIns="45720" rIns="45720" tIns="0" anchor="t">
            <a:spAutoFit/>
          </a:bodyPr>
          <a:lstStyle/>
          <a:p>
            <a:pPr algn="l"/>
            <a:r>
              <a:rPr sz="1000" b="0" i="0">
                <a:solidFill>
                  <a:srgbClr val="070E1D"/>
                </a:solidFill>
                <a:latin typeface="Segoe UI Light"/>
              </a:rPr>
              <a:t>Présenter les 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gains</a:t>
            </a:r>
            <a:r>
              <a:rPr sz="1000" b="0" i="0">
                <a:solidFill>
                  <a:srgbClr val="070E1D"/>
                </a:solidFill>
                <a:latin typeface="Segoe UI Light"/>
              </a:rPr>
              <a:t> et les risques restants.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Plan d'action 18 mois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10/11</a:t>
            </a:r>
          </a:p>
        </p:txBody>
      </p:sp>
      <p:sp>
        <p:nvSpPr>
          <p:cNvPr id="7" name="S10_DATE"/>
          <p:cNvSpPr txBox="1"/>
          <p:nvPr/>
        </p:nvSpPr>
        <p:spPr>
          <a:xfrm>
            <a:off x="10119600" y="270000"/>
            <a:ext cx="1828800" cy="46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/>
            <a:r>
              <a:rPr sz="1200" b="0" i="0">
                <a:solidFill>
                  <a:srgbClr val="FFFFFF"/>
                </a:solidFill>
                <a:latin typeface="Calibri"/>
              </a:rPr>
              <a:t>Mai </a:t>
            </a:r>
            <a:r>
              <a:rPr sz="1200" b="0" i="0">
                <a:solidFill>
                  <a:srgbClr val="FFFFFF"/>
                </a:solidFill>
                <a:latin typeface="Calibri"/>
              </a:rPr>
              <a:t>2026</a:t>
            </a:r>
          </a:p>
        </p:txBody>
      </p:sp>
      <p:sp>
        <p:nvSpPr>
          <p:cNvPr id="8" name="S10_PHASE_1_CARD"/>
          <p:cNvSpPr/>
          <p:nvPr/>
        </p:nvSpPr>
        <p:spPr>
          <a:xfrm>
            <a:off x="202859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S10_PHASE_1_BAND"/>
          <p:cNvSpPr/>
          <p:nvPr/>
        </p:nvSpPr>
        <p:spPr>
          <a:xfrm>
            <a:off x="202859" y="1475999"/>
            <a:ext cx="3780000" cy="756000"/>
          </a:xfrm>
          <a:prstGeom prst="rect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S10_PHASE_1_NUMBER"/>
          <p:cNvSpPr/>
          <p:nvPr/>
        </p:nvSpPr>
        <p:spPr>
          <a:xfrm>
            <a:off x="274859" y="1665000"/>
            <a:ext cx="410399" cy="410399"/>
          </a:xfrm>
          <a:prstGeom prst="ellipse">
            <a:avLst/>
          </a:prstGeom>
          <a:solidFill>
            <a:srgbClr val="6A5D79"/>
          </a:solidFill>
          <a:ln w="28575">
            <a:solidFill>
              <a:srgbClr val="FFFFFF"/>
            </a:solidFill>
          </a:ln>
        </p:spPr>
        <p:txBody>
          <a:bodyPr rtlCol="0" anchor="ctr" wrap="squar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S10_PHASE_1_TITLE"/>
          <p:cNvSpPr txBox="1"/>
          <p:nvPr/>
        </p:nvSpPr>
        <p:spPr>
          <a:xfrm>
            <a:off x="836459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Cadrage</a:t>
            </a:r>
          </a:p>
        </p:txBody>
      </p:sp>
      <p:sp>
        <p:nvSpPr>
          <p:cNvPr id="12" name="S10_PHASE_1_SUBTITLE"/>
          <p:cNvSpPr txBox="1"/>
          <p:nvPr/>
        </p:nvSpPr>
        <p:spPr>
          <a:xfrm>
            <a:off x="836459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T2</a:t>
            </a:r>
            <a:r>
              <a:rPr sz="1200" b="0" i="1">
                <a:solidFill>
                  <a:srgbClr val="FFFFFF"/>
                </a:solidFill>
                <a:latin typeface="Segoe UI"/>
              </a:rPr>
              <a:t> 2026</a:t>
            </a:r>
          </a:p>
        </p:txBody>
      </p:sp>
      <p:sp>
        <p:nvSpPr>
          <p:cNvPr id="13" name="S10_PHASE_1_ITEM_1_BULLET"/>
          <p:cNvSpPr/>
          <p:nvPr/>
        </p:nvSpPr>
        <p:spPr>
          <a:xfrm>
            <a:off x="382859" y="2397599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S10_PHASE_1_ITEM_1_TITLE"/>
          <p:cNvSpPr txBox="1"/>
          <p:nvPr/>
        </p:nvSpPr>
        <p:spPr>
          <a:xfrm>
            <a:off x="570059" y="2267999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Sponsor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+ gouvernance</a:t>
            </a:r>
          </a:p>
        </p:txBody>
      </p:sp>
      <p:sp>
        <p:nvSpPr>
          <p:cNvPr id="15" name="S10_PHASE_1_ITEM_1_BODY"/>
          <p:cNvSpPr txBox="1"/>
          <p:nvPr/>
        </p:nvSpPr>
        <p:spPr>
          <a:xfrm>
            <a:off x="570059" y="26135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COPIL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hebdomadaire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et sponsor nommé.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46859" y="33588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17" name="S10_PHASE_1_ITEM_2_BULLET"/>
          <p:cNvSpPr/>
          <p:nvPr/>
        </p:nvSpPr>
        <p:spPr>
          <a:xfrm>
            <a:off x="382859" y="3524399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S10_PHASE_1_ITEM_2_TITLE"/>
          <p:cNvSpPr txBox="1"/>
          <p:nvPr/>
        </p:nvSpPr>
        <p:spPr>
          <a:xfrm>
            <a:off x="570059" y="3394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Diagnostic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terrain</a:t>
            </a:r>
          </a:p>
        </p:txBody>
      </p:sp>
      <p:sp>
        <p:nvSpPr>
          <p:cNvPr id="19" name="S10_PHASE_1_ITEM_2_BODY"/>
          <p:cNvSpPr txBox="1"/>
          <p:nvPr/>
        </p:nvSpPr>
        <p:spPr>
          <a:xfrm>
            <a:off x="570059" y="37404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Entretiens, irritants et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baseline KPI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46859" y="44856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21" name="S10_PHASE_1_ITEM_3_BULLET"/>
          <p:cNvSpPr/>
          <p:nvPr/>
        </p:nvSpPr>
        <p:spPr>
          <a:xfrm>
            <a:off x="382859" y="4651200"/>
            <a:ext cx="108000" cy="108000"/>
          </a:xfrm>
          <a:prstGeom prst="ellipse">
            <a:avLst/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S10_PHASE_1_ITEM_3_TITLE"/>
          <p:cNvSpPr txBox="1"/>
          <p:nvPr/>
        </p:nvSpPr>
        <p:spPr>
          <a:xfrm>
            <a:off x="570059" y="45216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Roadmap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détaillée</a:t>
            </a:r>
          </a:p>
        </p:txBody>
      </p:sp>
      <p:sp>
        <p:nvSpPr>
          <p:cNvPr id="23" name="S10_PHASE_1_ITEM_3_BODY"/>
          <p:cNvSpPr txBox="1"/>
          <p:nvPr/>
        </p:nvSpPr>
        <p:spPr>
          <a:xfrm>
            <a:off x="570059" y="48672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Chantiers, jalons et critères de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succès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24" name="S10_PHASE_2_CARD"/>
          <p:cNvSpPr/>
          <p:nvPr/>
        </p:nvSpPr>
        <p:spPr>
          <a:xfrm>
            <a:off x="4206059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S10_PHASE_2_BAND"/>
          <p:cNvSpPr/>
          <p:nvPr/>
        </p:nvSpPr>
        <p:spPr>
          <a:xfrm>
            <a:off x="4206059" y="1475999"/>
            <a:ext cx="3780000" cy="756000"/>
          </a:xfrm>
          <a:prstGeom prst="rect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S10_PHASE_2_NUMBER"/>
          <p:cNvSpPr/>
          <p:nvPr/>
        </p:nvSpPr>
        <p:spPr>
          <a:xfrm>
            <a:off x="4278059" y="1665000"/>
            <a:ext cx="410399" cy="410399"/>
          </a:xfrm>
          <a:prstGeom prst="ellipse">
            <a:avLst/>
          </a:prstGeom>
          <a:solidFill>
            <a:srgbClr val="A25871"/>
          </a:solidFill>
          <a:ln w="28575">
            <a:solidFill>
              <a:srgbClr val="FFFFFF"/>
            </a:solidFill>
          </a:ln>
        </p:spPr>
        <p:txBody>
          <a:bodyPr rtlCol="0" anchor="ctr" wrap="squar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7" name="S10_PHASE_2_TITLE"/>
          <p:cNvSpPr txBox="1"/>
          <p:nvPr/>
        </p:nvSpPr>
        <p:spPr>
          <a:xfrm>
            <a:off x="4839659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Pilote</a:t>
            </a:r>
          </a:p>
        </p:txBody>
      </p:sp>
      <p:sp>
        <p:nvSpPr>
          <p:cNvPr id="28" name="S10_PHASE_2_SUBTITLE"/>
          <p:cNvSpPr txBox="1"/>
          <p:nvPr/>
        </p:nvSpPr>
        <p:spPr>
          <a:xfrm>
            <a:off x="4839659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T3</a:t>
            </a:r>
            <a:r>
              <a:rPr sz="1200" b="0" i="1">
                <a:solidFill>
                  <a:srgbClr val="FFFFFF"/>
                </a:solidFill>
                <a:latin typeface="Segoe UI"/>
              </a:rPr>
              <a:t> 2026</a:t>
            </a:r>
          </a:p>
        </p:txBody>
      </p:sp>
      <p:sp>
        <p:nvSpPr>
          <p:cNvPr id="29" name="S10_PHASE_2_ITEM_1_BULLET"/>
          <p:cNvSpPr/>
          <p:nvPr/>
        </p:nvSpPr>
        <p:spPr>
          <a:xfrm>
            <a:off x="4386059" y="2397599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S10_PHASE_2_ITEM_1_TITLE"/>
          <p:cNvSpPr txBox="1"/>
          <p:nvPr/>
        </p:nvSpPr>
        <p:spPr>
          <a:xfrm>
            <a:off x="4573259" y="2267999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2 sites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pilotes</a:t>
            </a:r>
          </a:p>
        </p:txBody>
      </p:sp>
      <p:sp>
        <p:nvSpPr>
          <p:cNvPr id="31" name="S10_PHASE_2_ITEM_1_BODY"/>
          <p:cNvSpPr txBox="1"/>
          <p:nvPr/>
        </p:nvSpPr>
        <p:spPr>
          <a:xfrm>
            <a:off x="4573259" y="26135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Deux contextes pour tester la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robustesse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350059" y="33588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33" name="S10_PHASE_2_ITEM_2_BULLET"/>
          <p:cNvSpPr/>
          <p:nvPr/>
        </p:nvSpPr>
        <p:spPr>
          <a:xfrm>
            <a:off x="4386059" y="3524399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S10_PHASE_2_ITEM_2_TITLE"/>
          <p:cNvSpPr txBox="1"/>
          <p:nvPr/>
        </p:nvSpPr>
        <p:spPr>
          <a:xfrm>
            <a:off x="4573259" y="3394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Méthode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validée</a:t>
            </a:r>
          </a:p>
        </p:txBody>
      </p:sp>
      <p:sp>
        <p:nvSpPr>
          <p:cNvPr id="35" name="S10_PHASE_2_ITEM_2_BODY"/>
          <p:cNvSpPr txBox="1"/>
          <p:nvPr/>
        </p:nvSpPr>
        <p:spPr>
          <a:xfrm>
            <a:off x="4573259" y="37404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Itérations courtes et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REX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mensuel.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350059" y="44856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37" name="S10_PHASE_2_ITEM_3_BULLET"/>
          <p:cNvSpPr/>
          <p:nvPr/>
        </p:nvSpPr>
        <p:spPr>
          <a:xfrm>
            <a:off x="4386059" y="4651200"/>
            <a:ext cx="108000" cy="108000"/>
          </a:xfrm>
          <a:prstGeom prst="ellipse">
            <a:avLst/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S10_PHASE_2_ITEM_3_TITLE"/>
          <p:cNvSpPr txBox="1"/>
          <p:nvPr/>
        </p:nvSpPr>
        <p:spPr>
          <a:xfrm>
            <a:off x="4573259" y="45216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Premiers 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gains</a:t>
            </a:r>
          </a:p>
        </p:txBody>
      </p:sp>
      <p:sp>
        <p:nvSpPr>
          <p:cNvPr id="39" name="S10_PHASE_2_ITEM_3_BODY"/>
          <p:cNvSpPr txBox="1"/>
          <p:nvPr/>
        </p:nvSpPr>
        <p:spPr>
          <a:xfrm>
            <a:off x="4573259" y="48672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Mesure des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impacts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et communication.</a:t>
            </a:r>
          </a:p>
        </p:txBody>
      </p:sp>
      <p:sp>
        <p:nvSpPr>
          <p:cNvPr id="40" name="S10_PHASE_3_CARD"/>
          <p:cNvSpPr/>
          <p:nvPr/>
        </p:nvSpPr>
        <p:spPr>
          <a:xfrm>
            <a:off x="8209259" y="1475999"/>
            <a:ext cx="3780000" cy="4136400"/>
          </a:xfrm>
          <a:prstGeom prst="rect">
            <a:avLst/>
          </a:prstGeom>
          <a:solidFill>
            <a:srgbClr val="FFFFFF"/>
          </a:solidFill>
          <a:ln w="3175">
            <a:solidFill>
              <a:srgbClr val="E0E2EA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1" name="S10_PHASE_3_BAND"/>
          <p:cNvSpPr/>
          <p:nvPr/>
        </p:nvSpPr>
        <p:spPr>
          <a:xfrm>
            <a:off x="8209259" y="1475999"/>
            <a:ext cx="3780000" cy="756000"/>
          </a:xfrm>
          <a:prstGeom prst="rect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2" name="S10_PHASE_3_NUMBER"/>
          <p:cNvSpPr/>
          <p:nvPr/>
        </p:nvSpPr>
        <p:spPr>
          <a:xfrm>
            <a:off x="8281259" y="1665000"/>
            <a:ext cx="410399" cy="410399"/>
          </a:xfrm>
          <a:prstGeom prst="ellipse">
            <a:avLst/>
          </a:prstGeom>
          <a:solidFill>
            <a:srgbClr val="FDA85B"/>
          </a:solidFill>
          <a:ln w="28575">
            <a:solidFill>
              <a:srgbClr val="FFFFFF"/>
            </a:solidFill>
          </a:ln>
        </p:spPr>
        <p:txBody>
          <a:bodyPr rtlCol="0" anchor="ctr" wrap="square" lIns="0" rIns="0" tIns="0" bIns="0"/>
          <a:lstStyle/>
          <a:p>
            <a:pPr algn="ctr"/>
            <a:r>
              <a:rPr sz="24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43" name="S10_PHASE_3_TITLE"/>
          <p:cNvSpPr txBox="1"/>
          <p:nvPr/>
        </p:nvSpPr>
        <p:spPr>
          <a:xfrm>
            <a:off x="8842860" y="1558800"/>
            <a:ext cx="3024000" cy="342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Segoe UI"/>
              </a:rPr>
              <a:t>Déploiement</a:t>
            </a:r>
          </a:p>
        </p:txBody>
      </p:sp>
      <p:sp>
        <p:nvSpPr>
          <p:cNvPr id="44" name="S10_PHASE_3_SUBTITLE"/>
          <p:cNvSpPr txBox="1"/>
          <p:nvPr/>
        </p:nvSpPr>
        <p:spPr>
          <a:xfrm>
            <a:off x="8842860" y="1890000"/>
            <a:ext cx="3024000" cy="2916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 i="1">
                <a:solidFill>
                  <a:srgbClr val="FFFFFF"/>
                </a:solidFill>
                <a:latin typeface="Segoe UI"/>
              </a:rPr>
              <a:t>2027</a:t>
            </a:r>
          </a:p>
        </p:txBody>
      </p:sp>
      <p:sp>
        <p:nvSpPr>
          <p:cNvPr id="45" name="S10_PHASE_3_ITEM_1_BULLET"/>
          <p:cNvSpPr/>
          <p:nvPr/>
        </p:nvSpPr>
        <p:spPr>
          <a:xfrm>
            <a:off x="8389259" y="2397599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S10_PHASE_3_ITEM_1_TITLE"/>
          <p:cNvSpPr txBox="1"/>
          <p:nvPr/>
        </p:nvSpPr>
        <p:spPr>
          <a:xfrm>
            <a:off x="8576459" y="2267999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Vague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1</a:t>
            </a:r>
          </a:p>
        </p:txBody>
      </p:sp>
      <p:sp>
        <p:nvSpPr>
          <p:cNvPr id="47" name="S10_PHASE_3_ITEM_1_BODY"/>
          <p:cNvSpPr txBox="1"/>
          <p:nvPr/>
        </p:nvSpPr>
        <p:spPr>
          <a:xfrm>
            <a:off x="8576459" y="2613599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Six sites avec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relais locaux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8353259" y="33588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49" name="S10_PHASE_3_ITEM_2_BULLET"/>
          <p:cNvSpPr/>
          <p:nvPr/>
        </p:nvSpPr>
        <p:spPr>
          <a:xfrm>
            <a:off x="8389259" y="3524399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S10_PHASE_3_ITEM_2_TITLE"/>
          <p:cNvSpPr txBox="1"/>
          <p:nvPr/>
        </p:nvSpPr>
        <p:spPr>
          <a:xfrm>
            <a:off x="8576459" y="33948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Vague</a:t>
            </a:r>
            <a:r>
              <a:rPr sz="1100" b="1" i="0">
                <a:solidFill>
                  <a:srgbClr val="070E1D"/>
                </a:solidFill>
                <a:latin typeface="Segoe UI"/>
              </a:rPr>
              <a:t> 2</a:t>
            </a:r>
          </a:p>
        </p:txBody>
      </p:sp>
      <p:sp>
        <p:nvSpPr>
          <p:cNvPr id="51" name="S10_PHASE_3_ITEM_2_BODY"/>
          <p:cNvSpPr txBox="1"/>
          <p:nvPr/>
        </p:nvSpPr>
        <p:spPr>
          <a:xfrm>
            <a:off x="8576459" y="37404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Extension aux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BU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adjacentes.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353259" y="4485600"/>
            <a:ext cx="3492000" cy="0"/>
          </a:xfrm>
          <a:prstGeom prst="line">
            <a:avLst/>
          </a:prstGeom>
          <a:ln w="6350">
            <a:solidFill>
              <a:srgbClr val="E8E9EE"/>
            </a:solidFill>
          </a:ln>
        </p:spPr>
      </p:cxnSp>
      <p:sp>
        <p:nvSpPr>
          <p:cNvPr id="53" name="S10_PHASE_3_ITEM_3_BULLET"/>
          <p:cNvSpPr/>
          <p:nvPr/>
        </p:nvSpPr>
        <p:spPr>
          <a:xfrm>
            <a:off x="8389259" y="4651200"/>
            <a:ext cx="108000" cy="108000"/>
          </a:xfrm>
          <a:prstGeom prst="ellipse">
            <a:avLst/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4" name="S10_PHASE_3_ITEM_3_TITLE"/>
          <p:cNvSpPr txBox="1"/>
          <p:nvPr/>
        </p:nvSpPr>
        <p:spPr>
          <a:xfrm>
            <a:off x="8576459" y="4521600"/>
            <a:ext cx="3268800" cy="36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 i="0">
                <a:solidFill>
                  <a:srgbClr val="070E1D"/>
                </a:solidFill>
                <a:latin typeface="Segoe UI"/>
              </a:rPr>
              <a:t>Pérennisation</a:t>
            </a:r>
          </a:p>
        </p:txBody>
      </p:sp>
      <p:sp>
        <p:nvSpPr>
          <p:cNvPr id="55" name="S10_PHASE_3_ITEM_3_BODY"/>
          <p:cNvSpPr txBox="1"/>
          <p:nvPr/>
        </p:nvSpPr>
        <p:spPr>
          <a:xfrm>
            <a:off x="8576459" y="4867200"/>
            <a:ext cx="3268800" cy="30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50" b="0" i="0">
                <a:solidFill>
                  <a:srgbClr val="474E67"/>
                </a:solidFill>
                <a:latin typeface="Segoe UI Light"/>
              </a:rPr>
              <a:t>Intégration aux 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routines</a:t>
            </a:r>
            <a:r>
              <a:rPr sz="1050" b="0" i="0">
                <a:solidFill>
                  <a:srgbClr val="474E67"/>
                </a:solidFill>
                <a:latin typeface="Segoe UI Light"/>
              </a:rPr>
              <a:t> managériales.</a:t>
            </a:r>
          </a:p>
        </p:txBody>
      </p:sp>
      <p:sp>
        <p:nvSpPr>
          <p:cNvPr id="56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7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Trois phases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pour sécuriser le scale-up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LIDE_TITLE"/>
          <p:cNvSpPr txBox="1"/>
          <p:nvPr/>
        </p:nvSpPr>
        <p:spPr>
          <a:xfrm>
            <a:off x="392400" y="255600"/>
            <a:ext cx="11412000" cy="568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932" b="0" i="0">
                <a:solidFill>
                  <a:srgbClr val="484C6A"/>
                </a:solidFill>
                <a:latin typeface="Segoe UI Black"/>
              </a:rPr>
              <a:t>Synthèse et décision</a:t>
            </a:r>
          </a:p>
        </p:txBody>
      </p:sp>
      <p:sp>
        <p:nvSpPr>
          <p:cNvPr id="3" name="SignatureRect"/>
          <p:cNvSpPr/>
          <p:nvPr/>
        </p:nvSpPr>
        <p:spPr>
          <a:xfrm>
            <a:off x="392400" y="885600"/>
            <a:ext cx="673200" cy="97200"/>
          </a:xfrm>
          <a:prstGeom prst="rect">
            <a:avLst/>
          </a:prstGeom>
          <a:solidFill>
            <a:srgbClr val="484C6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SignatureLine"/>
          <p:cNvSpPr/>
          <p:nvPr/>
        </p:nvSpPr>
        <p:spPr>
          <a:xfrm>
            <a:off x="392400" y="975600"/>
            <a:ext cx="1328400" cy="9000"/>
          </a:xfrm>
          <a:prstGeom prst="rect">
            <a:avLst/>
          </a:prstGeom>
          <a:solidFill>
            <a:srgbClr val="11275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FooterConfidential"/>
          <p:cNvSpPr txBox="1"/>
          <p:nvPr/>
        </p:nvSpPr>
        <p:spPr>
          <a:xfrm>
            <a:off x="381600" y="6663600"/>
            <a:ext cx="9475200" cy="14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650" b="0" i="0">
                <a:solidFill>
                  <a:srgbClr val="A8A8B5"/>
                </a:solidFill>
                <a:latin typeface="Segoe UI"/>
              </a:rPr>
              <a:t>This document and the information therein are the property of Safran. They must not be copied or communicated to a third party without the prior written authorization of Safran</a:t>
            </a:r>
          </a:p>
        </p:txBody>
      </p:sp>
      <p:sp>
        <p:nvSpPr>
          <p:cNvPr id="6" name="PageNumber"/>
          <p:cNvSpPr txBox="1"/>
          <p:nvPr/>
        </p:nvSpPr>
        <p:spPr>
          <a:xfrm>
            <a:off x="374400" y="6490800"/>
            <a:ext cx="540000" cy="165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900" b="1" i="0">
                <a:solidFill>
                  <a:srgbClr val="7D7B8D"/>
                </a:solidFill>
                <a:latin typeface="Segoe UI"/>
              </a:rPr>
              <a:t>11/11</a:t>
            </a:r>
          </a:p>
        </p:txBody>
      </p:sp>
      <p:sp>
        <p:nvSpPr>
          <p:cNvPr id="7" name="S11_BLOCK_1_ACCENT_BAR"/>
          <p:cNvSpPr/>
          <p:nvPr/>
        </p:nvSpPr>
        <p:spPr>
          <a:xfrm>
            <a:off x="392400" y="1098000"/>
            <a:ext cx="61200" cy="1371600"/>
          </a:xfrm>
          <a:prstGeom prst="roundRect">
            <a:avLst>
              <a:gd name="adj" fmla="val 12000"/>
            </a:avLst>
          </a:prstGeom>
          <a:solidFill>
            <a:srgbClr val="6A5D7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8" name="S11_BLOCK_1_NUMBER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000" y="1188000"/>
            <a:ext cx="1440000" cy="792000"/>
          </a:xfrm>
          <a:prstGeom prst="rect">
            <a:avLst/>
          </a:prstGeom>
        </p:spPr>
      </p:pic>
      <p:sp>
        <p:nvSpPr>
          <p:cNvPr id="9" name="S11_BLOCK_1_TITLE"/>
          <p:cNvSpPr txBox="1"/>
          <p:nvPr/>
        </p:nvSpPr>
        <p:spPr>
          <a:xfrm>
            <a:off x="720000" y="11880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6A5D79"/>
                </a:solidFill>
                <a:latin typeface="Segoe UI"/>
              </a:rPr>
              <a:t>Ce que le </a:t>
            </a:r>
            <a:r>
              <a:rPr sz="1800" b="1" i="0">
                <a:solidFill>
                  <a:srgbClr val="6A5D79"/>
                </a:solidFill>
                <a:latin typeface="Segoe UI"/>
              </a:rPr>
              <a:t>pilote</a:t>
            </a:r>
            <a:r>
              <a:rPr sz="1800" b="1" i="0">
                <a:solidFill>
                  <a:srgbClr val="6A5D79"/>
                </a:solidFill>
                <a:latin typeface="Segoe UI"/>
              </a:rPr>
              <a:t> prouve</a:t>
            </a:r>
          </a:p>
        </p:txBody>
      </p:sp>
      <p:sp>
        <p:nvSpPr>
          <p:cNvPr id="10" name="S11_BLOCK_1_BODY"/>
          <p:cNvSpPr txBox="1"/>
          <p:nvPr/>
        </p:nvSpPr>
        <p:spPr>
          <a:xfrm>
            <a:off x="720000" y="16200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 dispositif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réduit le temps d'arbitrage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rend les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points de blocage visibles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.</a:t>
            </a:r>
          </a:p>
        </p:txBody>
      </p:sp>
      <p:sp>
        <p:nvSpPr>
          <p:cNvPr id="11" name="S11_BLOCK_2_ACCENT_BAR"/>
          <p:cNvSpPr/>
          <p:nvPr/>
        </p:nvSpPr>
        <p:spPr>
          <a:xfrm>
            <a:off x="392400" y="2718000"/>
            <a:ext cx="61200" cy="1371600"/>
          </a:xfrm>
          <a:prstGeom prst="roundRect">
            <a:avLst>
              <a:gd name="adj" fmla="val 12000"/>
            </a:avLst>
          </a:prstGeom>
          <a:solidFill>
            <a:srgbClr val="A2587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" name="S11_BLOCK_2_NUMBER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000" y="2818800"/>
            <a:ext cx="1440000" cy="792000"/>
          </a:xfrm>
          <a:prstGeom prst="rect">
            <a:avLst/>
          </a:prstGeom>
        </p:spPr>
      </p:pic>
      <p:sp>
        <p:nvSpPr>
          <p:cNvPr id="13" name="S11_BLOCK_2_TITLE"/>
          <p:cNvSpPr txBox="1"/>
          <p:nvPr/>
        </p:nvSpPr>
        <p:spPr>
          <a:xfrm>
            <a:off x="720000" y="28188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A25871"/>
                </a:solidFill>
                <a:latin typeface="Segoe UI"/>
              </a:rPr>
              <a:t>Ce qui change pour les </a:t>
            </a:r>
            <a:r>
              <a:rPr sz="1800" b="1" i="0">
                <a:solidFill>
                  <a:srgbClr val="A25871"/>
                </a:solidFill>
                <a:latin typeface="Segoe UI"/>
              </a:rPr>
              <a:t>équipes</a:t>
            </a:r>
          </a:p>
        </p:txBody>
      </p:sp>
      <p:sp>
        <p:nvSpPr>
          <p:cNvPr id="14" name="S11_BLOCK_2_BODY"/>
          <p:cNvSpPr txBox="1"/>
          <p:nvPr/>
        </p:nvSpPr>
        <p:spPr>
          <a:xfrm>
            <a:off x="720000" y="32508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Les équipes disposent d'une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cadence stable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de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décisions plus rapides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d'un espace clair pour remonter les irritants.</a:t>
            </a:r>
          </a:p>
        </p:txBody>
      </p:sp>
      <p:sp>
        <p:nvSpPr>
          <p:cNvPr id="15" name="S11_BLOCK_3_ACCENT_BAR"/>
          <p:cNvSpPr/>
          <p:nvPr/>
        </p:nvSpPr>
        <p:spPr>
          <a:xfrm>
            <a:off x="392400" y="4338000"/>
            <a:ext cx="61200" cy="1371600"/>
          </a:xfrm>
          <a:prstGeom prst="roundRect">
            <a:avLst>
              <a:gd name="adj" fmla="val 12000"/>
            </a:avLst>
          </a:prstGeom>
          <a:solidFill>
            <a:srgbClr val="FDA85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" name="S11_BLOCK_3_NUMBER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000" y="4428000"/>
            <a:ext cx="1440000" cy="792000"/>
          </a:xfrm>
          <a:prstGeom prst="rect">
            <a:avLst/>
          </a:prstGeom>
        </p:spPr>
      </p:pic>
      <p:sp>
        <p:nvSpPr>
          <p:cNvPr id="17" name="S11_BLOCK_3_TITLE"/>
          <p:cNvSpPr txBox="1"/>
          <p:nvPr/>
        </p:nvSpPr>
        <p:spPr>
          <a:xfrm>
            <a:off x="720000" y="4428000"/>
            <a:ext cx="10620000" cy="396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FDA85B"/>
                </a:solidFill>
                <a:latin typeface="Segoe UI"/>
              </a:rPr>
              <a:t>Ce que nous </a:t>
            </a:r>
            <a:r>
              <a:rPr sz="1800" b="1" i="0">
                <a:solidFill>
                  <a:srgbClr val="FDA85B"/>
                </a:solidFill>
                <a:latin typeface="Segoe UI"/>
              </a:rPr>
              <a:t>proposons</a:t>
            </a:r>
          </a:p>
        </p:txBody>
      </p:sp>
      <p:sp>
        <p:nvSpPr>
          <p:cNvPr id="18" name="S11_BLOCK_3_BODY"/>
          <p:cNvSpPr txBox="1"/>
          <p:nvPr/>
        </p:nvSpPr>
        <p:spPr>
          <a:xfrm>
            <a:off x="720000" y="4860000"/>
            <a:ext cx="10620000" cy="8640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74E67"/>
                </a:solidFill>
                <a:latin typeface="Segoe UI Light"/>
              </a:rPr>
              <a:t>Valider le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scale-up sur trois sites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, avec un </a:t>
            </a:r>
            <a:r>
              <a:rPr sz="1400" b="1" i="0">
                <a:solidFill>
                  <a:srgbClr val="474E67"/>
                </a:solidFill>
                <a:latin typeface="Segoe UI"/>
              </a:rPr>
              <a:t>sponsor unique</a:t>
            </a:r>
            <a:r>
              <a:rPr sz="1400" b="0" i="0">
                <a:solidFill>
                  <a:srgbClr val="474E67"/>
                </a:solidFill>
                <a:latin typeface="Segoe UI Light"/>
              </a:rPr>
              <a:t> et un reporting centré sur les impacts.</a:t>
            </a:r>
          </a:p>
        </p:txBody>
      </p:sp>
      <p:sp>
        <p:nvSpPr>
          <p:cNvPr id="19" name="TakeawayBand"/>
          <p:cNvSpPr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gradFill flip="none" rotWithShape="1">
            <a:gsLst>
              <a:gs pos="0">
                <a:srgbClr val="A25871">
                  <a:satMod val="115000"/>
                  <a:shade val="30000"/>
                </a:srgbClr>
              </a:gs>
              <a:gs pos="50000">
                <a:srgbClr val="A25871">
                  <a:satMod val="115000"/>
                  <a:shade val="67500"/>
                </a:srgbClr>
              </a:gs>
              <a:gs pos="100000">
                <a:srgbClr val="A25871">
                  <a:satMod val="115000"/>
                  <a:shade val="100000"/>
                </a:srgbClr>
              </a:gs>
            </a:gsLst>
            <a:lin ang="5400000" scaled="1"/>
          </a:gra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akeawayBandText"/>
          <p:cNvSpPr txBox="1"/>
          <p:nvPr/>
        </p:nvSpPr>
        <p:spPr>
          <a:xfrm>
            <a:off x="392400" y="6073200"/>
            <a:ext cx="11412000" cy="3960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Segoe UI"/>
              </a:rPr>
              <a:t>Validez-vous le 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scale-up</a:t>
            </a:r>
            <a:r>
              <a:rPr sz="1600" b="1" i="0">
                <a:solidFill>
                  <a:srgbClr val="FFFFFF"/>
                </a:solidFill>
                <a:latin typeface="Segoe UI"/>
              </a:rPr>
              <a:t> dès ce mois-ci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