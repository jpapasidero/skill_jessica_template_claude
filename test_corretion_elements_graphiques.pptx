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Pourquoi accélérer maintenant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0" i="0">
                <a:solidFill>
                  <a:srgbClr val="7D7B8D"/>
                </a:solidFill>
                <a:latin typeface="Segoe UI"/>
              </a:rPr>
              <a:t>01      |</a:t>
            </a:r>
          </a:p>
        </p:txBody>
      </p:sp>
      <p:pic>
        <p:nvPicPr>
          <p:cNvPr id="7" name="Picture 6" descr="safran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200" y="6447600"/>
            <a:ext cx="1090800" cy="230400"/>
          </a:xfrm>
          <a:prstGeom prst="rect">
            <a:avLst/>
          </a:prstGeom>
        </p:spPr>
      </p:pic>
      <p:sp>
        <p:nvSpPr>
          <p:cNvPr id="8" name="LeftAccentBar"/>
          <p:cNvSpPr/>
          <p:nvPr/>
        </p:nvSpPr>
        <p:spPr>
          <a:xfrm>
            <a:off x="720000" y="1260000"/>
            <a:ext cx="39600" cy="2268000"/>
          </a:xfrm>
          <a:prstGeom prst="rect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01_MANIFESTO"/>
          <p:cNvSpPr txBox="1"/>
          <p:nvPr/>
        </p:nvSpPr>
        <p:spPr>
          <a:xfrm>
            <a:off x="838800" y="1238400"/>
            <a:ext cx="7617600" cy="1029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474E67"/>
                </a:solidFill>
                <a:latin typeface="Segoe UI Light"/>
              </a:rPr>
              <a:t>Le </a:t>
            </a:r>
            <a:r>
              <a:rPr sz="2400" b="1" i="0">
                <a:solidFill>
                  <a:srgbClr val="A25871"/>
                </a:solidFill>
                <a:latin typeface="Segoe UI"/>
              </a:rPr>
              <a:t>statu quo</a:t>
            </a:r>
            <a:r>
              <a:rPr sz="2400" b="0" i="0">
                <a:solidFill>
                  <a:srgbClr val="474E67"/>
                </a:solidFill>
                <a:latin typeface="Segoe UI Light"/>
              </a:rPr>
              <a:t> ralentit les équipes. Le pilote donne un </a:t>
            </a:r>
            <a:r>
              <a:rPr sz="2400" b="1" i="0">
                <a:solidFill>
                  <a:srgbClr val="A25871"/>
                </a:solidFill>
                <a:latin typeface="Segoe UI"/>
              </a:rPr>
              <a:t>rythme clair</a:t>
            </a:r>
            <a:r>
              <a:rPr sz="2400" b="0" i="0">
                <a:solidFill>
                  <a:srgbClr val="474E67"/>
                </a:solidFill>
                <a:latin typeface="Segoe UI Light"/>
              </a:rPr>
              <a:t> et rend la </a:t>
            </a:r>
            <a:r>
              <a:rPr sz="2400" b="1" i="0">
                <a:solidFill>
                  <a:srgbClr val="A25871"/>
                </a:solidFill>
                <a:latin typeface="Segoe UI"/>
              </a:rPr>
              <a:t>décision visible</a:t>
            </a:r>
            <a:r>
              <a:rPr sz="24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10" name="S01_BODY"/>
          <p:cNvSpPr txBox="1"/>
          <p:nvPr/>
        </p:nvSpPr>
        <p:spPr>
          <a:xfrm>
            <a:off x="838800" y="2865600"/>
            <a:ext cx="7365600" cy="1015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474E67"/>
                </a:solidFill>
                <a:latin typeface="Segoe UI"/>
              </a:rPr>
              <a:t>Les </a:t>
            </a:r>
            <a:r>
              <a:rPr sz="1300" b="1" i="0">
                <a:solidFill>
                  <a:srgbClr val="070E1D"/>
                </a:solidFill>
                <a:latin typeface="Segoe UI"/>
              </a:rPr>
              <a:t>signaux convergent</a:t>
            </a:r>
            <a:r>
              <a:rPr sz="1300" b="0" i="0">
                <a:solidFill>
                  <a:srgbClr val="474E67"/>
                </a:solidFill>
                <a:latin typeface="Segoe UI"/>
              </a:rPr>
              <a:t> : délais instables, arbitrages tardifs et énergie dispersée. Avec un </a:t>
            </a:r>
            <a:r>
              <a:rPr sz="1300" b="1" i="0">
                <a:solidFill>
                  <a:srgbClr val="070E1D"/>
                </a:solidFill>
                <a:latin typeface="Segoe UI"/>
              </a:rPr>
              <a:t>pilote court</a:t>
            </a:r>
            <a:r>
              <a:rPr sz="1300" b="0" i="0">
                <a:solidFill>
                  <a:srgbClr val="474E67"/>
                </a:solidFill>
                <a:latin typeface="Segoe UI"/>
              </a:rPr>
              <a:t>, nous créons une </a:t>
            </a:r>
            <a:r>
              <a:rPr sz="1300" b="1" i="0">
                <a:solidFill>
                  <a:srgbClr val="070E1D"/>
                </a:solidFill>
                <a:latin typeface="Segoe UI"/>
              </a:rPr>
              <a:t>preuve mesurable</a:t>
            </a:r>
            <a:r>
              <a:rPr sz="1300" b="0" i="0">
                <a:solidFill>
                  <a:srgbClr val="474E67"/>
                </a:solidFill>
                <a:latin typeface="Segoe UI"/>
              </a:rPr>
              <a:t> pour décider vite.</a:t>
            </a:r>
          </a:p>
        </p:txBody>
      </p:sp>
      <p:sp>
        <p:nvSpPr>
          <p:cNvPr id="11" name="KpiAccent_1"/>
          <p:cNvSpPr/>
          <p:nvPr/>
        </p:nvSpPr>
        <p:spPr>
          <a:xfrm>
            <a:off x="8712000" y="1040400"/>
            <a:ext cx="406799" cy="25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S01_STAT_1_VALUE"/>
          <p:cNvSpPr txBox="1"/>
          <p:nvPr/>
        </p:nvSpPr>
        <p:spPr>
          <a:xfrm>
            <a:off x="8712000" y="1144800"/>
            <a:ext cx="3401999" cy="76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 i="0">
                <a:solidFill>
                  <a:srgbClr val="6A5D79"/>
                </a:solidFill>
                <a:latin typeface="Segoe UI Black"/>
              </a:rPr>
              <a:t>+18%</a:t>
            </a:r>
          </a:p>
        </p:txBody>
      </p:sp>
      <p:sp>
        <p:nvSpPr>
          <p:cNvPr id="13" name="S01_STAT_1_LABEL"/>
          <p:cNvSpPr txBox="1"/>
          <p:nvPr/>
        </p:nvSpPr>
        <p:spPr>
          <a:xfrm>
            <a:off x="8712000" y="1904400"/>
            <a:ext cx="3401999" cy="28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070E1D"/>
                </a:solidFill>
                <a:latin typeface="Segoe UI"/>
              </a:rPr>
              <a:t>Engagement</a:t>
            </a:r>
            <a:r>
              <a:rPr sz="1300" b="1" i="0">
                <a:solidFill>
                  <a:srgbClr val="070E1D"/>
                </a:solidFill>
                <a:latin typeface="Segoe UI"/>
              </a:rPr>
              <a:t> équipe</a:t>
            </a:r>
          </a:p>
        </p:txBody>
      </p:sp>
      <p:sp>
        <p:nvSpPr>
          <p:cNvPr id="14" name="S01_STAT_1_SUBLABEL"/>
          <p:cNvSpPr txBox="1"/>
          <p:nvPr/>
        </p:nvSpPr>
        <p:spPr>
          <a:xfrm>
            <a:off x="8712000" y="2185200"/>
            <a:ext cx="3401999" cy="255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 i="0">
                <a:solidFill>
                  <a:srgbClr val="474E67"/>
                </a:solidFill>
                <a:latin typeface="Segoe UI"/>
              </a:rPr>
              <a:t>sur équipe </a:t>
            </a:r>
            <a:r>
              <a:rPr sz="1000" b="0" i="0">
                <a:solidFill>
                  <a:srgbClr val="474E67"/>
                </a:solidFill>
                <a:latin typeface="Segoe UI"/>
              </a:rPr>
              <a:t>pilote</a:t>
            </a:r>
          </a:p>
        </p:txBody>
      </p:sp>
      <p:sp>
        <p:nvSpPr>
          <p:cNvPr id="15" name="KpiAccent_2"/>
          <p:cNvSpPr/>
          <p:nvPr/>
        </p:nvSpPr>
        <p:spPr>
          <a:xfrm>
            <a:off x="8712000" y="2692800"/>
            <a:ext cx="406799" cy="25200"/>
          </a:xfrm>
          <a:prstGeom prst="rect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01_STAT_2_VALUE"/>
          <p:cNvSpPr txBox="1"/>
          <p:nvPr/>
        </p:nvSpPr>
        <p:spPr>
          <a:xfrm>
            <a:off x="8712000" y="2793600"/>
            <a:ext cx="3401999" cy="76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 i="0">
                <a:solidFill>
                  <a:srgbClr val="A25871"/>
                </a:solidFill>
                <a:latin typeface="Segoe UI Black"/>
              </a:rPr>
              <a:t>12 j</a:t>
            </a:r>
          </a:p>
        </p:txBody>
      </p:sp>
      <p:sp>
        <p:nvSpPr>
          <p:cNvPr id="17" name="S01_STAT_2_LABEL"/>
          <p:cNvSpPr txBox="1"/>
          <p:nvPr/>
        </p:nvSpPr>
        <p:spPr>
          <a:xfrm>
            <a:off x="8712000" y="3556800"/>
            <a:ext cx="3401999" cy="28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070E1D"/>
                </a:solidFill>
                <a:latin typeface="Segoe UI"/>
              </a:rPr>
              <a:t>Cycle</a:t>
            </a:r>
            <a:r>
              <a:rPr sz="1300" b="1" i="0">
                <a:solidFill>
                  <a:srgbClr val="070E1D"/>
                </a:solidFill>
                <a:latin typeface="Segoe UI"/>
              </a:rPr>
              <a:t> cible</a:t>
            </a:r>
          </a:p>
        </p:txBody>
      </p:sp>
      <p:sp>
        <p:nvSpPr>
          <p:cNvPr id="18" name="S01_STAT_2_SUBLABEL"/>
          <p:cNvSpPr txBox="1"/>
          <p:nvPr/>
        </p:nvSpPr>
        <p:spPr>
          <a:xfrm>
            <a:off x="8712000" y="3834000"/>
            <a:ext cx="3401999" cy="255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 i="0">
                <a:solidFill>
                  <a:srgbClr val="474E67"/>
                </a:solidFill>
                <a:latin typeface="Segoe UI"/>
              </a:rPr>
              <a:t>contre </a:t>
            </a:r>
            <a:r>
              <a:rPr sz="1000" b="0" i="0">
                <a:solidFill>
                  <a:srgbClr val="474E67"/>
                </a:solidFill>
                <a:latin typeface="Segoe UI"/>
              </a:rPr>
              <a:t>21 j</a:t>
            </a:r>
          </a:p>
        </p:txBody>
      </p:sp>
      <p:sp>
        <p:nvSpPr>
          <p:cNvPr id="19" name="KpiAccent_3"/>
          <p:cNvSpPr/>
          <p:nvPr/>
        </p:nvSpPr>
        <p:spPr>
          <a:xfrm>
            <a:off x="8712000" y="4338000"/>
            <a:ext cx="406799" cy="25200"/>
          </a:xfrm>
          <a:prstGeom prst="rect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S01_STAT_3_VALUE"/>
          <p:cNvSpPr txBox="1"/>
          <p:nvPr/>
        </p:nvSpPr>
        <p:spPr>
          <a:xfrm>
            <a:off x="8712000" y="4446000"/>
            <a:ext cx="3401999" cy="76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 i="0">
                <a:solidFill>
                  <a:srgbClr val="FDA85B"/>
                </a:solidFill>
                <a:latin typeface="Segoe UI Black"/>
              </a:rPr>
              <a:t>90 j</a:t>
            </a:r>
          </a:p>
        </p:txBody>
      </p:sp>
      <p:sp>
        <p:nvSpPr>
          <p:cNvPr id="21" name="S01_STAT_3_LABEL"/>
          <p:cNvSpPr txBox="1"/>
          <p:nvPr/>
        </p:nvSpPr>
        <p:spPr>
          <a:xfrm>
            <a:off x="8712000" y="5205600"/>
            <a:ext cx="3401999" cy="28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070E1D"/>
                </a:solidFill>
                <a:latin typeface="Segoe UI"/>
              </a:rPr>
              <a:t>Preuve</a:t>
            </a:r>
            <a:r>
              <a:rPr sz="1300" b="1" i="0">
                <a:solidFill>
                  <a:srgbClr val="070E1D"/>
                </a:solidFill>
                <a:latin typeface="Segoe UI"/>
              </a:rPr>
              <a:t> de valeur</a:t>
            </a:r>
          </a:p>
        </p:txBody>
      </p:sp>
      <p:sp>
        <p:nvSpPr>
          <p:cNvPr id="22" name="S01_STAT_3_SUBLABEL"/>
          <p:cNvSpPr txBox="1"/>
          <p:nvPr/>
        </p:nvSpPr>
        <p:spPr>
          <a:xfrm>
            <a:off x="8712000" y="5486400"/>
            <a:ext cx="3401999" cy="255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 i="0">
                <a:solidFill>
                  <a:srgbClr val="474E67"/>
                </a:solidFill>
                <a:latin typeface="Segoe UI"/>
              </a:rPr>
              <a:t>avant </a:t>
            </a:r>
            <a:r>
              <a:rPr sz="1000" b="0" i="0">
                <a:solidFill>
                  <a:srgbClr val="474E67"/>
                </a:solidFill>
                <a:latin typeface="Segoe UI"/>
              </a:rPr>
              <a:t>scale-up</a:t>
            </a:r>
          </a:p>
        </p:txBody>
      </p:sp>
      <p:sp>
        <p:nvSpPr>
          <p:cNvPr id="23" name="TakeawayBand"/>
          <p:cNvSpPr/>
          <p:nvPr/>
        </p:nvSpPr>
        <p:spPr>
          <a:xfrm>
            <a:off x="392400" y="6037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akeawayBandText"/>
          <p:cNvSpPr txBox="1"/>
          <p:nvPr/>
        </p:nvSpPr>
        <p:spPr>
          <a:xfrm>
            <a:off x="392400" y="6037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Décider vite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 pour apprendre vite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Trois principes d'exécution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0" i="0">
                <a:solidFill>
                  <a:srgbClr val="7D7B8D"/>
                </a:solidFill>
                <a:latin typeface="Segoe UI"/>
              </a:rPr>
              <a:t>02      |</a:t>
            </a:r>
          </a:p>
        </p:txBody>
      </p:sp>
      <p:pic>
        <p:nvPicPr>
          <p:cNvPr id="7" name="Picture 6" descr="safran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200" y="6447600"/>
            <a:ext cx="1090800" cy="230400"/>
          </a:xfrm>
          <a:prstGeom prst="rect">
            <a:avLst/>
          </a:prstGeom>
        </p:spPr>
      </p:pic>
      <p:sp>
        <p:nvSpPr>
          <p:cNvPr id="8" name="S02_SEP_1"/>
          <p:cNvSpPr/>
          <p:nvPr/>
        </p:nvSpPr>
        <p:spPr>
          <a:xfrm>
            <a:off x="607859" y="1695600"/>
            <a:ext cx="36000" cy="35640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02_COL_1_TITLE"/>
          <p:cNvSpPr txBox="1"/>
          <p:nvPr/>
        </p:nvSpPr>
        <p:spPr>
          <a:xfrm>
            <a:off x="849059" y="2545200"/>
            <a:ext cx="3240000" cy="957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 i="0" cap="small">
                <a:solidFill>
                  <a:srgbClr val="6A5D79"/>
                </a:solidFill>
                <a:latin typeface="Segoe UI"/>
              </a:rPr>
              <a:t>Commencer petit, </a:t>
            </a:r>
            <a:r>
              <a:rPr sz="2000" b="1" i="0" cap="small">
                <a:solidFill>
                  <a:srgbClr val="6A5D79"/>
                </a:solidFill>
                <a:latin typeface="Segoe UI"/>
              </a:rPr>
              <a:t>mesurer vite</a:t>
            </a:r>
          </a:p>
        </p:txBody>
      </p:sp>
      <p:sp>
        <p:nvSpPr>
          <p:cNvPr id="10" name="S02_COL_1_BODY"/>
          <p:cNvSpPr txBox="1"/>
          <p:nvPr/>
        </p:nvSpPr>
        <p:spPr>
          <a:xfrm>
            <a:off x="849059" y="4086000"/>
            <a:ext cx="3240000" cy="1126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4E67"/>
                </a:solidFill>
                <a:latin typeface="Segoe UI Light"/>
              </a:rPr>
              <a:t>Un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périmètre pilote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 évite la dispersion. Les apprentissages deviennent des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standards simples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11" name="S02_SEP_2"/>
          <p:cNvSpPr/>
          <p:nvPr/>
        </p:nvSpPr>
        <p:spPr>
          <a:xfrm>
            <a:off x="4355459" y="1695600"/>
            <a:ext cx="36000" cy="3564000"/>
          </a:xfrm>
          <a:prstGeom prst="rect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S02_COL_2_TITLE"/>
          <p:cNvSpPr txBox="1"/>
          <p:nvPr/>
        </p:nvSpPr>
        <p:spPr>
          <a:xfrm>
            <a:off x="4596659" y="2545200"/>
            <a:ext cx="3240000" cy="957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 i="0" cap="small">
                <a:solidFill>
                  <a:srgbClr val="A25871"/>
                </a:solidFill>
                <a:latin typeface="Segoe UI"/>
              </a:rPr>
              <a:t>Donner un rôle au </a:t>
            </a:r>
            <a:r>
              <a:rPr sz="2000" b="1" i="0" cap="small">
                <a:solidFill>
                  <a:srgbClr val="A25871"/>
                </a:solidFill>
                <a:latin typeface="Segoe UI"/>
              </a:rPr>
              <a:t>terrain</a:t>
            </a:r>
          </a:p>
        </p:txBody>
      </p:sp>
      <p:sp>
        <p:nvSpPr>
          <p:cNvPr id="13" name="S02_COL_2_BODY"/>
          <p:cNvSpPr txBox="1"/>
          <p:nvPr/>
        </p:nvSpPr>
        <p:spPr>
          <a:xfrm>
            <a:off x="4596659" y="4086000"/>
            <a:ext cx="3240000" cy="1126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4E67"/>
                </a:solidFill>
                <a:latin typeface="Segoe UI Light"/>
              </a:rPr>
              <a:t>Les équipes valident les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irritants réels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, priorisent les actions utiles et rendent les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gains visibles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14" name="S02_SEP_3"/>
          <p:cNvSpPr/>
          <p:nvPr/>
        </p:nvSpPr>
        <p:spPr>
          <a:xfrm>
            <a:off x="8103059" y="1695600"/>
            <a:ext cx="36000" cy="3564000"/>
          </a:xfrm>
          <a:prstGeom prst="rect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S02_COL_3_TITLE"/>
          <p:cNvSpPr txBox="1"/>
          <p:nvPr/>
        </p:nvSpPr>
        <p:spPr>
          <a:xfrm>
            <a:off x="8344260" y="2545200"/>
            <a:ext cx="3240000" cy="957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 i="0" cap="small">
                <a:solidFill>
                  <a:srgbClr val="FDA85B"/>
                </a:solidFill>
                <a:latin typeface="Segoe UI"/>
              </a:rPr>
              <a:t>Installer une </a:t>
            </a:r>
            <a:r>
              <a:rPr sz="2000" b="1" i="0" cap="small">
                <a:solidFill>
                  <a:srgbClr val="FDA85B"/>
                </a:solidFill>
                <a:latin typeface="Segoe UI"/>
              </a:rPr>
              <a:t>cadence commune</a:t>
            </a:r>
          </a:p>
        </p:txBody>
      </p:sp>
      <p:sp>
        <p:nvSpPr>
          <p:cNvPr id="16" name="S02_COL_3_BODY"/>
          <p:cNvSpPr txBox="1"/>
          <p:nvPr/>
        </p:nvSpPr>
        <p:spPr>
          <a:xfrm>
            <a:off x="8344260" y="4086000"/>
            <a:ext cx="3240000" cy="1126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4E67"/>
                </a:solidFill>
                <a:latin typeface="Segoe UI Light"/>
              </a:rPr>
              <a:t>Un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rythme court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 synchronise sponsor, managers et contributeurs autour des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mêmes faits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Six facteurs critiques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0" i="0">
                <a:solidFill>
                  <a:srgbClr val="7D7B8D"/>
                </a:solidFill>
                <a:latin typeface="Segoe UI"/>
              </a:rPr>
              <a:t>03      |</a:t>
            </a:r>
          </a:p>
        </p:txBody>
      </p:sp>
      <p:pic>
        <p:nvPicPr>
          <p:cNvPr id="7" name="Picture 6" descr="safran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200" y="6447600"/>
            <a:ext cx="1090800" cy="230400"/>
          </a:xfrm>
          <a:prstGeom prst="rect">
            <a:avLst/>
          </a:prstGeom>
        </p:spPr>
      </p:pic>
      <p:sp>
        <p:nvSpPr>
          <p:cNvPr id="8" name="S03_TEARDROP_1"/>
          <p:cNvSpPr/>
          <p:nvPr/>
        </p:nvSpPr>
        <p:spPr>
          <a:xfrm>
            <a:off x="1336859" y="1292400"/>
            <a:ext cx="864000" cy="864000"/>
          </a:xfrm>
          <a:prstGeom prst="teardrop">
            <a:avLst/>
          </a:prstGeom>
          <a:solidFill>
            <a:srgbClr val="BABDD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03_FACTOR_1_LABEL"/>
          <p:cNvSpPr txBox="1"/>
          <p:nvPr/>
        </p:nvSpPr>
        <p:spPr>
          <a:xfrm>
            <a:off x="627659" y="2480400"/>
            <a:ext cx="2498400" cy="309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 cap="small">
                <a:solidFill>
                  <a:srgbClr val="070E1D"/>
                </a:solidFill>
                <a:latin typeface="Segoe UI"/>
              </a:rPr>
              <a:t>Sponsor</a:t>
            </a:r>
            <a:r>
              <a:rPr sz="1400" b="1" i="0" cap="small">
                <a:solidFill>
                  <a:srgbClr val="070E1D"/>
                </a:solidFill>
                <a:latin typeface="Segoe UI"/>
              </a:rPr>
              <a:t> exécutif</a:t>
            </a:r>
          </a:p>
        </p:txBody>
      </p:sp>
      <p:sp>
        <p:nvSpPr>
          <p:cNvPr id="10" name="S03_TEARDROP_2"/>
          <p:cNvSpPr/>
          <p:nvPr/>
        </p:nvSpPr>
        <p:spPr>
          <a:xfrm>
            <a:off x="5635260" y="1314000"/>
            <a:ext cx="864000" cy="864000"/>
          </a:xfrm>
          <a:prstGeom prst="teardrop">
            <a:avLst/>
          </a:prstGeom>
          <a:solidFill>
            <a:srgbClr val="BBB4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S03_FACTOR_2_LABEL"/>
          <p:cNvSpPr txBox="1"/>
          <p:nvPr/>
        </p:nvSpPr>
        <p:spPr>
          <a:xfrm>
            <a:off x="4926060" y="2502000"/>
            <a:ext cx="2498400" cy="309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 cap="small">
                <a:solidFill>
                  <a:srgbClr val="070E1D"/>
                </a:solidFill>
                <a:latin typeface="Segoe UI"/>
              </a:rPr>
              <a:t>Vision</a:t>
            </a:r>
            <a:r>
              <a:rPr sz="1400" b="1" i="0" cap="small">
                <a:solidFill>
                  <a:srgbClr val="070E1D"/>
                </a:solidFill>
                <a:latin typeface="Segoe UI"/>
              </a:rPr>
              <a:t> partagée</a:t>
            </a:r>
          </a:p>
        </p:txBody>
      </p:sp>
      <p:sp>
        <p:nvSpPr>
          <p:cNvPr id="12" name="S03_TEARDROP_3"/>
          <p:cNvSpPr/>
          <p:nvPr/>
        </p:nvSpPr>
        <p:spPr>
          <a:xfrm>
            <a:off x="9775260" y="1314000"/>
            <a:ext cx="864000" cy="864000"/>
          </a:xfrm>
          <a:prstGeom prst="teardrop">
            <a:avLst/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S03_FACTOR_3_LABEL"/>
          <p:cNvSpPr txBox="1"/>
          <p:nvPr/>
        </p:nvSpPr>
        <p:spPr>
          <a:xfrm>
            <a:off x="9066060" y="2502000"/>
            <a:ext cx="2498400" cy="309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 cap="small">
                <a:solidFill>
                  <a:srgbClr val="070E1D"/>
                </a:solidFill>
                <a:latin typeface="Segoe UI"/>
              </a:rPr>
              <a:t>Equipe </a:t>
            </a:r>
            <a:r>
              <a:rPr sz="1400" b="1" i="0" cap="small">
                <a:solidFill>
                  <a:srgbClr val="070E1D"/>
                </a:solidFill>
                <a:latin typeface="Segoe UI"/>
              </a:rPr>
              <a:t>dédiée</a:t>
            </a:r>
          </a:p>
        </p:txBody>
      </p:sp>
      <p:sp>
        <p:nvSpPr>
          <p:cNvPr id="14" name="S03_TEARDROP_4"/>
          <p:cNvSpPr/>
          <p:nvPr/>
        </p:nvSpPr>
        <p:spPr>
          <a:xfrm>
            <a:off x="1351259" y="3927600"/>
            <a:ext cx="864000" cy="864000"/>
          </a:xfrm>
          <a:prstGeom prst="teardrop">
            <a:avLst/>
          </a:prstGeom>
          <a:solidFill>
            <a:srgbClr val="F1D3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S03_FACTOR_4_LABEL"/>
          <p:cNvSpPr txBox="1"/>
          <p:nvPr/>
        </p:nvSpPr>
        <p:spPr>
          <a:xfrm>
            <a:off x="642059" y="5115600"/>
            <a:ext cx="2498400" cy="309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 cap="small">
                <a:solidFill>
                  <a:srgbClr val="070E1D"/>
                </a:solidFill>
                <a:latin typeface="Segoe UI"/>
              </a:rPr>
              <a:t>Indicateurs </a:t>
            </a:r>
            <a:r>
              <a:rPr sz="1400" b="1" i="0" cap="small">
                <a:solidFill>
                  <a:srgbClr val="070E1D"/>
                </a:solidFill>
                <a:latin typeface="Segoe UI"/>
              </a:rPr>
              <a:t>simples</a:t>
            </a:r>
          </a:p>
        </p:txBody>
      </p:sp>
      <p:sp>
        <p:nvSpPr>
          <p:cNvPr id="16" name="S03_TEARDROP_5"/>
          <p:cNvSpPr/>
          <p:nvPr/>
        </p:nvSpPr>
        <p:spPr>
          <a:xfrm>
            <a:off x="5577660" y="3927600"/>
            <a:ext cx="864000" cy="864000"/>
          </a:xfrm>
          <a:prstGeom prst="teardrop">
            <a:avLst/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S03_FACTOR_5_LABEL"/>
          <p:cNvSpPr txBox="1"/>
          <p:nvPr/>
        </p:nvSpPr>
        <p:spPr>
          <a:xfrm>
            <a:off x="4868459" y="5115600"/>
            <a:ext cx="2498400" cy="309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 cap="small">
                <a:solidFill>
                  <a:srgbClr val="070E1D"/>
                </a:solidFill>
                <a:latin typeface="Segoe UI"/>
              </a:rPr>
              <a:t>Communication </a:t>
            </a:r>
            <a:r>
              <a:rPr sz="1400" b="1" i="0" cap="small">
                <a:solidFill>
                  <a:srgbClr val="070E1D"/>
                </a:solidFill>
                <a:latin typeface="Segoe UI"/>
              </a:rPr>
              <a:t>continue</a:t>
            </a:r>
          </a:p>
        </p:txBody>
      </p:sp>
      <p:sp>
        <p:nvSpPr>
          <p:cNvPr id="18" name="S03_TEARDROP_6"/>
          <p:cNvSpPr/>
          <p:nvPr/>
        </p:nvSpPr>
        <p:spPr>
          <a:xfrm>
            <a:off x="9667259" y="3927600"/>
            <a:ext cx="864000" cy="864000"/>
          </a:xfrm>
          <a:prstGeom prst="teardrop">
            <a:avLst/>
          </a:prstGeom>
          <a:solidFill>
            <a:srgbClr val="FEF4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S03_FACTOR_6_LABEL"/>
          <p:cNvSpPr txBox="1"/>
          <p:nvPr/>
        </p:nvSpPr>
        <p:spPr>
          <a:xfrm>
            <a:off x="8958060" y="5115600"/>
            <a:ext cx="2498400" cy="309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 cap="small">
                <a:solidFill>
                  <a:srgbClr val="070E1D"/>
                </a:solidFill>
                <a:latin typeface="Segoe UI"/>
              </a:rPr>
              <a:t>Quick wins </a:t>
            </a:r>
            <a:r>
              <a:rPr sz="1400" b="1" i="0" cap="small">
                <a:solidFill>
                  <a:srgbClr val="070E1D"/>
                </a:solidFill>
                <a:latin typeface="Segoe UI"/>
              </a:rPr>
              <a:t>visibles</a:t>
            </a:r>
          </a:p>
        </p:txBody>
      </p:sp>
      <p:sp>
        <p:nvSpPr>
          <p:cNvPr id="20" name="TakeawayBand"/>
          <p:cNvSpPr/>
          <p:nvPr/>
        </p:nvSpPr>
        <p:spPr>
          <a:xfrm>
            <a:off x="392400" y="6037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akeawayBandText"/>
          <p:cNvSpPr txBox="1"/>
          <p:nvPr/>
        </p:nvSpPr>
        <p:spPr>
          <a:xfrm>
            <a:off x="392400" y="6037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Aligner les facteurs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avant le lancement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ngl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1459" y="1080000"/>
            <a:ext cx="5929200" cy="4860000"/>
          </a:xfrm>
          <a:prstGeom prst="rect">
            <a:avLst/>
          </a:prstGeom>
        </p:spPr>
      </p:pic>
      <p:sp>
        <p:nvSpPr>
          <p:cNvPr id="3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Trois dimensions liées</a:t>
            </a:r>
          </a:p>
        </p:txBody>
      </p:sp>
      <p:sp>
        <p:nvSpPr>
          <p:cNvPr id="4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7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0" i="0">
                <a:solidFill>
                  <a:srgbClr val="7D7B8D"/>
                </a:solidFill>
                <a:latin typeface="Segoe UI"/>
              </a:rPr>
              <a:t>04      |</a:t>
            </a:r>
          </a:p>
        </p:txBody>
      </p:sp>
      <p:pic>
        <p:nvPicPr>
          <p:cNvPr id="8" name="Picture 7" descr="safra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17200" y="6447600"/>
            <a:ext cx="1090800" cy="230400"/>
          </a:xfrm>
          <a:prstGeom prst="rect">
            <a:avLst/>
          </a:prstGeom>
        </p:spPr>
      </p:pic>
      <p:sp>
        <p:nvSpPr>
          <p:cNvPr id="9" name="S04_TOP_LABEL"/>
          <p:cNvSpPr txBox="1"/>
          <p:nvPr/>
        </p:nvSpPr>
        <p:spPr>
          <a:xfrm>
            <a:off x="7059600" y="640800"/>
            <a:ext cx="2188800" cy="37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070E1D"/>
                </a:solidFill>
                <a:latin typeface="Segoe UI"/>
              </a:rPr>
              <a:t>Personnes</a:t>
            </a:r>
          </a:p>
        </p:txBody>
      </p:sp>
      <p:sp>
        <p:nvSpPr>
          <p:cNvPr id="10" name="S04_TOP_SUBLABEL"/>
          <p:cNvSpPr txBox="1"/>
          <p:nvPr/>
        </p:nvSpPr>
        <p:spPr>
          <a:xfrm>
            <a:off x="7059600" y="917999"/>
            <a:ext cx="2188800" cy="309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 Light"/>
              </a:rPr>
              <a:t>compétences et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posture</a:t>
            </a:r>
          </a:p>
        </p:txBody>
      </p:sp>
      <p:sp>
        <p:nvSpPr>
          <p:cNvPr id="11" name="S04_LEFT_LABEL"/>
          <p:cNvSpPr txBox="1"/>
          <p:nvPr/>
        </p:nvSpPr>
        <p:spPr>
          <a:xfrm>
            <a:off x="1011600" y="4262400"/>
            <a:ext cx="2188800" cy="37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070E1D"/>
                </a:solidFill>
                <a:latin typeface="Segoe UI"/>
              </a:rPr>
              <a:t>Processus</a:t>
            </a:r>
          </a:p>
        </p:txBody>
      </p:sp>
      <p:sp>
        <p:nvSpPr>
          <p:cNvPr id="12" name="S04_LEFT_SUBLABEL"/>
          <p:cNvSpPr txBox="1"/>
          <p:nvPr/>
        </p:nvSpPr>
        <p:spPr>
          <a:xfrm>
            <a:off x="1011600" y="4539600"/>
            <a:ext cx="2188800" cy="309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 Light"/>
              </a:rPr>
              <a:t>rituels et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standards</a:t>
            </a:r>
          </a:p>
        </p:txBody>
      </p:sp>
      <p:sp>
        <p:nvSpPr>
          <p:cNvPr id="13" name="S04_RIGHT_LABEL"/>
          <p:cNvSpPr txBox="1"/>
          <p:nvPr/>
        </p:nvSpPr>
        <p:spPr>
          <a:xfrm>
            <a:off x="8928000" y="4262400"/>
            <a:ext cx="2188800" cy="37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070E1D"/>
                </a:solidFill>
                <a:latin typeface="Segoe UI"/>
              </a:rPr>
              <a:t>Outils</a:t>
            </a:r>
          </a:p>
        </p:txBody>
      </p:sp>
      <p:sp>
        <p:nvSpPr>
          <p:cNvPr id="14" name="S04_RIGHT_SUBLABEL"/>
          <p:cNvSpPr txBox="1"/>
          <p:nvPr/>
        </p:nvSpPr>
        <p:spPr>
          <a:xfrm>
            <a:off x="8928000" y="4539600"/>
            <a:ext cx="2188800" cy="309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 Light"/>
              </a:rPr>
              <a:t>données et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pilotage</a:t>
            </a:r>
          </a:p>
        </p:txBody>
      </p:sp>
      <p:sp>
        <p:nvSpPr>
          <p:cNvPr id="15" name="TakeawayBand"/>
          <p:cNvSpPr/>
          <p:nvPr/>
        </p:nvSpPr>
        <p:spPr>
          <a:xfrm>
            <a:off x="392400" y="6037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akeawayBandText"/>
          <p:cNvSpPr txBox="1"/>
          <p:nvPr/>
        </p:nvSpPr>
        <p:spPr>
          <a:xfrm>
            <a:off x="392400" y="6037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Aucune dimension ne progresse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seule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Trajectoire en quatre temps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0" i="0">
                <a:solidFill>
                  <a:srgbClr val="7D7B8D"/>
                </a:solidFill>
                <a:latin typeface="Segoe UI"/>
              </a:rPr>
              <a:t>05      |</a:t>
            </a:r>
          </a:p>
        </p:txBody>
      </p:sp>
      <p:pic>
        <p:nvPicPr>
          <p:cNvPr id="7" name="Picture 6" descr="safran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200" y="6447600"/>
            <a:ext cx="1090800" cy="230400"/>
          </a:xfrm>
          <a:prstGeom prst="rect">
            <a:avLst/>
          </a:prstGeom>
        </p:spPr>
      </p:pic>
      <p:cxnSp>
        <p:nvCxnSpPr>
          <p:cNvPr id="8" name="Connector 7"/>
          <p:cNvCxnSpPr/>
          <p:nvPr/>
        </p:nvCxnSpPr>
        <p:spPr>
          <a:xfrm>
            <a:off x="710459" y="2462400"/>
            <a:ext cx="2502000" cy="0"/>
          </a:xfrm>
          <a:prstGeom prst="line">
            <a:avLst/>
          </a:prstGeom>
          <a:ln w="19050">
            <a:solidFill>
              <a:srgbClr val="BBB4C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500460" y="2462400"/>
            <a:ext cx="2502000" cy="0"/>
          </a:xfrm>
          <a:prstGeom prst="line">
            <a:avLst/>
          </a:prstGeom>
          <a:ln w="19050">
            <a:solidFill>
              <a:srgbClr val="D5B3BE"/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6290459" y="2462400"/>
            <a:ext cx="2502001" cy="0"/>
          </a:xfrm>
          <a:prstGeom prst="line">
            <a:avLst/>
          </a:prstGeom>
          <a:ln w="19050">
            <a:solidFill>
              <a:srgbClr val="F1D3D5"/>
            </a:solidFill>
          </a:ln>
        </p:spPr>
      </p:cxnSp>
      <p:sp>
        <p:nvSpPr>
          <p:cNvPr id="11" name="S05_STEP_1_BULLET"/>
          <p:cNvSpPr/>
          <p:nvPr/>
        </p:nvSpPr>
        <p:spPr>
          <a:xfrm>
            <a:off x="566459" y="2390400"/>
            <a:ext cx="144000" cy="144000"/>
          </a:xfrm>
          <a:prstGeom prst="ellipse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S05_STEP_1_NUMBER"/>
          <p:cNvSpPr/>
          <p:nvPr/>
        </p:nvSpPr>
        <p:spPr>
          <a:xfrm>
            <a:off x="566459" y="2750400"/>
            <a:ext cx="331200" cy="331200"/>
          </a:xfrm>
          <a:prstGeom prst="ellipse">
            <a:avLst/>
          </a:prstGeom>
          <a:solidFill>
            <a:srgbClr val="6A5D79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 Black"/>
              </a:rPr>
              <a:t>1</a:t>
            </a:r>
          </a:p>
        </p:txBody>
      </p:sp>
      <p:sp>
        <p:nvSpPr>
          <p:cNvPr id="13" name="S05_STEP_1_PERIOD"/>
          <p:cNvSpPr txBox="1"/>
          <p:nvPr/>
        </p:nvSpPr>
        <p:spPr>
          <a:xfrm>
            <a:off x="566459" y="3193199"/>
            <a:ext cx="2689200" cy="22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 cap="small">
                <a:solidFill>
                  <a:srgbClr val="6A5D79"/>
                </a:solidFill>
                <a:latin typeface="Segoe UI"/>
              </a:rPr>
              <a:t>S1</a:t>
            </a:r>
            <a:r>
              <a:rPr sz="1200" b="1" i="0" cap="small">
                <a:solidFill>
                  <a:srgbClr val="6A5D79"/>
                </a:solidFill>
                <a:latin typeface="Segoe UI"/>
              </a:rPr>
              <a:t>-S2</a:t>
            </a:r>
          </a:p>
        </p:txBody>
      </p:sp>
      <p:sp>
        <p:nvSpPr>
          <p:cNvPr id="14" name="S05_STEP_1_TITLE"/>
          <p:cNvSpPr txBox="1"/>
          <p:nvPr/>
        </p:nvSpPr>
        <p:spPr>
          <a:xfrm>
            <a:off x="566459" y="3456000"/>
            <a:ext cx="2689200" cy="288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070E1D"/>
                </a:solidFill>
                <a:latin typeface="Segoe UI"/>
              </a:rPr>
              <a:t>Cadrer</a:t>
            </a:r>
          </a:p>
        </p:txBody>
      </p:sp>
      <p:sp>
        <p:nvSpPr>
          <p:cNvPr id="15" name="S05_STEP_1_BODY"/>
          <p:cNvSpPr txBox="1"/>
          <p:nvPr/>
        </p:nvSpPr>
        <p:spPr>
          <a:xfrm>
            <a:off x="566459" y="3794399"/>
            <a:ext cx="2689200" cy="694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474E67"/>
                </a:solidFill>
                <a:latin typeface="Segoe UI Light"/>
              </a:rPr>
              <a:t>Aligner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sponsor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, périmètre pilote,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indicateurs de succès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 et règles d'arbitrage.</a:t>
            </a:r>
          </a:p>
        </p:txBody>
      </p:sp>
      <p:sp>
        <p:nvSpPr>
          <p:cNvPr id="16" name="S05_STEP_2_BULLET"/>
          <p:cNvSpPr/>
          <p:nvPr/>
        </p:nvSpPr>
        <p:spPr>
          <a:xfrm>
            <a:off x="3356459" y="2390400"/>
            <a:ext cx="144000" cy="144000"/>
          </a:xfrm>
          <a:prstGeom prst="ellipse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S05_STEP_2_NUMBER"/>
          <p:cNvSpPr/>
          <p:nvPr/>
        </p:nvSpPr>
        <p:spPr>
          <a:xfrm>
            <a:off x="3356459" y="2750400"/>
            <a:ext cx="331200" cy="331200"/>
          </a:xfrm>
          <a:prstGeom prst="ellipse">
            <a:avLst/>
          </a:prstGeom>
          <a:solidFill>
            <a:srgbClr val="A25871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 Black"/>
              </a:rPr>
              <a:t>2</a:t>
            </a:r>
          </a:p>
        </p:txBody>
      </p:sp>
      <p:sp>
        <p:nvSpPr>
          <p:cNvPr id="18" name="S05_STEP_2_PERIOD"/>
          <p:cNvSpPr txBox="1"/>
          <p:nvPr/>
        </p:nvSpPr>
        <p:spPr>
          <a:xfrm>
            <a:off x="3356459" y="3193199"/>
            <a:ext cx="2689200" cy="22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 cap="small">
                <a:solidFill>
                  <a:srgbClr val="A25871"/>
                </a:solidFill>
                <a:latin typeface="Segoe UI"/>
              </a:rPr>
              <a:t>S3</a:t>
            </a:r>
            <a:r>
              <a:rPr sz="1200" b="1" i="0" cap="small">
                <a:solidFill>
                  <a:srgbClr val="A25871"/>
                </a:solidFill>
                <a:latin typeface="Segoe UI"/>
              </a:rPr>
              <a:t>-S6</a:t>
            </a:r>
          </a:p>
        </p:txBody>
      </p:sp>
      <p:sp>
        <p:nvSpPr>
          <p:cNvPr id="19" name="S05_STEP_2_TITLE"/>
          <p:cNvSpPr txBox="1"/>
          <p:nvPr/>
        </p:nvSpPr>
        <p:spPr>
          <a:xfrm>
            <a:off x="3356459" y="3456000"/>
            <a:ext cx="2689200" cy="288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070E1D"/>
                </a:solidFill>
                <a:latin typeface="Segoe UI"/>
              </a:rPr>
              <a:t>Tester</a:t>
            </a:r>
          </a:p>
        </p:txBody>
      </p:sp>
      <p:sp>
        <p:nvSpPr>
          <p:cNvPr id="20" name="S05_STEP_2_BODY"/>
          <p:cNvSpPr txBox="1"/>
          <p:nvPr/>
        </p:nvSpPr>
        <p:spPr>
          <a:xfrm>
            <a:off x="3356459" y="3794399"/>
            <a:ext cx="2689200" cy="694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474E67"/>
                </a:solidFill>
                <a:latin typeface="Segoe UI Light"/>
              </a:rPr>
              <a:t>Mener les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cycles courts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, mesurer les écarts et décider les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corrections utiles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21" name="S05_STEP_3_BULLET"/>
          <p:cNvSpPr/>
          <p:nvPr/>
        </p:nvSpPr>
        <p:spPr>
          <a:xfrm>
            <a:off x="6146460" y="2390400"/>
            <a:ext cx="144000" cy="144000"/>
          </a:xfrm>
          <a:prstGeom prst="ellipse">
            <a:avLst/>
          </a:prstGeom>
          <a:solidFill>
            <a:srgbClr val="D473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S05_STEP_3_NUMBER"/>
          <p:cNvSpPr/>
          <p:nvPr/>
        </p:nvSpPr>
        <p:spPr>
          <a:xfrm>
            <a:off x="6146460" y="2750400"/>
            <a:ext cx="331200" cy="331200"/>
          </a:xfrm>
          <a:prstGeom prst="ellipse">
            <a:avLst/>
          </a:prstGeom>
          <a:solidFill>
            <a:srgbClr val="D4737A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 Black"/>
              </a:rPr>
              <a:t>3</a:t>
            </a:r>
          </a:p>
        </p:txBody>
      </p:sp>
      <p:sp>
        <p:nvSpPr>
          <p:cNvPr id="23" name="S05_STEP_3_PERIOD"/>
          <p:cNvSpPr txBox="1"/>
          <p:nvPr/>
        </p:nvSpPr>
        <p:spPr>
          <a:xfrm>
            <a:off x="6146460" y="3193199"/>
            <a:ext cx="2689200" cy="22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 cap="small">
                <a:solidFill>
                  <a:srgbClr val="D4737A"/>
                </a:solidFill>
                <a:latin typeface="Segoe UI"/>
              </a:rPr>
              <a:t>S7</a:t>
            </a:r>
            <a:r>
              <a:rPr sz="1200" b="1" i="0" cap="small">
                <a:solidFill>
                  <a:srgbClr val="D4737A"/>
                </a:solidFill>
                <a:latin typeface="Segoe UI"/>
              </a:rPr>
              <a:t>-S10</a:t>
            </a:r>
          </a:p>
        </p:txBody>
      </p:sp>
      <p:sp>
        <p:nvSpPr>
          <p:cNvPr id="24" name="S05_STEP_3_TITLE"/>
          <p:cNvSpPr txBox="1"/>
          <p:nvPr/>
        </p:nvSpPr>
        <p:spPr>
          <a:xfrm>
            <a:off x="6146460" y="3456000"/>
            <a:ext cx="2689200" cy="288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070E1D"/>
                </a:solidFill>
                <a:latin typeface="Segoe UI"/>
              </a:rPr>
              <a:t>Stabiliser</a:t>
            </a:r>
          </a:p>
        </p:txBody>
      </p:sp>
      <p:sp>
        <p:nvSpPr>
          <p:cNvPr id="25" name="S05_STEP_3_BODY"/>
          <p:cNvSpPr txBox="1"/>
          <p:nvPr/>
        </p:nvSpPr>
        <p:spPr>
          <a:xfrm>
            <a:off x="6146460" y="3794399"/>
            <a:ext cx="2689200" cy="694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474E67"/>
                </a:solidFill>
                <a:latin typeface="Segoe UI Light"/>
              </a:rPr>
              <a:t>Transformer les pratiques validées en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standards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 et former les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relais locaux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26" name="S05_STEP_4_BULLET"/>
          <p:cNvSpPr/>
          <p:nvPr/>
        </p:nvSpPr>
        <p:spPr>
          <a:xfrm>
            <a:off x="8936460" y="2390400"/>
            <a:ext cx="144000" cy="144000"/>
          </a:xfrm>
          <a:prstGeom prst="ellipse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S05_STEP_4_NUMBER"/>
          <p:cNvSpPr/>
          <p:nvPr/>
        </p:nvSpPr>
        <p:spPr>
          <a:xfrm>
            <a:off x="8936460" y="2750400"/>
            <a:ext cx="331200" cy="331200"/>
          </a:xfrm>
          <a:prstGeom prst="ellipse">
            <a:avLst/>
          </a:prstGeom>
          <a:solidFill>
            <a:srgbClr val="FDA85B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 Black"/>
              </a:rPr>
              <a:t>4</a:t>
            </a:r>
          </a:p>
        </p:txBody>
      </p:sp>
      <p:sp>
        <p:nvSpPr>
          <p:cNvPr id="28" name="S05_STEP_4_PERIOD"/>
          <p:cNvSpPr txBox="1"/>
          <p:nvPr/>
        </p:nvSpPr>
        <p:spPr>
          <a:xfrm>
            <a:off x="8936460" y="3193199"/>
            <a:ext cx="2689200" cy="22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 cap="small">
                <a:solidFill>
                  <a:srgbClr val="FDA85B"/>
                </a:solidFill>
                <a:latin typeface="Segoe UI"/>
              </a:rPr>
              <a:t>S11</a:t>
            </a:r>
            <a:r>
              <a:rPr sz="1200" b="1" i="0" cap="small">
                <a:solidFill>
                  <a:srgbClr val="FDA85B"/>
                </a:solidFill>
                <a:latin typeface="Segoe UI"/>
              </a:rPr>
              <a:t>-S12</a:t>
            </a:r>
          </a:p>
        </p:txBody>
      </p:sp>
      <p:sp>
        <p:nvSpPr>
          <p:cNvPr id="29" name="S05_STEP_4_TITLE"/>
          <p:cNvSpPr txBox="1"/>
          <p:nvPr/>
        </p:nvSpPr>
        <p:spPr>
          <a:xfrm>
            <a:off x="8936460" y="3456000"/>
            <a:ext cx="2689200" cy="288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070E1D"/>
                </a:solidFill>
                <a:latin typeface="Segoe UI"/>
              </a:rPr>
              <a:t>Décider</a:t>
            </a:r>
          </a:p>
        </p:txBody>
      </p:sp>
      <p:sp>
        <p:nvSpPr>
          <p:cNvPr id="30" name="S05_STEP_4_BODY"/>
          <p:cNvSpPr txBox="1"/>
          <p:nvPr/>
        </p:nvSpPr>
        <p:spPr>
          <a:xfrm>
            <a:off x="8936460" y="3794399"/>
            <a:ext cx="2689200" cy="694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474E67"/>
                </a:solidFill>
                <a:latin typeface="Segoe UI Light"/>
              </a:rPr>
              <a:t>Présenter les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résultats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, qualifier les risques et choisir le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scénario de déploiement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Comparer les scénarios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0" i="0">
                <a:solidFill>
                  <a:srgbClr val="7D7B8D"/>
                </a:solidFill>
                <a:latin typeface="Segoe UI"/>
              </a:rPr>
              <a:t>06      |</a:t>
            </a:r>
          </a:p>
        </p:txBody>
      </p:sp>
      <p:pic>
        <p:nvPicPr>
          <p:cNvPr id="7" name="Picture 6" descr="safran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200" y="6447600"/>
            <a:ext cx="1090800" cy="230400"/>
          </a:xfrm>
          <a:prstGeom prst="rect">
            <a:avLst/>
          </a:prstGeom>
        </p:spPr>
      </p:pic>
      <p:sp>
        <p:nvSpPr>
          <p:cNvPr id="8" name="S06_HEADER_1_BG"/>
          <p:cNvSpPr/>
          <p:nvPr/>
        </p:nvSpPr>
        <p:spPr>
          <a:xfrm>
            <a:off x="375659" y="1897199"/>
            <a:ext cx="3625200" cy="4572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06_HEADER_C1"/>
          <p:cNvSpPr txBox="1"/>
          <p:nvPr/>
        </p:nvSpPr>
        <p:spPr>
          <a:xfrm>
            <a:off x="375659" y="1897199"/>
            <a:ext cx="362520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Scénario</a:t>
            </a:r>
          </a:p>
        </p:txBody>
      </p:sp>
      <p:sp>
        <p:nvSpPr>
          <p:cNvPr id="10" name="S06_HEADER_2_BG"/>
          <p:cNvSpPr/>
          <p:nvPr/>
        </p:nvSpPr>
        <p:spPr>
          <a:xfrm>
            <a:off x="4000859" y="1897199"/>
            <a:ext cx="2095200" cy="4572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S06_HEADER_C2"/>
          <p:cNvSpPr txBox="1"/>
          <p:nvPr/>
        </p:nvSpPr>
        <p:spPr>
          <a:xfrm>
            <a:off x="4000859" y="1897199"/>
            <a:ext cx="209520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Coût</a:t>
            </a:r>
          </a:p>
        </p:txBody>
      </p:sp>
      <p:sp>
        <p:nvSpPr>
          <p:cNvPr id="12" name="S06_HEADER_3_BG"/>
          <p:cNvSpPr/>
          <p:nvPr/>
        </p:nvSpPr>
        <p:spPr>
          <a:xfrm>
            <a:off x="6096059" y="1897199"/>
            <a:ext cx="1764000" cy="4572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S06_HEADER_C3"/>
          <p:cNvSpPr txBox="1"/>
          <p:nvPr/>
        </p:nvSpPr>
        <p:spPr>
          <a:xfrm>
            <a:off x="6096059" y="1897199"/>
            <a:ext cx="176400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Délai</a:t>
            </a:r>
          </a:p>
        </p:txBody>
      </p:sp>
      <p:sp>
        <p:nvSpPr>
          <p:cNvPr id="14" name="S06_HEADER_4_BG"/>
          <p:cNvSpPr/>
          <p:nvPr/>
        </p:nvSpPr>
        <p:spPr>
          <a:xfrm>
            <a:off x="7860060" y="1897199"/>
            <a:ext cx="2329200" cy="4572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S06_HEADER_C4"/>
          <p:cNvSpPr txBox="1"/>
          <p:nvPr/>
        </p:nvSpPr>
        <p:spPr>
          <a:xfrm>
            <a:off x="7860060" y="1897199"/>
            <a:ext cx="232920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Risque</a:t>
            </a:r>
          </a:p>
        </p:txBody>
      </p:sp>
      <p:sp>
        <p:nvSpPr>
          <p:cNvPr id="16" name="S06_HEADER_5_BG"/>
          <p:cNvSpPr/>
          <p:nvPr/>
        </p:nvSpPr>
        <p:spPr>
          <a:xfrm>
            <a:off x="10189260" y="1897199"/>
            <a:ext cx="1627199" cy="4572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S06_HEADER_C5"/>
          <p:cNvSpPr txBox="1"/>
          <p:nvPr/>
        </p:nvSpPr>
        <p:spPr>
          <a:xfrm>
            <a:off x="10189260" y="1897199"/>
            <a:ext cx="1627199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Score</a:t>
            </a:r>
          </a:p>
        </p:txBody>
      </p:sp>
      <p:sp>
        <p:nvSpPr>
          <p:cNvPr id="18" name="S06_R1_BG"/>
          <p:cNvSpPr/>
          <p:nvPr/>
        </p:nvSpPr>
        <p:spPr>
          <a:xfrm>
            <a:off x="375659" y="2361600"/>
            <a:ext cx="11440800" cy="5039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S06_R1C1"/>
          <p:cNvSpPr txBox="1"/>
          <p:nvPr/>
        </p:nvSpPr>
        <p:spPr>
          <a:xfrm>
            <a:off x="375659" y="2361600"/>
            <a:ext cx="362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070E1D"/>
                </a:solidFill>
                <a:latin typeface="Segoe UI"/>
              </a:rPr>
              <a:t>A - </a:t>
            </a:r>
            <a:r>
              <a:rPr sz="1400" b="1" i="0">
                <a:solidFill>
                  <a:srgbClr val="070E1D"/>
                </a:solidFill>
                <a:latin typeface="Segoe UI"/>
              </a:rPr>
              <a:t>Statu quo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75659" y="2865599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21" name="S06_R1C2"/>
          <p:cNvSpPr txBox="1"/>
          <p:nvPr/>
        </p:nvSpPr>
        <p:spPr>
          <a:xfrm>
            <a:off x="4000859" y="2361600"/>
            <a:ext cx="209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0,5 M€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75659" y="2865599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23" name="S06_R1C3"/>
          <p:cNvSpPr txBox="1"/>
          <p:nvPr/>
        </p:nvSpPr>
        <p:spPr>
          <a:xfrm>
            <a:off x="6096059" y="2361600"/>
            <a:ext cx="17640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6 mois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75659" y="2865599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25" name="S06_R1C4"/>
          <p:cNvSpPr txBox="1"/>
          <p:nvPr/>
        </p:nvSpPr>
        <p:spPr>
          <a:xfrm>
            <a:off x="7860060" y="2361600"/>
            <a:ext cx="2329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6A5D79"/>
                </a:solidFill>
                <a:latin typeface="Segoe UI"/>
              </a:rPr>
              <a:t>Faible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75659" y="2865599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27" name="S06_R1C5"/>
          <p:cNvSpPr txBox="1"/>
          <p:nvPr/>
        </p:nvSpPr>
        <p:spPr>
          <a:xfrm>
            <a:off x="10189260" y="2361600"/>
            <a:ext cx="1627199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474E67"/>
                </a:solidFill>
                <a:latin typeface="Segoe UI"/>
              </a:rPr>
              <a:t>★★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75659" y="2865599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29" name="S06_R2_BG"/>
          <p:cNvSpPr/>
          <p:nvPr/>
        </p:nvSpPr>
        <p:spPr>
          <a:xfrm>
            <a:off x="375659" y="2869200"/>
            <a:ext cx="11440800" cy="503999"/>
          </a:xfrm>
          <a:prstGeom prst="rect">
            <a:avLst/>
          </a:prstGeom>
          <a:solidFill>
            <a:srgbClr val="F4F5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S06_R2C1"/>
          <p:cNvSpPr txBox="1"/>
          <p:nvPr/>
        </p:nvSpPr>
        <p:spPr>
          <a:xfrm>
            <a:off x="375659" y="2869200"/>
            <a:ext cx="362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070E1D"/>
                </a:solidFill>
                <a:latin typeface="Segoe UI"/>
              </a:rPr>
              <a:t>B - </a:t>
            </a:r>
            <a:r>
              <a:rPr sz="1400" b="1" i="0">
                <a:solidFill>
                  <a:srgbClr val="070E1D"/>
                </a:solidFill>
                <a:latin typeface="Segoe UI"/>
              </a:rPr>
              <a:t>Pilote ciblé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375659" y="3373199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32" name="S06_R2C2"/>
          <p:cNvSpPr txBox="1"/>
          <p:nvPr/>
        </p:nvSpPr>
        <p:spPr>
          <a:xfrm>
            <a:off x="4000859" y="2869200"/>
            <a:ext cx="209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1,2 M€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75659" y="3373199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34" name="S06_R2C3"/>
          <p:cNvSpPr txBox="1"/>
          <p:nvPr/>
        </p:nvSpPr>
        <p:spPr>
          <a:xfrm>
            <a:off x="6096059" y="2869200"/>
            <a:ext cx="17640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9 mois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75659" y="3373199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36" name="S06_R2C4"/>
          <p:cNvSpPr txBox="1"/>
          <p:nvPr/>
        </p:nvSpPr>
        <p:spPr>
          <a:xfrm>
            <a:off x="7860060" y="2869200"/>
            <a:ext cx="2329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6A5D79"/>
                </a:solidFill>
                <a:latin typeface="Segoe UI"/>
              </a:rPr>
              <a:t>Moyen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75659" y="3373199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38" name="S06_R2C5"/>
          <p:cNvSpPr txBox="1"/>
          <p:nvPr/>
        </p:nvSpPr>
        <p:spPr>
          <a:xfrm>
            <a:off x="10189260" y="2869200"/>
            <a:ext cx="1627199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474E67"/>
                </a:solidFill>
                <a:latin typeface="Segoe UI"/>
              </a:rPr>
              <a:t>★★★★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75659" y="3373199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40" name="S06_R3_BG"/>
          <p:cNvSpPr/>
          <p:nvPr/>
        </p:nvSpPr>
        <p:spPr>
          <a:xfrm>
            <a:off x="375659" y="3376800"/>
            <a:ext cx="11440800" cy="5039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S06_R3C1"/>
          <p:cNvSpPr txBox="1"/>
          <p:nvPr/>
        </p:nvSpPr>
        <p:spPr>
          <a:xfrm>
            <a:off x="375659" y="3376800"/>
            <a:ext cx="362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070E1D"/>
                </a:solidFill>
                <a:latin typeface="Segoe UI"/>
              </a:rPr>
              <a:t>C - Transformation </a:t>
            </a:r>
            <a:r>
              <a:rPr sz="1400" b="1" i="0">
                <a:solidFill>
                  <a:srgbClr val="070E1D"/>
                </a:solidFill>
                <a:latin typeface="Segoe UI"/>
              </a:rPr>
              <a:t>totale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75659" y="3880800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43" name="S06_R3C2"/>
          <p:cNvSpPr txBox="1"/>
          <p:nvPr/>
        </p:nvSpPr>
        <p:spPr>
          <a:xfrm>
            <a:off x="4000859" y="3376800"/>
            <a:ext cx="209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4,0 M€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375659" y="3880800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45" name="S06_R3C3"/>
          <p:cNvSpPr txBox="1"/>
          <p:nvPr/>
        </p:nvSpPr>
        <p:spPr>
          <a:xfrm>
            <a:off x="6096059" y="3376800"/>
            <a:ext cx="17640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24 mois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375659" y="3880800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47" name="S06_R3C4"/>
          <p:cNvSpPr txBox="1"/>
          <p:nvPr/>
        </p:nvSpPr>
        <p:spPr>
          <a:xfrm>
            <a:off x="7860060" y="3376800"/>
            <a:ext cx="2329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6A5D79"/>
                </a:solidFill>
                <a:latin typeface="Segoe UI"/>
              </a:rPr>
              <a:t>Elevé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75659" y="3880800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49" name="S06_R3C5"/>
          <p:cNvSpPr txBox="1"/>
          <p:nvPr/>
        </p:nvSpPr>
        <p:spPr>
          <a:xfrm>
            <a:off x="10189260" y="3376800"/>
            <a:ext cx="1627199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474E67"/>
                </a:solidFill>
                <a:latin typeface="Segoe UI"/>
              </a:rPr>
              <a:t>★★★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75659" y="3880800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51" name="S06_R4_BG"/>
          <p:cNvSpPr/>
          <p:nvPr/>
        </p:nvSpPr>
        <p:spPr>
          <a:xfrm>
            <a:off x="375659" y="3884399"/>
            <a:ext cx="11440800" cy="503999"/>
          </a:xfrm>
          <a:prstGeom prst="rect">
            <a:avLst/>
          </a:prstGeom>
          <a:solidFill>
            <a:srgbClr val="F4F5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S06_R4C1"/>
          <p:cNvSpPr txBox="1"/>
          <p:nvPr/>
        </p:nvSpPr>
        <p:spPr>
          <a:xfrm>
            <a:off x="375659" y="3884399"/>
            <a:ext cx="362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070E1D"/>
                </a:solidFill>
                <a:latin typeface="Segoe UI"/>
              </a:rPr>
              <a:t>D - </a:t>
            </a:r>
            <a:r>
              <a:rPr sz="1400" b="1" i="0">
                <a:solidFill>
                  <a:srgbClr val="070E1D"/>
                </a:solidFill>
                <a:latin typeface="Segoe UI"/>
              </a:rPr>
              <a:t>Externalisation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375659" y="4388400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54" name="S06_R4C2"/>
          <p:cNvSpPr txBox="1"/>
          <p:nvPr/>
        </p:nvSpPr>
        <p:spPr>
          <a:xfrm>
            <a:off x="4000859" y="3884399"/>
            <a:ext cx="209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2,5 M€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375659" y="4388400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56" name="S06_R4C3"/>
          <p:cNvSpPr txBox="1"/>
          <p:nvPr/>
        </p:nvSpPr>
        <p:spPr>
          <a:xfrm>
            <a:off x="6096059" y="3884399"/>
            <a:ext cx="17640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12 mois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75659" y="4388400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58" name="S06_R4C4"/>
          <p:cNvSpPr txBox="1"/>
          <p:nvPr/>
        </p:nvSpPr>
        <p:spPr>
          <a:xfrm>
            <a:off x="7860060" y="3884399"/>
            <a:ext cx="2329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6A5D79"/>
                </a:solidFill>
                <a:latin typeface="Segoe UI"/>
              </a:rPr>
              <a:t>Moyen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375659" y="4388400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60" name="S06_R4C5"/>
          <p:cNvSpPr txBox="1"/>
          <p:nvPr/>
        </p:nvSpPr>
        <p:spPr>
          <a:xfrm>
            <a:off x="10189260" y="3884399"/>
            <a:ext cx="1627199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474E67"/>
                </a:solidFill>
                <a:latin typeface="Segoe UI"/>
              </a:rPr>
              <a:t>★★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375659" y="4388400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62" name="TakeawayBand"/>
          <p:cNvSpPr/>
          <p:nvPr/>
        </p:nvSpPr>
        <p:spPr>
          <a:xfrm>
            <a:off x="392400" y="6037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akeawayBandText"/>
          <p:cNvSpPr txBox="1"/>
          <p:nvPr/>
        </p:nvSpPr>
        <p:spPr>
          <a:xfrm>
            <a:off x="392400" y="6037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Scénario B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 : meilleur équilibre valeur/risque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Indicateurs de pilotage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0" i="0">
                <a:solidFill>
                  <a:srgbClr val="7D7B8D"/>
                </a:solidFill>
                <a:latin typeface="Segoe UI"/>
              </a:rPr>
              <a:t>07      |</a:t>
            </a:r>
          </a:p>
        </p:txBody>
      </p:sp>
      <p:pic>
        <p:nvPicPr>
          <p:cNvPr id="7" name="Picture 6" descr="safran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200" y="6447600"/>
            <a:ext cx="1090800" cy="230400"/>
          </a:xfrm>
          <a:prstGeom prst="rect">
            <a:avLst/>
          </a:prstGeom>
        </p:spPr>
      </p:pic>
      <p:sp>
        <p:nvSpPr>
          <p:cNvPr id="8" name="S07_KPI_1_CARD"/>
          <p:cNvSpPr/>
          <p:nvPr/>
        </p:nvSpPr>
        <p:spPr>
          <a:xfrm>
            <a:off x="498059" y="1335600"/>
            <a:ext cx="1800000" cy="1598400"/>
          </a:xfrm>
          <a:prstGeom prst="roundRect">
            <a:avLst>
              <a:gd name="adj" fmla="val 10000"/>
            </a:avLst>
          </a:prstGeom>
          <a:solidFill>
            <a:srgbClr val="D8DB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07_KPI_1_LABEL"/>
          <p:cNvSpPr txBox="1"/>
          <p:nvPr/>
        </p:nvSpPr>
        <p:spPr>
          <a:xfrm>
            <a:off x="537659" y="1720800"/>
            <a:ext cx="1728000" cy="64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600" b="1" i="0">
                <a:solidFill>
                  <a:srgbClr val="484C6A"/>
                </a:solidFill>
                <a:latin typeface="Segoe UI Black"/>
              </a:rPr>
              <a:t>94%</a:t>
            </a:r>
          </a:p>
        </p:txBody>
      </p:sp>
      <p:sp>
        <p:nvSpPr>
          <p:cNvPr id="10" name="S07_KPI_1_SUBLABEL"/>
          <p:cNvSpPr txBox="1"/>
          <p:nvPr/>
        </p:nvSpPr>
        <p:spPr>
          <a:xfrm>
            <a:off x="537659" y="2394000"/>
            <a:ext cx="1728000" cy="262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474E67"/>
                </a:solidFill>
                <a:latin typeface="Segoe UI"/>
              </a:rPr>
              <a:t>Adhésion</a:t>
            </a:r>
            <a:r>
              <a:rPr sz="1100" b="0" i="0">
                <a:solidFill>
                  <a:srgbClr val="474E67"/>
                </a:solidFill>
                <a:latin typeface="Segoe UI"/>
              </a:rPr>
              <a:t> équipes</a:t>
            </a:r>
          </a:p>
        </p:txBody>
      </p:sp>
      <p:sp>
        <p:nvSpPr>
          <p:cNvPr id="11" name="S07_KPI_2_CARD"/>
          <p:cNvSpPr/>
          <p:nvPr/>
        </p:nvSpPr>
        <p:spPr>
          <a:xfrm>
            <a:off x="2377259" y="1335600"/>
            <a:ext cx="1800000" cy="1598400"/>
          </a:xfrm>
          <a:prstGeom prst="roundRect">
            <a:avLst>
              <a:gd name="adj" fmla="val 10000"/>
            </a:avLst>
          </a:prstGeom>
          <a:solidFill>
            <a:srgbClr val="BBB4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S07_KPI_2_LABEL"/>
          <p:cNvSpPr txBox="1"/>
          <p:nvPr/>
        </p:nvSpPr>
        <p:spPr>
          <a:xfrm>
            <a:off x="2416859" y="1720800"/>
            <a:ext cx="1728000" cy="64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600" b="1" i="0">
                <a:solidFill>
                  <a:srgbClr val="6A5D79"/>
                </a:solidFill>
                <a:latin typeface="Segoe UI Black"/>
              </a:rPr>
              <a:t>12 j</a:t>
            </a:r>
          </a:p>
        </p:txBody>
      </p:sp>
      <p:sp>
        <p:nvSpPr>
          <p:cNvPr id="13" name="S07_KPI_2_SUBLABEL"/>
          <p:cNvSpPr txBox="1"/>
          <p:nvPr/>
        </p:nvSpPr>
        <p:spPr>
          <a:xfrm>
            <a:off x="2416859" y="2394000"/>
            <a:ext cx="1728000" cy="262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474E67"/>
                </a:solidFill>
                <a:latin typeface="Segoe UI"/>
              </a:rPr>
              <a:t>Cycle</a:t>
            </a:r>
            <a:r>
              <a:rPr sz="1100" b="0" i="0">
                <a:solidFill>
                  <a:srgbClr val="474E67"/>
                </a:solidFill>
                <a:latin typeface="Segoe UI"/>
              </a:rPr>
              <a:t> moyen</a:t>
            </a:r>
          </a:p>
        </p:txBody>
      </p:sp>
      <p:sp>
        <p:nvSpPr>
          <p:cNvPr id="14" name="S07_KPI_3_CARD"/>
          <p:cNvSpPr/>
          <p:nvPr/>
        </p:nvSpPr>
        <p:spPr>
          <a:xfrm>
            <a:off x="4256459" y="1335600"/>
            <a:ext cx="1800000" cy="1598400"/>
          </a:xfrm>
          <a:prstGeom prst="roundRect">
            <a:avLst>
              <a:gd name="adj" fmla="val 10000"/>
            </a:avLst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S07_KPI_3_LABEL"/>
          <p:cNvSpPr txBox="1"/>
          <p:nvPr/>
        </p:nvSpPr>
        <p:spPr>
          <a:xfrm>
            <a:off x="4296059" y="1720800"/>
            <a:ext cx="1728000" cy="64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600" b="1" i="0">
                <a:solidFill>
                  <a:srgbClr val="A25871"/>
                </a:solidFill>
                <a:latin typeface="Segoe UI Black"/>
              </a:rPr>
              <a:t>+18%</a:t>
            </a:r>
          </a:p>
        </p:txBody>
      </p:sp>
      <p:sp>
        <p:nvSpPr>
          <p:cNvPr id="16" name="S07_KPI_3_SUBLABEL"/>
          <p:cNvSpPr txBox="1"/>
          <p:nvPr/>
        </p:nvSpPr>
        <p:spPr>
          <a:xfrm>
            <a:off x="4296059" y="2394000"/>
            <a:ext cx="1728000" cy="262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474E67"/>
                </a:solidFill>
                <a:latin typeface="Segoe UI"/>
              </a:rPr>
              <a:t>Engagement</a:t>
            </a:r>
          </a:p>
        </p:txBody>
      </p:sp>
      <p:sp>
        <p:nvSpPr>
          <p:cNvPr id="17" name="S07_KPI_4_CARD"/>
          <p:cNvSpPr/>
          <p:nvPr/>
        </p:nvSpPr>
        <p:spPr>
          <a:xfrm>
            <a:off x="6135659" y="1335600"/>
            <a:ext cx="1800000" cy="1598400"/>
          </a:xfrm>
          <a:prstGeom prst="roundRect">
            <a:avLst>
              <a:gd name="adj" fmla="val 10000"/>
            </a:avLst>
          </a:prstGeom>
          <a:solidFill>
            <a:srgbClr val="F1D3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S07_KPI_4_LABEL"/>
          <p:cNvSpPr txBox="1"/>
          <p:nvPr/>
        </p:nvSpPr>
        <p:spPr>
          <a:xfrm>
            <a:off x="6175259" y="1720800"/>
            <a:ext cx="1728000" cy="64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600" b="1" i="0">
                <a:solidFill>
                  <a:srgbClr val="D4737A"/>
                </a:solidFill>
                <a:latin typeface="Segoe UI Black"/>
              </a:rPr>
              <a:t>1,2</a:t>
            </a:r>
          </a:p>
        </p:txBody>
      </p:sp>
      <p:sp>
        <p:nvSpPr>
          <p:cNvPr id="19" name="S07_KPI_4_SUBLABEL"/>
          <p:cNvSpPr txBox="1"/>
          <p:nvPr/>
        </p:nvSpPr>
        <p:spPr>
          <a:xfrm>
            <a:off x="6175259" y="2394000"/>
            <a:ext cx="1728000" cy="262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474E67"/>
                </a:solidFill>
                <a:latin typeface="Segoe UI"/>
              </a:rPr>
              <a:t>Sigma </a:t>
            </a:r>
            <a:r>
              <a:rPr sz="1100" b="0" i="0">
                <a:solidFill>
                  <a:srgbClr val="474E67"/>
                </a:solidFill>
                <a:latin typeface="Segoe UI"/>
              </a:rPr>
              <a:t>qualité</a:t>
            </a:r>
          </a:p>
        </p:txBody>
      </p:sp>
      <p:sp>
        <p:nvSpPr>
          <p:cNvPr id="20" name="S07_KPI_5_CARD"/>
          <p:cNvSpPr/>
          <p:nvPr/>
        </p:nvSpPr>
        <p:spPr>
          <a:xfrm>
            <a:off x="8014859" y="1335600"/>
            <a:ext cx="1800000" cy="1598400"/>
          </a:xfrm>
          <a:prstGeom prst="roundRect">
            <a:avLst>
              <a:gd name="adj" fmla="val 10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S07_KPI_5_LABEL"/>
          <p:cNvSpPr txBox="1"/>
          <p:nvPr/>
        </p:nvSpPr>
        <p:spPr>
          <a:xfrm>
            <a:off x="8054459" y="1720800"/>
            <a:ext cx="1728000" cy="64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600" b="1" i="0">
                <a:solidFill>
                  <a:srgbClr val="FDA85B"/>
                </a:solidFill>
                <a:latin typeface="Segoe UI Black"/>
              </a:rPr>
              <a:t>2,4 M€</a:t>
            </a:r>
          </a:p>
        </p:txBody>
      </p:sp>
      <p:sp>
        <p:nvSpPr>
          <p:cNvPr id="22" name="S07_KPI_5_SUBLABEL"/>
          <p:cNvSpPr txBox="1"/>
          <p:nvPr/>
        </p:nvSpPr>
        <p:spPr>
          <a:xfrm>
            <a:off x="8054459" y="2394000"/>
            <a:ext cx="1728000" cy="262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474E67"/>
                </a:solidFill>
                <a:latin typeface="Segoe UI"/>
              </a:rPr>
              <a:t>Gains</a:t>
            </a:r>
            <a:r>
              <a:rPr sz="1100" b="0" i="0">
                <a:solidFill>
                  <a:srgbClr val="474E67"/>
                </a:solidFill>
                <a:latin typeface="Segoe UI"/>
              </a:rPr>
              <a:t> annualisés</a:t>
            </a:r>
          </a:p>
        </p:txBody>
      </p:sp>
      <p:sp>
        <p:nvSpPr>
          <p:cNvPr id="23" name="S07_KPI_6_CARD"/>
          <p:cNvSpPr/>
          <p:nvPr/>
        </p:nvSpPr>
        <p:spPr>
          <a:xfrm>
            <a:off x="9894059" y="1335600"/>
            <a:ext cx="1800000" cy="1598400"/>
          </a:xfrm>
          <a:prstGeom prst="roundRect">
            <a:avLst>
              <a:gd name="adj" fmla="val 10000"/>
            </a:avLst>
          </a:prstGeom>
          <a:solidFill>
            <a:srgbClr val="FEF4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S07_KPI_6_LABEL"/>
          <p:cNvSpPr txBox="1"/>
          <p:nvPr/>
        </p:nvSpPr>
        <p:spPr>
          <a:xfrm>
            <a:off x="9933659" y="1720800"/>
            <a:ext cx="1728000" cy="64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600" b="1" i="0">
                <a:solidFill>
                  <a:srgbClr val="FBCC58"/>
                </a:solidFill>
                <a:latin typeface="Segoe UI Black"/>
              </a:rPr>
              <a:t>98%</a:t>
            </a:r>
          </a:p>
        </p:txBody>
      </p:sp>
      <p:sp>
        <p:nvSpPr>
          <p:cNvPr id="25" name="S07_KPI_6_SUBLABEL"/>
          <p:cNvSpPr txBox="1"/>
          <p:nvPr/>
        </p:nvSpPr>
        <p:spPr>
          <a:xfrm>
            <a:off x="9933659" y="2394000"/>
            <a:ext cx="1728000" cy="262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474E67"/>
                </a:solidFill>
                <a:latin typeface="Segoe UI"/>
              </a:rPr>
              <a:t>OTD </a:t>
            </a:r>
            <a:r>
              <a:rPr sz="1100" b="0" i="0">
                <a:solidFill>
                  <a:srgbClr val="474E67"/>
                </a:solidFill>
                <a:latin typeface="Segoe UI"/>
              </a:rPr>
              <a:t>client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1659" y="3060000"/>
            <a:ext cx="11188800" cy="421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S07_SECTION_LABEL"/>
          <p:cNvSpPr txBox="1"/>
          <p:nvPr/>
        </p:nvSpPr>
        <p:spPr>
          <a:xfrm>
            <a:off x="501659" y="3060000"/>
            <a:ext cx="11188800" cy="421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 i="1">
                <a:solidFill>
                  <a:srgbClr val="070E1D"/>
                </a:solidFill>
                <a:latin typeface="Segoe UI"/>
              </a:rPr>
              <a:t>Avancement</a:t>
            </a:r>
            <a:r>
              <a:rPr sz="1200" b="1" i="1">
                <a:solidFill>
                  <a:srgbClr val="070E1D"/>
                </a:solidFill>
                <a:latin typeface="Segoe UI"/>
              </a:rPr>
              <a:t> par chantier en mai 2026</a:t>
            </a:r>
          </a:p>
        </p:txBody>
      </p:sp>
      <p:sp>
        <p:nvSpPr>
          <p:cNvPr id="28" name="S07_BAR_1_LABEL"/>
          <p:cNvSpPr txBox="1"/>
          <p:nvPr/>
        </p:nvSpPr>
        <p:spPr>
          <a:xfrm>
            <a:off x="498059" y="3632400"/>
            <a:ext cx="24984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Standards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 opérationnels</a:t>
            </a:r>
          </a:p>
        </p:txBody>
      </p:sp>
      <p:sp>
        <p:nvSpPr>
          <p:cNvPr id="29" name="S07_BAR_1_BAR"/>
          <p:cNvSpPr/>
          <p:nvPr/>
        </p:nvSpPr>
        <p:spPr>
          <a:xfrm>
            <a:off x="3068459" y="3704399"/>
            <a:ext cx="6811560" cy="198000"/>
          </a:xfrm>
          <a:prstGeom prst="roundRect">
            <a:avLst>
              <a:gd name="adj" fmla="val 50000"/>
            </a:avLst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S07_BAR_1_VALUE"/>
          <p:cNvSpPr txBox="1"/>
          <p:nvPr/>
        </p:nvSpPr>
        <p:spPr>
          <a:xfrm>
            <a:off x="11118060" y="3668400"/>
            <a:ext cx="576000" cy="270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85%</a:t>
            </a:r>
          </a:p>
        </p:txBody>
      </p:sp>
      <p:sp>
        <p:nvSpPr>
          <p:cNvPr id="31" name="S07_BAR_2_LABEL"/>
          <p:cNvSpPr txBox="1"/>
          <p:nvPr/>
        </p:nvSpPr>
        <p:spPr>
          <a:xfrm>
            <a:off x="498059" y="4104000"/>
            <a:ext cx="24984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Outils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data</a:t>
            </a:r>
          </a:p>
        </p:txBody>
      </p:sp>
      <p:sp>
        <p:nvSpPr>
          <p:cNvPr id="32" name="S07_BAR_2_BAR"/>
          <p:cNvSpPr/>
          <p:nvPr/>
        </p:nvSpPr>
        <p:spPr>
          <a:xfrm>
            <a:off x="3068459" y="4176000"/>
            <a:ext cx="4968431" cy="198000"/>
          </a:xfrm>
          <a:prstGeom prst="roundRect">
            <a:avLst>
              <a:gd name="adj" fmla="val 50000"/>
            </a:avLst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S07_BAR_2_VALUE"/>
          <p:cNvSpPr txBox="1"/>
          <p:nvPr/>
        </p:nvSpPr>
        <p:spPr>
          <a:xfrm>
            <a:off x="11118060" y="4140000"/>
            <a:ext cx="576000" cy="270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62%</a:t>
            </a:r>
          </a:p>
        </p:txBody>
      </p:sp>
      <p:sp>
        <p:nvSpPr>
          <p:cNvPr id="34" name="S07_BAR_3_LABEL"/>
          <p:cNvSpPr txBox="1"/>
          <p:nvPr/>
        </p:nvSpPr>
        <p:spPr>
          <a:xfrm>
            <a:off x="498059" y="4564800"/>
            <a:ext cx="24984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Compétences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relais</a:t>
            </a:r>
          </a:p>
        </p:txBody>
      </p:sp>
      <p:sp>
        <p:nvSpPr>
          <p:cNvPr id="35" name="S07_BAR_3_BAR"/>
          <p:cNvSpPr/>
          <p:nvPr/>
        </p:nvSpPr>
        <p:spPr>
          <a:xfrm>
            <a:off x="3068459" y="4636800"/>
            <a:ext cx="3285575" cy="198000"/>
          </a:xfrm>
          <a:prstGeom prst="roundRect">
            <a:avLst>
              <a:gd name="adj" fmla="val 50000"/>
            </a:avLst>
          </a:prstGeom>
          <a:solidFill>
            <a:srgbClr val="D473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S07_BAR_3_VALUE"/>
          <p:cNvSpPr txBox="1"/>
          <p:nvPr/>
        </p:nvSpPr>
        <p:spPr>
          <a:xfrm>
            <a:off x="11118060" y="4600800"/>
            <a:ext cx="576000" cy="270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41%</a:t>
            </a:r>
          </a:p>
        </p:txBody>
      </p:sp>
      <p:sp>
        <p:nvSpPr>
          <p:cNvPr id="37" name="S07_BAR_4_LABEL"/>
          <p:cNvSpPr txBox="1"/>
          <p:nvPr/>
        </p:nvSpPr>
        <p:spPr>
          <a:xfrm>
            <a:off x="498059" y="5025600"/>
            <a:ext cx="24984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Pilotage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KPI</a:t>
            </a:r>
          </a:p>
        </p:txBody>
      </p:sp>
      <p:sp>
        <p:nvSpPr>
          <p:cNvPr id="38" name="S07_BAR_4_BAR"/>
          <p:cNvSpPr/>
          <p:nvPr/>
        </p:nvSpPr>
        <p:spPr>
          <a:xfrm>
            <a:off x="3068459" y="5097600"/>
            <a:ext cx="6250608" cy="198000"/>
          </a:xfrm>
          <a:prstGeom prst="roundRect">
            <a:avLst>
              <a:gd name="adj" fmla="val 50000"/>
            </a:avLst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S07_BAR_4_VALUE"/>
          <p:cNvSpPr txBox="1"/>
          <p:nvPr/>
        </p:nvSpPr>
        <p:spPr>
          <a:xfrm>
            <a:off x="11118060" y="5061600"/>
            <a:ext cx="576000" cy="270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78%</a:t>
            </a:r>
          </a:p>
        </p:txBody>
      </p:sp>
      <p:sp>
        <p:nvSpPr>
          <p:cNvPr id="40" name="S07_BAR_5_LABEL"/>
          <p:cNvSpPr txBox="1"/>
          <p:nvPr/>
        </p:nvSpPr>
        <p:spPr>
          <a:xfrm>
            <a:off x="498059" y="5464800"/>
            <a:ext cx="24984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Communication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change</a:t>
            </a:r>
          </a:p>
        </p:txBody>
      </p:sp>
      <p:sp>
        <p:nvSpPr>
          <p:cNvPr id="41" name="S07_BAR_5_BAR"/>
          <p:cNvSpPr/>
          <p:nvPr/>
        </p:nvSpPr>
        <p:spPr>
          <a:xfrm>
            <a:off x="3068459" y="5536800"/>
            <a:ext cx="7212240" cy="198000"/>
          </a:xfrm>
          <a:prstGeom prst="roundRect">
            <a:avLst>
              <a:gd name="adj" fmla="val 50000"/>
            </a:avLst>
          </a:prstGeom>
          <a:solidFill>
            <a:srgbClr val="FBCC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S07_BAR_5_VALUE"/>
          <p:cNvSpPr txBox="1"/>
          <p:nvPr/>
        </p:nvSpPr>
        <p:spPr>
          <a:xfrm>
            <a:off x="11118060" y="5500800"/>
            <a:ext cx="576000" cy="270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90%</a:t>
            </a:r>
          </a:p>
        </p:txBody>
      </p:sp>
      <p:sp>
        <p:nvSpPr>
          <p:cNvPr id="43" name="TakeawayBand"/>
          <p:cNvSpPr/>
          <p:nvPr/>
        </p:nvSpPr>
        <p:spPr>
          <a:xfrm>
            <a:off x="392400" y="6037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akeawayBandText"/>
          <p:cNvSpPr txBox="1"/>
          <p:nvPr/>
        </p:nvSpPr>
        <p:spPr>
          <a:xfrm>
            <a:off x="392400" y="6037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Accélérer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trois chantiers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 prioritaires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Avant / Après pilote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0" i="0">
                <a:solidFill>
                  <a:srgbClr val="7D7B8D"/>
                </a:solidFill>
                <a:latin typeface="Segoe UI"/>
              </a:rPr>
              <a:t>08      |</a:t>
            </a:r>
          </a:p>
        </p:txBody>
      </p:sp>
      <p:pic>
        <p:nvPicPr>
          <p:cNvPr id="7" name="Picture 6" descr="safran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200" y="6447600"/>
            <a:ext cx="1090800" cy="230400"/>
          </a:xfrm>
          <a:prstGeom prst="rect">
            <a:avLst/>
          </a:prstGeom>
        </p:spPr>
      </p:pic>
      <p:sp>
        <p:nvSpPr>
          <p:cNvPr id="8" name="S08_SUBTITLE"/>
          <p:cNvSpPr txBox="1"/>
          <p:nvPr/>
        </p:nvSpPr>
        <p:spPr>
          <a:xfrm>
            <a:off x="388800" y="1454400"/>
            <a:ext cx="11412000" cy="34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100" b="1" i="0">
                <a:solidFill>
                  <a:srgbClr val="6A5D79"/>
                </a:solidFill>
                <a:latin typeface="Segoe UI Black"/>
              </a:rPr>
              <a:t>Cinq indicateurs mesurés sur </a:t>
            </a:r>
            <a:r>
              <a:rPr sz="2100" b="1" i="0">
                <a:solidFill>
                  <a:srgbClr val="6A5D79"/>
                </a:solidFill>
                <a:latin typeface="Segoe UI Black"/>
              </a:rPr>
              <a:t>90 jours</a:t>
            </a:r>
          </a:p>
        </p:txBody>
      </p:sp>
      <p:sp>
        <p:nvSpPr>
          <p:cNvPr id="9" name="S08_LEGEND_1"/>
          <p:cNvSpPr txBox="1"/>
          <p:nvPr/>
        </p:nvSpPr>
        <p:spPr>
          <a:xfrm>
            <a:off x="7851600" y="2210400"/>
            <a:ext cx="2001599" cy="3204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 i="0">
                <a:solidFill>
                  <a:srgbClr val="474E67"/>
                </a:solidFill>
                <a:latin typeface="Segoe UI"/>
              </a:rPr>
              <a:t>Avant</a:t>
            </a:r>
          </a:p>
        </p:txBody>
      </p:sp>
      <p:sp>
        <p:nvSpPr>
          <p:cNvPr id="10" name="S08_LEGEND_2"/>
          <p:cNvSpPr txBox="1"/>
          <p:nvPr/>
        </p:nvSpPr>
        <p:spPr>
          <a:xfrm>
            <a:off x="10249200" y="2210400"/>
            <a:ext cx="2001599" cy="3204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 i="0">
                <a:solidFill>
                  <a:srgbClr val="474E67"/>
                </a:solidFill>
                <a:latin typeface="Segoe UI"/>
              </a:rPr>
              <a:t>Après</a:t>
            </a:r>
          </a:p>
        </p:txBody>
      </p:sp>
      <p:sp>
        <p:nvSpPr>
          <p:cNvPr id="11" name="S08_LEGEND_1_SQ"/>
          <p:cNvSpPr/>
          <p:nvPr/>
        </p:nvSpPr>
        <p:spPr>
          <a:xfrm>
            <a:off x="7668000" y="2268000"/>
            <a:ext cx="162000" cy="162000"/>
          </a:xfrm>
          <a:prstGeom prst="rect">
            <a:avLst/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S08_LEGEND_2_SQ"/>
          <p:cNvSpPr/>
          <p:nvPr/>
        </p:nvSpPr>
        <p:spPr>
          <a:xfrm>
            <a:off x="10065600" y="2268000"/>
            <a:ext cx="162000" cy="162000"/>
          </a:xfrm>
          <a:prstGeom prst="rect">
            <a:avLst/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S08_ROW_1_LABEL"/>
          <p:cNvSpPr txBox="1"/>
          <p:nvPr/>
        </p:nvSpPr>
        <p:spPr>
          <a:xfrm>
            <a:off x="388800" y="2898000"/>
            <a:ext cx="38016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Délai de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cycle</a:t>
            </a:r>
          </a:p>
        </p:txBody>
      </p:sp>
      <p:sp>
        <p:nvSpPr>
          <p:cNvPr id="14" name="S08_ROW_1_BAR_1"/>
          <p:cNvSpPr/>
          <p:nvPr/>
        </p:nvSpPr>
        <p:spPr>
          <a:xfrm>
            <a:off x="4298400" y="2934000"/>
            <a:ext cx="3739320" cy="298800"/>
          </a:xfrm>
          <a:prstGeom prst="roundRect">
            <a:avLst>
              <a:gd name="adj" fmla="val 30000"/>
            </a:avLst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S08_ROW_1_BAR_2"/>
          <p:cNvSpPr/>
          <p:nvPr/>
        </p:nvSpPr>
        <p:spPr>
          <a:xfrm>
            <a:off x="8798400" y="2934000"/>
            <a:ext cx="1388511" cy="298800"/>
          </a:xfrm>
          <a:prstGeom prst="roundRect">
            <a:avLst>
              <a:gd name="adj" fmla="val 30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08_ROW_1_VALUE_1"/>
          <p:cNvSpPr txBox="1"/>
          <p:nvPr/>
        </p:nvSpPr>
        <p:spPr>
          <a:xfrm>
            <a:off x="8073720" y="29340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21 j</a:t>
            </a:r>
          </a:p>
        </p:txBody>
      </p:sp>
      <p:sp>
        <p:nvSpPr>
          <p:cNvPr id="17" name="S08_ROW_1_VALUE_2"/>
          <p:cNvSpPr txBox="1"/>
          <p:nvPr/>
        </p:nvSpPr>
        <p:spPr>
          <a:xfrm>
            <a:off x="10222911" y="29340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13 j</a:t>
            </a:r>
          </a:p>
        </p:txBody>
      </p:sp>
      <p:sp>
        <p:nvSpPr>
          <p:cNvPr id="18" name="S08_ROW_2_LABEL"/>
          <p:cNvSpPr txBox="1"/>
          <p:nvPr/>
        </p:nvSpPr>
        <p:spPr>
          <a:xfrm>
            <a:off x="388800" y="3366000"/>
            <a:ext cx="38016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Taux de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défauts</a:t>
            </a:r>
          </a:p>
        </p:txBody>
      </p:sp>
      <p:sp>
        <p:nvSpPr>
          <p:cNvPr id="19" name="S08_ROW_2_BAR_1"/>
          <p:cNvSpPr/>
          <p:nvPr/>
        </p:nvSpPr>
        <p:spPr>
          <a:xfrm>
            <a:off x="4298400" y="3401999"/>
            <a:ext cx="3739320" cy="298800"/>
          </a:xfrm>
          <a:prstGeom prst="roundRect">
            <a:avLst>
              <a:gd name="adj" fmla="val 30000"/>
            </a:avLst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S08_ROW_2_BAR_2"/>
          <p:cNvSpPr/>
          <p:nvPr/>
        </p:nvSpPr>
        <p:spPr>
          <a:xfrm>
            <a:off x="8798400" y="3401999"/>
            <a:ext cx="710276" cy="298800"/>
          </a:xfrm>
          <a:prstGeom prst="roundRect">
            <a:avLst>
              <a:gd name="adj" fmla="val 30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S08_ROW_2_VALUE_1"/>
          <p:cNvSpPr txBox="1"/>
          <p:nvPr/>
        </p:nvSpPr>
        <p:spPr>
          <a:xfrm>
            <a:off x="8073720" y="3401999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1200</a:t>
            </a:r>
          </a:p>
        </p:txBody>
      </p:sp>
      <p:sp>
        <p:nvSpPr>
          <p:cNvPr id="22" name="S08_ROW_2_VALUE_2"/>
          <p:cNvSpPr txBox="1"/>
          <p:nvPr/>
        </p:nvSpPr>
        <p:spPr>
          <a:xfrm>
            <a:off x="9544677" y="3401999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380</a:t>
            </a:r>
          </a:p>
        </p:txBody>
      </p:sp>
      <p:sp>
        <p:nvSpPr>
          <p:cNvPr id="23" name="S08_ROW_3_LABEL"/>
          <p:cNvSpPr txBox="1"/>
          <p:nvPr/>
        </p:nvSpPr>
        <p:spPr>
          <a:xfrm>
            <a:off x="388800" y="3837600"/>
            <a:ext cx="38016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Engagement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 équipe</a:t>
            </a:r>
          </a:p>
        </p:txBody>
      </p:sp>
      <p:sp>
        <p:nvSpPr>
          <p:cNvPr id="24" name="S08_ROW_3_BAR_1"/>
          <p:cNvSpPr/>
          <p:nvPr/>
        </p:nvSpPr>
        <p:spPr>
          <a:xfrm>
            <a:off x="4298400" y="3873600"/>
            <a:ext cx="2684640" cy="298800"/>
          </a:xfrm>
          <a:prstGeom prst="roundRect">
            <a:avLst>
              <a:gd name="adj" fmla="val 30000"/>
            </a:avLst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S08_ROW_3_BAR_2"/>
          <p:cNvSpPr/>
          <p:nvPr/>
        </p:nvSpPr>
        <p:spPr>
          <a:xfrm>
            <a:off x="8798400" y="3873600"/>
            <a:ext cx="2242980" cy="298800"/>
          </a:xfrm>
          <a:prstGeom prst="roundRect">
            <a:avLst>
              <a:gd name="adj" fmla="val 30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S08_ROW_3_VALUE_1"/>
          <p:cNvSpPr txBox="1"/>
          <p:nvPr/>
        </p:nvSpPr>
        <p:spPr>
          <a:xfrm>
            <a:off x="7019040" y="38736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56%</a:t>
            </a:r>
          </a:p>
        </p:txBody>
      </p:sp>
      <p:sp>
        <p:nvSpPr>
          <p:cNvPr id="27" name="S08_ROW_3_VALUE_2"/>
          <p:cNvSpPr txBox="1"/>
          <p:nvPr/>
        </p:nvSpPr>
        <p:spPr>
          <a:xfrm>
            <a:off x="11077380" y="38736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78%</a:t>
            </a:r>
          </a:p>
        </p:txBody>
      </p:sp>
      <p:sp>
        <p:nvSpPr>
          <p:cNvPr id="28" name="S08_ROW_4_LABEL"/>
          <p:cNvSpPr txBox="1"/>
          <p:nvPr/>
        </p:nvSpPr>
        <p:spPr>
          <a:xfrm>
            <a:off x="388800" y="4309200"/>
            <a:ext cx="38016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Coût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 unitaire</a:t>
            </a:r>
          </a:p>
        </p:txBody>
      </p:sp>
      <p:sp>
        <p:nvSpPr>
          <p:cNvPr id="29" name="S08_ROW_4_BAR_1"/>
          <p:cNvSpPr/>
          <p:nvPr/>
        </p:nvSpPr>
        <p:spPr>
          <a:xfrm>
            <a:off x="4298400" y="4345200"/>
            <a:ext cx="3739320" cy="298800"/>
          </a:xfrm>
          <a:prstGeom prst="roundRect">
            <a:avLst>
              <a:gd name="adj" fmla="val 30000"/>
            </a:avLst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S08_ROW_4_BAR_2"/>
          <p:cNvSpPr/>
          <p:nvPr/>
        </p:nvSpPr>
        <p:spPr>
          <a:xfrm>
            <a:off x="8798400" y="4345200"/>
            <a:ext cx="1822421" cy="298800"/>
          </a:xfrm>
          <a:prstGeom prst="roundRect">
            <a:avLst>
              <a:gd name="adj" fmla="val 30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S08_ROW_4_VALUE_1"/>
          <p:cNvSpPr txBox="1"/>
          <p:nvPr/>
        </p:nvSpPr>
        <p:spPr>
          <a:xfrm>
            <a:off x="8073720" y="43452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240 €</a:t>
            </a:r>
          </a:p>
        </p:txBody>
      </p:sp>
      <p:sp>
        <p:nvSpPr>
          <p:cNvPr id="32" name="S08_ROW_4_VALUE_2"/>
          <p:cNvSpPr txBox="1"/>
          <p:nvPr/>
        </p:nvSpPr>
        <p:spPr>
          <a:xfrm>
            <a:off x="10656821" y="43452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195 €</a:t>
            </a:r>
          </a:p>
        </p:txBody>
      </p:sp>
      <p:sp>
        <p:nvSpPr>
          <p:cNvPr id="33" name="S08_ROW_5_LABEL"/>
          <p:cNvSpPr txBox="1"/>
          <p:nvPr/>
        </p:nvSpPr>
        <p:spPr>
          <a:xfrm>
            <a:off x="388800" y="4777200"/>
            <a:ext cx="38016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Satisfaction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client</a:t>
            </a:r>
          </a:p>
        </p:txBody>
      </p:sp>
      <p:sp>
        <p:nvSpPr>
          <p:cNvPr id="34" name="S08_ROW_5_BAR_1"/>
          <p:cNvSpPr/>
          <p:nvPr/>
        </p:nvSpPr>
        <p:spPr>
          <a:xfrm>
            <a:off x="4298400" y="4813200"/>
            <a:ext cx="3130593" cy="298800"/>
          </a:xfrm>
          <a:prstGeom prst="roundRect">
            <a:avLst>
              <a:gd name="adj" fmla="val 30000"/>
            </a:avLst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S08_ROW_5_BAR_2"/>
          <p:cNvSpPr/>
          <p:nvPr/>
        </p:nvSpPr>
        <p:spPr>
          <a:xfrm>
            <a:off x="8798400" y="4813200"/>
            <a:ext cx="2242980" cy="298800"/>
          </a:xfrm>
          <a:prstGeom prst="roundRect">
            <a:avLst>
              <a:gd name="adj" fmla="val 30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S08_ROW_5_VALUE_1"/>
          <p:cNvSpPr txBox="1"/>
          <p:nvPr/>
        </p:nvSpPr>
        <p:spPr>
          <a:xfrm>
            <a:off x="7464993" y="48132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7,2</a:t>
            </a:r>
          </a:p>
        </p:txBody>
      </p:sp>
      <p:sp>
        <p:nvSpPr>
          <p:cNvPr id="37" name="S08_ROW_5_VALUE_2"/>
          <p:cNvSpPr txBox="1"/>
          <p:nvPr/>
        </p:nvSpPr>
        <p:spPr>
          <a:xfrm>
            <a:off x="11077380" y="48132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8,6</a:t>
            </a:r>
          </a:p>
        </p:txBody>
      </p:sp>
      <p:sp>
        <p:nvSpPr>
          <p:cNvPr id="38" name="TakeawayBand"/>
          <p:cNvSpPr/>
          <p:nvPr/>
        </p:nvSpPr>
        <p:spPr>
          <a:xfrm>
            <a:off x="392400" y="6037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akeawayBandText"/>
          <p:cNvSpPr txBox="1"/>
          <p:nvPr/>
        </p:nvSpPr>
        <p:spPr>
          <a:xfrm>
            <a:off x="392400" y="6037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Le pilote améliore les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cinq dimensions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1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Risques &amp; Opportunités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0" i="0">
                <a:solidFill>
                  <a:srgbClr val="7D7B8D"/>
                </a:solidFill>
                <a:latin typeface="Segoe UI"/>
              </a:rPr>
              <a:t>09      |</a:t>
            </a:r>
          </a:p>
        </p:txBody>
      </p:sp>
      <p:pic>
        <p:nvPicPr>
          <p:cNvPr id="7" name="Picture 6" descr="safran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200" y="6447600"/>
            <a:ext cx="1090800" cy="230400"/>
          </a:xfrm>
          <a:prstGeom prst="rect">
            <a:avLst/>
          </a:prstGeom>
        </p:spPr>
      </p:pic>
      <p:sp>
        <p:nvSpPr>
          <p:cNvPr id="8" name="S09_RISK_1_CARD"/>
          <p:cNvSpPr/>
          <p:nvPr/>
        </p:nvSpPr>
        <p:spPr>
          <a:xfrm>
            <a:off x="121859" y="1260000"/>
            <a:ext cx="3920400" cy="230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AFB5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09_RISK_1_ICON"/>
          <p:cNvSpPr/>
          <p:nvPr/>
        </p:nvSpPr>
        <p:spPr>
          <a:xfrm>
            <a:off x="168659" y="1440000"/>
            <a:ext cx="306000" cy="306000"/>
          </a:xfrm>
          <a:prstGeom prst="roundRect">
            <a:avLst>
              <a:gd name="adj" fmla="val 15000"/>
            </a:avLst>
          </a:prstGeom>
          <a:solidFill>
            <a:srgbClr val="BBB4C4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800" b="1" i="0">
                <a:solidFill>
                  <a:srgbClr val="6A5D79"/>
                </a:solidFill>
                <a:latin typeface="Wingdings"/>
              </a:rPr>
              <a:t>L</a:t>
            </a:r>
          </a:p>
        </p:txBody>
      </p:sp>
      <p:sp>
        <p:nvSpPr>
          <p:cNvPr id="10" name="S09_RISK_1_TITLE"/>
          <p:cNvSpPr txBox="1"/>
          <p:nvPr/>
        </p:nvSpPr>
        <p:spPr>
          <a:xfrm>
            <a:off x="553859" y="1386000"/>
            <a:ext cx="3240000" cy="2772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Résistance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 managériale</a:t>
            </a:r>
          </a:p>
        </p:txBody>
      </p:sp>
      <p:sp>
        <p:nvSpPr>
          <p:cNvPr id="11" name="S09_RISK_1_LEVEL"/>
          <p:cNvSpPr/>
          <p:nvPr/>
        </p:nvSpPr>
        <p:spPr>
          <a:xfrm>
            <a:off x="553859" y="1663200"/>
            <a:ext cx="892800" cy="190800"/>
          </a:xfrm>
          <a:prstGeom prst="roundRect">
            <a:avLst>
              <a:gd name="adj" fmla="val 15000"/>
            </a:avLst>
          </a:prstGeom>
          <a:solidFill>
            <a:srgbClr val="FF9797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C00000"/>
                </a:solidFill>
                <a:latin typeface="Segoe UI"/>
              </a:rPr>
              <a:t>Risque élevé</a:t>
            </a:r>
          </a:p>
        </p:txBody>
      </p:sp>
      <p:sp>
        <p:nvSpPr>
          <p:cNvPr id="12" name="S09_RISK_1_BODY"/>
          <p:cNvSpPr txBox="1"/>
          <p:nvPr/>
        </p:nvSpPr>
        <p:spPr>
          <a:xfrm>
            <a:off x="168659" y="1908000"/>
            <a:ext cx="3776400" cy="4320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"/>
              </a:rPr>
              <a:t>Crainte de 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surcharge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 et perte de repères.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9" y="2448000"/>
            <a:ext cx="3776400" cy="0"/>
          </a:xfrm>
          <a:prstGeom prst="line">
            <a:avLst/>
          </a:prstGeom>
          <a:ln w="9525">
            <a:solidFill>
              <a:srgbClr val="AFB5C8"/>
            </a:solidFill>
            <a:prstDash val="dash"/>
          </a:ln>
        </p:spPr>
      </p:cxnSp>
      <p:sp>
        <p:nvSpPr>
          <p:cNvPr id="14" name="S09_RISK_1_ACTION_TAG"/>
          <p:cNvSpPr/>
          <p:nvPr/>
        </p:nvSpPr>
        <p:spPr>
          <a:xfrm>
            <a:off x="193859" y="2556000"/>
            <a:ext cx="615600" cy="190800"/>
          </a:xfrm>
          <a:prstGeom prst="roundRect">
            <a:avLst>
              <a:gd name="adj" fmla="val 15000"/>
            </a:avLst>
          </a:prstGeom>
          <a:solidFill>
            <a:srgbClr val="DDE7CF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8DAC95"/>
                </a:solidFill>
                <a:latin typeface="Segoe UI"/>
              </a:rPr>
              <a:t>Parade</a:t>
            </a:r>
          </a:p>
        </p:txBody>
      </p:sp>
      <p:sp>
        <p:nvSpPr>
          <p:cNvPr id="15" name="S09_RISK_1_ACTION_BODY"/>
          <p:cNvSpPr txBox="1"/>
          <p:nvPr/>
        </p:nvSpPr>
        <p:spPr>
          <a:xfrm>
            <a:off x="877859" y="2556000"/>
            <a:ext cx="3092400" cy="360000"/>
          </a:xfrm>
          <a:prstGeom prst="rect">
            <a:avLst/>
          </a:prstGeom>
          <a:noFill/>
        </p:spPr>
        <p:txBody>
          <a:bodyPr wrap="square" lIns="45720" rIns="45720" tIns="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 Light"/>
              </a:rPr>
              <a:t>Former les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relais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 et clarifier le rôle du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sponsor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.</a:t>
            </a:r>
          </a:p>
        </p:txBody>
      </p:sp>
      <p:sp>
        <p:nvSpPr>
          <p:cNvPr id="16" name="S09_RISK_2_CARD"/>
          <p:cNvSpPr/>
          <p:nvPr/>
        </p:nvSpPr>
        <p:spPr>
          <a:xfrm>
            <a:off x="4135859" y="1260000"/>
            <a:ext cx="3920400" cy="230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AFB5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S09_RISK_2_ICON"/>
          <p:cNvSpPr/>
          <p:nvPr/>
        </p:nvSpPr>
        <p:spPr>
          <a:xfrm>
            <a:off x="4182659" y="1440000"/>
            <a:ext cx="306000" cy="306000"/>
          </a:xfrm>
          <a:prstGeom prst="roundRect">
            <a:avLst>
              <a:gd name="adj" fmla="val 15000"/>
            </a:avLst>
          </a:prstGeom>
          <a:solidFill>
            <a:srgbClr val="BBB4C4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800" b="1" i="0">
                <a:solidFill>
                  <a:srgbClr val="6A5D79"/>
                </a:solidFill>
                <a:latin typeface="Wingdings"/>
              </a:rPr>
              <a:t>L</a:t>
            </a:r>
          </a:p>
        </p:txBody>
      </p:sp>
      <p:sp>
        <p:nvSpPr>
          <p:cNvPr id="18" name="S09_RISK_2_TITLE"/>
          <p:cNvSpPr txBox="1"/>
          <p:nvPr/>
        </p:nvSpPr>
        <p:spPr>
          <a:xfrm>
            <a:off x="4567859" y="1386000"/>
            <a:ext cx="3240000" cy="2772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Disponibilité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terrain</a:t>
            </a:r>
          </a:p>
        </p:txBody>
      </p:sp>
      <p:sp>
        <p:nvSpPr>
          <p:cNvPr id="19" name="S09_RISK_2_LEVEL"/>
          <p:cNvSpPr/>
          <p:nvPr/>
        </p:nvSpPr>
        <p:spPr>
          <a:xfrm>
            <a:off x="4567859" y="1663200"/>
            <a:ext cx="892800" cy="190800"/>
          </a:xfrm>
          <a:prstGeom prst="roundRect">
            <a:avLst>
              <a:gd name="adj" fmla="val 15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FDA85B"/>
                </a:solidFill>
                <a:latin typeface="Segoe UI"/>
              </a:rPr>
              <a:t>Risque moyen</a:t>
            </a:r>
          </a:p>
        </p:txBody>
      </p:sp>
      <p:sp>
        <p:nvSpPr>
          <p:cNvPr id="20" name="S09_RISK_2_BODY"/>
          <p:cNvSpPr txBox="1"/>
          <p:nvPr/>
        </p:nvSpPr>
        <p:spPr>
          <a:xfrm>
            <a:off x="4182659" y="1908000"/>
            <a:ext cx="3776400" cy="4320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"/>
              </a:rPr>
              <a:t>Calendrier chargé sur les 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sites pilotes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207859" y="2448000"/>
            <a:ext cx="3776400" cy="0"/>
          </a:xfrm>
          <a:prstGeom prst="line">
            <a:avLst/>
          </a:prstGeom>
          <a:ln w="9525">
            <a:solidFill>
              <a:srgbClr val="AFB5C8"/>
            </a:solidFill>
            <a:prstDash val="dash"/>
          </a:ln>
        </p:spPr>
      </p:cxnSp>
      <p:sp>
        <p:nvSpPr>
          <p:cNvPr id="22" name="S09_RISK_2_ACTION_TAG"/>
          <p:cNvSpPr/>
          <p:nvPr/>
        </p:nvSpPr>
        <p:spPr>
          <a:xfrm>
            <a:off x="4207859" y="2556000"/>
            <a:ext cx="615600" cy="190800"/>
          </a:xfrm>
          <a:prstGeom prst="roundRect">
            <a:avLst>
              <a:gd name="adj" fmla="val 15000"/>
            </a:avLst>
          </a:prstGeom>
          <a:solidFill>
            <a:srgbClr val="DDE7CF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8DAC95"/>
                </a:solidFill>
                <a:latin typeface="Segoe UI"/>
              </a:rPr>
              <a:t>Parade</a:t>
            </a:r>
          </a:p>
        </p:txBody>
      </p:sp>
      <p:sp>
        <p:nvSpPr>
          <p:cNvPr id="23" name="S09_RISK_2_ACTION_BODY"/>
          <p:cNvSpPr txBox="1"/>
          <p:nvPr/>
        </p:nvSpPr>
        <p:spPr>
          <a:xfrm>
            <a:off x="4891859" y="2556000"/>
            <a:ext cx="3092400" cy="360000"/>
          </a:xfrm>
          <a:prstGeom prst="rect">
            <a:avLst/>
          </a:prstGeom>
          <a:noFill/>
        </p:spPr>
        <p:txBody>
          <a:bodyPr wrap="square" lIns="45720" rIns="45720" tIns="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 Light"/>
              </a:rPr>
              <a:t>Limiter les ateliers et préparer les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décisions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 en amont.</a:t>
            </a:r>
          </a:p>
        </p:txBody>
      </p:sp>
      <p:sp>
        <p:nvSpPr>
          <p:cNvPr id="24" name="S09_RISK_3_CARD"/>
          <p:cNvSpPr/>
          <p:nvPr/>
        </p:nvSpPr>
        <p:spPr>
          <a:xfrm>
            <a:off x="8149859" y="1260000"/>
            <a:ext cx="3920400" cy="230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AFB5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S09_RISK_3_ICON"/>
          <p:cNvSpPr/>
          <p:nvPr/>
        </p:nvSpPr>
        <p:spPr>
          <a:xfrm>
            <a:off x="8196659" y="1440000"/>
            <a:ext cx="306000" cy="306000"/>
          </a:xfrm>
          <a:prstGeom prst="roundRect">
            <a:avLst>
              <a:gd name="adj" fmla="val 15000"/>
            </a:avLst>
          </a:prstGeom>
          <a:solidFill>
            <a:srgbClr val="BBB4C4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800" b="1" i="0">
                <a:solidFill>
                  <a:srgbClr val="6A5D79"/>
                </a:solidFill>
                <a:latin typeface="Wingdings"/>
              </a:rPr>
              <a:t>L</a:t>
            </a:r>
          </a:p>
        </p:txBody>
      </p:sp>
      <p:sp>
        <p:nvSpPr>
          <p:cNvPr id="26" name="S09_RISK_3_TITLE"/>
          <p:cNvSpPr txBox="1"/>
          <p:nvPr/>
        </p:nvSpPr>
        <p:spPr>
          <a:xfrm>
            <a:off x="8581859" y="1386000"/>
            <a:ext cx="3240000" cy="2772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Dépendance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data</a:t>
            </a:r>
          </a:p>
        </p:txBody>
      </p:sp>
      <p:sp>
        <p:nvSpPr>
          <p:cNvPr id="27" name="S09_RISK_3_LEVEL"/>
          <p:cNvSpPr/>
          <p:nvPr/>
        </p:nvSpPr>
        <p:spPr>
          <a:xfrm>
            <a:off x="8581859" y="1663200"/>
            <a:ext cx="892800" cy="190800"/>
          </a:xfrm>
          <a:prstGeom prst="roundRect">
            <a:avLst>
              <a:gd name="adj" fmla="val 15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FDA85B"/>
                </a:solidFill>
                <a:latin typeface="Segoe UI"/>
              </a:rPr>
              <a:t>Risque moyen</a:t>
            </a:r>
          </a:p>
        </p:txBody>
      </p:sp>
      <p:sp>
        <p:nvSpPr>
          <p:cNvPr id="28" name="S09_RISK_3_BODY"/>
          <p:cNvSpPr txBox="1"/>
          <p:nvPr/>
        </p:nvSpPr>
        <p:spPr>
          <a:xfrm>
            <a:off x="8196659" y="1908000"/>
            <a:ext cx="3776400" cy="4320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"/>
              </a:rPr>
              <a:t>Qualité variable des 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données sources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221859" y="2448000"/>
            <a:ext cx="3776400" cy="0"/>
          </a:xfrm>
          <a:prstGeom prst="line">
            <a:avLst/>
          </a:prstGeom>
          <a:ln w="9525">
            <a:solidFill>
              <a:srgbClr val="AFB5C8"/>
            </a:solidFill>
            <a:prstDash val="dash"/>
          </a:ln>
        </p:spPr>
      </p:cxnSp>
      <p:sp>
        <p:nvSpPr>
          <p:cNvPr id="30" name="S09_RISK_3_ACTION_TAG"/>
          <p:cNvSpPr/>
          <p:nvPr/>
        </p:nvSpPr>
        <p:spPr>
          <a:xfrm>
            <a:off x="8221859" y="2556000"/>
            <a:ext cx="615600" cy="190800"/>
          </a:xfrm>
          <a:prstGeom prst="roundRect">
            <a:avLst>
              <a:gd name="adj" fmla="val 15000"/>
            </a:avLst>
          </a:prstGeom>
          <a:solidFill>
            <a:srgbClr val="DDE7CF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8DAC95"/>
                </a:solidFill>
                <a:latin typeface="Segoe UI"/>
              </a:rPr>
              <a:t>Parade</a:t>
            </a:r>
          </a:p>
        </p:txBody>
      </p:sp>
      <p:sp>
        <p:nvSpPr>
          <p:cNvPr id="31" name="S09_RISK_3_ACTION_BODY"/>
          <p:cNvSpPr txBox="1"/>
          <p:nvPr/>
        </p:nvSpPr>
        <p:spPr>
          <a:xfrm>
            <a:off x="8905860" y="2556000"/>
            <a:ext cx="3092400" cy="360000"/>
          </a:xfrm>
          <a:prstGeom prst="rect">
            <a:avLst/>
          </a:prstGeom>
          <a:noFill/>
        </p:spPr>
        <p:txBody>
          <a:bodyPr wrap="square" lIns="45720" rIns="45720" tIns="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 Light"/>
              </a:rPr>
              <a:t>Créer une règle simple de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validation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 hebdomadaire.</a:t>
            </a:r>
          </a:p>
        </p:txBody>
      </p:sp>
      <p:sp>
        <p:nvSpPr>
          <p:cNvPr id="32" name="S09_OPP_1_CARD"/>
          <p:cNvSpPr/>
          <p:nvPr/>
        </p:nvSpPr>
        <p:spPr>
          <a:xfrm>
            <a:off x="121859" y="3708000"/>
            <a:ext cx="3920400" cy="230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AFB5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S09_OPP_1_ICON"/>
          <p:cNvSpPr/>
          <p:nvPr/>
        </p:nvSpPr>
        <p:spPr>
          <a:xfrm>
            <a:off x="168659" y="3888000"/>
            <a:ext cx="306000" cy="306000"/>
          </a:xfrm>
          <a:prstGeom prst="roundRect">
            <a:avLst>
              <a:gd name="adj" fmla="val 15000"/>
            </a:avLst>
          </a:prstGeom>
          <a:solidFill>
            <a:srgbClr val="FEF4DA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800" b="1" i="0">
                <a:solidFill>
                  <a:srgbClr val="FBCC58"/>
                </a:solidFill>
                <a:latin typeface="Wingdings"/>
              </a:rPr>
              <a:t>J</a:t>
            </a:r>
          </a:p>
        </p:txBody>
      </p:sp>
      <p:sp>
        <p:nvSpPr>
          <p:cNvPr id="34" name="S09_OPP_1_TITLE"/>
          <p:cNvSpPr txBox="1"/>
          <p:nvPr/>
        </p:nvSpPr>
        <p:spPr>
          <a:xfrm>
            <a:off x="553859" y="3834000"/>
            <a:ext cx="3240000" cy="2772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Engagement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 post-pilote</a:t>
            </a:r>
          </a:p>
        </p:txBody>
      </p:sp>
      <p:sp>
        <p:nvSpPr>
          <p:cNvPr id="35" name="S09_OPP_1_LEVEL"/>
          <p:cNvSpPr/>
          <p:nvPr/>
        </p:nvSpPr>
        <p:spPr>
          <a:xfrm>
            <a:off x="553859" y="4111200"/>
            <a:ext cx="892800" cy="190800"/>
          </a:xfrm>
          <a:prstGeom prst="roundRect">
            <a:avLst>
              <a:gd name="adj" fmla="val 15000"/>
            </a:avLst>
          </a:prstGeom>
          <a:solidFill>
            <a:srgbClr val="69FFAD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00B050"/>
                </a:solidFill>
                <a:latin typeface="Segoe UI"/>
              </a:rPr>
              <a:t>Gain élevé</a:t>
            </a:r>
          </a:p>
        </p:txBody>
      </p:sp>
      <p:sp>
        <p:nvSpPr>
          <p:cNvPr id="36" name="S09_OPP_1_BODY"/>
          <p:cNvSpPr txBox="1"/>
          <p:nvPr/>
        </p:nvSpPr>
        <p:spPr>
          <a:xfrm>
            <a:off x="168659" y="4356000"/>
            <a:ext cx="3776400" cy="4320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"/>
              </a:rPr>
              <a:t>Témoignages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 spontanés des équipes.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93859" y="4896000"/>
            <a:ext cx="3776400" cy="0"/>
          </a:xfrm>
          <a:prstGeom prst="line">
            <a:avLst/>
          </a:prstGeom>
          <a:ln w="9525">
            <a:solidFill>
              <a:srgbClr val="AFB5C8"/>
            </a:solidFill>
            <a:prstDash val="dash"/>
          </a:ln>
        </p:spPr>
      </p:cxnSp>
      <p:sp>
        <p:nvSpPr>
          <p:cNvPr id="38" name="S09_OPP_1_ACTION_TAG"/>
          <p:cNvSpPr/>
          <p:nvPr/>
        </p:nvSpPr>
        <p:spPr>
          <a:xfrm>
            <a:off x="193859" y="5004000"/>
            <a:ext cx="615600" cy="190800"/>
          </a:xfrm>
          <a:prstGeom prst="roundRect">
            <a:avLst>
              <a:gd name="adj" fmla="val 15000"/>
            </a:avLst>
          </a:prstGeom>
          <a:solidFill>
            <a:srgbClr val="DDE7CF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8DAC95"/>
                </a:solidFill>
                <a:latin typeface="Segoe UI"/>
              </a:rPr>
              <a:t>Levier</a:t>
            </a:r>
          </a:p>
        </p:txBody>
      </p:sp>
      <p:sp>
        <p:nvSpPr>
          <p:cNvPr id="39" name="S09_OPP_1_ACTION_BODY"/>
          <p:cNvSpPr txBox="1"/>
          <p:nvPr/>
        </p:nvSpPr>
        <p:spPr>
          <a:xfrm>
            <a:off x="877859" y="5004000"/>
            <a:ext cx="3092400" cy="360000"/>
          </a:xfrm>
          <a:prstGeom prst="rect">
            <a:avLst/>
          </a:prstGeom>
          <a:noFill/>
        </p:spPr>
        <p:txBody>
          <a:bodyPr wrap="square" lIns="45720" rIns="45720" tIns="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 Light"/>
              </a:rPr>
              <a:t>Capitaliser via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communication interne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.</a:t>
            </a:r>
          </a:p>
        </p:txBody>
      </p:sp>
      <p:sp>
        <p:nvSpPr>
          <p:cNvPr id="40" name="S09_OPP_2_CARD"/>
          <p:cNvSpPr/>
          <p:nvPr/>
        </p:nvSpPr>
        <p:spPr>
          <a:xfrm>
            <a:off x="4135859" y="3708000"/>
            <a:ext cx="3920400" cy="230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AFB5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S09_OPP_2_ICON"/>
          <p:cNvSpPr/>
          <p:nvPr/>
        </p:nvSpPr>
        <p:spPr>
          <a:xfrm>
            <a:off x="4182659" y="3888000"/>
            <a:ext cx="306000" cy="306000"/>
          </a:xfrm>
          <a:prstGeom prst="roundRect">
            <a:avLst>
              <a:gd name="adj" fmla="val 15000"/>
            </a:avLst>
          </a:prstGeom>
          <a:solidFill>
            <a:srgbClr val="FEF4DA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800" b="1" i="0">
                <a:solidFill>
                  <a:srgbClr val="FBCC58"/>
                </a:solidFill>
                <a:latin typeface="Wingdings"/>
              </a:rPr>
              <a:t>J</a:t>
            </a:r>
          </a:p>
        </p:txBody>
      </p:sp>
      <p:sp>
        <p:nvSpPr>
          <p:cNvPr id="42" name="S09_OPP_2_TITLE"/>
          <p:cNvSpPr txBox="1"/>
          <p:nvPr/>
        </p:nvSpPr>
        <p:spPr>
          <a:xfrm>
            <a:off x="4567859" y="3834000"/>
            <a:ext cx="3240000" cy="2772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Réplicabilité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multi-sites</a:t>
            </a:r>
          </a:p>
        </p:txBody>
      </p:sp>
      <p:sp>
        <p:nvSpPr>
          <p:cNvPr id="43" name="S09_OPP_2_LEVEL"/>
          <p:cNvSpPr/>
          <p:nvPr/>
        </p:nvSpPr>
        <p:spPr>
          <a:xfrm>
            <a:off x="4567859" y="4111200"/>
            <a:ext cx="892800" cy="190800"/>
          </a:xfrm>
          <a:prstGeom prst="roundRect">
            <a:avLst>
              <a:gd name="adj" fmla="val 15000"/>
            </a:avLst>
          </a:prstGeom>
          <a:solidFill>
            <a:srgbClr val="69FFAD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00B050"/>
                </a:solidFill>
                <a:latin typeface="Segoe UI"/>
              </a:rPr>
              <a:t>Gain élevé</a:t>
            </a:r>
          </a:p>
        </p:txBody>
      </p:sp>
      <p:sp>
        <p:nvSpPr>
          <p:cNvPr id="44" name="S09_OPP_2_BODY"/>
          <p:cNvSpPr txBox="1"/>
          <p:nvPr/>
        </p:nvSpPr>
        <p:spPr>
          <a:xfrm>
            <a:off x="4182659" y="4356000"/>
            <a:ext cx="3776400" cy="4320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"/>
              </a:rPr>
              <a:t>Méthode simple et 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transférable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.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207859" y="4896000"/>
            <a:ext cx="3776400" cy="0"/>
          </a:xfrm>
          <a:prstGeom prst="line">
            <a:avLst/>
          </a:prstGeom>
          <a:ln w="9525">
            <a:solidFill>
              <a:srgbClr val="AFB5C8"/>
            </a:solidFill>
            <a:prstDash val="dash"/>
          </a:ln>
        </p:spPr>
      </p:cxnSp>
      <p:sp>
        <p:nvSpPr>
          <p:cNvPr id="46" name="S09_OPP_2_ACTION_TAG"/>
          <p:cNvSpPr/>
          <p:nvPr/>
        </p:nvSpPr>
        <p:spPr>
          <a:xfrm>
            <a:off x="4207859" y="5004000"/>
            <a:ext cx="615600" cy="190800"/>
          </a:xfrm>
          <a:prstGeom prst="roundRect">
            <a:avLst>
              <a:gd name="adj" fmla="val 15000"/>
            </a:avLst>
          </a:prstGeom>
          <a:solidFill>
            <a:srgbClr val="DDE7CF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8DAC95"/>
                </a:solidFill>
                <a:latin typeface="Segoe UI"/>
              </a:rPr>
              <a:t>Levier</a:t>
            </a:r>
          </a:p>
        </p:txBody>
      </p:sp>
      <p:sp>
        <p:nvSpPr>
          <p:cNvPr id="47" name="S09_OPP_2_ACTION_BODY"/>
          <p:cNvSpPr txBox="1"/>
          <p:nvPr/>
        </p:nvSpPr>
        <p:spPr>
          <a:xfrm>
            <a:off x="4891859" y="5004000"/>
            <a:ext cx="3092400" cy="360000"/>
          </a:xfrm>
          <a:prstGeom prst="rect">
            <a:avLst/>
          </a:prstGeom>
          <a:noFill/>
        </p:spPr>
        <p:txBody>
          <a:bodyPr wrap="square" lIns="45720" rIns="45720" tIns="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 Light"/>
              </a:rPr>
              <a:t>Préparer un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kit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 de déploiement.</a:t>
            </a:r>
          </a:p>
        </p:txBody>
      </p:sp>
      <p:sp>
        <p:nvSpPr>
          <p:cNvPr id="48" name="S09_OPP_3_CARD"/>
          <p:cNvSpPr/>
          <p:nvPr/>
        </p:nvSpPr>
        <p:spPr>
          <a:xfrm>
            <a:off x="8149859" y="3708000"/>
            <a:ext cx="3920400" cy="230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AFB5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S09_OPP_3_ICON"/>
          <p:cNvSpPr/>
          <p:nvPr/>
        </p:nvSpPr>
        <p:spPr>
          <a:xfrm>
            <a:off x="8196659" y="3888000"/>
            <a:ext cx="306000" cy="306000"/>
          </a:xfrm>
          <a:prstGeom prst="roundRect">
            <a:avLst>
              <a:gd name="adj" fmla="val 15000"/>
            </a:avLst>
          </a:prstGeom>
          <a:solidFill>
            <a:srgbClr val="FEF4DA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800" b="1" i="0">
                <a:solidFill>
                  <a:srgbClr val="FBCC58"/>
                </a:solidFill>
                <a:latin typeface="Wingdings"/>
              </a:rPr>
              <a:t>J</a:t>
            </a:r>
          </a:p>
        </p:txBody>
      </p:sp>
      <p:sp>
        <p:nvSpPr>
          <p:cNvPr id="50" name="S09_OPP_3_TITLE"/>
          <p:cNvSpPr txBox="1"/>
          <p:nvPr/>
        </p:nvSpPr>
        <p:spPr>
          <a:xfrm>
            <a:off x="8581859" y="3834000"/>
            <a:ext cx="3240000" cy="2772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Crédibilité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comité</a:t>
            </a:r>
          </a:p>
        </p:txBody>
      </p:sp>
      <p:sp>
        <p:nvSpPr>
          <p:cNvPr id="51" name="S09_OPP_3_LEVEL"/>
          <p:cNvSpPr/>
          <p:nvPr/>
        </p:nvSpPr>
        <p:spPr>
          <a:xfrm>
            <a:off x="8581859" y="4111200"/>
            <a:ext cx="892800" cy="190800"/>
          </a:xfrm>
          <a:prstGeom prst="roundRect">
            <a:avLst>
              <a:gd name="adj" fmla="val 15000"/>
            </a:avLst>
          </a:prstGeom>
          <a:solidFill>
            <a:srgbClr val="FFFF85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A8A400"/>
                </a:solidFill>
                <a:latin typeface="Segoe UI"/>
              </a:rPr>
              <a:t>Gain moyen</a:t>
            </a:r>
          </a:p>
        </p:txBody>
      </p:sp>
      <p:sp>
        <p:nvSpPr>
          <p:cNvPr id="52" name="S09_OPP_3_BODY"/>
          <p:cNvSpPr txBox="1"/>
          <p:nvPr/>
        </p:nvSpPr>
        <p:spPr>
          <a:xfrm>
            <a:off x="8196659" y="4356000"/>
            <a:ext cx="3776400" cy="4320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"/>
              </a:rPr>
              <a:t>Décision appuyée sur des 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preuves terrain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.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8221859" y="4896000"/>
            <a:ext cx="3776400" cy="0"/>
          </a:xfrm>
          <a:prstGeom prst="line">
            <a:avLst/>
          </a:prstGeom>
          <a:ln w="9525">
            <a:solidFill>
              <a:srgbClr val="AFB5C8"/>
            </a:solidFill>
            <a:prstDash val="dash"/>
          </a:ln>
        </p:spPr>
      </p:cxnSp>
      <p:sp>
        <p:nvSpPr>
          <p:cNvPr id="54" name="S09_OPP_3_ACTION_TAG"/>
          <p:cNvSpPr/>
          <p:nvPr/>
        </p:nvSpPr>
        <p:spPr>
          <a:xfrm>
            <a:off x="8221859" y="5004000"/>
            <a:ext cx="615600" cy="190800"/>
          </a:xfrm>
          <a:prstGeom prst="roundRect">
            <a:avLst>
              <a:gd name="adj" fmla="val 15000"/>
            </a:avLst>
          </a:prstGeom>
          <a:solidFill>
            <a:srgbClr val="DDE7CF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8DAC95"/>
                </a:solidFill>
                <a:latin typeface="Segoe UI"/>
              </a:rPr>
              <a:t>Levier</a:t>
            </a:r>
          </a:p>
        </p:txBody>
      </p:sp>
      <p:sp>
        <p:nvSpPr>
          <p:cNvPr id="55" name="S09_OPP_3_ACTION_BODY"/>
          <p:cNvSpPr txBox="1"/>
          <p:nvPr/>
        </p:nvSpPr>
        <p:spPr>
          <a:xfrm>
            <a:off x="8905860" y="5004000"/>
            <a:ext cx="3092400" cy="360000"/>
          </a:xfrm>
          <a:prstGeom prst="rect">
            <a:avLst/>
          </a:prstGeom>
          <a:noFill/>
        </p:spPr>
        <p:txBody>
          <a:bodyPr wrap="square" lIns="45720" rIns="45720" tIns="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 Light"/>
              </a:rPr>
              <a:t>Présenter les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gains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 et les risques restants.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Plan d'action 18 mois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0" i="0">
                <a:solidFill>
                  <a:srgbClr val="7D7B8D"/>
                </a:solidFill>
                <a:latin typeface="Segoe UI"/>
              </a:rPr>
              <a:t>10      |</a:t>
            </a:r>
          </a:p>
        </p:txBody>
      </p:sp>
      <p:pic>
        <p:nvPicPr>
          <p:cNvPr id="7" name="Picture 6" descr="safran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200" y="6447600"/>
            <a:ext cx="1090800" cy="230400"/>
          </a:xfrm>
          <a:prstGeom prst="rect">
            <a:avLst/>
          </a:prstGeom>
        </p:spPr>
      </p:pic>
      <p:sp>
        <p:nvSpPr>
          <p:cNvPr id="8" name="S10_DATE"/>
          <p:cNvSpPr txBox="1"/>
          <p:nvPr/>
        </p:nvSpPr>
        <p:spPr>
          <a:xfrm>
            <a:off x="10119600" y="270000"/>
            <a:ext cx="1828800" cy="4644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1200" b="0" i="0">
                <a:solidFill>
                  <a:srgbClr val="FFFFFF"/>
                </a:solidFill>
                <a:latin typeface="Calibri"/>
              </a:rPr>
              <a:t>Mai </a:t>
            </a:r>
            <a:r>
              <a:rPr sz="1200" b="0" i="0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  <p:sp>
        <p:nvSpPr>
          <p:cNvPr id="9" name="S10_PHASE_1_CARD"/>
          <p:cNvSpPr/>
          <p:nvPr/>
        </p:nvSpPr>
        <p:spPr>
          <a:xfrm>
            <a:off x="202859" y="1475999"/>
            <a:ext cx="3780000" cy="4136400"/>
          </a:xfrm>
          <a:prstGeom prst="rect">
            <a:avLst/>
          </a:prstGeom>
          <a:solidFill>
            <a:srgbClr val="FFFFFF"/>
          </a:solidFill>
          <a:ln w="3175">
            <a:solidFill>
              <a:srgbClr val="E0E2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10_PHASE_1_BAND"/>
          <p:cNvSpPr/>
          <p:nvPr/>
        </p:nvSpPr>
        <p:spPr>
          <a:xfrm>
            <a:off x="202859" y="1475999"/>
            <a:ext cx="3780000" cy="7560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S10_PHASE_1_NUMBER"/>
          <p:cNvSpPr/>
          <p:nvPr/>
        </p:nvSpPr>
        <p:spPr>
          <a:xfrm>
            <a:off x="274859" y="1665000"/>
            <a:ext cx="410399" cy="410399"/>
          </a:xfrm>
          <a:prstGeom prst="ellipse">
            <a:avLst/>
          </a:prstGeom>
          <a:solidFill>
            <a:srgbClr val="6A5D79"/>
          </a:solidFill>
          <a:ln w="28575">
            <a:solidFill>
              <a:srgbClr val="FFFFFF"/>
            </a:solidFill>
          </a:ln>
        </p:spPr>
        <p:txBody>
          <a:bodyPr rtlCol="0" anchor="ctr" wrap="square" lIns="0" rIns="0" tIns="0" bIns="0"/>
          <a:lstStyle/>
          <a:p>
            <a:pPr algn="ctr"/>
            <a:r>
              <a:rPr sz="24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2" name="S10_PHASE_1_TITLE"/>
          <p:cNvSpPr txBox="1"/>
          <p:nvPr/>
        </p:nvSpPr>
        <p:spPr>
          <a:xfrm>
            <a:off x="836459" y="1558800"/>
            <a:ext cx="3024000" cy="342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Cadrage</a:t>
            </a:r>
          </a:p>
        </p:txBody>
      </p:sp>
      <p:sp>
        <p:nvSpPr>
          <p:cNvPr id="13" name="S10_PHASE_1_SUBTITLE"/>
          <p:cNvSpPr txBox="1"/>
          <p:nvPr/>
        </p:nvSpPr>
        <p:spPr>
          <a:xfrm>
            <a:off x="836459" y="1890000"/>
            <a:ext cx="3024000" cy="29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Segoe UI"/>
              </a:rPr>
              <a:t>T2</a:t>
            </a:r>
            <a:r>
              <a:rPr sz="1200" b="0" i="1">
                <a:solidFill>
                  <a:srgbClr val="FFFFFF"/>
                </a:solidFill>
                <a:latin typeface="Segoe UI"/>
              </a:rPr>
              <a:t> 2026</a:t>
            </a:r>
          </a:p>
        </p:txBody>
      </p:sp>
      <p:sp>
        <p:nvSpPr>
          <p:cNvPr id="14" name="S10_PHASE_1_ITEM_1_BULLET"/>
          <p:cNvSpPr/>
          <p:nvPr/>
        </p:nvSpPr>
        <p:spPr>
          <a:xfrm>
            <a:off x="382859" y="2397599"/>
            <a:ext cx="108000" cy="108000"/>
          </a:xfrm>
          <a:prstGeom prst="ellipse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S10_PHASE_1_ITEM_1_TITLE"/>
          <p:cNvSpPr txBox="1"/>
          <p:nvPr/>
        </p:nvSpPr>
        <p:spPr>
          <a:xfrm>
            <a:off x="570059" y="2267999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Sponsor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 + gouvernance</a:t>
            </a:r>
          </a:p>
        </p:txBody>
      </p:sp>
      <p:sp>
        <p:nvSpPr>
          <p:cNvPr id="16" name="S10_PHASE_1_ITEM_1_BODY"/>
          <p:cNvSpPr txBox="1"/>
          <p:nvPr/>
        </p:nvSpPr>
        <p:spPr>
          <a:xfrm>
            <a:off x="570059" y="2613599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COPIL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hebdomadaire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 et sponsor nommé.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46859" y="3358800"/>
            <a:ext cx="3492000" cy="0"/>
          </a:xfrm>
          <a:prstGeom prst="line">
            <a:avLst/>
          </a:prstGeom>
          <a:ln w="6350">
            <a:solidFill>
              <a:srgbClr val="E8E9EE"/>
            </a:solidFill>
          </a:ln>
        </p:spPr>
      </p:cxnSp>
      <p:sp>
        <p:nvSpPr>
          <p:cNvPr id="18" name="S10_PHASE_1_ITEM_2_BULLET"/>
          <p:cNvSpPr/>
          <p:nvPr/>
        </p:nvSpPr>
        <p:spPr>
          <a:xfrm>
            <a:off x="382859" y="3524399"/>
            <a:ext cx="108000" cy="108000"/>
          </a:xfrm>
          <a:prstGeom prst="ellipse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S10_PHASE_1_ITEM_2_TITLE"/>
          <p:cNvSpPr txBox="1"/>
          <p:nvPr/>
        </p:nvSpPr>
        <p:spPr>
          <a:xfrm>
            <a:off x="570059" y="33948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Diagnostic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terrain</a:t>
            </a:r>
          </a:p>
        </p:txBody>
      </p:sp>
      <p:sp>
        <p:nvSpPr>
          <p:cNvPr id="20" name="S10_PHASE_1_ITEM_2_BODY"/>
          <p:cNvSpPr txBox="1"/>
          <p:nvPr/>
        </p:nvSpPr>
        <p:spPr>
          <a:xfrm>
            <a:off x="570059" y="3740400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Entretiens, irritants et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baseline KPI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46859" y="4485600"/>
            <a:ext cx="3492000" cy="0"/>
          </a:xfrm>
          <a:prstGeom prst="line">
            <a:avLst/>
          </a:prstGeom>
          <a:ln w="6350">
            <a:solidFill>
              <a:srgbClr val="E8E9EE"/>
            </a:solidFill>
          </a:ln>
        </p:spPr>
      </p:cxnSp>
      <p:sp>
        <p:nvSpPr>
          <p:cNvPr id="22" name="S10_PHASE_1_ITEM_3_BULLET"/>
          <p:cNvSpPr/>
          <p:nvPr/>
        </p:nvSpPr>
        <p:spPr>
          <a:xfrm>
            <a:off x="382859" y="4651200"/>
            <a:ext cx="108000" cy="108000"/>
          </a:xfrm>
          <a:prstGeom prst="ellipse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S10_PHASE_1_ITEM_3_TITLE"/>
          <p:cNvSpPr txBox="1"/>
          <p:nvPr/>
        </p:nvSpPr>
        <p:spPr>
          <a:xfrm>
            <a:off x="570059" y="45216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Roadmap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 détaillée</a:t>
            </a:r>
          </a:p>
        </p:txBody>
      </p:sp>
      <p:sp>
        <p:nvSpPr>
          <p:cNvPr id="24" name="S10_PHASE_1_ITEM_3_BODY"/>
          <p:cNvSpPr txBox="1"/>
          <p:nvPr/>
        </p:nvSpPr>
        <p:spPr>
          <a:xfrm>
            <a:off x="570059" y="4867200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Chantiers, jalons et critères de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succès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25" name="S10_PHASE_2_CARD"/>
          <p:cNvSpPr/>
          <p:nvPr/>
        </p:nvSpPr>
        <p:spPr>
          <a:xfrm>
            <a:off x="4206059" y="1475999"/>
            <a:ext cx="3780000" cy="4136400"/>
          </a:xfrm>
          <a:prstGeom prst="rect">
            <a:avLst/>
          </a:prstGeom>
          <a:solidFill>
            <a:srgbClr val="FFFFFF"/>
          </a:solidFill>
          <a:ln w="3175">
            <a:solidFill>
              <a:srgbClr val="E0E2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S10_PHASE_2_BAND"/>
          <p:cNvSpPr/>
          <p:nvPr/>
        </p:nvSpPr>
        <p:spPr>
          <a:xfrm>
            <a:off x="4206059" y="1475999"/>
            <a:ext cx="3780000" cy="756000"/>
          </a:xfrm>
          <a:prstGeom prst="rect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S10_PHASE_2_NUMBER"/>
          <p:cNvSpPr/>
          <p:nvPr/>
        </p:nvSpPr>
        <p:spPr>
          <a:xfrm>
            <a:off x="4278059" y="1665000"/>
            <a:ext cx="410399" cy="410399"/>
          </a:xfrm>
          <a:prstGeom prst="ellipse">
            <a:avLst/>
          </a:prstGeom>
          <a:solidFill>
            <a:srgbClr val="A25871"/>
          </a:solidFill>
          <a:ln w="28575">
            <a:solidFill>
              <a:srgbClr val="FFFFFF"/>
            </a:solidFill>
          </a:ln>
        </p:spPr>
        <p:txBody>
          <a:bodyPr rtlCol="0" anchor="ctr" wrap="square" lIns="0" rIns="0" tIns="0" bIns="0"/>
          <a:lstStyle/>
          <a:p>
            <a:pPr algn="ctr"/>
            <a:r>
              <a:rPr sz="24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8" name="S10_PHASE_2_TITLE"/>
          <p:cNvSpPr txBox="1"/>
          <p:nvPr/>
        </p:nvSpPr>
        <p:spPr>
          <a:xfrm>
            <a:off x="4839659" y="1558800"/>
            <a:ext cx="3024000" cy="342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Pilote</a:t>
            </a:r>
          </a:p>
        </p:txBody>
      </p:sp>
      <p:sp>
        <p:nvSpPr>
          <p:cNvPr id="29" name="S10_PHASE_2_SUBTITLE"/>
          <p:cNvSpPr txBox="1"/>
          <p:nvPr/>
        </p:nvSpPr>
        <p:spPr>
          <a:xfrm>
            <a:off x="4839659" y="1890000"/>
            <a:ext cx="3024000" cy="29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Segoe UI"/>
              </a:rPr>
              <a:t>T3</a:t>
            </a:r>
            <a:r>
              <a:rPr sz="1200" b="0" i="1">
                <a:solidFill>
                  <a:srgbClr val="FFFFFF"/>
                </a:solidFill>
                <a:latin typeface="Segoe UI"/>
              </a:rPr>
              <a:t> 2026</a:t>
            </a:r>
          </a:p>
        </p:txBody>
      </p:sp>
      <p:sp>
        <p:nvSpPr>
          <p:cNvPr id="30" name="S10_PHASE_2_ITEM_1_BULLET"/>
          <p:cNvSpPr/>
          <p:nvPr/>
        </p:nvSpPr>
        <p:spPr>
          <a:xfrm>
            <a:off x="4386059" y="2397599"/>
            <a:ext cx="108000" cy="108000"/>
          </a:xfrm>
          <a:prstGeom prst="ellipse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S10_PHASE_2_ITEM_1_TITLE"/>
          <p:cNvSpPr txBox="1"/>
          <p:nvPr/>
        </p:nvSpPr>
        <p:spPr>
          <a:xfrm>
            <a:off x="4573259" y="2267999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2 sites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 pilotes</a:t>
            </a:r>
          </a:p>
        </p:txBody>
      </p:sp>
      <p:sp>
        <p:nvSpPr>
          <p:cNvPr id="32" name="S10_PHASE_2_ITEM_1_BODY"/>
          <p:cNvSpPr txBox="1"/>
          <p:nvPr/>
        </p:nvSpPr>
        <p:spPr>
          <a:xfrm>
            <a:off x="4573259" y="2613599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Deux contextes pour tester la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robustesse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350059" y="3358800"/>
            <a:ext cx="3492000" cy="0"/>
          </a:xfrm>
          <a:prstGeom prst="line">
            <a:avLst/>
          </a:prstGeom>
          <a:ln w="6350">
            <a:solidFill>
              <a:srgbClr val="E8E9EE"/>
            </a:solidFill>
          </a:ln>
        </p:spPr>
      </p:cxnSp>
      <p:sp>
        <p:nvSpPr>
          <p:cNvPr id="34" name="S10_PHASE_2_ITEM_2_BULLET"/>
          <p:cNvSpPr/>
          <p:nvPr/>
        </p:nvSpPr>
        <p:spPr>
          <a:xfrm>
            <a:off x="4386059" y="3524399"/>
            <a:ext cx="108000" cy="108000"/>
          </a:xfrm>
          <a:prstGeom prst="ellipse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S10_PHASE_2_ITEM_2_TITLE"/>
          <p:cNvSpPr txBox="1"/>
          <p:nvPr/>
        </p:nvSpPr>
        <p:spPr>
          <a:xfrm>
            <a:off x="4573259" y="33948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Méthode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validée</a:t>
            </a:r>
          </a:p>
        </p:txBody>
      </p:sp>
      <p:sp>
        <p:nvSpPr>
          <p:cNvPr id="36" name="S10_PHASE_2_ITEM_2_BODY"/>
          <p:cNvSpPr txBox="1"/>
          <p:nvPr/>
        </p:nvSpPr>
        <p:spPr>
          <a:xfrm>
            <a:off x="4573259" y="3740400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Itérations courtes et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REX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 mensuel.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4350059" y="4485600"/>
            <a:ext cx="3492000" cy="0"/>
          </a:xfrm>
          <a:prstGeom prst="line">
            <a:avLst/>
          </a:prstGeom>
          <a:ln w="6350">
            <a:solidFill>
              <a:srgbClr val="E8E9EE"/>
            </a:solidFill>
          </a:ln>
        </p:spPr>
      </p:cxnSp>
      <p:sp>
        <p:nvSpPr>
          <p:cNvPr id="38" name="S10_PHASE_2_ITEM_3_BULLET"/>
          <p:cNvSpPr/>
          <p:nvPr/>
        </p:nvSpPr>
        <p:spPr>
          <a:xfrm>
            <a:off x="4386059" y="4651200"/>
            <a:ext cx="108000" cy="108000"/>
          </a:xfrm>
          <a:prstGeom prst="ellipse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S10_PHASE_2_ITEM_3_TITLE"/>
          <p:cNvSpPr txBox="1"/>
          <p:nvPr/>
        </p:nvSpPr>
        <p:spPr>
          <a:xfrm>
            <a:off x="4573259" y="45216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Premiers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gains</a:t>
            </a:r>
          </a:p>
        </p:txBody>
      </p:sp>
      <p:sp>
        <p:nvSpPr>
          <p:cNvPr id="40" name="S10_PHASE_2_ITEM_3_BODY"/>
          <p:cNvSpPr txBox="1"/>
          <p:nvPr/>
        </p:nvSpPr>
        <p:spPr>
          <a:xfrm>
            <a:off x="4573259" y="4867200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Mesure des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impacts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 et communication.</a:t>
            </a:r>
          </a:p>
        </p:txBody>
      </p:sp>
      <p:sp>
        <p:nvSpPr>
          <p:cNvPr id="41" name="S10_PHASE_3_CARD"/>
          <p:cNvSpPr/>
          <p:nvPr/>
        </p:nvSpPr>
        <p:spPr>
          <a:xfrm>
            <a:off x="8209259" y="1475999"/>
            <a:ext cx="3780000" cy="4136400"/>
          </a:xfrm>
          <a:prstGeom prst="rect">
            <a:avLst/>
          </a:prstGeom>
          <a:solidFill>
            <a:srgbClr val="FFFFFF"/>
          </a:solidFill>
          <a:ln w="3175">
            <a:solidFill>
              <a:srgbClr val="E0E2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S10_PHASE_3_BAND"/>
          <p:cNvSpPr/>
          <p:nvPr/>
        </p:nvSpPr>
        <p:spPr>
          <a:xfrm>
            <a:off x="8209259" y="1475999"/>
            <a:ext cx="3780000" cy="756000"/>
          </a:xfrm>
          <a:prstGeom prst="rect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S10_PHASE_3_NUMBER"/>
          <p:cNvSpPr/>
          <p:nvPr/>
        </p:nvSpPr>
        <p:spPr>
          <a:xfrm>
            <a:off x="8281259" y="1665000"/>
            <a:ext cx="410399" cy="410399"/>
          </a:xfrm>
          <a:prstGeom prst="ellipse">
            <a:avLst/>
          </a:prstGeom>
          <a:solidFill>
            <a:srgbClr val="FDA85B"/>
          </a:solidFill>
          <a:ln w="28575">
            <a:solidFill>
              <a:srgbClr val="FFFFFF"/>
            </a:solidFill>
          </a:ln>
        </p:spPr>
        <p:txBody>
          <a:bodyPr rtlCol="0" anchor="ctr" wrap="square" lIns="0" rIns="0" tIns="0" bIns="0"/>
          <a:lstStyle/>
          <a:p>
            <a:pPr algn="ctr"/>
            <a:r>
              <a:rPr sz="24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44" name="S10_PHASE_3_TITLE"/>
          <p:cNvSpPr txBox="1"/>
          <p:nvPr/>
        </p:nvSpPr>
        <p:spPr>
          <a:xfrm>
            <a:off x="8842860" y="1558800"/>
            <a:ext cx="3024000" cy="342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Déploiement</a:t>
            </a:r>
          </a:p>
        </p:txBody>
      </p:sp>
      <p:sp>
        <p:nvSpPr>
          <p:cNvPr id="45" name="S10_PHASE_3_SUBTITLE"/>
          <p:cNvSpPr txBox="1"/>
          <p:nvPr/>
        </p:nvSpPr>
        <p:spPr>
          <a:xfrm>
            <a:off x="8842860" y="1890000"/>
            <a:ext cx="3024000" cy="29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Segoe UI"/>
              </a:rPr>
              <a:t>2027</a:t>
            </a:r>
          </a:p>
        </p:txBody>
      </p:sp>
      <p:sp>
        <p:nvSpPr>
          <p:cNvPr id="46" name="S10_PHASE_3_ITEM_1_BULLET"/>
          <p:cNvSpPr/>
          <p:nvPr/>
        </p:nvSpPr>
        <p:spPr>
          <a:xfrm>
            <a:off x="8389259" y="2397599"/>
            <a:ext cx="108000" cy="108000"/>
          </a:xfrm>
          <a:prstGeom prst="ellipse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S10_PHASE_3_ITEM_1_TITLE"/>
          <p:cNvSpPr txBox="1"/>
          <p:nvPr/>
        </p:nvSpPr>
        <p:spPr>
          <a:xfrm>
            <a:off x="8576459" y="2267999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Vague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 1</a:t>
            </a:r>
          </a:p>
        </p:txBody>
      </p:sp>
      <p:sp>
        <p:nvSpPr>
          <p:cNvPr id="48" name="S10_PHASE_3_ITEM_1_BODY"/>
          <p:cNvSpPr txBox="1"/>
          <p:nvPr/>
        </p:nvSpPr>
        <p:spPr>
          <a:xfrm>
            <a:off x="8576459" y="2613599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Six sites avec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relais locaux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8353259" y="3358800"/>
            <a:ext cx="3492000" cy="0"/>
          </a:xfrm>
          <a:prstGeom prst="line">
            <a:avLst/>
          </a:prstGeom>
          <a:ln w="6350">
            <a:solidFill>
              <a:srgbClr val="E8E9EE"/>
            </a:solidFill>
          </a:ln>
        </p:spPr>
      </p:cxnSp>
      <p:sp>
        <p:nvSpPr>
          <p:cNvPr id="50" name="S10_PHASE_3_ITEM_2_BULLET"/>
          <p:cNvSpPr/>
          <p:nvPr/>
        </p:nvSpPr>
        <p:spPr>
          <a:xfrm>
            <a:off x="8389259" y="3524399"/>
            <a:ext cx="108000" cy="108000"/>
          </a:xfrm>
          <a:prstGeom prst="ellipse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S10_PHASE_3_ITEM_2_TITLE"/>
          <p:cNvSpPr txBox="1"/>
          <p:nvPr/>
        </p:nvSpPr>
        <p:spPr>
          <a:xfrm>
            <a:off x="8576459" y="33948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Vague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 2</a:t>
            </a:r>
          </a:p>
        </p:txBody>
      </p:sp>
      <p:sp>
        <p:nvSpPr>
          <p:cNvPr id="52" name="S10_PHASE_3_ITEM_2_BODY"/>
          <p:cNvSpPr txBox="1"/>
          <p:nvPr/>
        </p:nvSpPr>
        <p:spPr>
          <a:xfrm>
            <a:off x="8576459" y="3740400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Extension aux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BU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 adjacentes.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8353259" y="4485600"/>
            <a:ext cx="3492000" cy="0"/>
          </a:xfrm>
          <a:prstGeom prst="line">
            <a:avLst/>
          </a:prstGeom>
          <a:ln w="6350">
            <a:solidFill>
              <a:srgbClr val="E8E9EE"/>
            </a:solidFill>
          </a:ln>
        </p:spPr>
      </p:cxnSp>
      <p:sp>
        <p:nvSpPr>
          <p:cNvPr id="54" name="S10_PHASE_3_ITEM_3_BULLET"/>
          <p:cNvSpPr/>
          <p:nvPr/>
        </p:nvSpPr>
        <p:spPr>
          <a:xfrm>
            <a:off x="8389259" y="4651200"/>
            <a:ext cx="108000" cy="108000"/>
          </a:xfrm>
          <a:prstGeom prst="ellipse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S10_PHASE_3_ITEM_3_TITLE"/>
          <p:cNvSpPr txBox="1"/>
          <p:nvPr/>
        </p:nvSpPr>
        <p:spPr>
          <a:xfrm>
            <a:off x="8576459" y="45216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Pérennisation</a:t>
            </a:r>
          </a:p>
        </p:txBody>
      </p:sp>
      <p:sp>
        <p:nvSpPr>
          <p:cNvPr id="56" name="S10_PHASE_3_ITEM_3_BODY"/>
          <p:cNvSpPr txBox="1"/>
          <p:nvPr/>
        </p:nvSpPr>
        <p:spPr>
          <a:xfrm>
            <a:off x="8576459" y="4867200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Intégration aux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routines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 managériales.</a:t>
            </a:r>
          </a:p>
        </p:txBody>
      </p:sp>
      <p:sp>
        <p:nvSpPr>
          <p:cNvPr id="57" name="TakeawayBand"/>
          <p:cNvSpPr/>
          <p:nvPr/>
        </p:nvSpPr>
        <p:spPr>
          <a:xfrm>
            <a:off x="392400" y="6037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TakeawayBandText"/>
          <p:cNvSpPr txBox="1"/>
          <p:nvPr/>
        </p:nvSpPr>
        <p:spPr>
          <a:xfrm>
            <a:off x="392400" y="6037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Trois phases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 pour sécuriser le scale-up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Synthèse et décision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0" i="0">
                <a:solidFill>
                  <a:srgbClr val="7D7B8D"/>
                </a:solidFill>
                <a:latin typeface="Segoe UI"/>
              </a:rPr>
              <a:t>11      |</a:t>
            </a:r>
          </a:p>
        </p:txBody>
      </p:sp>
      <p:pic>
        <p:nvPicPr>
          <p:cNvPr id="7" name="Picture 6" descr="safran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200" y="6447600"/>
            <a:ext cx="1090800" cy="230400"/>
          </a:xfrm>
          <a:prstGeom prst="rect">
            <a:avLst/>
          </a:prstGeom>
        </p:spPr>
      </p:pic>
      <p:sp>
        <p:nvSpPr>
          <p:cNvPr id="8" name="S11_BLOCK_1_ACCENT_BAR"/>
          <p:cNvSpPr/>
          <p:nvPr/>
        </p:nvSpPr>
        <p:spPr>
          <a:xfrm>
            <a:off x="392400" y="1152000"/>
            <a:ext cx="61200" cy="1371600"/>
          </a:xfrm>
          <a:prstGeom prst="roundRect">
            <a:avLst>
              <a:gd name="adj" fmla="val 12000"/>
            </a:avLst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S11_BLOCK_1_NUMBE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000" y="1242000"/>
            <a:ext cx="1440000" cy="792000"/>
          </a:xfrm>
          <a:prstGeom prst="rect">
            <a:avLst/>
          </a:prstGeom>
        </p:spPr>
      </p:pic>
      <p:sp>
        <p:nvSpPr>
          <p:cNvPr id="10" name="S11_BLOCK_1_TITLE"/>
          <p:cNvSpPr txBox="1"/>
          <p:nvPr/>
        </p:nvSpPr>
        <p:spPr>
          <a:xfrm>
            <a:off x="720000" y="1242000"/>
            <a:ext cx="10620000" cy="39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6A5D79"/>
                </a:solidFill>
                <a:latin typeface="Segoe UI"/>
              </a:rPr>
              <a:t>Ce que le </a:t>
            </a:r>
            <a:r>
              <a:rPr sz="1800" b="1" i="0">
                <a:solidFill>
                  <a:srgbClr val="6A5D79"/>
                </a:solidFill>
                <a:latin typeface="Segoe UI"/>
              </a:rPr>
              <a:t>pilote</a:t>
            </a:r>
            <a:r>
              <a:rPr sz="1800" b="1" i="0">
                <a:solidFill>
                  <a:srgbClr val="6A5D79"/>
                </a:solidFill>
                <a:latin typeface="Segoe UI"/>
              </a:rPr>
              <a:t> prouve</a:t>
            </a:r>
          </a:p>
        </p:txBody>
      </p:sp>
      <p:sp>
        <p:nvSpPr>
          <p:cNvPr id="11" name="S11_BLOCK_1_BODY"/>
          <p:cNvSpPr txBox="1"/>
          <p:nvPr/>
        </p:nvSpPr>
        <p:spPr>
          <a:xfrm>
            <a:off x="720000" y="1674000"/>
            <a:ext cx="10620000" cy="86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4E67"/>
                </a:solidFill>
                <a:latin typeface="Segoe UI Light"/>
              </a:rPr>
              <a:t>Le dispositif </a:t>
            </a:r>
            <a:r>
              <a:rPr sz="1400" b="1" i="0">
                <a:solidFill>
                  <a:srgbClr val="474E67"/>
                </a:solidFill>
                <a:latin typeface="Segoe UI"/>
              </a:rPr>
              <a:t>réduit le temps d'arbitrage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 et rend les </a:t>
            </a:r>
            <a:r>
              <a:rPr sz="1400" b="1" i="0">
                <a:solidFill>
                  <a:srgbClr val="474E67"/>
                </a:solidFill>
                <a:latin typeface="Segoe UI"/>
              </a:rPr>
              <a:t>points de blocage visibles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12" name="S11_BLOCK_2_ACCENT_BAR"/>
          <p:cNvSpPr/>
          <p:nvPr/>
        </p:nvSpPr>
        <p:spPr>
          <a:xfrm>
            <a:off x="392400" y="2772000"/>
            <a:ext cx="61200" cy="1371600"/>
          </a:xfrm>
          <a:prstGeom prst="roundRect">
            <a:avLst>
              <a:gd name="adj" fmla="val 12000"/>
            </a:avLst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S11_BLOCK_2_NUMBE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" y="2872800"/>
            <a:ext cx="1440000" cy="792000"/>
          </a:xfrm>
          <a:prstGeom prst="rect">
            <a:avLst/>
          </a:prstGeom>
        </p:spPr>
      </p:pic>
      <p:sp>
        <p:nvSpPr>
          <p:cNvPr id="14" name="S11_BLOCK_2_TITLE"/>
          <p:cNvSpPr txBox="1"/>
          <p:nvPr/>
        </p:nvSpPr>
        <p:spPr>
          <a:xfrm>
            <a:off x="720000" y="2872800"/>
            <a:ext cx="10620000" cy="39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A25871"/>
                </a:solidFill>
                <a:latin typeface="Segoe UI"/>
              </a:rPr>
              <a:t>Ce qui change pour les </a:t>
            </a:r>
            <a:r>
              <a:rPr sz="1800" b="1" i="0">
                <a:solidFill>
                  <a:srgbClr val="A25871"/>
                </a:solidFill>
                <a:latin typeface="Segoe UI"/>
              </a:rPr>
              <a:t>équipes</a:t>
            </a:r>
          </a:p>
        </p:txBody>
      </p:sp>
      <p:sp>
        <p:nvSpPr>
          <p:cNvPr id="15" name="S11_BLOCK_2_BODY"/>
          <p:cNvSpPr txBox="1"/>
          <p:nvPr/>
        </p:nvSpPr>
        <p:spPr>
          <a:xfrm>
            <a:off x="720000" y="3304800"/>
            <a:ext cx="10620000" cy="86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4E67"/>
                </a:solidFill>
                <a:latin typeface="Segoe UI Light"/>
              </a:rPr>
              <a:t>Les équipes disposent d'une </a:t>
            </a:r>
            <a:r>
              <a:rPr sz="1400" b="1" i="0">
                <a:solidFill>
                  <a:srgbClr val="474E67"/>
                </a:solidFill>
                <a:latin typeface="Segoe UI"/>
              </a:rPr>
              <a:t>cadence stable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, de </a:t>
            </a:r>
            <a:r>
              <a:rPr sz="1400" b="1" i="0">
                <a:solidFill>
                  <a:srgbClr val="474E67"/>
                </a:solidFill>
                <a:latin typeface="Segoe UI"/>
              </a:rPr>
              <a:t>décisions plus rapides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 et d'un espace clair pour remonter les irritants.</a:t>
            </a:r>
          </a:p>
        </p:txBody>
      </p:sp>
      <p:sp>
        <p:nvSpPr>
          <p:cNvPr id="16" name="S11_BLOCK_3_ACCENT_BAR"/>
          <p:cNvSpPr/>
          <p:nvPr/>
        </p:nvSpPr>
        <p:spPr>
          <a:xfrm>
            <a:off x="392400" y="4392000"/>
            <a:ext cx="61200" cy="1371600"/>
          </a:xfrm>
          <a:prstGeom prst="roundRect">
            <a:avLst>
              <a:gd name="adj" fmla="val 12000"/>
            </a:avLst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S11_BLOCK_3_NUMBE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000" y="4482000"/>
            <a:ext cx="1440000" cy="792000"/>
          </a:xfrm>
          <a:prstGeom prst="rect">
            <a:avLst/>
          </a:prstGeom>
        </p:spPr>
      </p:pic>
      <p:sp>
        <p:nvSpPr>
          <p:cNvPr id="18" name="S11_BLOCK_3_TITLE"/>
          <p:cNvSpPr txBox="1"/>
          <p:nvPr/>
        </p:nvSpPr>
        <p:spPr>
          <a:xfrm>
            <a:off x="720000" y="4482000"/>
            <a:ext cx="10620000" cy="39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FDA85B"/>
                </a:solidFill>
                <a:latin typeface="Segoe UI"/>
              </a:rPr>
              <a:t>Ce que nous </a:t>
            </a:r>
            <a:r>
              <a:rPr sz="1800" b="1" i="0">
                <a:solidFill>
                  <a:srgbClr val="FDA85B"/>
                </a:solidFill>
                <a:latin typeface="Segoe UI"/>
              </a:rPr>
              <a:t>proposons</a:t>
            </a:r>
          </a:p>
        </p:txBody>
      </p:sp>
      <p:sp>
        <p:nvSpPr>
          <p:cNvPr id="19" name="S11_BLOCK_3_BODY"/>
          <p:cNvSpPr txBox="1"/>
          <p:nvPr/>
        </p:nvSpPr>
        <p:spPr>
          <a:xfrm>
            <a:off x="720000" y="4914000"/>
            <a:ext cx="10620000" cy="86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4E67"/>
                </a:solidFill>
                <a:latin typeface="Segoe UI Light"/>
              </a:rPr>
              <a:t>Valider le </a:t>
            </a:r>
            <a:r>
              <a:rPr sz="1400" b="1" i="0">
                <a:solidFill>
                  <a:srgbClr val="474E67"/>
                </a:solidFill>
                <a:latin typeface="Segoe UI"/>
              </a:rPr>
              <a:t>scale-up sur trois sites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, avec un </a:t>
            </a:r>
            <a:r>
              <a:rPr sz="1400" b="1" i="0">
                <a:solidFill>
                  <a:srgbClr val="474E67"/>
                </a:solidFill>
                <a:latin typeface="Segoe UI"/>
              </a:rPr>
              <a:t>sponsor unique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 et un reporting centré sur les impacts.</a:t>
            </a:r>
          </a:p>
        </p:txBody>
      </p:sp>
      <p:sp>
        <p:nvSpPr>
          <p:cNvPr id="20" name="TakeawayBand"/>
          <p:cNvSpPr/>
          <p:nvPr/>
        </p:nvSpPr>
        <p:spPr>
          <a:xfrm>
            <a:off x="392400" y="6037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akeawayBandText"/>
          <p:cNvSpPr txBox="1"/>
          <p:nvPr/>
        </p:nvSpPr>
        <p:spPr>
          <a:xfrm>
            <a:off x="392400" y="6037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Validez-vous le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scale-up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 dès ce mois-ci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