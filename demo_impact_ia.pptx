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Impact par population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5_HEADER_1"/>
          <p:cNvSpPr txBox="1"/>
          <p:nvPr/>
        </p:nvSpPr>
        <p:spPr>
          <a:xfrm>
            <a:off x="3315600" y="1310400"/>
            <a:ext cx="633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9" name="S15_HEADER_2"/>
          <p:cNvSpPr txBox="1"/>
          <p:nvPr/>
        </p:nvSpPr>
        <p:spPr>
          <a:xfrm>
            <a:off x="4723200" y="1310400"/>
            <a:ext cx="655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Métier</a:t>
            </a:r>
          </a:p>
        </p:txBody>
      </p:sp>
      <p:sp>
        <p:nvSpPr>
          <p:cNvPr id="10" name="S15_HEADER_3"/>
          <p:cNvSpPr txBox="1"/>
          <p:nvPr/>
        </p:nvSpPr>
        <p:spPr>
          <a:xfrm>
            <a:off x="5871600" y="1310400"/>
            <a:ext cx="1141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Organisation</a:t>
            </a:r>
          </a:p>
        </p:txBody>
      </p:sp>
      <p:sp>
        <p:nvSpPr>
          <p:cNvPr id="11" name="S15_HEADER_4"/>
          <p:cNvSpPr txBox="1"/>
          <p:nvPr/>
        </p:nvSpPr>
        <p:spPr>
          <a:xfrm>
            <a:off x="7466399" y="1310400"/>
            <a:ext cx="7344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Culture</a:t>
            </a:r>
          </a:p>
        </p:txBody>
      </p:sp>
      <p:sp>
        <p:nvSpPr>
          <p:cNvPr id="12" name="S15_HEADER_5"/>
          <p:cNvSpPr txBox="1"/>
          <p:nvPr/>
        </p:nvSpPr>
        <p:spPr>
          <a:xfrm>
            <a:off x="9054000" y="1310400"/>
            <a:ext cx="2037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Leviers retenus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800" y="16020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14" name="S15_TABLE_LABEL_R1"/>
          <p:cNvSpPr txBox="1"/>
          <p:nvPr/>
        </p:nvSpPr>
        <p:spPr>
          <a:xfrm>
            <a:off x="388800" y="16559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fabricabilité</a:t>
            </a:r>
          </a:p>
        </p:txBody>
      </p:sp>
      <p:sp>
        <p:nvSpPr>
          <p:cNvPr id="15" name="S15_TABLE_SUBLABEL_R1"/>
          <p:cNvSpPr txBox="1"/>
          <p:nvPr/>
        </p:nvSpPr>
        <p:spPr>
          <a:xfrm>
            <a:off x="388800" y="19188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16" name="S15_TABLE_R1_C2"/>
          <p:cNvSpPr/>
          <p:nvPr/>
        </p:nvSpPr>
        <p:spPr>
          <a:xfrm>
            <a:off x="2973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5_TABLE_R1_C3"/>
          <p:cNvSpPr/>
          <p:nvPr/>
        </p:nvSpPr>
        <p:spPr>
          <a:xfrm>
            <a:off x="43668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5_TABLE_R1_C4"/>
          <p:cNvSpPr/>
          <p:nvPr/>
        </p:nvSpPr>
        <p:spPr>
          <a:xfrm>
            <a:off x="57600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5_TABLE_R1_C5"/>
          <p:cNvSpPr/>
          <p:nvPr/>
        </p:nvSpPr>
        <p:spPr>
          <a:xfrm>
            <a:off x="7149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15_TABLE_R1_C6"/>
          <p:cNvSpPr/>
          <p:nvPr/>
        </p:nvSpPr>
        <p:spPr>
          <a:xfrm>
            <a:off x="8542800" y="16559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Comm. enjeux budget + preuve pairs VP1 | Templates oSmoz + retex appropriation | Support MàJ coordinateur</a:t>
            </a:r>
          </a:p>
        </p:txBody>
      </p:sp>
      <p:sp>
        <p:nvSpPr>
          <p:cNvPr id="21" name="S15_TABLE_LABEL_R2"/>
          <p:cNvSpPr txBox="1"/>
          <p:nvPr/>
        </p:nvSpPr>
        <p:spPr>
          <a:xfrm>
            <a:off x="388800" y="222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22" name="S15_TABLE_SUBLABEL_R2"/>
          <p:cNvSpPr txBox="1"/>
          <p:nvPr/>
        </p:nvSpPr>
        <p:spPr>
          <a:xfrm>
            <a:off x="388800" y="248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1 personne</a:t>
            </a:r>
          </a:p>
        </p:txBody>
      </p:sp>
      <p:sp>
        <p:nvSpPr>
          <p:cNvPr id="23" name="S15_TABLE_R2_C2"/>
          <p:cNvSpPr/>
          <p:nvPr/>
        </p:nvSpPr>
        <p:spPr>
          <a:xfrm>
            <a:off x="2973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5_TABLE_R2_C3"/>
          <p:cNvSpPr/>
          <p:nvPr/>
        </p:nvSpPr>
        <p:spPr>
          <a:xfrm>
            <a:off x="43668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5_TABLE_R2_C4"/>
          <p:cNvSpPr/>
          <p:nvPr/>
        </p:nvSpPr>
        <p:spPr>
          <a:xfrm>
            <a:off x="57600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5_TABLE_R2_C5"/>
          <p:cNvSpPr/>
          <p:nvPr/>
        </p:nvSpPr>
        <p:spPr>
          <a:xfrm>
            <a:off x="7149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5_TABLE_R2_C6"/>
          <p:cNvSpPr/>
          <p:nvPr/>
        </p:nvSpPr>
        <p:spPr>
          <a:xfrm>
            <a:off x="8542800" y="222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Comm. enjeux + preuve pairs VP1 | Mobilisation relais RGM + MàJ ILS | Retex post-déploiement</a:t>
            </a:r>
          </a:p>
        </p:txBody>
      </p:sp>
      <p:sp>
        <p:nvSpPr>
          <p:cNvPr id="28" name="S15_TABLE_LABEL_R3"/>
          <p:cNvSpPr txBox="1"/>
          <p:nvPr/>
        </p:nvSpPr>
        <p:spPr>
          <a:xfrm>
            <a:off x="388800" y="27828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fabricabilité</a:t>
            </a:r>
          </a:p>
        </p:txBody>
      </p:sp>
      <p:sp>
        <p:nvSpPr>
          <p:cNvPr id="29" name="S15_TABLE_SUBLABEL_R3"/>
          <p:cNvSpPr txBox="1"/>
          <p:nvPr/>
        </p:nvSpPr>
        <p:spPr>
          <a:xfrm>
            <a:off x="388800" y="30456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10 personnes</a:t>
            </a:r>
          </a:p>
        </p:txBody>
      </p:sp>
      <p:sp>
        <p:nvSpPr>
          <p:cNvPr id="30" name="S15_TABLE_R3_C2"/>
          <p:cNvSpPr/>
          <p:nvPr/>
        </p:nvSpPr>
        <p:spPr>
          <a:xfrm>
            <a:off x="29736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15_TABLE_R3_C3"/>
          <p:cNvSpPr/>
          <p:nvPr/>
        </p:nvSpPr>
        <p:spPr>
          <a:xfrm>
            <a:off x="43668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S15_TABLE_R3_C4"/>
          <p:cNvSpPr/>
          <p:nvPr/>
        </p:nvSpPr>
        <p:spPr>
          <a:xfrm>
            <a:off x="57600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15_TABLE_R3_C5"/>
          <p:cNvSpPr/>
          <p:nvPr/>
        </p:nvSpPr>
        <p:spPr>
          <a:xfrm>
            <a:off x="71496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5_TABLE_R3_C6"/>
          <p:cNvSpPr/>
          <p:nvPr/>
        </p:nvSpPr>
        <p:spPr>
          <a:xfrm>
            <a:off x="8542800" y="27828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Comm. enjeux budget + preuve pairs VP1 | Templates oSmoz + retex appropriation | Support MàJ coordinateur</a:t>
            </a:r>
          </a:p>
        </p:txBody>
      </p:sp>
      <p:sp>
        <p:nvSpPr>
          <p:cNvPr id="35" name="S15_TABLE_LABEL_R4"/>
          <p:cNvSpPr txBox="1"/>
          <p:nvPr/>
        </p:nvSpPr>
        <p:spPr>
          <a:xfrm>
            <a:off x="388800" y="33443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36" name="S15_TABLE_SUBLABEL_R4"/>
          <p:cNvSpPr txBox="1"/>
          <p:nvPr/>
        </p:nvSpPr>
        <p:spPr>
          <a:xfrm>
            <a:off x="388800" y="36072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37" name="S15_TABLE_R4_C2"/>
          <p:cNvSpPr/>
          <p:nvPr/>
        </p:nvSpPr>
        <p:spPr>
          <a:xfrm>
            <a:off x="29736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S15_TABLE_R4_C3"/>
          <p:cNvSpPr/>
          <p:nvPr/>
        </p:nvSpPr>
        <p:spPr>
          <a:xfrm>
            <a:off x="43668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15_TABLE_R4_C4"/>
          <p:cNvSpPr/>
          <p:nvPr/>
        </p:nvSpPr>
        <p:spPr>
          <a:xfrm>
            <a:off x="57600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15_TABLE_R4_C5"/>
          <p:cNvSpPr/>
          <p:nvPr/>
        </p:nvSpPr>
        <p:spPr>
          <a:xfrm>
            <a:off x="71496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15_TABLE_R4_C6"/>
          <p:cNvSpPr/>
          <p:nvPr/>
        </p:nvSpPr>
        <p:spPr>
          <a:xfrm>
            <a:off x="8542800" y="33443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Comm. enjeux + preuve pairs VP1 | Mobilisation relais RGM + MàJ ILS | Retex post-déploiement</a:t>
            </a:r>
          </a:p>
        </p:txBody>
      </p:sp>
      <p:sp>
        <p:nvSpPr>
          <p:cNvPr id="42" name="S15_TABLE_LABEL_R5"/>
          <p:cNvSpPr txBox="1"/>
          <p:nvPr/>
        </p:nvSpPr>
        <p:spPr>
          <a:xfrm>
            <a:off x="388800" y="39096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fabricabilité</a:t>
            </a:r>
          </a:p>
        </p:txBody>
      </p:sp>
      <p:sp>
        <p:nvSpPr>
          <p:cNvPr id="43" name="S15_TABLE_SUBLABEL_R5"/>
          <p:cNvSpPr txBox="1"/>
          <p:nvPr/>
        </p:nvSpPr>
        <p:spPr>
          <a:xfrm>
            <a:off x="388800" y="41724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44" name="S15_TABLE_R5_C2"/>
          <p:cNvSpPr/>
          <p:nvPr/>
        </p:nvSpPr>
        <p:spPr>
          <a:xfrm>
            <a:off x="29736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S15_TABLE_R5_C3"/>
          <p:cNvSpPr/>
          <p:nvPr/>
        </p:nvSpPr>
        <p:spPr>
          <a:xfrm>
            <a:off x="43668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S15_TABLE_R5_C4"/>
          <p:cNvSpPr/>
          <p:nvPr/>
        </p:nvSpPr>
        <p:spPr>
          <a:xfrm>
            <a:off x="57600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5_TABLE_R5_C5"/>
          <p:cNvSpPr/>
          <p:nvPr/>
        </p:nvSpPr>
        <p:spPr>
          <a:xfrm>
            <a:off x="71496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S15_TABLE_R5_C6"/>
          <p:cNvSpPr/>
          <p:nvPr/>
        </p:nvSpPr>
        <p:spPr>
          <a:xfrm>
            <a:off x="8542800" y="39096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Comm. enjeux budget + preuve pairs VP1 | Templates oSmoz + retex appropriation | Support MàJ coordinateur</a:t>
            </a:r>
          </a:p>
        </p:txBody>
      </p:sp>
      <p:sp>
        <p:nvSpPr>
          <p:cNvPr id="49" name="S15_TABLE_LABEL_R6"/>
          <p:cNvSpPr txBox="1"/>
          <p:nvPr/>
        </p:nvSpPr>
        <p:spPr>
          <a:xfrm>
            <a:off x="388800" y="447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50" name="S15_TABLE_SUBLABEL_R6"/>
          <p:cNvSpPr txBox="1"/>
          <p:nvPr/>
        </p:nvSpPr>
        <p:spPr>
          <a:xfrm>
            <a:off x="388800" y="473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51" name="S15_TABLE_R6_C2"/>
          <p:cNvSpPr/>
          <p:nvPr/>
        </p:nvSpPr>
        <p:spPr>
          <a:xfrm>
            <a:off x="29736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S15_TABLE_R6_C3"/>
          <p:cNvSpPr/>
          <p:nvPr/>
        </p:nvSpPr>
        <p:spPr>
          <a:xfrm>
            <a:off x="43668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S15_TABLE_R6_C4"/>
          <p:cNvSpPr/>
          <p:nvPr/>
        </p:nvSpPr>
        <p:spPr>
          <a:xfrm>
            <a:off x="57600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S15_TABLE_R6_C5"/>
          <p:cNvSpPr/>
          <p:nvPr/>
        </p:nvSpPr>
        <p:spPr>
          <a:xfrm>
            <a:off x="71496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15_TABLE_R6_C6"/>
          <p:cNvSpPr/>
          <p:nvPr/>
        </p:nvSpPr>
        <p:spPr>
          <a:xfrm>
            <a:off x="8542800" y="447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Comm. enjeux + preuve pairs VP1 | Mobilisation relais RGM + MàJ ILS | Retex post-déploiement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88800" y="60048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57" name="LEGENDE_TITLE"/>
          <p:cNvSpPr txBox="1"/>
          <p:nvPr/>
        </p:nvSpPr>
        <p:spPr>
          <a:xfrm>
            <a:off x="388800" y="6008400"/>
            <a:ext cx="62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 cap="small">
                <a:solidFill>
                  <a:srgbClr val="474E67"/>
                </a:solidFill>
                <a:latin typeface="Segoe UI"/>
              </a:rPr>
              <a:t>Intensité</a:t>
            </a:r>
          </a:p>
        </p:txBody>
      </p:sp>
      <p:sp>
        <p:nvSpPr>
          <p:cNvPr id="58" name="S15_LEGENDE_1_BOX"/>
          <p:cNvSpPr/>
          <p:nvPr/>
        </p:nvSpPr>
        <p:spPr>
          <a:xfrm>
            <a:off x="1785600" y="6044400"/>
            <a:ext cx="183600" cy="165600"/>
          </a:xfrm>
          <a:prstGeom prst="rect">
            <a:avLst/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S15_LEGENDE_1_LABEL"/>
          <p:cNvSpPr txBox="1"/>
          <p:nvPr/>
        </p:nvSpPr>
        <p:spPr>
          <a:xfrm>
            <a:off x="2041200" y="6008400"/>
            <a:ext cx="4824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Faible</a:t>
            </a:r>
          </a:p>
        </p:txBody>
      </p:sp>
      <p:sp>
        <p:nvSpPr>
          <p:cNvPr id="60" name="S15_LEGENDE_2_BOX"/>
          <p:cNvSpPr/>
          <p:nvPr/>
        </p:nvSpPr>
        <p:spPr>
          <a:xfrm>
            <a:off x="2790000" y="6044400"/>
            <a:ext cx="183600" cy="165600"/>
          </a:xfrm>
          <a:prstGeom prst="rect">
            <a:avLst/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S15_LEGENDE_2_LABEL"/>
          <p:cNvSpPr txBox="1"/>
          <p:nvPr/>
        </p:nvSpPr>
        <p:spPr>
          <a:xfrm>
            <a:off x="3045600" y="6008400"/>
            <a:ext cx="586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Modéré</a:t>
            </a:r>
          </a:p>
        </p:txBody>
      </p:sp>
      <p:sp>
        <p:nvSpPr>
          <p:cNvPr id="62" name="S15_LEGENDE_3_BOX"/>
          <p:cNvSpPr/>
          <p:nvPr/>
        </p:nvSpPr>
        <p:spPr>
          <a:xfrm>
            <a:off x="3798000" y="6044400"/>
            <a:ext cx="183600" cy="16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S15_LEGENDE_3_LABEL"/>
          <p:cNvSpPr txBox="1"/>
          <p:nvPr/>
        </p:nvSpPr>
        <p:spPr>
          <a:xfrm>
            <a:off x="4053600" y="6008400"/>
            <a:ext cx="3852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Fort</a:t>
            </a:r>
          </a:p>
        </p:txBody>
      </p:sp>
      <p:sp>
        <p:nvSpPr>
          <p:cNvPr id="64" name="S15_LEGENDE_4_BOX"/>
          <p:cNvSpPr/>
          <p:nvPr/>
        </p:nvSpPr>
        <p:spPr>
          <a:xfrm>
            <a:off x="4600800" y="6044400"/>
            <a:ext cx="183600" cy="165600"/>
          </a:xfrm>
          <a:prstGeom prst="rect">
            <a:avLst/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S15_LEGENDE_4_LABEL"/>
          <p:cNvSpPr txBox="1"/>
          <p:nvPr/>
        </p:nvSpPr>
        <p:spPr>
          <a:xfrm>
            <a:off x="4856400" y="6008400"/>
            <a:ext cx="6120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Très fort</a:t>
            </a:r>
          </a:p>
        </p:txBody>
      </p:sp>
      <p:sp>
        <p:nvSpPr>
          <p:cNvPr id="66" name="S15_FOOTNOTE"/>
          <p:cNvSpPr txBox="1"/>
          <p:nvPr/>
        </p:nvSpPr>
        <p:spPr>
          <a:xfrm>
            <a:off x="8456400" y="6008400"/>
            <a:ext cx="323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r"/>
            <a:r>
              <a:rPr sz="900" b="0" i="1">
                <a:solidFill>
                  <a:srgbClr val="474E67"/>
                </a:solidFill>
                <a:latin typeface="Segoe UI"/>
              </a:rPr>
              <a:t>Leviers = axes d'accompagnement prioritaires par population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Impact par population (suite)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5_HEADER_1"/>
          <p:cNvSpPr txBox="1"/>
          <p:nvPr/>
        </p:nvSpPr>
        <p:spPr>
          <a:xfrm>
            <a:off x="3315600" y="1310400"/>
            <a:ext cx="633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9" name="S15_HEADER_2"/>
          <p:cNvSpPr txBox="1"/>
          <p:nvPr/>
        </p:nvSpPr>
        <p:spPr>
          <a:xfrm>
            <a:off x="4723200" y="1310400"/>
            <a:ext cx="655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Métier</a:t>
            </a:r>
          </a:p>
        </p:txBody>
      </p:sp>
      <p:sp>
        <p:nvSpPr>
          <p:cNvPr id="10" name="S15_HEADER_3"/>
          <p:cNvSpPr txBox="1"/>
          <p:nvPr/>
        </p:nvSpPr>
        <p:spPr>
          <a:xfrm>
            <a:off x="5871600" y="1310400"/>
            <a:ext cx="1141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Organisation</a:t>
            </a:r>
          </a:p>
        </p:txBody>
      </p:sp>
      <p:sp>
        <p:nvSpPr>
          <p:cNvPr id="11" name="S15_HEADER_4"/>
          <p:cNvSpPr txBox="1"/>
          <p:nvPr/>
        </p:nvSpPr>
        <p:spPr>
          <a:xfrm>
            <a:off x="7466399" y="1310400"/>
            <a:ext cx="7344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Culture</a:t>
            </a:r>
          </a:p>
        </p:txBody>
      </p:sp>
      <p:sp>
        <p:nvSpPr>
          <p:cNvPr id="12" name="S15_HEADER_5"/>
          <p:cNvSpPr txBox="1"/>
          <p:nvPr/>
        </p:nvSpPr>
        <p:spPr>
          <a:xfrm>
            <a:off x="9054000" y="1310400"/>
            <a:ext cx="2037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Leviers retenus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800" y="16020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14" name="S15_TABLE_LABEL_R1"/>
          <p:cNvSpPr txBox="1"/>
          <p:nvPr/>
        </p:nvSpPr>
        <p:spPr>
          <a:xfrm>
            <a:off x="388800" y="16559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fabricabilité</a:t>
            </a:r>
          </a:p>
        </p:txBody>
      </p:sp>
      <p:sp>
        <p:nvSpPr>
          <p:cNvPr id="15" name="S15_TABLE_SUBLABEL_R1"/>
          <p:cNvSpPr txBox="1"/>
          <p:nvPr/>
        </p:nvSpPr>
        <p:spPr>
          <a:xfrm>
            <a:off x="388800" y="19188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16" name="S15_TABLE_R1_C2"/>
          <p:cNvSpPr/>
          <p:nvPr/>
        </p:nvSpPr>
        <p:spPr>
          <a:xfrm>
            <a:off x="2973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5_TABLE_R1_C3"/>
          <p:cNvSpPr/>
          <p:nvPr/>
        </p:nvSpPr>
        <p:spPr>
          <a:xfrm>
            <a:off x="43668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5_TABLE_R1_C4"/>
          <p:cNvSpPr/>
          <p:nvPr/>
        </p:nvSpPr>
        <p:spPr>
          <a:xfrm>
            <a:off x="57600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5_TABLE_R1_C5"/>
          <p:cNvSpPr/>
          <p:nvPr/>
        </p:nvSpPr>
        <p:spPr>
          <a:xfrm>
            <a:off x="7149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15_TABLE_R1_C6"/>
          <p:cNvSpPr/>
          <p:nvPr/>
        </p:nvSpPr>
        <p:spPr>
          <a:xfrm>
            <a:off x="8542800" y="16559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Comm. enjeux budget + preuve pairs VP1 | Templates oSmoz + retex appropriation | Support MàJ coordinateur</a:t>
            </a:r>
          </a:p>
        </p:txBody>
      </p:sp>
      <p:sp>
        <p:nvSpPr>
          <p:cNvPr id="21" name="S15_TABLE_LABEL_R2"/>
          <p:cNvSpPr txBox="1"/>
          <p:nvPr/>
        </p:nvSpPr>
        <p:spPr>
          <a:xfrm>
            <a:off x="388800" y="222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22" name="S15_TABLE_SUBLABEL_R2"/>
          <p:cNvSpPr txBox="1"/>
          <p:nvPr/>
        </p:nvSpPr>
        <p:spPr>
          <a:xfrm>
            <a:off x="388800" y="248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23" name="S15_TABLE_R2_C2"/>
          <p:cNvSpPr/>
          <p:nvPr/>
        </p:nvSpPr>
        <p:spPr>
          <a:xfrm>
            <a:off x="2973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5_TABLE_R2_C3"/>
          <p:cNvSpPr/>
          <p:nvPr/>
        </p:nvSpPr>
        <p:spPr>
          <a:xfrm>
            <a:off x="43668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5_TABLE_R2_C4"/>
          <p:cNvSpPr/>
          <p:nvPr/>
        </p:nvSpPr>
        <p:spPr>
          <a:xfrm>
            <a:off x="57600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5_TABLE_R2_C5"/>
          <p:cNvSpPr/>
          <p:nvPr/>
        </p:nvSpPr>
        <p:spPr>
          <a:xfrm>
            <a:off x="7149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5_TABLE_R2_C6"/>
          <p:cNvSpPr/>
          <p:nvPr/>
        </p:nvSpPr>
        <p:spPr>
          <a:xfrm>
            <a:off x="8542800" y="222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Comm. enjeux + preuve pairs VP1 | Mobilisation relais RGM + MàJ ILS | Retex post-déploiement</a:t>
            </a:r>
          </a:p>
        </p:txBody>
      </p:sp>
      <p:sp>
        <p:nvSpPr>
          <p:cNvPr id="28" name="S15_TABLE_LABEL_R3"/>
          <p:cNvSpPr txBox="1"/>
          <p:nvPr/>
        </p:nvSpPr>
        <p:spPr>
          <a:xfrm>
            <a:off x="388800" y="27828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29" name="S15_TABLE_SUBLABEL_R3"/>
          <p:cNvSpPr txBox="1"/>
          <p:nvPr/>
        </p:nvSpPr>
        <p:spPr>
          <a:xfrm>
            <a:off x="388800" y="30456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0" name="S15_TABLE_R3_C6"/>
          <p:cNvSpPr/>
          <p:nvPr/>
        </p:nvSpPr>
        <p:spPr>
          <a:xfrm>
            <a:off x="8542800" y="27828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1" name="S15_TABLE_LABEL_R4"/>
          <p:cNvSpPr txBox="1"/>
          <p:nvPr/>
        </p:nvSpPr>
        <p:spPr>
          <a:xfrm>
            <a:off x="388800" y="33443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2" name="S15_TABLE_SUBLABEL_R4"/>
          <p:cNvSpPr txBox="1"/>
          <p:nvPr/>
        </p:nvSpPr>
        <p:spPr>
          <a:xfrm>
            <a:off x="388800" y="36072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3" name="S15_TABLE_R4_C6"/>
          <p:cNvSpPr/>
          <p:nvPr/>
        </p:nvSpPr>
        <p:spPr>
          <a:xfrm>
            <a:off x="8542800" y="33443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4" name="S15_TABLE_LABEL_R5"/>
          <p:cNvSpPr txBox="1"/>
          <p:nvPr/>
        </p:nvSpPr>
        <p:spPr>
          <a:xfrm>
            <a:off x="388800" y="39096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5" name="S15_TABLE_SUBLABEL_R5"/>
          <p:cNvSpPr txBox="1"/>
          <p:nvPr/>
        </p:nvSpPr>
        <p:spPr>
          <a:xfrm>
            <a:off x="388800" y="41724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6" name="S15_TABLE_R5_C6"/>
          <p:cNvSpPr/>
          <p:nvPr/>
        </p:nvSpPr>
        <p:spPr>
          <a:xfrm>
            <a:off x="8542800" y="39096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7" name="S15_TABLE_LABEL_R6"/>
          <p:cNvSpPr txBox="1"/>
          <p:nvPr/>
        </p:nvSpPr>
        <p:spPr>
          <a:xfrm>
            <a:off x="388800" y="447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8" name="S15_TABLE_SUBLABEL_R6"/>
          <p:cNvSpPr txBox="1"/>
          <p:nvPr/>
        </p:nvSpPr>
        <p:spPr>
          <a:xfrm>
            <a:off x="388800" y="473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9" name="S15_TABLE_R6_C6"/>
          <p:cNvSpPr/>
          <p:nvPr/>
        </p:nvSpPr>
        <p:spPr>
          <a:xfrm>
            <a:off x="8542800" y="447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40" name="Connector 39"/>
          <p:cNvCxnSpPr/>
          <p:nvPr/>
        </p:nvCxnSpPr>
        <p:spPr>
          <a:xfrm>
            <a:off x="388800" y="60048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41" name="LEGENDE_TITLE"/>
          <p:cNvSpPr txBox="1"/>
          <p:nvPr/>
        </p:nvSpPr>
        <p:spPr>
          <a:xfrm>
            <a:off x="388800" y="6008400"/>
            <a:ext cx="62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 cap="small">
                <a:solidFill>
                  <a:srgbClr val="474E67"/>
                </a:solidFill>
                <a:latin typeface="Segoe UI"/>
              </a:rPr>
              <a:t>Intensité</a:t>
            </a:r>
          </a:p>
        </p:txBody>
      </p:sp>
      <p:sp>
        <p:nvSpPr>
          <p:cNvPr id="42" name="S15_LEGENDE_1_BOX"/>
          <p:cNvSpPr/>
          <p:nvPr/>
        </p:nvSpPr>
        <p:spPr>
          <a:xfrm>
            <a:off x="1785600" y="6044400"/>
            <a:ext cx="183600" cy="165600"/>
          </a:xfrm>
          <a:prstGeom prst="rect">
            <a:avLst/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15_LEGENDE_1_LABEL"/>
          <p:cNvSpPr txBox="1"/>
          <p:nvPr/>
        </p:nvSpPr>
        <p:spPr>
          <a:xfrm>
            <a:off x="2041200" y="6008400"/>
            <a:ext cx="4824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Faible</a:t>
            </a:r>
          </a:p>
        </p:txBody>
      </p:sp>
      <p:sp>
        <p:nvSpPr>
          <p:cNvPr id="44" name="S15_LEGENDE_2_BOX"/>
          <p:cNvSpPr/>
          <p:nvPr/>
        </p:nvSpPr>
        <p:spPr>
          <a:xfrm>
            <a:off x="2790000" y="6044400"/>
            <a:ext cx="183600" cy="165600"/>
          </a:xfrm>
          <a:prstGeom prst="rect">
            <a:avLst/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S15_LEGENDE_2_LABEL"/>
          <p:cNvSpPr txBox="1"/>
          <p:nvPr/>
        </p:nvSpPr>
        <p:spPr>
          <a:xfrm>
            <a:off x="3045600" y="6008400"/>
            <a:ext cx="586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Modéré</a:t>
            </a:r>
          </a:p>
        </p:txBody>
      </p:sp>
      <p:sp>
        <p:nvSpPr>
          <p:cNvPr id="46" name="S15_LEGENDE_3_BOX"/>
          <p:cNvSpPr/>
          <p:nvPr/>
        </p:nvSpPr>
        <p:spPr>
          <a:xfrm>
            <a:off x="3798000" y="6044400"/>
            <a:ext cx="183600" cy="16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5_LEGENDE_3_LABEL"/>
          <p:cNvSpPr txBox="1"/>
          <p:nvPr/>
        </p:nvSpPr>
        <p:spPr>
          <a:xfrm>
            <a:off x="4053600" y="6008400"/>
            <a:ext cx="3852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Fort</a:t>
            </a:r>
          </a:p>
        </p:txBody>
      </p:sp>
      <p:sp>
        <p:nvSpPr>
          <p:cNvPr id="48" name="S15_LEGENDE_4_BOX"/>
          <p:cNvSpPr/>
          <p:nvPr/>
        </p:nvSpPr>
        <p:spPr>
          <a:xfrm>
            <a:off x="4600800" y="6044400"/>
            <a:ext cx="183600" cy="165600"/>
          </a:xfrm>
          <a:prstGeom prst="rect">
            <a:avLst/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S15_LEGENDE_4_LABEL"/>
          <p:cNvSpPr txBox="1"/>
          <p:nvPr/>
        </p:nvSpPr>
        <p:spPr>
          <a:xfrm>
            <a:off x="4856400" y="6008400"/>
            <a:ext cx="6120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Très fort</a:t>
            </a:r>
          </a:p>
        </p:txBody>
      </p:sp>
      <p:sp>
        <p:nvSpPr>
          <p:cNvPr id="50" name="S15_FOOTNOTE"/>
          <p:cNvSpPr txBox="1"/>
          <p:nvPr/>
        </p:nvSpPr>
        <p:spPr>
          <a:xfrm>
            <a:off x="8456400" y="6008400"/>
            <a:ext cx="323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r"/>
            <a:r>
              <a:rPr sz="900" b="0" i="1">
                <a:solidFill>
                  <a:srgbClr val="474E67"/>
                </a:solidFill>
                <a:latin typeface="Segoe UI"/>
              </a:rPr>
              <a:t>Leviers = axes d'accompagnement prioritaires par population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