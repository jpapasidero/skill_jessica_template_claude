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Pourquoi transformer la supply chain maintenant</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01/11</a:t>
            </a:r>
          </a:p>
        </p:txBody>
      </p:sp>
      <p:sp>
        <p:nvSpPr>
          <p:cNvPr id="7" name="LeftAccentBar"/>
          <p:cNvSpPr/>
          <p:nvPr/>
        </p:nvSpPr>
        <p:spPr>
          <a:xfrm>
            <a:off x="219600" y="435600"/>
            <a:ext cx="14400" cy="8928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1_MANIFESTO"/>
          <p:cNvSpPr txBox="1"/>
          <p:nvPr/>
        </p:nvSpPr>
        <p:spPr>
          <a:xfrm>
            <a:off x="838800" y="1238400"/>
            <a:ext cx="7617600" cy="1029600"/>
          </a:xfrm>
          <a:prstGeom prst="rect">
            <a:avLst/>
          </a:prstGeom>
          <a:noFill/>
        </p:spPr>
        <p:txBody>
          <a:bodyPr wrap="square" lIns="45720" rIns="45720" anchor="t">
            <a:spAutoFit/>
          </a:bodyPr>
          <a:lstStyle/>
          <a:p>
            <a:pPr algn="l"/>
            <a:r>
              <a:rPr sz="2400" b="0" i="0">
                <a:solidFill>
                  <a:srgbClr val="474E67"/>
                </a:solidFill>
                <a:latin typeface="Segoe UI Light"/>
              </a:rPr>
              <a:t>Notre supply chain absorbe 38% des coûts. Le statu quo nous coûte chaque mois 480 k€ de plus que nos concurrents directs.</a:t>
            </a:r>
          </a:p>
        </p:txBody>
      </p:sp>
      <p:sp>
        <p:nvSpPr>
          <p:cNvPr id="9" name="S01_BODY"/>
          <p:cNvSpPr txBox="1"/>
          <p:nvPr/>
        </p:nvSpPr>
        <p:spPr>
          <a:xfrm>
            <a:off x="838800" y="2865600"/>
            <a:ext cx="7365600" cy="1015200"/>
          </a:xfrm>
          <a:prstGeom prst="rect">
            <a:avLst/>
          </a:prstGeom>
          <a:noFill/>
        </p:spPr>
        <p:txBody>
          <a:bodyPr wrap="square" lIns="45720" rIns="45720" anchor="t">
            <a:spAutoFit/>
          </a:bodyPr>
          <a:lstStyle/>
          <a:p>
            <a:pPr algn="l"/>
            <a:r>
              <a:rPr sz="1300" b="0" i="0">
                <a:solidFill>
                  <a:srgbClr val="474E67"/>
                </a:solidFill>
                <a:latin typeface="Segoe UI"/>
              </a:rPr>
              <a:t>Trois signaux convergent : nos délais s'allongent, nos défauts grimpent, nos équipes se désengagent. Pris séparément, chaque indicateur reste sous le seuil critique. Pris ensemble, ils dessinent un point de bascule. C'est maintenant qu'il faut agir, pas dans six mois.</a:t>
            </a:r>
          </a:p>
        </p:txBody>
      </p:sp>
      <p:sp>
        <p:nvSpPr>
          <p:cNvPr id="10" name="KpiAccent_1"/>
          <p:cNvSpPr/>
          <p:nvPr/>
        </p:nvSpPr>
        <p:spPr>
          <a:xfrm>
            <a:off x="8712000" y="1040400"/>
            <a:ext cx="406799" cy="25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1_STAT_1_VALUE"/>
          <p:cNvSpPr txBox="1"/>
          <p:nvPr/>
        </p:nvSpPr>
        <p:spPr>
          <a:xfrm>
            <a:off x="8712000" y="1144800"/>
            <a:ext cx="3401999" cy="763200"/>
          </a:xfrm>
          <a:prstGeom prst="rect">
            <a:avLst/>
          </a:prstGeom>
          <a:noFill/>
        </p:spPr>
        <p:txBody>
          <a:bodyPr wrap="square" lIns="45720" rIns="45720" anchor="t">
            <a:spAutoFit/>
          </a:bodyPr>
          <a:lstStyle/>
          <a:p>
            <a:pPr algn="l"/>
            <a:r>
              <a:rPr sz="4400" b="1" i="0">
                <a:solidFill>
                  <a:srgbClr val="6A5D79"/>
                </a:solidFill>
                <a:latin typeface="Segoe UI Black"/>
              </a:rPr>
              <a:t>+38%</a:t>
            </a:r>
          </a:p>
        </p:txBody>
      </p:sp>
      <p:sp>
        <p:nvSpPr>
          <p:cNvPr id="12" name="S01_STAT_1_LABEL"/>
          <p:cNvSpPr txBox="1"/>
          <p:nvPr/>
        </p:nvSpPr>
        <p:spPr>
          <a:xfrm>
            <a:off x="8712000" y="1904400"/>
            <a:ext cx="3401999" cy="280800"/>
          </a:xfrm>
          <a:prstGeom prst="rect">
            <a:avLst/>
          </a:prstGeom>
          <a:noFill/>
        </p:spPr>
        <p:txBody>
          <a:bodyPr wrap="square" lIns="45720" rIns="45720" anchor="t">
            <a:spAutoFit/>
          </a:bodyPr>
          <a:lstStyle/>
          <a:p>
            <a:pPr algn="l"/>
            <a:r>
              <a:rPr sz="1300" b="1" i="0">
                <a:solidFill>
                  <a:srgbClr val="070E1D"/>
                </a:solidFill>
                <a:latin typeface="Segoe UI"/>
              </a:rPr>
              <a:t>Coûts logistiques</a:t>
            </a:r>
          </a:p>
        </p:txBody>
      </p:sp>
      <p:sp>
        <p:nvSpPr>
          <p:cNvPr id="13" name="S01_STAT_1_SUBLABEL"/>
          <p:cNvSpPr txBox="1"/>
          <p:nvPr/>
        </p:nvSpPr>
        <p:spPr>
          <a:xfrm>
            <a:off x="8712000" y="2185200"/>
            <a:ext cx="3401999" cy="255600"/>
          </a:xfrm>
          <a:prstGeom prst="rect">
            <a:avLst/>
          </a:prstGeom>
          <a:noFill/>
        </p:spPr>
        <p:txBody>
          <a:bodyPr wrap="square" lIns="45720" rIns="45720" anchor="t">
            <a:spAutoFit/>
          </a:bodyPr>
          <a:lstStyle/>
          <a:p>
            <a:pPr algn="l"/>
            <a:r>
              <a:rPr sz="1000" b="0" i="0">
                <a:solidFill>
                  <a:srgbClr val="474E67"/>
                </a:solidFill>
                <a:latin typeface="Segoe UI"/>
              </a:rPr>
              <a:t>vs benchmark secteur</a:t>
            </a:r>
          </a:p>
        </p:txBody>
      </p:sp>
      <p:sp>
        <p:nvSpPr>
          <p:cNvPr id="14" name="KpiAccent_2"/>
          <p:cNvSpPr/>
          <p:nvPr/>
        </p:nvSpPr>
        <p:spPr>
          <a:xfrm>
            <a:off x="8712000" y="2692800"/>
            <a:ext cx="406799" cy="252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1_STAT_2_VALUE"/>
          <p:cNvSpPr txBox="1"/>
          <p:nvPr/>
        </p:nvSpPr>
        <p:spPr>
          <a:xfrm>
            <a:off x="8712000" y="2793600"/>
            <a:ext cx="3401999" cy="763200"/>
          </a:xfrm>
          <a:prstGeom prst="rect">
            <a:avLst/>
          </a:prstGeom>
          <a:noFill/>
        </p:spPr>
        <p:txBody>
          <a:bodyPr wrap="square" lIns="45720" rIns="45720" anchor="t">
            <a:spAutoFit/>
          </a:bodyPr>
          <a:lstStyle/>
          <a:p>
            <a:pPr algn="l"/>
            <a:r>
              <a:rPr sz="4400" b="1" i="0">
                <a:solidFill>
                  <a:srgbClr val="A25871"/>
                </a:solidFill>
                <a:latin typeface="Segoe UI Black"/>
              </a:rPr>
              <a:t>21 j</a:t>
            </a:r>
          </a:p>
        </p:txBody>
      </p:sp>
      <p:sp>
        <p:nvSpPr>
          <p:cNvPr id="16" name="S01_STAT_2_LABEL"/>
          <p:cNvSpPr txBox="1"/>
          <p:nvPr/>
        </p:nvSpPr>
        <p:spPr>
          <a:xfrm>
            <a:off x="8712000" y="3556800"/>
            <a:ext cx="3401999" cy="280800"/>
          </a:xfrm>
          <a:prstGeom prst="rect">
            <a:avLst/>
          </a:prstGeom>
          <a:noFill/>
        </p:spPr>
        <p:txBody>
          <a:bodyPr wrap="square" lIns="45720" rIns="45720" anchor="t">
            <a:spAutoFit/>
          </a:bodyPr>
          <a:lstStyle/>
          <a:p>
            <a:pPr algn="l"/>
            <a:r>
              <a:rPr sz="1300" b="1" i="0">
                <a:solidFill>
                  <a:srgbClr val="070E1D"/>
                </a:solidFill>
                <a:latin typeface="Segoe UI"/>
              </a:rPr>
              <a:t>Cycle moyen</a:t>
            </a:r>
          </a:p>
        </p:txBody>
      </p:sp>
      <p:sp>
        <p:nvSpPr>
          <p:cNvPr id="17" name="S01_STAT_2_SUBLABEL"/>
          <p:cNvSpPr txBox="1"/>
          <p:nvPr/>
        </p:nvSpPr>
        <p:spPr>
          <a:xfrm>
            <a:off x="8712000" y="3834000"/>
            <a:ext cx="3401999" cy="255600"/>
          </a:xfrm>
          <a:prstGeom prst="rect">
            <a:avLst/>
          </a:prstGeom>
          <a:noFill/>
        </p:spPr>
        <p:txBody>
          <a:bodyPr wrap="square" lIns="45720" rIns="45720" anchor="t">
            <a:spAutoFit/>
          </a:bodyPr>
          <a:lstStyle/>
          <a:p>
            <a:pPr algn="l"/>
            <a:r>
              <a:rPr sz="1000" b="0" i="0">
                <a:solidFill>
                  <a:srgbClr val="474E67"/>
                </a:solidFill>
                <a:latin typeface="Segoe UI"/>
              </a:rPr>
              <a:t>objectif: 12 j</a:t>
            </a:r>
          </a:p>
        </p:txBody>
      </p:sp>
      <p:sp>
        <p:nvSpPr>
          <p:cNvPr id="18" name="KpiAccent_3"/>
          <p:cNvSpPr/>
          <p:nvPr/>
        </p:nvSpPr>
        <p:spPr>
          <a:xfrm>
            <a:off x="8712000" y="4338000"/>
            <a:ext cx="406799" cy="25200"/>
          </a:xfrm>
          <a:prstGeom prst="rect">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01_STAT_3_VALUE"/>
          <p:cNvSpPr txBox="1"/>
          <p:nvPr/>
        </p:nvSpPr>
        <p:spPr>
          <a:xfrm>
            <a:off x="8712000" y="4446000"/>
            <a:ext cx="3401999" cy="763200"/>
          </a:xfrm>
          <a:prstGeom prst="rect">
            <a:avLst/>
          </a:prstGeom>
          <a:noFill/>
        </p:spPr>
        <p:txBody>
          <a:bodyPr wrap="square" lIns="45720" rIns="45720" anchor="t">
            <a:spAutoFit/>
          </a:bodyPr>
          <a:lstStyle/>
          <a:p>
            <a:pPr algn="l"/>
            <a:r>
              <a:rPr sz="4400" b="1" i="0">
                <a:solidFill>
                  <a:srgbClr val="FDA85B"/>
                </a:solidFill>
                <a:latin typeface="Segoe UI Black"/>
              </a:rPr>
              <a:t>-12%</a:t>
            </a:r>
          </a:p>
        </p:txBody>
      </p:sp>
      <p:sp>
        <p:nvSpPr>
          <p:cNvPr id="20" name="S01_STAT_3_LABEL"/>
          <p:cNvSpPr txBox="1"/>
          <p:nvPr/>
        </p:nvSpPr>
        <p:spPr>
          <a:xfrm>
            <a:off x="8712000" y="5205600"/>
            <a:ext cx="3401999" cy="280800"/>
          </a:xfrm>
          <a:prstGeom prst="rect">
            <a:avLst/>
          </a:prstGeom>
          <a:noFill/>
        </p:spPr>
        <p:txBody>
          <a:bodyPr wrap="square" lIns="45720" rIns="45720" anchor="t">
            <a:spAutoFit/>
          </a:bodyPr>
          <a:lstStyle/>
          <a:p>
            <a:pPr algn="l"/>
            <a:r>
              <a:rPr sz="1300" b="1" i="0">
                <a:solidFill>
                  <a:srgbClr val="070E1D"/>
                </a:solidFill>
                <a:latin typeface="Segoe UI"/>
              </a:rPr>
              <a:t>Engagement</a:t>
            </a:r>
          </a:p>
        </p:txBody>
      </p:sp>
      <p:sp>
        <p:nvSpPr>
          <p:cNvPr id="21" name="S01_STAT_3_SUBLABEL"/>
          <p:cNvSpPr txBox="1"/>
          <p:nvPr/>
        </p:nvSpPr>
        <p:spPr>
          <a:xfrm>
            <a:off x="8712000" y="5486400"/>
            <a:ext cx="3401999" cy="255600"/>
          </a:xfrm>
          <a:prstGeom prst="rect">
            <a:avLst/>
          </a:prstGeom>
          <a:noFill/>
        </p:spPr>
        <p:txBody>
          <a:bodyPr wrap="square" lIns="45720" rIns="45720" anchor="t">
            <a:spAutoFit/>
          </a:bodyPr>
          <a:lstStyle/>
          <a:p>
            <a:pPr algn="l"/>
            <a:r>
              <a:rPr sz="1000" b="0" i="0">
                <a:solidFill>
                  <a:srgbClr val="474E67"/>
                </a:solidFill>
                <a:latin typeface="Segoe UI"/>
              </a:rPr>
              <a:t>vs N-1</a:t>
            </a:r>
          </a:p>
        </p:txBody>
      </p:sp>
      <p:sp>
        <p:nvSpPr>
          <p:cNvPr id="22" name="TakeawayBand"/>
          <p:cNvSpPr/>
          <p:nvPr/>
        </p:nvSpPr>
        <p:spPr>
          <a:xfrm>
            <a:off x="392400" y="6073200"/>
            <a:ext cx="11412000" cy="396000"/>
          </a:xfrm>
          <a:prstGeom prst="rect">
            <a:avLst/>
          </a:prstGeom>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Agir maintenant ou subir dans six mois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Trois piliers pour réussir</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02/11</a:t>
            </a:r>
          </a:p>
        </p:txBody>
      </p:sp>
      <p:sp>
        <p:nvSpPr>
          <p:cNvPr id="7" name="S02_SEP_1"/>
          <p:cNvSpPr/>
          <p:nvPr/>
        </p:nvSpPr>
        <p:spPr>
          <a:xfrm>
            <a:off x="608400" y="1695600"/>
            <a:ext cx="36000" cy="35640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2_ICON_1"/>
          <p:cNvSpPr/>
          <p:nvPr/>
        </p:nvSpPr>
        <p:spPr>
          <a:xfrm>
            <a:off x="1929599" y="1692000"/>
            <a:ext cx="900000" cy="900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02_COL_1_TITLE"/>
          <p:cNvSpPr txBox="1"/>
          <p:nvPr/>
        </p:nvSpPr>
        <p:spPr>
          <a:xfrm>
            <a:off x="849600" y="2545200"/>
            <a:ext cx="3240000" cy="957600"/>
          </a:xfrm>
          <a:prstGeom prst="rect">
            <a:avLst/>
          </a:prstGeom>
          <a:noFill/>
        </p:spPr>
        <p:txBody>
          <a:bodyPr wrap="square" lIns="45720" rIns="45720" anchor="t">
            <a:spAutoFit/>
          </a:bodyPr>
          <a:lstStyle/>
          <a:p>
            <a:pPr algn="l"/>
            <a:r>
              <a:rPr sz="2000" b="1" i="0" cap="small">
                <a:solidFill>
                  <a:srgbClr val="6A5D79"/>
                </a:solidFill>
                <a:latin typeface="Segoe UI Black"/>
              </a:rPr>
              <a:t>Le terrain pilote la cadence</a:t>
            </a:r>
          </a:p>
        </p:txBody>
      </p:sp>
      <p:sp>
        <p:nvSpPr>
          <p:cNvPr id="10" name="S02_COL_1_BODY"/>
          <p:cNvSpPr txBox="1"/>
          <p:nvPr/>
        </p:nvSpPr>
        <p:spPr>
          <a:xfrm>
            <a:off x="849600" y="4086000"/>
            <a:ext cx="3240000" cy="1126800"/>
          </a:xfrm>
          <a:prstGeom prst="rect">
            <a:avLst/>
          </a:prstGeom>
          <a:noFill/>
        </p:spPr>
        <p:txBody>
          <a:bodyPr wrap="square" lIns="45720" rIns="45720" anchor="t">
            <a:spAutoFit/>
          </a:bodyPr>
          <a:lstStyle/>
          <a:p>
            <a:pPr algn="l"/>
            <a:r>
              <a:rPr sz="1400" b="0" i="0">
                <a:solidFill>
                  <a:srgbClr val="474E67"/>
                </a:solidFill>
                <a:latin typeface="Segoe UI Light"/>
              </a:rPr>
              <a:t>Les opérateurs identifient les gaspillages mieux que les consultants. Notre programme s'appuie sur les Gemba walks hebdomadaires et les Andons digitaux.</a:t>
            </a:r>
          </a:p>
        </p:txBody>
      </p:sp>
      <p:sp>
        <p:nvSpPr>
          <p:cNvPr id="11" name="S02_SEP_2"/>
          <p:cNvSpPr/>
          <p:nvPr/>
        </p:nvSpPr>
        <p:spPr>
          <a:xfrm>
            <a:off x="4359600" y="1695600"/>
            <a:ext cx="36000" cy="35640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02_ICON_2"/>
          <p:cNvSpPr/>
          <p:nvPr/>
        </p:nvSpPr>
        <p:spPr>
          <a:xfrm>
            <a:off x="5677200" y="1692000"/>
            <a:ext cx="900000" cy="9000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02_COL_2_TITLE"/>
          <p:cNvSpPr txBox="1"/>
          <p:nvPr/>
        </p:nvSpPr>
        <p:spPr>
          <a:xfrm>
            <a:off x="4597200" y="2545200"/>
            <a:ext cx="3240000" cy="957600"/>
          </a:xfrm>
          <a:prstGeom prst="rect">
            <a:avLst/>
          </a:prstGeom>
          <a:noFill/>
        </p:spPr>
        <p:txBody>
          <a:bodyPr wrap="square" lIns="45720" rIns="45720" anchor="t">
            <a:spAutoFit/>
          </a:bodyPr>
          <a:lstStyle/>
          <a:p>
            <a:pPr algn="l"/>
            <a:r>
              <a:rPr sz="2000" b="1" i="0" cap="small">
                <a:solidFill>
                  <a:srgbClr val="A25871"/>
                </a:solidFill>
                <a:latin typeface="Segoe UI Black"/>
              </a:rPr>
              <a:t>Les indicateurs guident, pas l'inverse</a:t>
            </a:r>
          </a:p>
        </p:txBody>
      </p:sp>
      <p:sp>
        <p:nvSpPr>
          <p:cNvPr id="14" name="S02_COL_2_BODY"/>
          <p:cNvSpPr txBox="1"/>
          <p:nvPr/>
        </p:nvSpPr>
        <p:spPr>
          <a:xfrm>
            <a:off x="4597200" y="4086000"/>
            <a:ext cx="3240000" cy="1126800"/>
          </a:xfrm>
          <a:prstGeom prst="rect">
            <a:avLst/>
          </a:prstGeom>
          <a:noFill/>
        </p:spPr>
        <p:txBody>
          <a:bodyPr wrap="square" lIns="45720" rIns="45720" anchor="t">
            <a:spAutoFit/>
          </a:bodyPr>
          <a:lstStyle/>
          <a:p>
            <a:pPr algn="l"/>
            <a:r>
              <a:rPr sz="1400" b="0" i="0">
                <a:solidFill>
                  <a:srgbClr val="474E67"/>
                </a:solidFill>
                <a:latin typeface="Segoe UI Light"/>
              </a:rPr>
              <a:t>Cinq KPI partagés, mis à jour en temps réel. Pas de tableau de bord caché, pas de reporting parallèle. La donnée commune crée le langage commun.</a:t>
            </a:r>
          </a:p>
        </p:txBody>
      </p:sp>
      <p:sp>
        <p:nvSpPr>
          <p:cNvPr id="15" name="S02_SEP_3"/>
          <p:cNvSpPr/>
          <p:nvPr/>
        </p:nvSpPr>
        <p:spPr>
          <a:xfrm>
            <a:off x="8110800" y="1695600"/>
            <a:ext cx="36000" cy="3564000"/>
          </a:xfrm>
          <a:prstGeom prst="rect">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2_ICON_3"/>
          <p:cNvSpPr/>
          <p:nvPr/>
        </p:nvSpPr>
        <p:spPr>
          <a:xfrm>
            <a:off x="9428400" y="1692000"/>
            <a:ext cx="900000" cy="9000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02_COL_3_TITLE"/>
          <p:cNvSpPr txBox="1"/>
          <p:nvPr/>
        </p:nvSpPr>
        <p:spPr>
          <a:xfrm>
            <a:off x="8348400" y="2545200"/>
            <a:ext cx="3240000" cy="957600"/>
          </a:xfrm>
          <a:prstGeom prst="rect">
            <a:avLst/>
          </a:prstGeom>
          <a:noFill/>
        </p:spPr>
        <p:txBody>
          <a:bodyPr wrap="square" lIns="45720" rIns="45720" anchor="t">
            <a:spAutoFit/>
          </a:bodyPr>
          <a:lstStyle/>
          <a:p>
            <a:pPr algn="l"/>
            <a:r>
              <a:rPr sz="2000" b="1" i="0" cap="small">
                <a:solidFill>
                  <a:srgbClr val="FDA85B"/>
                </a:solidFill>
                <a:latin typeface="Segoe UI Black"/>
              </a:rPr>
              <a:t>Chaque équipier devient acteur</a:t>
            </a:r>
          </a:p>
        </p:txBody>
      </p:sp>
      <p:sp>
        <p:nvSpPr>
          <p:cNvPr id="18" name="S02_COL_3_BODY"/>
          <p:cNvSpPr txBox="1"/>
          <p:nvPr/>
        </p:nvSpPr>
        <p:spPr>
          <a:xfrm>
            <a:off x="8348400" y="4086000"/>
            <a:ext cx="3240000" cy="1126800"/>
          </a:xfrm>
          <a:prstGeom prst="rect">
            <a:avLst/>
          </a:prstGeom>
          <a:noFill/>
        </p:spPr>
        <p:txBody>
          <a:bodyPr wrap="square" lIns="45720" rIns="45720" anchor="t">
            <a:spAutoFit/>
          </a:bodyPr>
          <a:lstStyle/>
          <a:p>
            <a:pPr algn="l"/>
            <a:r>
              <a:rPr sz="1400" b="0" i="0">
                <a:solidFill>
                  <a:srgbClr val="474E67"/>
                </a:solidFill>
                <a:latin typeface="Segoe UI Light"/>
              </a:rPr>
              <a:t>Formation Yellow Belt pour 80% des équipes en 12 mois. Reconnaissance des contributeurs via les rituels de chantier. L'engagement se construit par l'autonomie.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Six facteurs critiques de succès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03/11</a:t>
            </a:r>
          </a:p>
        </p:txBody>
      </p:sp>
      <p:sp>
        <p:nvSpPr>
          <p:cNvPr id="7" name="S03_TEARDROP_1"/>
          <p:cNvSpPr/>
          <p:nvPr/>
        </p:nvSpPr>
        <p:spPr>
          <a:xfrm rot="10800000">
            <a:off x="1231200" y="1292400"/>
            <a:ext cx="1080000" cy="1080000"/>
          </a:xfrm>
          <a:prstGeom prst="teardrop">
            <a:avLst/>
          </a:prstGeom>
          <a:solidFill>
            <a:srgbClr val="D8D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3_FACTOR_1_LABEL"/>
          <p:cNvSpPr txBox="1"/>
          <p:nvPr/>
        </p:nvSpPr>
        <p:spPr>
          <a:xfrm>
            <a:off x="514800" y="24804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Sponsor exécutif</a:t>
            </a:r>
          </a:p>
        </p:txBody>
      </p:sp>
      <p:sp>
        <p:nvSpPr>
          <p:cNvPr id="9" name="S03_TEARDROP_2"/>
          <p:cNvSpPr/>
          <p:nvPr/>
        </p:nvSpPr>
        <p:spPr>
          <a:xfrm rot="10800000">
            <a:off x="5529600" y="1314000"/>
            <a:ext cx="1080000" cy="1080000"/>
          </a:xfrm>
          <a:prstGeom prst="teardrop">
            <a:avLst/>
          </a:prstGeom>
          <a:solidFill>
            <a:srgbClr val="BBB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03_FACTOR_2_LABEL"/>
          <p:cNvSpPr txBox="1"/>
          <p:nvPr/>
        </p:nvSpPr>
        <p:spPr>
          <a:xfrm>
            <a:off x="4809600" y="25020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Vision partagée</a:t>
            </a:r>
          </a:p>
        </p:txBody>
      </p:sp>
      <p:sp>
        <p:nvSpPr>
          <p:cNvPr id="11" name="S03_TEARDROP_3"/>
          <p:cNvSpPr/>
          <p:nvPr/>
        </p:nvSpPr>
        <p:spPr>
          <a:xfrm rot="10800000">
            <a:off x="9669600" y="1314000"/>
            <a:ext cx="1080000" cy="1080000"/>
          </a:xfrm>
          <a:prstGeom prst="teardrop">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03_FACTOR_3_LABEL"/>
          <p:cNvSpPr txBox="1"/>
          <p:nvPr/>
        </p:nvSpPr>
        <p:spPr>
          <a:xfrm>
            <a:off x="8949600" y="25020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Equipes dédiées</a:t>
            </a:r>
          </a:p>
        </p:txBody>
      </p:sp>
      <p:sp>
        <p:nvSpPr>
          <p:cNvPr id="13" name="S03_TEARDROP_4"/>
          <p:cNvSpPr/>
          <p:nvPr/>
        </p:nvSpPr>
        <p:spPr>
          <a:xfrm rot="10800000">
            <a:off x="1245600" y="3927600"/>
            <a:ext cx="1080000" cy="1080000"/>
          </a:xfrm>
          <a:prstGeom prst="teardrop">
            <a:avLst/>
          </a:prstGeom>
          <a:solidFill>
            <a:srgbClr val="F1D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3_FACTOR_4_LABEL"/>
          <p:cNvSpPr txBox="1"/>
          <p:nvPr/>
        </p:nvSpPr>
        <p:spPr>
          <a:xfrm>
            <a:off x="529200" y="51156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Indicateurs simples</a:t>
            </a:r>
          </a:p>
        </p:txBody>
      </p:sp>
      <p:sp>
        <p:nvSpPr>
          <p:cNvPr id="15" name="S03_TEARDROP_5"/>
          <p:cNvSpPr/>
          <p:nvPr/>
        </p:nvSpPr>
        <p:spPr>
          <a:xfrm rot="10800000">
            <a:off x="5472000" y="3927600"/>
            <a:ext cx="1080000" cy="1080000"/>
          </a:xfrm>
          <a:prstGeom prst="teardrop">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3_FACTOR_5_LABEL"/>
          <p:cNvSpPr txBox="1"/>
          <p:nvPr/>
        </p:nvSpPr>
        <p:spPr>
          <a:xfrm>
            <a:off x="4752000" y="51156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Communication continue</a:t>
            </a:r>
          </a:p>
        </p:txBody>
      </p:sp>
      <p:sp>
        <p:nvSpPr>
          <p:cNvPr id="17" name="S03_TEARDROP_6"/>
          <p:cNvSpPr/>
          <p:nvPr/>
        </p:nvSpPr>
        <p:spPr>
          <a:xfrm rot="10800000">
            <a:off x="9561600" y="3927600"/>
            <a:ext cx="1080000" cy="1080000"/>
          </a:xfrm>
          <a:prstGeom prst="teardrop">
            <a:avLst/>
          </a:prstGeom>
          <a:solidFill>
            <a:srgbClr val="FEF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3_FACTOR_6_LABEL"/>
          <p:cNvSpPr txBox="1"/>
          <p:nvPr/>
        </p:nvSpPr>
        <p:spPr>
          <a:xfrm>
            <a:off x="8841600" y="5115600"/>
            <a:ext cx="2498400" cy="309600"/>
          </a:xfrm>
          <a:prstGeom prst="rect">
            <a:avLst/>
          </a:prstGeom>
          <a:noFill/>
        </p:spPr>
        <p:txBody>
          <a:bodyPr wrap="square" lIns="45720" rIns="45720" anchor="t">
            <a:spAutoFit/>
          </a:bodyPr>
          <a:lstStyle/>
          <a:p>
            <a:pPr algn="l"/>
            <a:r>
              <a:rPr sz="1400" b="1" i="0" cap="small">
                <a:solidFill>
                  <a:srgbClr val="070E1D"/>
                </a:solidFill>
                <a:latin typeface="Segoe UI Black"/>
              </a:rPr>
              <a:t>Quick wins visibles</a:t>
            </a:r>
          </a:p>
        </p:txBody>
      </p:sp>
      <p:sp>
        <p:nvSpPr>
          <p:cNvPr id="19" name="TakeawayBand"/>
          <p:cNvSpPr/>
          <p:nvPr/>
        </p:nvSpPr>
        <p:spPr>
          <a:xfrm>
            <a:off x="392400" y="6073200"/>
            <a:ext cx="11412000" cy="396000"/>
          </a:xfrm>
          <a:prstGeom prst="rect">
            <a:avLst/>
          </a:prstGeom>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Aligner les six avant le go, pas pendant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Trois dimensions interdépendantes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04/11</a:t>
            </a:r>
          </a:p>
        </p:txBody>
      </p:sp>
      <p:sp>
        <p:nvSpPr>
          <p:cNvPr id="7" name="S04_CIRCLE_TOP"/>
          <p:cNvSpPr/>
          <p:nvPr/>
        </p:nvSpPr>
        <p:spPr>
          <a:xfrm>
            <a:off x="5580000" y="1440000"/>
            <a:ext cx="1440000" cy="1440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4_CIRCLE_LEFT"/>
          <p:cNvSpPr/>
          <p:nvPr/>
        </p:nvSpPr>
        <p:spPr>
          <a:xfrm>
            <a:off x="2340000" y="3420000"/>
            <a:ext cx="1440000" cy="1440000"/>
          </a:xfrm>
          <a:prstGeom prst="ellipse">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04_CIRCLE_RIGHT"/>
          <p:cNvSpPr/>
          <p:nvPr/>
        </p:nvSpPr>
        <p:spPr>
          <a:xfrm>
            <a:off x="8100000" y="3420000"/>
            <a:ext cx="1440000" cy="1440000"/>
          </a:xfrm>
          <a:prstGeom prst="ellipse">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H="1">
            <a:off x="3060000" y="2160000"/>
            <a:ext cx="3240000" cy="198000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300000" y="2160000"/>
            <a:ext cx="2520000" cy="198000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060000" y="4140000"/>
            <a:ext cx="5760000" cy="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sp>
        <p:nvSpPr>
          <p:cNvPr id="13" name="S04_TOP_LABEL"/>
          <p:cNvSpPr txBox="1"/>
          <p:nvPr/>
        </p:nvSpPr>
        <p:spPr>
          <a:xfrm>
            <a:off x="7059600" y="640800"/>
            <a:ext cx="2188800" cy="370800"/>
          </a:xfrm>
          <a:prstGeom prst="rect">
            <a:avLst/>
          </a:prstGeom>
          <a:noFill/>
        </p:spPr>
        <p:txBody>
          <a:bodyPr wrap="square" lIns="45720" rIns="45720" anchor="t">
            <a:spAutoFit/>
          </a:bodyPr>
          <a:lstStyle/>
          <a:p>
            <a:pPr algn="l"/>
            <a:r>
              <a:rPr sz="1800" b="1" i="0">
                <a:solidFill>
                  <a:srgbClr val="070E1D"/>
                </a:solidFill>
                <a:latin typeface="Segoe UI"/>
              </a:rPr>
              <a:t>Personnes</a:t>
            </a:r>
          </a:p>
        </p:txBody>
      </p:sp>
      <p:sp>
        <p:nvSpPr>
          <p:cNvPr id="14" name="S04_TOP_SUBLABEL"/>
          <p:cNvSpPr txBox="1"/>
          <p:nvPr/>
        </p:nvSpPr>
        <p:spPr>
          <a:xfrm>
            <a:off x="7059600" y="917999"/>
            <a:ext cx="2188800" cy="309600"/>
          </a:xfrm>
          <a:prstGeom prst="rect">
            <a:avLst/>
          </a:prstGeom>
          <a:noFill/>
        </p:spPr>
        <p:txBody>
          <a:bodyPr wrap="square" lIns="45720" rIns="45720" anchor="t">
            <a:spAutoFit/>
          </a:bodyPr>
          <a:lstStyle/>
          <a:p>
            <a:pPr algn="l"/>
            <a:r>
              <a:rPr sz="1400" b="0" i="0">
                <a:solidFill>
                  <a:srgbClr val="474E67"/>
                </a:solidFill>
                <a:latin typeface="Segoe UI Light"/>
              </a:rPr>
              <a:t>compétences, posture, culture qualité</a:t>
            </a:r>
          </a:p>
        </p:txBody>
      </p:sp>
      <p:sp>
        <p:nvSpPr>
          <p:cNvPr id="15" name="S04_LEFT_LABEL"/>
          <p:cNvSpPr txBox="1"/>
          <p:nvPr/>
        </p:nvSpPr>
        <p:spPr>
          <a:xfrm>
            <a:off x="1011600" y="4262400"/>
            <a:ext cx="2188800" cy="370800"/>
          </a:xfrm>
          <a:prstGeom prst="rect">
            <a:avLst/>
          </a:prstGeom>
          <a:noFill/>
        </p:spPr>
        <p:txBody>
          <a:bodyPr wrap="square" lIns="45720" rIns="45720" anchor="t">
            <a:spAutoFit/>
          </a:bodyPr>
          <a:lstStyle/>
          <a:p>
            <a:pPr algn="l"/>
            <a:r>
              <a:rPr sz="1800" b="1" i="0">
                <a:solidFill>
                  <a:srgbClr val="070E1D"/>
                </a:solidFill>
                <a:latin typeface="Segoe UI"/>
              </a:rPr>
              <a:t>Processus</a:t>
            </a:r>
          </a:p>
        </p:txBody>
      </p:sp>
      <p:sp>
        <p:nvSpPr>
          <p:cNvPr id="16" name="S04_LEFT_SUBLABEL"/>
          <p:cNvSpPr txBox="1"/>
          <p:nvPr/>
        </p:nvSpPr>
        <p:spPr>
          <a:xfrm>
            <a:off x="1011600" y="4539600"/>
            <a:ext cx="2188800" cy="309600"/>
          </a:xfrm>
          <a:prstGeom prst="rect">
            <a:avLst/>
          </a:prstGeom>
          <a:noFill/>
        </p:spPr>
        <p:txBody>
          <a:bodyPr wrap="square" lIns="45720" rIns="45720" anchor="t">
            <a:spAutoFit/>
          </a:bodyPr>
          <a:lstStyle/>
          <a:p>
            <a:pPr algn="l"/>
            <a:r>
              <a:rPr sz="1400" b="0" i="0">
                <a:solidFill>
                  <a:srgbClr val="474E67"/>
                </a:solidFill>
                <a:latin typeface="Segoe UI Light"/>
              </a:rPr>
              <a:t>méthodes Lean, standards, rituels</a:t>
            </a:r>
          </a:p>
        </p:txBody>
      </p:sp>
      <p:sp>
        <p:nvSpPr>
          <p:cNvPr id="17" name="S04_RIGHT_LABEL"/>
          <p:cNvSpPr txBox="1"/>
          <p:nvPr/>
        </p:nvSpPr>
        <p:spPr>
          <a:xfrm>
            <a:off x="8928000" y="4262400"/>
            <a:ext cx="2188800" cy="370800"/>
          </a:xfrm>
          <a:prstGeom prst="rect">
            <a:avLst/>
          </a:prstGeom>
          <a:noFill/>
        </p:spPr>
        <p:txBody>
          <a:bodyPr wrap="square" lIns="45720" rIns="45720" anchor="t">
            <a:spAutoFit/>
          </a:bodyPr>
          <a:lstStyle/>
          <a:p>
            <a:pPr algn="l"/>
            <a:r>
              <a:rPr sz="1800" b="1" i="0">
                <a:solidFill>
                  <a:srgbClr val="070E1D"/>
                </a:solidFill>
                <a:latin typeface="Segoe UI"/>
              </a:rPr>
              <a:t>Outils</a:t>
            </a:r>
          </a:p>
        </p:txBody>
      </p:sp>
      <p:sp>
        <p:nvSpPr>
          <p:cNvPr id="18" name="S04_RIGHT_SUBLABEL"/>
          <p:cNvSpPr txBox="1"/>
          <p:nvPr/>
        </p:nvSpPr>
        <p:spPr>
          <a:xfrm>
            <a:off x="8928000" y="4539600"/>
            <a:ext cx="2188800" cy="309600"/>
          </a:xfrm>
          <a:prstGeom prst="rect">
            <a:avLst/>
          </a:prstGeom>
          <a:noFill/>
        </p:spPr>
        <p:txBody>
          <a:bodyPr wrap="square" lIns="45720" rIns="45720" anchor="t">
            <a:spAutoFit/>
          </a:bodyPr>
          <a:lstStyle/>
          <a:p>
            <a:pPr algn="l"/>
            <a:r>
              <a:rPr sz="1400" b="0" i="0">
                <a:solidFill>
                  <a:srgbClr val="474E67"/>
                </a:solidFill>
                <a:latin typeface="Segoe UI Light"/>
              </a:rPr>
              <a:t>MES, dashboards, traçabilité digitale</a:t>
            </a:r>
          </a:p>
        </p:txBody>
      </p:sp>
      <p:sp>
        <p:nvSpPr>
          <p:cNvPr id="19" name="TakeawayBand"/>
          <p:cNvSpPr/>
          <p:nvPr/>
        </p:nvSpPr>
        <p:spPr>
          <a:xfrm>
            <a:off x="392400" y="6073200"/>
            <a:ext cx="11412000" cy="396000"/>
          </a:xfrm>
          <a:prstGeom prst="rect">
            <a:avLst/>
          </a:prstGeom>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Aucune dimension ne progresse seule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Notre feuille de route en 4 temps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05/11</a:t>
            </a:r>
          </a:p>
        </p:txBody>
      </p:sp>
      <p:cxnSp>
        <p:nvCxnSpPr>
          <p:cNvPr id="7" name="Connector 6"/>
          <p:cNvCxnSpPr/>
          <p:nvPr/>
        </p:nvCxnSpPr>
        <p:spPr>
          <a:xfrm>
            <a:off x="939600" y="2916000"/>
            <a:ext cx="2458800" cy="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729600" y="2916000"/>
            <a:ext cx="2455200" cy="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516000" y="2916000"/>
            <a:ext cx="2455200" cy="0"/>
          </a:xfrm>
          <a:prstGeom prst="line">
            <a:avLst/>
          </a:prstGeom>
          <a:ln w="19050">
            <a:solidFill>
              <a:srgbClr val="BBB4C4"/>
            </a:solidFill>
          </a:ln>
        </p:spPr>
        <p:style>
          <a:lnRef idx="2">
            <a:schemeClr val="accent1"/>
          </a:lnRef>
          <a:fillRef idx="0">
            <a:schemeClr val="accent1"/>
          </a:fillRef>
          <a:effectRef idx="1">
            <a:schemeClr val="accent1"/>
          </a:effectRef>
          <a:fontRef idx="minor">
            <a:schemeClr val="tx1"/>
          </a:fontRef>
        </p:style>
      </p:cxnSp>
      <p:sp>
        <p:nvSpPr>
          <p:cNvPr id="10" name="S05_STEP_1_BULLET"/>
          <p:cNvSpPr/>
          <p:nvPr/>
        </p:nvSpPr>
        <p:spPr>
          <a:xfrm>
            <a:off x="608400" y="2750400"/>
            <a:ext cx="331200" cy="3312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5_STEP_1_NUMBER"/>
          <p:cNvSpPr txBox="1"/>
          <p:nvPr/>
        </p:nvSpPr>
        <p:spPr>
          <a:xfrm>
            <a:off x="608400" y="2750400"/>
            <a:ext cx="331200" cy="331200"/>
          </a:xfrm>
          <a:prstGeom prst="rect">
            <a:avLst/>
          </a:prstGeom>
          <a:noFill/>
        </p:spPr>
        <p:txBody>
          <a:bodyPr wrap="square" lIns="45720" rIns="45720" anchor="ctr">
            <a:spAutoFit/>
          </a:bodyPr>
          <a:lstStyle/>
          <a:p>
            <a:pPr algn="ctr"/>
            <a:r>
              <a:rPr sz="1200" b="1" i="0">
                <a:solidFill>
                  <a:srgbClr val="FFFFFF"/>
                </a:solidFill>
                <a:latin typeface="Segoe UI Black"/>
              </a:rPr>
              <a:t>1</a:t>
            </a:r>
          </a:p>
        </p:txBody>
      </p:sp>
      <p:sp>
        <p:nvSpPr>
          <p:cNvPr id="12" name="S05_STEP_1_PERIOD"/>
          <p:cNvSpPr txBox="1"/>
          <p:nvPr/>
        </p:nvSpPr>
        <p:spPr>
          <a:xfrm>
            <a:off x="608400" y="3193199"/>
            <a:ext cx="2689200" cy="223200"/>
          </a:xfrm>
          <a:prstGeom prst="rect">
            <a:avLst/>
          </a:prstGeom>
          <a:noFill/>
        </p:spPr>
        <p:txBody>
          <a:bodyPr wrap="square" lIns="45720" rIns="45720" anchor="t">
            <a:spAutoFit/>
          </a:bodyPr>
          <a:lstStyle/>
          <a:p>
            <a:pPr algn="l"/>
            <a:r>
              <a:rPr sz="1200" b="1" i="0" cap="small">
                <a:solidFill>
                  <a:srgbClr val="6A5D79"/>
                </a:solidFill>
                <a:latin typeface="Segoe UI"/>
              </a:rPr>
              <a:t>T2 2026</a:t>
            </a:r>
          </a:p>
        </p:txBody>
      </p:sp>
      <p:sp>
        <p:nvSpPr>
          <p:cNvPr id="13" name="S05_STEP_1_TITLE"/>
          <p:cNvSpPr txBox="1"/>
          <p:nvPr/>
        </p:nvSpPr>
        <p:spPr>
          <a:xfrm>
            <a:off x="608400" y="3456000"/>
            <a:ext cx="2689200" cy="288000"/>
          </a:xfrm>
          <a:prstGeom prst="rect">
            <a:avLst/>
          </a:prstGeom>
          <a:noFill/>
        </p:spPr>
        <p:txBody>
          <a:bodyPr wrap="square" lIns="45720" rIns="45720" anchor="t">
            <a:spAutoFit/>
          </a:bodyPr>
          <a:lstStyle/>
          <a:p>
            <a:pPr algn="l"/>
            <a:r>
              <a:rPr sz="1600" b="1" i="0">
                <a:solidFill>
                  <a:srgbClr val="070E1D"/>
                </a:solidFill>
                <a:latin typeface="Segoe UI"/>
              </a:rPr>
              <a:t>Cadrage</a:t>
            </a:r>
          </a:p>
        </p:txBody>
      </p:sp>
      <p:sp>
        <p:nvSpPr>
          <p:cNvPr id="14" name="S05_STEP_1_BODY"/>
          <p:cNvSpPr txBox="1"/>
          <p:nvPr/>
        </p:nvSpPr>
        <p:spPr>
          <a:xfrm>
            <a:off x="608400" y="3794399"/>
            <a:ext cx="2689200" cy="694800"/>
          </a:xfrm>
          <a:prstGeom prst="rect">
            <a:avLst/>
          </a:prstGeom>
          <a:noFill/>
        </p:spPr>
        <p:txBody>
          <a:bodyPr wrap="square" lIns="45720" rIns="45720" anchor="t">
            <a:spAutoFit/>
          </a:bodyPr>
          <a:lstStyle/>
          <a:p>
            <a:pPr algn="l"/>
            <a:r>
              <a:rPr sz="1200" b="0" i="0">
                <a:solidFill>
                  <a:srgbClr val="474E67"/>
                </a:solidFill>
                <a:latin typeface="Segoe UI Light"/>
              </a:rPr>
              <a:t>Diagnostic 360°, sponsoring N-1, KPI baseline sur 6 sites pilotes.</a:t>
            </a:r>
          </a:p>
        </p:txBody>
      </p:sp>
      <p:sp>
        <p:nvSpPr>
          <p:cNvPr id="15" name="S05_STEP_2_BULLET"/>
          <p:cNvSpPr/>
          <p:nvPr/>
        </p:nvSpPr>
        <p:spPr>
          <a:xfrm>
            <a:off x="3398400" y="2750400"/>
            <a:ext cx="331200" cy="3312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5_STEP_2_NUMBER"/>
          <p:cNvSpPr txBox="1"/>
          <p:nvPr/>
        </p:nvSpPr>
        <p:spPr>
          <a:xfrm>
            <a:off x="3398400" y="2750400"/>
            <a:ext cx="331200" cy="331200"/>
          </a:xfrm>
          <a:prstGeom prst="rect">
            <a:avLst/>
          </a:prstGeom>
          <a:noFill/>
        </p:spPr>
        <p:txBody>
          <a:bodyPr wrap="square" lIns="45720" rIns="45720" anchor="ctr">
            <a:spAutoFit/>
          </a:bodyPr>
          <a:lstStyle/>
          <a:p>
            <a:pPr algn="ctr"/>
            <a:r>
              <a:rPr sz="1200" b="1" i="0">
                <a:solidFill>
                  <a:srgbClr val="FFFFFF"/>
                </a:solidFill>
                <a:latin typeface="Segoe UI Black"/>
              </a:rPr>
              <a:t>2</a:t>
            </a:r>
          </a:p>
        </p:txBody>
      </p:sp>
      <p:sp>
        <p:nvSpPr>
          <p:cNvPr id="17" name="S05_STEP_2_PERIOD"/>
          <p:cNvSpPr txBox="1"/>
          <p:nvPr/>
        </p:nvSpPr>
        <p:spPr>
          <a:xfrm>
            <a:off x="3398400" y="3193199"/>
            <a:ext cx="2689200" cy="223200"/>
          </a:xfrm>
          <a:prstGeom prst="rect">
            <a:avLst/>
          </a:prstGeom>
          <a:noFill/>
        </p:spPr>
        <p:txBody>
          <a:bodyPr wrap="square" lIns="45720" rIns="45720" anchor="t">
            <a:spAutoFit/>
          </a:bodyPr>
          <a:lstStyle/>
          <a:p>
            <a:pPr algn="l"/>
            <a:r>
              <a:rPr sz="1200" b="1" i="0" cap="small">
                <a:solidFill>
                  <a:srgbClr val="A25871"/>
                </a:solidFill>
                <a:latin typeface="Segoe UI"/>
              </a:rPr>
              <a:t>T3 2026</a:t>
            </a:r>
          </a:p>
        </p:txBody>
      </p:sp>
      <p:sp>
        <p:nvSpPr>
          <p:cNvPr id="18" name="S05_STEP_2_TITLE"/>
          <p:cNvSpPr txBox="1"/>
          <p:nvPr/>
        </p:nvSpPr>
        <p:spPr>
          <a:xfrm>
            <a:off x="3398400" y="3456000"/>
            <a:ext cx="2689200" cy="288000"/>
          </a:xfrm>
          <a:prstGeom prst="rect">
            <a:avLst/>
          </a:prstGeom>
          <a:noFill/>
        </p:spPr>
        <p:txBody>
          <a:bodyPr wrap="square" lIns="45720" rIns="45720" anchor="t">
            <a:spAutoFit/>
          </a:bodyPr>
          <a:lstStyle/>
          <a:p>
            <a:pPr algn="l"/>
            <a:r>
              <a:rPr sz="1600" b="1" i="0">
                <a:solidFill>
                  <a:srgbClr val="070E1D"/>
                </a:solidFill>
                <a:latin typeface="Segoe UI"/>
              </a:rPr>
              <a:t>Pilote</a:t>
            </a:r>
          </a:p>
        </p:txBody>
      </p:sp>
      <p:sp>
        <p:nvSpPr>
          <p:cNvPr id="19" name="S05_STEP_2_BODY"/>
          <p:cNvSpPr txBox="1"/>
          <p:nvPr/>
        </p:nvSpPr>
        <p:spPr>
          <a:xfrm>
            <a:off x="3398400" y="3794399"/>
            <a:ext cx="2689200" cy="694800"/>
          </a:xfrm>
          <a:prstGeom prst="rect">
            <a:avLst/>
          </a:prstGeom>
          <a:noFill/>
        </p:spPr>
        <p:txBody>
          <a:bodyPr wrap="square" lIns="45720" rIns="45720" anchor="t">
            <a:spAutoFit/>
          </a:bodyPr>
          <a:lstStyle/>
          <a:p>
            <a:pPr algn="l"/>
            <a:r>
              <a:rPr sz="1200" b="0" i="0">
                <a:solidFill>
                  <a:srgbClr val="474E67"/>
                </a:solidFill>
                <a:latin typeface="Segoe UI Light"/>
              </a:rPr>
              <a:t>Deux sites en cycle court, méthode itérative, REX hebdomadaire avec sponsor exécutif et terrain.</a:t>
            </a:r>
          </a:p>
        </p:txBody>
      </p:sp>
      <p:sp>
        <p:nvSpPr>
          <p:cNvPr id="20" name="S05_STEP_3_BULLET"/>
          <p:cNvSpPr/>
          <p:nvPr/>
        </p:nvSpPr>
        <p:spPr>
          <a:xfrm>
            <a:off x="6184800" y="2750400"/>
            <a:ext cx="331200" cy="331200"/>
          </a:xfrm>
          <a:prstGeom prst="ellipse">
            <a:avLst/>
          </a:prstGeom>
          <a:solidFill>
            <a:srgbClr val="D47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05_STEP_3_NUMBER"/>
          <p:cNvSpPr txBox="1"/>
          <p:nvPr/>
        </p:nvSpPr>
        <p:spPr>
          <a:xfrm>
            <a:off x="6184800" y="2750400"/>
            <a:ext cx="331200" cy="331200"/>
          </a:xfrm>
          <a:prstGeom prst="rect">
            <a:avLst/>
          </a:prstGeom>
          <a:noFill/>
        </p:spPr>
        <p:txBody>
          <a:bodyPr wrap="square" lIns="45720" rIns="45720" anchor="ctr">
            <a:spAutoFit/>
          </a:bodyPr>
          <a:lstStyle/>
          <a:p>
            <a:pPr algn="ctr"/>
            <a:r>
              <a:rPr sz="1200" b="1" i="0">
                <a:solidFill>
                  <a:srgbClr val="FFFFFF"/>
                </a:solidFill>
                <a:latin typeface="Segoe UI Black"/>
              </a:rPr>
              <a:t>3</a:t>
            </a:r>
          </a:p>
        </p:txBody>
      </p:sp>
      <p:sp>
        <p:nvSpPr>
          <p:cNvPr id="22" name="S05_STEP_3_PERIOD"/>
          <p:cNvSpPr txBox="1"/>
          <p:nvPr/>
        </p:nvSpPr>
        <p:spPr>
          <a:xfrm>
            <a:off x="6184800" y="3193199"/>
            <a:ext cx="2689200" cy="223200"/>
          </a:xfrm>
          <a:prstGeom prst="rect">
            <a:avLst/>
          </a:prstGeom>
          <a:noFill/>
        </p:spPr>
        <p:txBody>
          <a:bodyPr wrap="square" lIns="45720" rIns="45720" anchor="t">
            <a:spAutoFit/>
          </a:bodyPr>
          <a:lstStyle/>
          <a:p>
            <a:pPr algn="l"/>
            <a:r>
              <a:rPr sz="1200" b="1" i="0" cap="small">
                <a:solidFill>
                  <a:srgbClr val="D4737A"/>
                </a:solidFill>
                <a:latin typeface="Segoe UI"/>
              </a:rPr>
              <a:t>T4 2026 - T1 2027</a:t>
            </a:r>
          </a:p>
        </p:txBody>
      </p:sp>
      <p:sp>
        <p:nvSpPr>
          <p:cNvPr id="23" name="S05_STEP_3_TITLE"/>
          <p:cNvSpPr txBox="1"/>
          <p:nvPr/>
        </p:nvSpPr>
        <p:spPr>
          <a:xfrm>
            <a:off x="6184800" y="3456000"/>
            <a:ext cx="2689200" cy="288000"/>
          </a:xfrm>
          <a:prstGeom prst="rect">
            <a:avLst/>
          </a:prstGeom>
          <a:noFill/>
        </p:spPr>
        <p:txBody>
          <a:bodyPr wrap="square" lIns="45720" rIns="45720" anchor="t">
            <a:spAutoFit/>
          </a:bodyPr>
          <a:lstStyle/>
          <a:p>
            <a:pPr algn="l"/>
            <a:r>
              <a:rPr sz="1600" b="1" i="0">
                <a:solidFill>
                  <a:srgbClr val="070E1D"/>
                </a:solidFill>
                <a:latin typeface="Segoe UI"/>
              </a:rPr>
              <a:t>Vague 1</a:t>
            </a:r>
          </a:p>
        </p:txBody>
      </p:sp>
      <p:sp>
        <p:nvSpPr>
          <p:cNvPr id="24" name="S05_STEP_3_BODY"/>
          <p:cNvSpPr txBox="1"/>
          <p:nvPr/>
        </p:nvSpPr>
        <p:spPr>
          <a:xfrm>
            <a:off x="6184800" y="3794399"/>
            <a:ext cx="2689200" cy="694800"/>
          </a:xfrm>
          <a:prstGeom prst="rect">
            <a:avLst/>
          </a:prstGeom>
          <a:noFill/>
        </p:spPr>
        <p:txBody>
          <a:bodyPr wrap="square" lIns="45720" rIns="45720" anchor="t">
            <a:spAutoFit/>
          </a:bodyPr>
          <a:lstStyle/>
          <a:p>
            <a:pPr algn="l"/>
            <a:r>
              <a:rPr sz="1200" b="0" i="0">
                <a:solidFill>
                  <a:srgbClr val="474E67"/>
                </a:solidFill>
                <a:latin typeface="Segoe UI Light"/>
              </a:rPr>
              <a:t>Six sites supplémentaires, ambassadeurs internes, formation Yellow Belt déployée.</a:t>
            </a:r>
          </a:p>
        </p:txBody>
      </p:sp>
      <p:sp>
        <p:nvSpPr>
          <p:cNvPr id="25" name="S05_STEP_4_BULLET"/>
          <p:cNvSpPr/>
          <p:nvPr/>
        </p:nvSpPr>
        <p:spPr>
          <a:xfrm>
            <a:off x="8971200" y="2750400"/>
            <a:ext cx="331200" cy="3312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05_STEP_4_NUMBER"/>
          <p:cNvSpPr txBox="1"/>
          <p:nvPr/>
        </p:nvSpPr>
        <p:spPr>
          <a:xfrm>
            <a:off x="8971200" y="2750400"/>
            <a:ext cx="331200" cy="331200"/>
          </a:xfrm>
          <a:prstGeom prst="rect">
            <a:avLst/>
          </a:prstGeom>
          <a:noFill/>
        </p:spPr>
        <p:txBody>
          <a:bodyPr wrap="square" lIns="45720" rIns="45720" anchor="ctr">
            <a:spAutoFit/>
          </a:bodyPr>
          <a:lstStyle/>
          <a:p>
            <a:pPr algn="ctr"/>
            <a:r>
              <a:rPr sz="1200" b="1" i="0">
                <a:solidFill>
                  <a:srgbClr val="FFFFFF"/>
                </a:solidFill>
                <a:latin typeface="Segoe UI Black"/>
              </a:rPr>
              <a:t>4</a:t>
            </a:r>
          </a:p>
        </p:txBody>
      </p:sp>
      <p:sp>
        <p:nvSpPr>
          <p:cNvPr id="27" name="S05_STEP_4_PERIOD"/>
          <p:cNvSpPr txBox="1"/>
          <p:nvPr/>
        </p:nvSpPr>
        <p:spPr>
          <a:xfrm>
            <a:off x="8971200" y="3193199"/>
            <a:ext cx="2689200" cy="223200"/>
          </a:xfrm>
          <a:prstGeom prst="rect">
            <a:avLst/>
          </a:prstGeom>
          <a:noFill/>
        </p:spPr>
        <p:txBody>
          <a:bodyPr wrap="square" lIns="45720" rIns="45720" anchor="t">
            <a:spAutoFit/>
          </a:bodyPr>
          <a:lstStyle/>
          <a:p>
            <a:pPr algn="l"/>
            <a:r>
              <a:rPr sz="1200" b="1" i="0" cap="small">
                <a:solidFill>
                  <a:srgbClr val="FDA85B"/>
                </a:solidFill>
                <a:latin typeface="Segoe UI"/>
              </a:rPr>
              <a:t>T2 - T4 2027</a:t>
            </a:r>
          </a:p>
        </p:txBody>
      </p:sp>
      <p:sp>
        <p:nvSpPr>
          <p:cNvPr id="28" name="S05_STEP_4_TITLE"/>
          <p:cNvSpPr txBox="1"/>
          <p:nvPr/>
        </p:nvSpPr>
        <p:spPr>
          <a:xfrm>
            <a:off x="8971200" y="3456000"/>
            <a:ext cx="2689200" cy="288000"/>
          </a:xfrm>
          <a:prstGeom prst="rect">
            <a:avLst/>
          </a:prstGeom>
          <a:noFill/>
        </p:spPr>
        <p:txBody>
          <a:bodyPr wrap="square" lIns="45720" rIns="45720" anchor="t">
            <a:spAutoFit/>
          </a:bodyPr>
          <a:lstStyle/>
          <a:p>
            <a:pPr algn="l"/>
            <a:r>
              <a:rPr sz="1600" b="1" i="0">
                <a:solidFill>
                  <a:srgbClr val="070E1D"/>
                </a:solidFill>
                <a:latin typeface="Segoe UI"/>
              </a:rPr>
              <a:t>Pérennisation</a:t>
            </a:r>
          </a:p>
        </p:txBody>
      </p:sp>
      <p:sp>
        <p:nvSpPr>
          <p:cNvPr id="29" name="S05_STEP_4_BODY"/>
          <p:cNvSpPr txBox="1"/>
          <p:nvPr/>
        </p:nvSpPr>
        <p:spPr>
          <a:xfrm>
            <a:off x="8971200" y="3794399"/>
            <a:ext cx="2689200" cy="694800"/>
          </a:xfrm>
          <a:prstGeom prst="rect">
            <a:avLst/>
          </a:prstGeom>
          <a:noFill/>
        </p:spPr>
        <p:txBody>
          <a:bodyPr wrap="square" lIns="45720" rIns="45720" anchor="t">
            <a:spAutoFit/>
          </a:bodyPr>
          <a:lstStyle/>
          <a:p>
            <a:pPr algn="l"/>
            <a:r>
              <a:rPr sz="1200" b="0" i="0">
                <a:solidFill>
                  <a:srgbClr val="474E67"/>
                </a:solidFill>
                <a:latin typeface="Segoe UI Light"/>
              </a:rPr>
              <a:t>BAU + amélioration continue, intégration aux processus RH et performance.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Comparatif des 4 scénarios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06/11</a:t>
            </a:r>
          </a:p>
        </p:txBody>
      </p:sp>
      <p:sp>
        <p:nvSpPr>
          <p:cNvPr id="7" name="S06_HEADER_1_BG"/>
          <p:cNvSpPr/>
          <p:nvPr/>
        </p:nvSpPr>
        <p:spPr>
          <a:xfrm>
            <a:off x="547200" y="1897199"/>
            <a:ext cx="34164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6_HEADER_C1"/>
          <p:cNvSpPr txBox="1"/>
          <p:nvPr/>
        </p:nvSpPr>
        <p:spPr>
          <a:xfrm>
            <a:off x="547200" y="1897199"/>
            <a:ext cx="3416400" cy="255600"/>
          </a:xfrm>
          <a:prstGeom prst="rect">
            <a:avLst/>
          </a:prstGeom>
          <a:noFill/>
        </p:spPr>
        <p:txBody>
          <a:bodyPr wrap="square" lIns="45720" rIns="45720" anchor="ctr">
            <a:spAutoFit/>
          </a:bodyPr>
          <a:lstStyle/>
          <a:p>
            <a:pPr algn="ctr"/>
            <a:r>
              <a:rPr sz="1600" b="1" i="0">
                <a:solidFill>
                  <a:srgbClr val="FFFFFF"/>
                </a:solidFill>
                <a:latin typeface="Segoe UI"/>
              </a:rPr>
              <a:t>Scénario</a:t>
            </a:r>
          </a:p>
        </p:txBody>
      </p:sp>
      <p:sp>
        <p:nvSpPr>
          <p:cNvPr id="9" name="S06_HEADER_2_BG"/>
          <p:cNvSpPr/>
          <p:nvPr/>
        </p:nvSpPr>
        <p:spPr>
          <a:xfrm>
            <a:off x="4172400" y="1897199"/>
            <a:ext cx="18288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06_HEADER_C2"/>
          <p:cNvSpPr txBox="1"/>
          <p:nvPr/>
        </p:nvSpPr>
        <p:spPr>
          <a:xfrm>
            <a:off x="4172400" y="1897199"/>
            <a:ext cx="1828800" cy="255600"/>
          </a:xfrm>
          <a:prstGeom prst="rect">
            <a:avLst/>
          </a:prstGeom>
          <a:noFill/>
        </p:spPr>
        <p:txBody>
          <a:bodyPr wrap="square" lIns="45720" rIns="45720" anchor="ctr">
            <a:spAutoFit/>
          </a:bodyPr>
          <a:lstStyle/>
          <a:p>
            <a:pPr algn="ctr"/>
            <a:r>
              <a:rPr sz="1600" b="1" i="0">
                <a:solidFill>
                  <a:srgbClr val="FFFFFF"/>
                </a:solidFill>
                <a:latin typeface="Segoe UI"/>
              </a:rPr>
              <a:t>Coût</a:t>
            </a:r>
          </a:p>
        </p:txBody>
      </p:sp>
      <p:sp>
        <p:nvSpPr>
          <p:cNvPr id="11" name="S06_HEADER_3_BG"/>
          <p:cNvSpPr/>
          <p:nvPr/>
        </p:nvSpPr>
        <p:spPr>
          <a:xfrm>
            <a:off x="6256800" y="1897199"/>
            <a:ext cx="14940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06_HEADER_C3"/>
          <p:cNvSpPr txBox="1"/>
          <p:nvPr/>
        </p:nvSpPr>
        <p:spPr>
          <a:xfrm>
            <a:off x="6256800" y="1897199"/>
            <a:ext cx="1494000" cy="255600"/>
          </a:xfrm>
          <a:prstGeom prst="rect">
            <a:avLst/>
          </a:prstGeom>
          <a:noFill/>
        </p:spPr>
        <p:txBody>
          <a:bodyPr wrap="square" lIns="45720" rIns="45720" anchor="ctr">
            <a:spAutoFit/>
          </a:bodyPr>
          <a:lstStyle/>
          <a:p>
            <a:pPr algn="ctr"/>
            <a:r>
              <a:rPr sz="1600" b="1" i="0">
                <a:solidFill>
                  <a:srgbClr val="FFFFFF"/>
                </a:solidFill>
                <a:latin typeface="Segoe UI"/>
              </a:rPr>
              <a:t>Délai</a:t>
            </a:r>
          </a:p>
        </p:txBody>
      </p:sp>
      <p:sp>
        <p:nvSpPr>
          <p:cNvPr id="13" name="S06_HEADER_4_BG"/>
          <p:cNvSpPr/>
          <p:nvPr/>
        </p:nvSpPr>
        <p:spPr>
          <a:xfrm>
            <a:off x="8013600" y="1897199"/>
            <a:ext cx="20700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6_HEADER_C4"/>
          <p:cNvSpPr txBox="1"/>
          <p:nvPr/>
        </p:nvSpPr>
        <p:spPr>
          <a:xfrm>
            <a:off x="8013600" y="1897199"/>
            <a:ext cx="2070000" cy="255600"/>
          </a:xfrm>
          <a:prstGeom prst="rect">
            <a:avLst/>
          </a:prstGeom>
          <a:noFill/>
        </p:spPr>
        <p:txBody>
          <a:bodyPr wrap="square" lIns="45720" rIns="45720" anchor="ctr">
            <a:spAutoFit/>
          </a:bodyPr>
          <a:lstStyle/>
          <a:p>
            <a:pPr algn="ctr"/>
            <a:r>
              <a:rPr sz="1600" b="1" i="0">
                <a:solidFill>
                  <a:srgbClr val="FFFFFF"/>
                </a:solidFill>
                <a:latin typeface="Segoe UI"/>
              </a:rPr>
              <a:t>Risque</a:t>
            </a:r>
          </a:p>
        </p:txBody>
      </p:sp>
      <p:sp>
        <p:nvSpPr>
          <p:cNvPr id="15" name="S06_HEADER_5_BG"/>
          <p:cNvSpPr/>
          <p:nvPr/>
        </p:nvSpPr>
        <p:spPr>
          <a:xfrm>
            <a:off x="10332000" y="1897199"/>
            <a:ext cx="1364400" cy="2556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6_HEADER_C5"/>
          <p:cNvSpPr txBox="1"/>
          <p:nvPr/>
        </p:nvSpPr>
        <p:spPr>
          <a:xfrm>
            <a:off x="10332000" y="1897199"/>
            <a:ext cx="1364400" cy="255600"/>
          </a:xfrm>
          <a:prstGeom prst="rect">
            <a:avLst/>
          </a:prstGeom>
          <a:noFill/>
        </p:spPr>
        <p:txBody>
          <a:bodyPr wrap="square" lIns="45720" rIns="45720" anchor="ctr">
            <a:spAutoFit/>
          </a:bodyPr>
          <a:lstStyle/>
          <a:p>
            <a:pPr algn="ctr"/>
            <a:r>
              <a:rPr sz="1600" b="1" i="0">
                <a:solidFill>
                  <a:srgbClr val="FFFFFF"/>
                </a:solidFill>
                <a:latin typeface="Segoe UI"/>
              </a:rPr>
              <a:t>Score</a:t>
            </a:r>
          </a:p>
        </p:txBody>
      </p:sp>
      <p:sp>
        <p:nvSpPr>
          <p:cNvPr id="17" name="S06_R1_BG"/>
          <p:cNvSpPr/>
          <p:nvPr/>
        </p:nvSpPr>
        <p:spPr>
          <a:xfrm>
            <a:off x="547200" y="2361600"/>
            <a:ext cx="10173600" cy="288000"/>
          </a:xfrm>
          <a:prstGeom prst="rect">
            <a:avLst/>
          </a:prstGeom>
          <a:solidFill>
            <a:srgbClr val="F4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6_R1C1"/>
          <p:cNvSpPr txBox="1"/>
          <p:nvPr/>
        </p:nvSpPr>
        <p:spPr>
          <a:xfrm>
            <a:off x="547200" y="2361600"/>
            <a:ext cx="3416400" cy="288000"/>
          </a:xfrm>
          <a:prstGeom prst="rect">
            <a:avLst/>
          </a:prstGeom>
          <a:noFill/>
        </p:spPr>
        <p:txBody>
          <a:bodyPr wrap="square" lIns="45720" rIns="45720" anchor="ctr">
            <a:spAutoFit/>
          </a:bodyPr>
          <a:lstStyle/>
          <a:p>
            <a:pPr algn="ctr"/>
            <a:r>
              <a:rPr sz="1400" b="1" i="0">
                <a:solidFill>
                  <a:srgbClr val="070E1D"/>
                </a:solidFill>
                <a:latin typeface="Segoe UI"/>
              </a:rPr>
              <a:t>A — Statu quo amélioré</a:t>
            </a:r>
          </a:p>
        </p:txBody>
      </p:sp>
      <p:sp>
        <p:nvSpPr>
          <p:cNvPr id="19" name="S06_R1C2"/>
          <p:cNvSpPr txBox="1"/>
          <p:nvPr/>
        </p:nvSpPr>
        <p:spPr>
          <a:xfrm>
            <a:off x="4172400" y="2361600"/>
            <a:ext cx="1828800" cy="288000"/>
          </a:xfrm>
          <a:prstGeom prst="rect">
            <a:avLst/>
          </a:prstGeom>
          <a:noFill/>
        </p:spPr>
        <p:txBody>
          <a:bodyPr wrap="square" lIns="45720" rIns="45720" anchor="ctr">
            <a:spAutoFit/>
          </a:bodyPr>
          <a:lstStyle/>
          <a:p>
            <a:pPr algn="ctr"/>
            <a:r>
              <a:rPr sz="1400" b="0" i="0">
                <a:solidFill>
                  <a:srgbClr val="474E67"/>
                </a:solidFill>
                <a:latin typeface="Segoe UI"/>
              </a:rPr>
              <a:t>0,5 M€</a:t>
            </a:r>
          </a:p>
        </p:txBody>
      </p:sp>
      <p:sp>
        <p:nvSpPr>
          <p:cNvPr id="20" name="S06_R1C3"/>
          <p:cNvSpPr txBox="1"/>
          <p:nvPr/>
        </p:nvSpPr>
        <p:spPr>
          <a:xfrm>
            <a:off x="6256800" y="2361600"/>
            <a:ext cx="1494000" cy="288000"/>
          </a:xfrm>
          <a:prstGeom prst="rect">
            <a:avLst/>
          </a:prstGeom>
          <a:noFill/>
        </p:spPr>
        <p:txBody>
          <a:bodyPr wrap="square" lIns="45720" rIns="45720" anchor="ctr">
            <a:spAutoFit/>
          </a:bodyPr>
          <a:lstStyle/>
          <a:p>
            <a:pPr algn="ctr"/>
            <a:r>
              <a:rPr sz="1400" b="0" i="0">
                <a:solidFill>
                  <a:srgbClr val="474E67"/>
                </a:solidFill>
                <a:latin typeface="Segoe UI"/>
              </a:rPr>
              <a:t>6 mois</a:t>
            </a:r>
          </a:p>
        </p:txBody>
      </p:sp>
      <p:sp>
        <p:nvSpPr>
          <p:cNvPr id="21" name="S06_R1C4"/>
          <p:cNvSpPr txBox="1"/>
          <p:nvPr/>
        </p:nvSpPr>
        <p:spPr>
          <a:xfrm>
            <a:off x="8013600" y="2361600"/>
            <a:ext cx="2070000" cy="288000"/>
          </a:xfrm>
          <a:prstGeom prst="rect">
            <a:avLst/>
          </a:prstGeom>
          <a:noFill/>
        </p:spPr>
        <p:txBody>
          <a:bodyPr wrap="square" lIns="45720" rIns="45720" anchor="ctr">
            <a:spAutoFit/>
          </a:bodyPr>
          <a:lstStyle/>
          <a:p>
            <a:pPr algn="ctr"/>
            <a:r>
              <a:rPr sz="1400" b="1" i="0">
                <a:solidFill>
                  <a:srgbClr val="6A5D79"/>
                </a:solidFill>
                <a:latin typeface="Segoe UI"/>
              </a:rPr>
              <a:t>Faible</a:t>
            </a:r>
          </a:p>
        </p:txBody>
      </p:sp>
      <p:sp>
        <p:nvSpPr>
          <p:cNvPr id="22" name="S06_R1C5"/>
          <p:cNvSpPr txBox="1"/>
          <p:nvPr/>
        </p:nvSpPr>
        <p:spPr>
          <a:xfrm>
            <a:off x="10332000" y="2361600"/>
            <a:ext cx="1364400" cy="288000"/>
          </a:xfrm>
          <a:prstGeom prst="rect">
            <a:avLst/>
          </a:prstGeom>
          <a:noFill/>
        </p:spPr>
        <p:txBody>
          <a:bodyPr wrap="square" lIns="45720" rIns="45720" anchor="ctr">
            <a:spAutoFit/>
          </a:bodyPr>
          <a:lstStyle/>
          <a:p>
            <a:pPr algn="ctr"/>
            <a:r>
              <a:rPr sz="1400" b="1" i="0">
                <a:solidFill>
                  <a:srgbClr val="474E67"/>
                </a:solidFill>
                <a:latin typeface="Segoe UI"/>
              </a:rPr>
              <a:t>★★</a:t>
            </a:r>
          </a:p>
        </p:txBody>
      </p:sp>
      <p:sp>
        <p:nvSpPr>
          <p:cNvPr id="23" name="S06_R2_BG"/>
          <p:cNvSpPr/>
          <p:nvPr/>
        </p:nvSpPr>
        <p:spPr>
          <a:xfrm>
            <a:off x="547200" y="2869200"/>
            <a:ext cx="10173600" cy="28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06_R2C1"/>
          <p:cNvSpPr txBox="1"/>
          <p:nvPr/>
        </p:nvSpPr>
        <p:spPr>
          <a:xfrm>
            <a:off x="547200" y="2869200"/>
            <a:ext cx="3416400" cy="288000"/>
          </a:xfrm>
          <a:prstGeom prst="rect">
            <a:avLst/>
          </a:prstGeom>
          <a:noFill/>
        </p:spPr>
        <p:txBody>
          <a:bodyPr wrap="square" lIns="45720" rIns="45720" anchor="ctr">
            <a:spAutoFit/>
          </a:bodyPr>
          <a:lstStyle/>
          <a:p>
            <a:pPr algn="ctr"/>
            <a:r>
              <a:rPr sz="1400" b="1" i="0">
                <a:solidFill>
                  <a:srgbClr val="070E1D"/>
                </a:solidFill>
                <a:latin typeface="Segoe UI"/>
              </a:rPr>
              <a:t>B — Refonte ciblée Lean</a:t>
            </a:r>
          </a:p>
        </p:txBody>
      </p:sp>
      <p:sp>
        <p:nvSpPr>
          <p:cNvPr id="25" name="S06_R2C2"/>
          <p:cNvSpPr txBox="1"/>
          <p:nvPr/>
        </p:nvSpPr>
        <p:spPr>
          <a:xfrm>
            <a:off x="4172400" y="2869200"/>
            <a:ext cx="1828800" cy="288000"/>
          </a:xfrm>
          <a:prstGeom prst="rect">
            <a:avLst/>
          </a:prstGeom>
          <a:noFill/>
        </p:spPr>
        <p:txBody>
          <a:bodyPr wrap="square" lIns="45720" rIns="45720" anchor="ctr">
            <a:spAutoFit/>
          </a:bodyPr>
          <a:lstStyle/>
          <a:p>
            <a:pPr algn="ctr"/>
            <a:r>
              <a:rPr sz="1400" b="0" i="0">
                <a:solidFill>
                  <a:srgbClr val="474E67"/>
                </a:solidFill>
                <a:latin typeface="Segoe UI"/>
              </a:rPr>
              <a:t>1,8 M€</a:t>
            </a:r>
          </a:p>
        </p:txBody>
      </p:sp>
      <p:sp>
        <p:nvSpPr>
          <p:cNvPr id="26" name="S06_R2C3"/>
          <p:cNvSpPr txBox="1"/>
          <p:nvPr/>
        </p:nvSpPr>
        <p:spPr>
          <a:xfrm>
            <a:off x="6256800" y="2869200"/>
            <a:ext cx="1494000" cy="288000"/>
          </a:xfrm>
          <a:prstGeom prst="rect">
            <a:avLst/>
          </a:prstGeom>
          <a:noFill/>
        </p:spPr>
        <p:txBody>
          <a:bodyPr wrap="square" lIns="45720" rIns="45720" anchor="ctr">
            <a:spAutoFit/>
          </a:bodyPr>
          <a:lstStyle/>
          <a:p>
            <a:pPr algn="ctr"/>
            <a:r>
              <a:rPr sz="1400" b="0" i="0">
                <a:solidFill>
                  <a:srgbClr val="474E67"/>
                </a:solidFill>
                <a:latin typeface="Segoe UI"/>
              </a:rPr>
              <a:t>12 mois</a:t>
            </a:r>
          </a:p>
        </p:txBody>
      </p:sp>
      <p:sp>
        <p:nvSpPr>
          <p:cNvPr id="27" name="S06_R2C4"/>
          <p:cNvSpPr txBox="1"/>
          <p:nvPr/>
        </p:nvSpPr>
        <p:spPr>
          <a:xfrm>
            <a:off x="8013600" y="2869200"/>
            <a:ext cx="2070000" cy="288000"/>
          </a:xfrm>
          <a:prstGeom prst="rect">
            <a:avLst/>
          </a:prstGeom>
          <a:noFill/>
        </p:spPr>
        <p:txBody>
          <a:bodyPr wrap="square" lIns="45720" rIns="45720" anchor="ctr">
            <a:spAutoFit/>
          </a:bodyPr>
          <a:lstStyle/>
          <a:p>
            <a:pPr algn="ctr"/>
            <a:r>
              <a:rPr sz="1400" b="1" i="0">
                <a:solidFill>
                  <a:srgbClr val="6A5D79"/>
                </a:solidFill>
                <a:latin typeface="Segoe UI"/>
              </a:rPr>
              <a:t>Moyen</a:t>
            </a:r>
          </a:p>
        </p:txBody>
      </p:sp>
      <p:sp>
        <p:nvSpPr>
          <p:cNvPr id="28" name="S06_R2C5"/>
          <p:cNvSpPr txBox="1"/>
          <p:nvPr/>
        </p:nvSpPr>
        <p:spPr>
          <a:xfrm>
            <a:off x="10332000" y="2869200"/>
            <a:ext cx="1364400" cy="288000"/>
          </a:xfrm>
          <a:prstGeom prst="rect">
            <a:avLst/>
          </a:prstGeom>
          <a:noFill/>
        </p:spPr>
        <p:txBody>
          <a:bodyPr wrap="square" lIns="45720" rIns="45720" anchor="ctr">
            <a:spAutoFit/>
          </a:bodyPr>
          <a:lstStyle/>
          <a:p>
            <a:pPr algn="ctr"/>
            <a:r>
              <a:rPr sz="1400" b="1" i="0">
                <a:solidFill>
                  <a:srgbClr val="474E67"/>
                </a:solidFill>
                <a:latin typeface="Segoe UI"/>
              </a:rPr>
              <a:t>★★★★</a:t>
            </a:r>
          </a:p>
        </p:txBody>
      </p:sp>
      <p:sp>
        <p:nvSpPr>
          <p:cNvPr id="29" name="S06_R3_BG"/>
          <p:cNvSpPr/>
          <p:nvPr/>
        </p:nvSpPr>
        <p:spPr>
          <a:xfrm>
            <a:off x="547200" y="3376800"/>
            <a:ext cx="10173600" cy="288000"/>
          </a:xfrm>
          <a:prstGeom prst="rect">
            <a:avLst/>
          </a:prstGeom>
          <a:solidFill>
            <a:srgbClr val="F4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06_R3C1"/>
          <p:cNvSpPr txBox="1"/>
          <p:nvPr/>
        </p:nvSpPr>
        <p:spPr>
          <a:xfrm>
            <a:off x="547200" y="3376800"/>
            <a:ext cx="3416400" cy="288000"/>
          </a:xfrm>
          <a:prstGeom prst="rect">
            <a:avLst/>
          </a:prstGeom>
          <a:noFill/>
        </p:spPr>
        <p:txBody>
          <a:bodyPr wrap="square" lIns="45720" rIns="45720" anchor="ctr">
            <a:spAutoFit/>
          </a:bodyPr>
          <a:lstStyle/>
          <a:p>
            <a:pPr algn="ctr"/>
            <a:r>
              <a:rPr sz="1400" b="1" i="0">
                <a:solidFill>
                  <a:srgbClr val="070E1D"/>
                </a:solidFill>
                <a:latin typeface="Segoe UI"/>
              </a:rPr>
              <a:t>C — Transformation totale</a:t>
            </a:r>
          </a:p>
        </p:txBody>
      </p:sp>
      <p:sp>
        <p:nvSpPr>
          <p:cNvPr id="31" name="S06_R3C2"/>
          <p:cNvSpPr txBox="1"/>
          <p:nvPr/>
        </p:nvSpPr>
        <p:spPr>
          <a:xfrm>
            <a:off x="4172400" y="3376800"/>
            <a:ext cx="1828800" cy="288000"/>
          </a:xfrm>
          <a:prstGeom prst="rect">
            <a:avLst/>
          </a:prstGeom>
          <a:noFill/>
        </p:spPr>
        <p:txBody>
          <a:bodyPr wrap="square" lIns="45720" rIns="45720" anchor="ctr">
            <a:spAutoFit/>
          </a:bodyPr>
          <a:lstStyle/>
          <a:p>
            <a:pPr algn="ctr"/>
            <a:r>
              <a:rPr sz="1400" b="0" i="0">
                <a:solidFill>
                  <a:srgbClr val="474E67"/>
                </a:solidFill>
                <a:latin typeface="Segoe UI"/>
              </a:rPr>
              <a:t>4,2 M€</a:t>
            </a:r>
          </a:p>
        </p:txBody>
      </p:sp>
      <p:sp>
        <p:nvSpPr>
          <p:cNvPr id="32" name="S06_R3C3"/>
          <p:cNvSpPr txBox="1"/>
          <p:nvPr/>
        </p:nvSpPr>
        <p:spPr>
          <a:xfrm>
            <a:off x="6256800" y="3376800"/>
            <a:ext cx="1494000" cy="288000"/>
          </a:xfrm>
          <a:prstGeom prst="rect">
            <a:avLst/>
          </a:prstGeom>
          <a:noFill/>
        </p:spPr>
        <p:txBody>
          <a:bodyPr wrap="square" lIns="45720" rIns="45720" anchor="ctr">
            <a:spAutoFit/>
          </a:bodyPr>
          <a:lstStyle/>
          <a:p>
            <a:pPr algn="ctr"/>
            <a:r>
              <a:rPr sz="1400" b="0" i="0">
                <a:solidFill>
                  <a:srgbClr val="474E67"/>
                </a:solidFill>
                <a:latin typeface="Segoe UI"/>
              </a:rPr>
              <a:t>24 mois</a:t>
            </a:r>
          </a:p>
        </p:txBody>
      </p:sp>
      <p:sp>
        <p:nvSpPr>
          <p:cNvPr id="33" name="S06_R3C4"/>
          <p:cNvSpPr txBox="1"/>
          <p:nvPr/>
        </p:nvSpPr>
        <p:spPr>
          <a:xfrm>
            <a:off x="8013600" y="3376800"/>
            <a:ext cx="2070000" cy="288000"/>
          </a:xfrm>
          <a:prstGeom prst="rect">
            <a:avLst/>
          </a:prstGeom>
          <a:noFill/>
        </p:spPr>
        <p:txBody>
          <a:bodyPr wrap="square" lIns="45720" rIns="45720" anchor="ctr">
            <a:spAutoFit/>
          </a:bodyPr>
          <a:lstStyle/>
          <a:p>
            <a:pPr algn="ctr"/>
            <a:r>
              <a:rPr sz="1400" b="1" i="0">
                <a:solidFill>
                  <a:srgbClr val="6A5D79"/>
                </a:solidFill>
                <a:latin typeface="Segoe UI"/>
              </a:rPr>
              <a:t>Elevé</a:t>
            </a:r>
          </a:p>
        </p:txBody>
      </p:sp>
      <p:sp>
        <p:nvSpPr>
          <p:cNvPr id="34" name="S06_R3C5"/>
          <p:cNvSpPr txBox="1"/>
          <p:nvPr/>
        </p:nvSpPr>
        <p:spPr>
          <a:xfrm>
            <a:off x="10332000" y="3376800"/>
            <a:ext cx="1364400" cy="288000"/>
          </a:xfrm>
          <a:prstGeom prst="rect">
            <a:avLst/>
          </a:prstGeom>
          <a:noFill/>
        </p:spPr>
        <p:txBody>
          <a:bodyPr wrap="square" lIns="45720" rIns="45720" anchor="ctr">
            <a:spAutoFit/>
          </a:bodyPr>
          <a:lstStyle/>
          <a:p>
            <a:pPr algn="ctr"/>
            <a:r>
              <a:rPr sz="1400" b="1" i="0">
                <a:solidFill>
                  <a:srgbClr val="474E67"/>
                </a:solidFill>
                <a:latin typeface="Segoe UI"/>
              </a:rPr>
              <a:t>★★★</a:t>
            </a:r>
          </a:p>
        </p:txBody>
      </p:sp>
      <p:sp>
        <p:nvSpPr>
          <p:cNvPr id="35" name="S06_R4_BG"/>
          <p:cNvSpPr/>
          <p:nvPr/>
        </p:nvSpPr>
        <p:spPr>
          <a:xfrm>
            <a:off x="547200" y="3884399"/>
            <a:ext cx="10173600" cy="28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06_R4C1"/>
          <p:cNvSpPr txBox="1"/>
          <p:nvPr/>
        </p:nvSpPr>
        <p:spPr>
          <a:xfrm>
            <a:off x="547200" y="3884399"/>
            <a:ext cx="3416400" cy="288000"/>
          </a:xfrm>
          <a:prstGeom prst="rect">
            <a:avLst/>
          </a:prstGeom>
          <a:noFill/>
        </p:spPr>
        <p:txBody>
          <a:bodyPr wrap="square" lIns="45720" rIns="45720" anchor="ctr">
            <a:spAutoFit/>
          </a:bodyPr>
          <a:lstStyle/>
          <a:p>
            <a:pPr algn="ctr"/>
            <a:r>
              <a:rPr sz="1400" b="1" i="0">
                <a:solidFill>
                  <a:srgbClr val="070E1D"/>
                </a:solidFill>
                <a:latin typeface="Segoe UI"/>
              </a:rPr>
              <a:t>D — Externalisation partielle</a:t>
            </a:r>
          </a:p>
        </p:txBody>
      </p:sp>
      <p:sp>
        <p:nvSpPr>
          <p:cNvPr id="37" name="S06_R4C2"/>
          <p:cNvSpPr txBox="1"/>
          <p:nvPr/>
        </p:nvSpPr>
        <p:spPr>
          <a:xfrm>
            <a:off x="4172400" y="3884399"/>
            <a:ext cx="1828800" cy="288000"/>
          </a:xfrm>
          <a:prstGeom prst="rect">
            <a:avLst/>
          </a:prstGeom>
          <a:noFill/>
        </p:spPr>
        <p:txBody>
          <a:bodyPr wrap="square" lIns="45720" rIns="45720" anchor="ctr">
            <a:spAutoFit/>
          </a:bodyPr>
          <a:lstStyle/>
          <a:p>
            <a:pPr algn="ctr"/>
            <a:r>
              <a:rPr sz="1400" b="0" i="0">
                <a:solidFill>
                  <a:srgbClr val="474E67"/>
                </a:solidFill>
                <a:latin typeface="Segoe UI"/>
              </a:rPr>
              <a:t>2,5 M€</a:t>
            </a:r>
          </a:p>
        </p:txBody>
      </p:sp>
      <p:sp>
        <p:nvSpPr>
          <p:cNvPr id="38" name="S06_R4C3"/>
          <p:cNvSpPr txBox="1"/>
          <p:nvPr/>
        </p:nvSpPr>
        <p:spPr>
          <a:xfrm>
            <a:off x="6256800" y="3884399"/>
            <a:ext cx="1494000" cy="288000"/>
          </a:xfrm>
          <a:prstGeom prst="rect">
            <a:avLst/>
          </a:prstGeom>
          <a:noFill/>
        </p:spPr>
        <p:txBody>
          <a:bodyPr wrap="square" lIns="45720" rIns="45720" anchor="ctr">
            <a:spAutoFit/>
          </a:bodyPr>
          <a:lstStyle/>
          <a:p>
            <a:pPr algn="ctr"/>
            <a:r>
              <a:rPr sz="1400" b="0" i="0">
                <a:solidFill>
                  <a:srgbClr val="474E67"/>
                </a:solidFill>
                <a:latin typeface="Segoe UI"/>
              </a:rPr>
              <a:t>9 mois</a:t>
            </a:r>
          </a:p>
        </p:txBody>
      </p:sp>
      <p:sp>
        <p:nvSpPr>
          <p:cNvPr id="39" name="S06_R4C4"/>
          <p:cNvSpPr txBox="1"/>
          <p:nvPr/>
        </p:nvSpPr>
        <p:spPr>
          <a:xfrm>
            <a:off x="8013600" y="3884399"/>
            <a:ext cx="2070000" cy="288000"/>
          </a:xfrm>
          <a:prstGeom prst="rect">
            <a:avLst/>
          </a:prstGeom>
          <a:noFill/>
        </p:spPr>
        <p:txBody>
          <a:bodyPr wrap="square" lIns="45720" rIns="45720" anchor="ctr">
            <a:spAutoFit/>
          </a:bodyPr>
          <a:lstStyle/>
          <a:p>
            <a:pPr algn="ctr"/>
            <a:r>
              <a:rPr sz="1400" b="1" i="0">
                <a:solidFill>
                  <a:srgbClr val="6A5D79"/>
                </a:solidFill>
                <a:latin typeface="Segoe UI"/>
              </a:rPr>
              <a:t>Moyen</a:t>
            </a:r>
          </a:p>
        </p:txBody>
      </p:sp>
      <p:sp>
        <p:nvSpPr>
          <p:cNvPr id="40" name="S06_R4C5"/>
          <p:cNvSpPr txBox="1"/>
          <p:nvPr/>
        </p:nvSpPr>
        <p:spPr>
          <a:xfrm>
            <a:off x="10332000" y="3884399"/>
            <a:ext cx="1364400" cy="288000"/>
          </a:xfrm>
          <a:prstGeom prst="rect">
            <a:avLst/>
          </a:prstGeom>
          <a:noFill/>
        </p:spPr>
        <p:txBody>
          <a:bodyPr wrap="square" lIns="45720" rIns="45720" anchor="ctr">
            <a:spAutoFit/>
          </a:bodyPr>
          <a:lstStyle/>
          <a:p>
            <a:pPr algn="ctr"/>
            <a:r>
              <a:rPr sz="1400" b="1" i="0">
                <a:solidFill>
                  <a:srgbClr val="474E67"/>
                </a:solidFill>
                <a:latin typeface="Segoe UI"/>
              </a:rPr>
              <a:t>★★</a:t>
            </a:r>
          </a:p>
        </p:txBody>
      </p:sp>
      <p:sp>
        <p:nvSpPr>
          <p:cNvPr id="41" name="TakeawayBand"/>
          <p:cNvSpPr/>
          <p:nvPr/>
        </p:nvSpPr>
        <p:spPr>
          <a:xfrm>
            <a:off x="392400" y="6073200"/>
            <a:ext cx="11412000" cy="396000"/>
          </a:xfrm>
          <a:prstGeom prst="rect">
            <a:avLst/>
          </a:prstGeom>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Scénario B retenu : meilleur rapport valeur sur risque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Indicateurs cibles à 18 mois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07/11</a:t>
            </a:r>
          </a:p>
        </p:txBody>
      </p:sp>
      <p:sp>
        <p:nvSpPr>
          <p:cNvPr id="7" name="S07_KPI_1_CARD"/>
          <p:cNvSpPr/>
          <p:nvPr/>
        </p:nvSpPr>
        <p:spPr>
          <a:xfrm>
            <a:off x="381600" y="1335600"/>
            <a:ext cx="1800000" cy="1598400"/>
          </a:xfrm>
          <a:prstGeom prst="roundRect">
            <a:avLst>
              <a:gd name="adj" fmla="val 10000"/>
            </a:avLst>
          </a:prstGeom>
          <a:solidFill>
            <a:srgbClr val="D8D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7_KPI_1_LABEL"/>
          <p:cNvSpPr txBox="1"/>
          <p:nvPr/>
        </p:nvSpPr>
        <p:spPr>
          <a:xfrm>
            <a:off x="421200" y="1720800"/>
            <a:ext cx="1728000" cy="648000"/>
          </a:xfrm>
          <a:prstGeom prst="rect">
            <a:avLst/>
          </a:prstGeom>
          <a:noFill/>
        </p:spPr>
        <p:txBody>
          <a:bodyPr wrap="square" lIns="45720" rIns="45720" anchor="ctr">
            <a:spAutoFit/>
          </a:bodyPr>
          <a:lstStyle/>
          <a:p>
            <a:pPr algn="ctr"/>
            <a:r>
              <a:rPr sz="3600" b="1" i="0">
                <a:solidFill>
                  <a:srgbClr val="484C6A"/>
                </a:solidFill>
                <a:latin typeface="Segoe UI Black"/>
              </a:rPr>
              <a:t>94%</a:t>
            </a:r>
          </a:p>
        </p:txBody>
      </p:sp>
      <p:sp>
        <p:nvSpPr>
          <p:cNvPr id="9" name="S07_KPI_1_SUBLABEL"/>
          <p:cNvSpPr txBox="1"/>
          <p:nvPr/>
        </p:nvSpPr>
        <p:spPr>
          <a:xfrm>
            <a:off x="4212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Adhésion équipes</a:t>
            </a:r>
          </a:p>
        </p:txBody>
      </p:sp>
      <p:sp>
        <p:nvSpPr>
          <p:cNvPr id="10" name="S07_KPI_2_CARD"/>
          <p:cNvSpPr/>
          <p:nvPr/>
        </p:nvSpPr>
        <p:spPr>
          <a:xfrm>
            <a:off x="2264400" y="1335600"/>
            <a:ext cx="1800000" cy="1598400"/>
          </a:xfrm>
          <a:prstGeom prst="roundRect">
            <a:avLst>
              <a:gd name="adj" fmla="val 10000"/>
            </a:avLst>
          </a:prstGeom>
          <a:solidFill>
            <a:srgbClr val="BBB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7_KPI_2_LABEL"/>
          <p:cNvSpPr txBox="1"/>
          <p:nvPr/>
        </p:nvSpPr>
        <p:spPr>
          <a:xfrm>
            <a:off x="2304000" y="1720800"/>
            <a:ext cx="1728000" cy="648000"/>
          </a:xfrm>
          <a:prstGeom prst="rect">
            <a:avLst/>
          </a:prstGeom>
          <a:noFill/>
        </p:spPr>
        <p:txBody>
          <a:bodyPr wrap="square" lIns="45720" rIns="45720" anchor="ctr">
            <a:spAutoFit/>
          </a:bodyPr>
          <a:lstStyle/>
          <a:p>
            <a:pPr algn="ctr"/>
            <a:r>
              <a:rPr sz="3600" b="1" i="0">
                <a:solidFill>
                  <a:srgbClr val="6A5D79"/>
                </a:solidFill>
                <a:latin typeface="Segoe UI Black"/>
              </a:rPr>
              <a:t>12 j</a:t>
            </a:r>
          </a:p>
        </p:txBody>
      </p:sp>
      <p:sp>
        <p:nvSpPr>
          <p:cNvPr id="12" name="S07_KPI_2_SUBLABEL"/>
          <p:cNvSpPr txBox="1"/>
          <p:nvPr/>
        </p:nvSpPr>
        <p:spPr>
          <a:xfrm>
            <a:off x="23040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Cycle moyen</a:t>
            </a:r>
          </a:p>
        </p:txBody>
      </p:sp>
      <p:sp>
        <p:nvSpPr>
          <p:cNvPr id="13" name="S07_KPI_3_CARD"/>
          <p:cNvSpPr/>
          <p:nvPr/>
        </p:nvSpPr>
        <p:spPr>
          <a:xfrm>
            <a:off x="4143600" y="1335600"/>
            <a:ext cx="1800000" cy="15984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7_KPI_3_LABEL"/>
          <p:cNvSpPr txBox="1"/>
          <p:nvPr/>
        </p:nvSpPr>
        <p:spPr>
          <a:xfrm>
            <a:off x="4183199" y="1720800"/>
            <a:ext cx="1728000" cy="648000"/>
          </a:xfrm>
          <a:prstGeom prst="rect">
            <a:avLst/>
          </a:prstGeom>
          <a:noFill/>
        </p:spPr>
        <p:txBody>
          <a:bodyPr wrap="square" lIns="45720" rIns="45720" anchor="ctr">
            <a:spAutoFit/>
          </a:bodyPr>
          <a:lstStyle/>
          <a:p>
            <a:pPr algn="ctr"/>
            <a:r>
              <a:rPr sz="3600" b="1" i="0">
                <a:solidFill>
                  <a:srgbClr val="A25871"/>
                </a:solidFill>
                <a:latin typeface="Segoe UI Black"/>
              </a:rPr>
              <a:t>+38%</a:t>
            </a:r>
          </a:p>
        </p:txBody>
      </p:sp>
      <p:sp>
        <p:nvSpPr>
          <p:cNvPr id="15" name="S07_KPI_3_SUBLABEL"/>
          <p:cNvSpPr txBox="1"/>
          <p:nvPr/>
        </p:nvSpPr>
        <p:spPr>
          <a:xfrm>
            <a:off x="4183199"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Productivité</a:t>
            </a:r>
          </a:p>
        </p:txBody>
      </p:sp>
      <p:sp>
        <p:nvSpPr>
          <p:cNvPr id="16" name="S07_KPI_4_CARD"/>
          <p:cNvSpPr/>
          <p:nvPr/>
        </p:nvSpPr>
        <p:spPr>
          <a:xfrm>
            <a:off x="6022800" y="1335600"/>
            <a:ext cx="1800000" cy="1598400"/>
          </a:xfrm>
          <a:prstGeom prst="roundRect">
            <a:avLst>
              <a:gd name="adj" fmla="val 10000"/>
            </a:avLst>
          </a:prstGeom>
          <a:solidFill>
            <a:srgbClr val="F1D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07_KPI_4_LABEL"/>
          <p:cNvSpPr txBox="1"/>
          <p:nvPr/>
        </p:nvSpPr>
        <p:spPr>
          <a:xfrm>
            <a:off x="6062400" y="1720800"/>
            <a:ext cx="1728000" cy="648000"/>
          </a:xfrm>
          <a:prstGeom prst="rect">
            <a:avLst/>
          </a:prstGeom>
          <a:noFill/>
        </p:spPr>
        <p:txBody>
          <a:bodyPr wrap="square" lIns="45720" rIns="45720" anchor="ctr">
            <a:spAutoFit/>
          </a:bodyPr>
          <a:lstStyle/>
          <a:p>
            <a:pPr algn="ctr"/>
            <a:r>
              <a:rPr sz="3600" b="1" i="0">
                <a:solidFill>
                  <a:srgbClr val="D4737A"/>
                </a:solidFill>
                <a:latin typeface="Segoe UI Black"/>
              </a:rPr>
              <a:t>1,2</a:t>
            </a:r>
          </a:p>
        </p:txBody>
      </p:sp>
      <p:sp>
        <p:nvSpPr>
          <p:cNvPr id="18" name="S07_KPI_4_SUBLABEL"/>
          <p:cNvSpPr txBox="1"/>
          <p:nvPr/>
        </p:nvSpPr>
        <p:spPr>
          <a:xfrm>
            <a:off x="60624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Sigma qualité</a:t>
            </a:r>
          </a:p>
        </p:txBody>
      </p:sp>
      <p:sp>
        <p:nvSpPr>
          <p:cNvPr id="19" name="S07_KPI_5_CARD"/>
          <p:cNvSpPr/>
          <p:nvPr/>
        </p:nvSpPr>
        <p:spPr>
          <a:xfrm>
            <a:off x="7902000" y="1335600"/>
            <a:ext cx="1800000" cy="15984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07_KPI_5_LABEL"/>
          <p:cNvSpPr txBox="1"/>
          <p:nvPr/>
        </p:nvSpPr>
        <p:spPr>
          <a:xfrm>
            <a:off x="7941600" y="1720800"/>
            <a:ext cx="1728000" cy="648000"/>
          </a:xfrm>
          <a:prstGeom prst="rect">
            <a:avLst/>
          </a:prstGeom>
          <a:noFill/>
        </p:spPr>
        <p:txBody>
          <a:bodyPr wrap="square" lIns="45720" rIns="45720" anchor="ctr">
            <a:spAutoFit/>
          </a:bodyPr>
          <a:lstStyle/>
          <a:p>
            <a:pPr algn="ctr"/>
            <a:r>
              <a:rPr sz="3600" b="1" i="0">
                <a:solidFill>
                  <a:srgbClr val="FDA85B"/>
                </a:solidFill>
                <a:latin typeface="Segoe UI Black"/>
              </a:rPr>
              <a:t>2,4 M€</a:t>
            </a:r>
          </a:p>
        </p:txBody>
      </p:sp>
      <p:sp>
        <p:nvSpPr>
          <p:cNvPr id="21" name="S07_KPI_5_SUBLABEL"/>
          <p:cNvSpPr txBox="1"/>
          <p:nvPr/>
        </p:nvSpPr>
        <p:spPr>
          <a:xfrm>
            <a:off x="79416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Gains annualisés</a:t>
            </a:r>
          </a:p>
        </p:txBody>
      </p:sp>
      <p:sp>
        <p:nvSpPr>
          <p:cNvPr id="22" name="S07_KPI_6_CARD"/>
          <p:cNvSpPr/>
          <p:nvPr/>
        </p:nvSpPr>
        <p:spPr>
          <a:xfrm>
            <a:off x="9784800" y="1335600"/>
            <a:ext cx="1800000" cy="1598400"/>
          </a:xfrm>
          <a:prstGeom prst="roundRect">
            <a:avLst>
              <a:gd name="adj" fmla="val 10000"/>
            </a:avLst>
          </a:prstGeom>
          <a:solidFill>
            <a:srgbClr val="FEF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07_KPI_6_LABEL"/>
          <p:cNvSpPr txBox="1"/>
          <p:nvPr/>
        </p:nvSpPr>
        <p:spPr>
          <a:xfrm>
            <a:off x="9824400" y="1720800"/>
            <a:ext cx="1728000" cy="648000"/>
          </a:xfrm>
          <a:prstGeom prst="rect">
            <a:avLst/>
          </a:prstGeom>
          <a:noFill/>
        </p:spPr>
        <p:txBody>
          <a:bodyPr wrap="square" lIns="45720" rIns="45720" anchor="ctr">
            <a:spAutoFit/>
          </a:bodyPr>
          <a:lstStyle/>
          <a:p>
            <a:pPr algn="ctr"/>
            <a:r>
              <a:rPr sz="3600" b="1" i="0">
                <a:solidFill>
                  <a:srgbClr val="FBCC58"/>
                </a:solidFill>
                <a:latin typeface="Segoe UI Black"/>
              </a:rPr>
              <a:t>98%</a:t>
            </a:r>
          </a:p>
        </p:txBody>
      </p:sp>
      <p:sp>
        <p:nvSpPr>
          <p:cNvPr id="24" name="S07_KPI_6_SUBLABEL"/>
          <p:cNvSpPr txBox="1"/>
          <p:nvPr/>
        </p:nvSpPr>
        <p:spPr>
          <a:xfrm>
            <a:off x="9824400" y="2394000"/>
            <a:ext cx="1728000" cy="262800"/>
          </a:xfrm>
          <a:prstGeom prst="rect">
            <a:avLst/>
          </a:prstGeom>
          <a:noFill/>
        </p:spPr>
        <p:txBody>
          <a:bodyPr wrap="square" lIns="45720" rIns="45720" anchor="t">
            <a:spAutoFit/>
          </a:bodyPr>
          <a:lstStyle/>
          <a:p>
            <a:pPr algn="ctr"/>
            <a:r>
              <a:rPr sz="1100" b="0" i="0">
                <a:solidFill>
                  <a:srgbClr val="474E67"/>
                </a:solidFill>
                <a:latin typeface="Segoe UI"/>
              </a:rPr>
              <a:t>OTD client</a:t>
            </a:r>
          </a:p>
        </p:txBody>
      </p:sp>
      <p:sp>
        <p:nvSpPr>
          <p:cNvPr id="25" name="S07_SECTION_LABEL"/>
          <p:cNvSpPr txBox="1"/>
          <p:nvPr/>
        </p:nvSpPr>
        <p:spPr>
          <a:xfrm>
            <a:off x="392400" y="3060000"/>
            <a:ext cx="11188800" cy="421200"/>
          </a:xfrm>
          <a:prstGeom prst="rect">
            <a:avLst/>
          </a:prstGeom>
          <a:noFill/>
        </p:spPr>
        <p:txBody>
          <a:bodyPr wrap="square" lIns="45720" rIns="45720" anchor="t">
            <a:spAutoFit/>
          </a:bodyPr>
          <a:lstStyle/>
          <a:p>
            <a:pPr algn="l"/>
            <a:r>
              <a:rPr sz="1200" b="1" i="1">
                <a:solidFill>
                  <a:srgbClr val="474E67"/>
                </a:solidFill>
                <a:latin typeface="Segoe UI"/>
              </a:rPr>
              <a:t>Avancement par chantier (% en mai 2026)</a:t>
            </a:r>
          </a:p>
        </p:txBody>
      </p:sp>
      <p:sp>
        <p:nvSpPr>
          <p:cNvPr id="26" name="S07_BAR_1_LABEL"/>
          <p:cNvSpPr txBox="1"/>
          <p:nvPr/>
        </p:nvSpPr>
        <p:spPr>
          <a:xfrm>
            <a:off x="381600" y="36324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1 — Standards opérationnels</a:t>
            </a:r>
          </a:p>
        </p:txBody>
      </p:sp>
      <p:sp>
        <p:nvSpPr>
          <p:cNvPr id="27" name="S07_BAR_1_BAR"/>
          <p:cNvSpPr/>
          <p:nvPr/>
        </p:nvSpPr>
        <p:spPr>
          <a:xfrm>
            <a:off x="2951999" y="3704399"/>
            <a:ext cx="7343999" cy="198000"/>
          </a:xfrm>
          <a:prstGeom prst="roundRect">
            <a:avLst>
              <a:gd name="adj" fmla="val 10000"/>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07_BAR_1_VALUE"/>
          <p:cNvSpPr txBox="1"/>
          <p:nvPr/>
        </p:nvSpPr>
        <p:spPr>
          <a:xfrm>
            <a:off x="10332000" y="3668400"/>
            <a:ext cx="576000" cy="270000"/>
          </a:xfrm>
          <a:prstGeom prst="rect">
            <a:avLst/>
          </a:prstGeom>
          <a:noFill/>
        </p:spPr>
        <p:txBody>
          <a:bodyPr wrap="square" lIns="45720" rIns="45720" anchor="ctr">
            <a:spAutoFit/>
          </a:bodyPr>
          <a:lstStyle/>
          <a:p>
            <a:pPr algn="l"/>
            <a:r>
              <a:rPr sz="1100" b="1" i="0">
                <a:solidFill>
                  <a:srgbClr val="070E1D"/>
                </a:solidFill>
                <a:latin typeface="Segoe UI"/>
              </a:rPr>
              <a:t>85%</a:t>
            </a:r>
          </a:p>
        </p:txBody>
      </p:sp>
      <p:sp>
        <p:nvSpPr>
          <p:cNvPr id="29" name="S07_BAR_2_LABEL"/>
          <p:cNvSpPr txBox="1"/>
          <p:nvPr/>
        </p:nvSpPr>
        <p:spPr>
          <a:xfrm>
            <a:off x="381600" y="41040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2 — Outils MES et data</a:t>
            </a:r>
          </a:p>
        </p:txBody>
      </p:sp>
      <p:sp>
        <p:nvSpPr>
          <p:cNvPr id="30" name="S07_BAR_2_BAR"/>
          <p:cNvSpPr/>
          <p:nvPr/>
        </p:nvSpPr>
        <p:spPr>
          <a:xfrm>
            <a:off x="2951999" y="4176000"/>
            <a:ext cx="5356800" cy="198000"/>
          </a:xfrm>
          <a:prstGeom prst="roundRect">
            <a:avLst>
              <a:gd name="adj" fmla="val 10000"/>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07_BAR_2_VALUE"/>
          <p:cNvSpPr txBox="1"/>
          <p:nvPr/>
        </p:nvSpPr>
        <p:spPr>
          <a:xfrm>
            <a:off x="8344800" y="4140000"/>
            <a:ext cx="576000" cy="270000"/>
          </a:xfrm>
          <a:prstGeom prst="rect">
            <a:avLst/>
          </a:prstGeom>
          <a:noFill/>
        </p:spPr>
        <p:txBody>
          <a:bodyPr wrap="square" lIns="45720" rIns="45720" anchor="ctr">
            <a:spAutoFit/>
          </a:bodyPr>
          <a:lstStyle/>
          <a:p>
            <a:pPr algn="l"/>
            <a:r>
              <a:rPr sz="1100" b="1" i="0">
                <a:solidFill>
                  <a:srgbClr val="070E1D"/>
                </a:solidFill>
                <a:latin typeface="Segoe UI"/>
              </a:rPr>
              <a:t>62%</a:t>
            </a:r>
          </a:p>
        </p:txBody>
      </p:sp>
      <p:sp>
        <p:nvSpPr>
          <p:cNvPr id="32" name="S07_BAR_3_LABEL"/>
          <p:cNvSpPr txBox="1"/>
          <p:nvPr/>
        </p:nvSpPr>
        <p:spPr>
          <a:xfrm>
            <a:off x="381600" y="45648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3 — Compétences Yellow Belt</a:t>
            </a:r>
          </a:p>
        </p:txBody>
      </p:sp>
      <p:sp>
        <p:nvSpPr>
          <p:cNvPr id="33" name="S07_BAR_3_BAR"/>
          <p:cNvSpPr/>
          <p:nvPr/>
        </p:nvSpPr>
        <p:spPr>
          <a:xfrm>
            <a:off x="2951999" y="4636800"/>
            <a:ext cx="3542400" cy="198000"/>
          </a:xfrm>
          <a:prstGeom prst="roundRect">
            <a:avLst>
              <a:gd name="adj" fmla="val 10000"/>
            </a:avLst>
          </a:prstGeom>
          <a:solidFill>
            <a:srgbClr val="D47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07_BAR_3_VALUE"/>
          <p:cNvSpPr txBox="1"/>
          <p:nvPr/>
        </p:nvSpPr>
        <p:spPr>
          <a:xfrm>
            <a:off x="6530400" y="4600800"/>
            <a:ext cx="576000" cy="270000"/>
          </a:xfrm>
          <a:prstGeom prst="rect">
            <a:avLst/>
          </a:prstGeom>
          <a:noFill/>
        </p:spPr>
        <p:txBody>
          <a:bodyPr wrap="square" lIns="45720" rIns="45720" anchor="ctr">
            <a:spAutoFit/>
          </a:bodyPr>
          <a:lstStyle/>
          <a:p>
            <a:pPr algn="l"/>
            <a:r>
              <a:rPr sz="1100" b="1" i="0">
                <a:solidFill>
                  <a:srgbClr val="070E1D"/>
                </a:solidFill>
                <a:latin typeface="Segoe UI"/>
              </a:rPr>
              <a:t>41%</a:t>
            </a:r>
          </a:p>
        </p:txBody>
      </p:sp>
      <p:sp>
        <p:nvSpPr>
          <p:cNvPr id="35" name="S07_BAR_4_LABEL"/>
          <p:cNvSpPr txBox="1"/>
          <p:nvPr/>
        </p:nvSpPr>
        <p:spPr>
          <a:xfrm>
            <a:off x="381600" y="50256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4 — Pilotage par KPI</a:t>
            </a:r>
          </a:p>
        </p:txBody>
      </p:sp>
      <p:sp>
        <p:nvSpPr>
          <p:cNvPr id="36" name="S07_BAR_4_BAR"/>
          <p:cNvSpPr/>
          <p:nvPr/>
        </p:nvSpPr>
        <p:spPr>
          <a:xfrm>
            <a:off x="2951999" y="5097600"/>
            <a:ext cx="6739200" cy="198000"/>
          </a:xfrm>
          <a:prstGeom prst="roundRect">
            <a:avLst>
              <a:gd name="adj" fmla="val 10000"/>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07_BAR_4_VALUE"/>
          <p:cNvSpPr txBox="1"/>
          <p:nvPr/>
        </p:nvSpPr>
        <p:spPr>
          <a:xfrm>
            <a:off x="9727200" y="5061600"/>
            <a:ext cx="576000" cy="270000"/>
          </a:xfrm>
          <a:prstGeom prst="rect">
            <a:avLst/>
          </a:prstGeom>
          <a:noFill/>
        </p:spPr>
        <p:txBody>
          <a:bodyPr wrap="square" lIns="45720" rIns="45720" anchor="ctr">
            <a:spAutoFit/>
          </a:bodyPr>
          <a:lstStyle/>
          <a:p>
            <a:pPr algn="l"/>
            <a:r>
              <a:rPr sz="1100" b="1" i="0">
                <a:solidFill>
                  <a:srgbClr val="070E1D"/>
                </a:solidFill>
                <a:latin typeface="Segoe UI"/>
              </a:rPr>
              <a:t>78%</a:t>
            </a:r>
          </a:p>
        </p:txBody>
      </p:sp>
      <p:sp>
        <p:nvSpPr>
          <p:cNvPr id="38" name="S07_BAR_5_LABEL"/>
          <p:cNvSpPr txBox="1"/>
          <p:nvPr/>
        </p:nvSpPr>
        <p:spPr>
          <a:xfrm>
            <a:off x="381600" y="5464800"/>
            <a:ext cx="2498400" cy="349200"/>
          </a:xfrm>
          <a:prstGeom prst="rect">
            <a:avLst/>
          </a:prstGeom>
          <a:noFill/>
        </p:spPr>
        <p:txBody>
          <a:bodyPr wrap="square" lIns="45720" rIns="45720" anchor="ctr">
            <a:spAutoFit/>
          </a:bodyPr>
          <a:lstStyle/>
          <a:p>
            <a:pPr algn="l"/>
            <a:r>
              <a:rPr sz="1100" b="1" i="0">
                <a:solidFill>
                  <a:srgbClr val="070E1D"/>
                </a:solidFill>
                <a:latin typeface="Segoe UI"/>
              </a:rPr>
              <a:t>Chantier 5 — Communication et change</a:t>
            </a:r>
          </a:p>
        </p:txBody>
      </p:sp>
      <p:sp>
        <p:nvSpPr>
          <p:cNvPr id="39" name="S07_BAR_5_BAR"/>
          <p:cNvSpPr/>
          <p:nvPr/>
        </p:nvSpPr>
        <p:spPr>
          <a:xfrm>
            <a:off x="2951999" y="5536800"/>
            <a:ext cx="7776000" cy="198000"/>
          </a:xfrm>
          <a:prstGeom prst="roundRect">
            <a:avLst>
              <a:gd name="adj" fmla="val 10000"/>
            </a:avLst>
          </a:prstGeom>
          <a:solidFill>
            <a:srgbClr val="FBC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07_BAR_5_VALUE"/>
          <p:cNvSpPr txBox="1"/>
          <p:nvPr/>
        </p:nvSpPr>
        <p:spPr>
          <a:xfrm>
            <a:off x="10764000" y="5500800"/>
            <a:ext cx="576000" cy="270000"/>
          </a:xfrm>
          <a:prstGeom prst="rect">
            <a:avLst/>
          </a:prstGeom>
          <a:noFill/>
        </p:spPr>
        <p:txBody>
          <a:bodyPr wrap="square" lIns="45720" rIns="45720" anchor="ctr">
            <a:spAutoFit/>
          </a:bodyPr>
          <a:lstStyle/>
          <a:p>
            <a:pPr algn="l"/>
            <a:r>
              <a:rPr sz="1100" b="1" i="0">
                <a:solidFill>
                  <a:srgbClr val="070E1D"/>
                </a:solidFill>
                <a:latin typeface="Segoe UI"/>
              </a:rPr>
              <a:t>90%</a:t>
            </a:r>
          </a:p>
        </p:txBody>
      </p:sp>
      <p:sp>
        <p:nvSpPr>
          <p:cNvPr id="41" name="TakeawayBand"/>
          <p:cNvSpPr/>
          <p:nvPr/>
        </p:nvSpPr>
        <p:spPr>
          <a:xfrm>
            <a:off x="392400" y="6073200"/>
            <a:ext cx="11412000" cy="396000"/>
          </a:xfrm>
          <a:prstGeom prst="rect">
            <a:avLst/>
          </a:prstGeom>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Trois chantiers à accélérer en priorité Q3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Avant / Après pilote sur 2 sites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08/11</a:t>
            </a:r>
          </a:p>
        </p:txBody>
      </p:sp>
      <p:sp>
        <p:nvSpPr>
          <p:cNvPr id="7" name="S08_SUBTITLE"/>
          <p:cNvSpPr txBox="1"/>
          <p:nvPr/>
        </p:nvSpPr>
        <p:spPr>
          <a:xfrm>
            <a:off x="388800" y="1454400"/>
            <a:ext cx="11412000" cy="349200"/>
          </a:xfrm>
          <a:prstGeom prst="rect">
            <a:avLst/>
          </a:prstGeom>
          <a:noFill/>
        </p:spPr>
        <p:txBody>
          <a:bodyPr wrap="square" lIns="45720" rIns="45720" anchor="t">
            <a:spAutoFit/>
          </a:bodyPr>
          <a:lstStyle/>
          <a:p>
            <a:pPr algn="l"/>
            <a:r>
              <a:rPr sz="2100" b="1" i="0">
                <a:solidFill>
                  <a:srgbClr val="6A5D79"/>
                </a:solidFill>
                <a:latin typeface="Segoe UI Black"/>
              </a:rPr>
              <a:t>Cinq indicateurs mesurés sur 90 jours</a:t>
            </a:r>
          </a:p>
        </p:txBody>
      </p:sp>
      <p:sp>
        <p:nvSpPr>
          <p:cNvPr id="8" name="S08_LEGEND_1"/>
          <p:cNvSpPr txBox="1"/>
          <p:nvPr/>
        </p:nvSpPr>
        <p:spPr>
          <a:xfrm>
            <a:off x="7851600" y="2210400"/>
            <a:ext cx="2001599" cy="320400"/>
          </a:xfrm>
          <a:prstGeom prst="rect">
            <a:avLst/>
          </a:prstGeom>
          <a:noFill/>
        </p:spPr>
        <p:txBody>
          <a:bodyPr wrap="square" lIns="45720" rIns="45720" anchor="t">
            <a:spAutoFit/>
          </a:bodyPr>
          <a:lstStyle/>
          <a:p>
            <a:pPr algn="ctr"/>
            <a:r>
              <a:rPr sz="1000" b="0" i="0">
                <a:solidFill>
                  <a:srgbClr val="474E67"/>
                </a:solidFill>
                <a:latin typeface="Segoe UI"/>
              </a:rPr>
              <a:t>Avant</a:t>
            </a:r>
          </a:p>
        </p:txBody>
      </p:sp>
      <p:sp>
        <p:nvSpPr>
          <p:cNvPr id="9" name="S08_LEGEND_2"/>
          <p:cNvSpPr txBox="1"/>
          <p:nvPr/>
        </p:nvSpPr>
        <p:spPr>
          <a:xfrm>
            <a:off x="10249200" y="2210400"/>
            <a:ext cx="2001599" cy="320400"/>
          </a:xfrm>
          <a:prstGeom prst="rect">
            <a:avLst/>
          </a:prstGeom>
          <a:noFill/>
        </p:spPr>
        <p:txBody>
          <a:bodyPr wrap="square" lIns="45720" rIns="45720" anchor="t">
            <a:spAutoFit/>
          </a:bodyPr>
          <a:lstStyle/>
          <a:p>
            <a:pPr algn="ctr"/>
            <a:r>
              <a:rPr sz="1000" b="0" i="0">
                <a:solidFill>
                  <a:srgbClr val="474E67"/>
                </a:solidFill>
                <a:latin typeface="Segoe UI"/>
              </a:rPr>
              <a:t>Après</a:t>
            </a:r>
          </a:p>
        </p:txBody>
      </p:sp>
      <p:sp>
        <p:nvSpPr>
          <p:cNvPr id="10" name="S08_LEGEND_1_SQ"/>
          <p:cNvSpPr/>
          <p:nvPr/>
        </p:nvSpPr>
        <p:spPr>
          <a:xfrm>
            <a:off x="7668000" y="2268000"/>
            <a:ext cx="162000" cy="162000"/>
          </a:xfrm>
          <a:prstGeom prst="rect">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08_LEGEND_2_SQ"/>
          <p:cNvSpPr/>
          <p:nvPr/>
        </p:nvSpPr>
        <p:spPr>
          <a:xfrm>
            <a:off x="10065600" y="2268000"/>
            <a:ext cx="162000" cy="162000"/>
          </a:xfrm>
          <a:prstGeom prst="rect">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08_ROW_1_LABEL"/>
          <p:cNvSpPr txBox="1"/>
          <p:nvPr/>
        </p:nvSpPr>
        <p:spPr>
          <a:xfrm>
            <a:off x="388800" y="2898000"/>
            <a:ext cx="3801600" cy="349200"/>
          </a:xfrm>
          <a:prstGeom prst="rect">
            <a:avLst/>
          </a:prstGeom>
          <a:noFill/>
        </p:spPr>
        <p:txBody>
          <a:bodyPr wrap="square" lIns="45720" rIns="45720" anchor="ctr">
            <a:spAutoFit/>
          </a:bodyPr>
          <a:lstStyle/>
          <a:p>
            <a:pPr algn="l"/>
            <a:r>
              <a:rPr sz="1200" b="1" i="0">
                <a:solidFill>
                  <a:srgbClr val="070E1D"/>
                </a:solidFill>
                <a:latin typeface="Segoe UI"/>
              </a:rPr>
              <a:t>Délai de cycle (jours)</a:t>
            </a:r>
          </a:p>
        </p:txBody>
      </p:sp>
      <p:sp>
        <p:nvSpPr>
          <p:cNvPr id="13" name="S08_ROW_1_BAR_1"/>
          <p:cNvSpPr/>
          <p:nvPr/>
        </p:nvSpPr>
        <p:spPr>
          <a:xfrm>
            <a:off x="4298400" y="2934000"/>
            <a:ext cx="3739320"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8_ROW_1_BAR_2"/>
          <p:cNvSpPr/>
          <p:nvPr/>
        </p:nvSpPr>
        <p:spPr>
          <a:xfrm>
            <a:off x="8798400" y="2934000"/>
            <a:ext cx="1388511"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8_ROW_1_VALUE_1"/>
          <p:cNvSpPr txBox="1"/>
          <p:nvPr/>
        </p:nvSpPr>
        <p:spPr>
          <a:xfrm>
            <a:off x="8073720" y="2934000"/>
            <a:ext cx="720000" cy="298800"/>
          </a:xfrm>
          <a:prstGeom prst="rect">
            <a:avLst/>
          </a:prstGeom>
          <a:noFill/>
        </p:spPr>
        <p:txBody>
          <a:bodyPr wrap="square" lIns="45720" rIns="45720" anchor="ctr">
            <a:spAutoFit/>
          </a:bodyPr>
          <a:lstStyle/>
          <a:p>
            <a:pPr algn="l"/>
            <a:r>
              <a:rPr sz="1200" b="1" i="0">
                <a:solidFill>
                  <a:srgbClr val="474E67"/>
                </a:solidFill>
                <a:latin typeface="Segoe UI"/>
              </a:rPr>
              <a:t>21 j</a:t>
            </a:r>
          </a:p>
        </p:txBody>
      </p:sp>
      <p:sp>
        <p:nvSpPr>
          <p:cNvPr id="16" name="S08_ROW_1_VALUE_2"/>
          <p:cNvSpPr txBox="1"/>
          <p:nvPr/>
        </p:nvSpPr>
        <p:spPr>
          <a:xfrm>
            <a:off x="10222911" y="2934000"/>
            <a:ext cx="720000" cy="298800"/>
          </a:xfrm>
          <a:prstGeom prst="rect">
            <a:avLst/>
          </a:prstGeom>
          <a:noFill/>
        </p:spPr>
        <p:txBody>
          <a:bodyPr wrap="square" lIns="45720" rIns="45720" anchor="ctr">
            <a:spAutoFit/>
          </a:bodyPr>
          <a:lstStyle/>
          <a:p>
            <a:pPr algn="l"/>
            <a:r>
              <a:rPr sz="1200" b="1" i="0">
                <a:solidFill>
                  <a:srgbClr val="474E67"/>
                </a:solidFill>
                <a:latin typeface="Segoe UI"/>
              </a:rPr>
              <a:t>13 j</a:t>
            </a:r>
          </a:p>
        </p:txBody>
      </p:sp>
      <p:sp>
        <p:nvSpPr>
          <p:cNvPr id="17" name="S08_ROW_2_LABEL"/>
          <p:cNvSpPr txBox="1"/>
          <p:nvPr/>
        </p:nvSpPr>
        <p:spPr>
          <a:xfrm>
            <a:off x="388800" y="3366000"/>
            <a:ext cx="3801600" cy="349200"/>
          </a:xfrm>
          <a:prstGeom prst="rect">
            <a:avLst/>
          </a:prstGeom>
          <a:noFill/>
        </p:spPr>
        <p:txBody>
          <a:bodyPr wrap="square" lIns="45720" rIns="45720" anchor="ctr">
            <a:spAutoFit/>
          </a:bodyPr>
          <a:lstStyle/>
          <a:p>
            <a:pPr algn="l"/>
            <a:r>
              <a:rPr sz="1200" b="1" i="0">
                <a:solidFill>
                  <a:srgbClr val="070E1D"/>
                </a:solidFill>
                <a:latin typeface="Segoe UI"/>
              </a:rPr>
              <a:t>Taux de défauts (ppm)</a:t>
            </a:r>
          </a:p>
        </p:txBody>
      </p:sp>
      <p:sp>
        <p:nvSpPr>
          <p:cNvPr id="18" name="S08_ROW_2_BAR_1"/>
          <p:cNvSpPr/>
          <p:nvPr/>
        </p:nvSpPr>
        <p:spPr>
          <a:xfrm>
            <a:off x="4298400" y="3401999"/>
            <a:ext cx="3739320"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08_ROW_2_BAR_2"/>
          <p:cNvSpPr/>
          <p:nvPr/>
        </p:nvSpPr>
        <p:spPr>
          <a:xfrm>
            <a:off x="8798400" y="3401999"/>
            <a:ext cx="710276"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08_ROW_2_VALUE_1"/>
          <p:cNvSpPr txBox="1"/>
          <p:nvPr/>
        </p:nvSpPr>
        <p:spPr>
          <a:xfrm>
            <a:off x="8073720" y="3401999"/>
            <a:ext cx="720000" cy="298800"/>
          </a:xfrm>
          <a:prstGeom prst="rect">
            <a:avLst/>
          </a:prstGeom>
          <a:noFill/>
        </p:spPr>
        <p:txBody>
          <a:bodyPr wrap="square" lIns="45720" rIns="45720" anchor="ctr">
            <a:spAutoFit/>
          </a:bodyPr>
          <a:lstStyle/>
          <a:p>
            <a:pPr algn="l"/>
            <a:r>
              <a:rPr sz="1200" b="1" i="0">
                <a:solidFill>
                  <a:srgbClr val="474E67"/>
                </a:solidFill>
                <a:latin typeface="Segoe UI"/>
              </a:rPr>
              <a:t>1200</a:t>
            </a:r>
          </a:p>
        </p:txBody>
      </p:sp>
      <p:sp>
        <p:nvSpPr>
          <p:cNvPr id="21" name="S08_ROW_2_VALUE_2"/>
          <p:cNvSpPr txBox="1"/>
          <p:nvPr/>
        </p:nvSpPr>
        <p:spPr>
          <a:xfrm>
            <a:off x="9544677" y="3401999"/>
            <a:ext cx="720000" cy="298800"/>
          </a:xfrm>
          <a:prstGeom prst="rect">
            <a:avLst/>
          </a:prstGeom>
          <a:noFill/>
        </p:spPr>
        <p:txBody>
          <a:bodyPr wrap="square" lIns="45720" rIns="45720" anchor="ctr">
            <a:spAutoFit/>
          </a:bodyPr>
          <a:lstStyle/>
          <a:p>
            <a:pPr algn="l"/>
            <a:r>
              <a:rPr sz="1200" b="1" i="0">
                <a:solidFill>
                  <a:srgbClr val="474E67"/>
                </a:solidFill>
                <a:latin typeface="Segoe UI"/>
              </a:rPr>
              <a:t>380</a:t>
            </a:r>
          </a:p>
        </p:txBody>
      </p:sp>
      <p:sp>
        <p:nvSpPr>
          <p:cNvPr id="22" name="S08_ROW_3_LABEL"/>
          <p:cNvSpPr txBox="1"/>
          <p:nvPr/>
        </p:nvSpPr>
        <p:spPr>
          <a:xfrm>
            <a:off x="388800" y="3837600"/>
            <a:ext cx="3801600" cy="349200"/>
          </a:xfrm>
          <a:prstGeom prst="rect">
            <a:avLst/>
          </a:prstGeom>
          <a:noFill/>
        </p:spPr>
        <p:txBody>
          <a:bodyPr wrap="square" lIns="45720" rIns="45720" anchor="ctr">
            <a:spAutoFit/>
          </a:bodyPr>
          <a:lstStyle/>
          <a:p>
            <a:pPr algn="l"/>
            <a:r>
              <a:rPr sz="1200" b="1" i="0">
                <a:solidFill>
                  <a:srgbClr val="070E1D"/>
                </a:solidFill>
                <a:latin typeface="Segoe UI"/>
              </a:rPr>
              <a:t>Engagement équipe (%)</a:t>
            </a:r>
          </a:p>
        </p:txBody>
      </p:sp>
      <p:sp>
        <p:nvSpPr>
          <p:cNvPr id="23" name="S08_ROW_3_BAR_1"/>
          <p:cNvSpPr/>
          <p:nvPr/>
        </p:nvSpPr>
        <p:spPr>
          <a:xfrm>
            <a:off x="4298400" y="3873600"/>
            <a:ext cx="2684640"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08_ROW_3_BAR_2"/>
          <p:cNvSpPr/>
          <p:nvPr/>
        </p:nvSpPr>
        <p:spPr>
          <a:xfrm>
            <a:off x="8798400" y="3873600"/>
            <a:ext cx="2242980"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08_ROW_3_VALUE_1"/>
          <p:cNvSpPr txBox="1"/>
          <p:nvPr/>
        </p:nvSpPr>
        <p:spPr>
          <a:xfrm>
            <a:off x="7019040" y="3873600"/>
            <a:ext cx="720000" cy="298800"/>
          </a:xfrm>
          <a:prstGeom prst="rect">
            <a:avLst/>
          </a:prstGeom>
          <a:noFill/>
        </p:spPr>
        <p:txBody>
          <a:bodyPr wrap="square" lIns="45720" rIns="45720" anchor="ctr">
            <a:spAutoFit/>
          </a:bodyPr>
          <a:lstStyle/>
          <a:p>
            <a:pPr algn="l"/>
            <a:r>
              <a:rPr sz="1200" b="1" i="0">
                <a:solidFill>
                  <a:srgbClr val="474E67"/>
                </a:solidFill>
                <a:latin typeface="Segoe UI"/>
              </a:rPr>
              <a:t>56%</a:t>
            </a:r>
          </a:p>
        </p:txBody>
      </p:sp>
      <p:sp>
        <p:nvSpPr>
          <p:cNvPr id="26" name="S08_ROW_3_VALUE_2"/>
          <p:cNvSpPr txBox="1"/>
          <p:nvPr/>
        </p:nvSpPr>
        <p:spPr>
          <a:xfrm>
            <a:off x="11077380" y="3873600"/>
            <a:ext cx="720000" cy="298800"/>
          </a:xfrm>
          <a:prstGeom prst="rect">
            <a:avLst/>
          </a:prstGeom>
          <a:noFill/>
        </p:spPr>
        <p:txBody>
          <a:bodyPr wrap="square" lIns="45720" rIns="45720" anchor="ctr">
            <a:spAutoFit/>
          </a:bodyPr>
          <a:lstStyle/>
          <a:p>
            <a:pPr algn="l"/>
            <a:r>
              <a:rPr sz="1200" b="1" i="0">
                <a:solidFill>
                  <a:srgbClr val="474E67"/>
                </a:solidFill>
                <a:latin typeface="Segoe UI"/>
              </a:rPr>
              <a:t>78%</a:t>
            </a:r>
          </a:p>
        </p:txBody>
      </p:sp>
      <p:sp>
        <p:nvSpPr>
          <p:cNvPr id="27" name="S08_ROW_4_LABEL"/>
          <p:cNvSpPr txBox="1"/>
          <p:nvPr/>
        </p:nvSpPr>
        <p:spPr>
          <a:xfrm>
            <a:off x="388800" y="4309200"/>
            <a:ext cx="3801600" cy="349200"/>
          </a:xfrm>
          <a:prstGeom prst="rect">
            <a:avLst/>
          </a:prstGeom>
          <a:noFill/>
        </p:spPr>
        <p:txBody>
          <a:bodyPr wrap="square" lIns="45720" rIns="45720" anchor="ctr">
            <a:spAutoFit/>
          </a:bodyPr>
          <a:lstStyle/>
          <a:p>
            <a:pPr algn="l"/>
            <a:r>
              <a:rPr sz="1200" b="1" i="0">
                <a:solidFill>
                  <a:srgbClr val="070E1D"/>
                </a:solidFill>
                <a:latin typeface="Segoe UI"/>
              </a:rPr>
              <a:t>Coût unitaire (€)</a:t>
            </a:r>
          </a:p>
        </p:txBody>
      </p:sp>
      <p:sp>
        <p:nvSpPr>
          <p:cNvPr id="28" name="S08_ROW_4_BAR_1"/>
          <p:cNvSpPr/>
          <p:nvPr/>
        </p:nvSpPr>
        <p:spPr>
          <a:xfrm>
            <a:off x="4298400" y="4345200"/>
            <a:ext cx="3739320"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08_ROW_4_BAR_2"/>
          <p:cNvSpPr/>
          <p:nvPr/>
        </p:nvSpPr>
        <p:spPr>
          <a:xfrm>
            <a:off x="8798400" y="4345200"/>
            <a:ext cx="1822421"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08_ROW_4_VALUE_1"/>
          <p:cNvSpPr txBox="1"/>
          <p:nvPr/>
        </p:nvSpPr>
        <p:spPr>
          <a:xfrm>
            <a:off x="8073720" y="4345200"/>
            <a:ext cx="720000" cy="298800"/>
          </a:xfrm>
          <a:prstGeom prst="rect">
            <a:avLst/>
          </a:prstGeom>
          <a:noFill/>
        </p:spPr>
        <p:txBody>
          <a:bodyPr wrap="square" lIns="45720" rIns="45720" anchor="ctr">
            <a:spAutoFit/>
          </a:bodyPr>
          <a:lstStyle/>
          <a:p>
            <a:pPr algn="l"/>
            <a:r>
              <a:rPr sz="1200" b="1" i="0">
                <a:solidFill>
                  <a:srgbClr val="474E67"/>
                </a:solidFill>
                <a:latin typeface="Segoe UI"/>
              </a:rPr>
              <a:t>240 €</a:t>
            </a:r>
          </a:p>
        </p:txBody>
      </p:sp>
      <p:sp>
        <p:nvSpPr>
          <p:cNvPr id="31" name="S08_ROW_4_VALUE_2"/>
          <p:cNvSpPr txBox="1"/>
          <p:nvPr/>
        </p:nvSpPr>
        <p:spPr>
          <a:xfrm>
            <a:off x="10656821" y="4345200"/>
            <a:ext cx="720000" cy="298800"/>
          </a:xfrm>
          <a:prstGeom prst="rect">
            <a:avLst/>
          </a:prstGeom>
          <a:noFill/>
        </p:spPr>
        <p:txBody>
          <a:bodyPr wrap="square" lIns="45720" rIns="45720" anchor="ctr">
            <a:spAutoFit/>
          </a:bodyPr>
          <a:lstStyle/>
          <a:p>
            <a:pPr algn="l"/>
            <a:r>
              <a:rPr sz="1200" b="1" i="0">
                <a:solidFill>
                  <a:srgbClr val="474E67"/>
                </a:solidFill>
                <a:latin typeface="Segoe UI"/>
              </a:rPr>
              <a:t>195 €</a:t>
            </a:r>
          </a:p>
        </p:txBody>
      </p:sp>
      <p:sp>
        <p:nvSpPr>
          <p:cNvPr id="32" name="S08_ROW_5_LABEL"/>
          <p:cNvSpPr txBox="1"/>
          <p:nvPr/>
        </p:nvSpPr>
        <p:spPr>
          <a:xfrm>
            <a:off x="388800" y="4777200"/>
            <a:ext cx="3801600" cy="349200"/>
          </a:xfrm>
          <a:prstGeom prst="rect">
            <a:avLst/>
          </a:prstGeom>
          <a:noFill/>
        </p:spPr>
        <p:txBody>
          <a:bodyPr wrap="square" lIns="45720" rIns="45720" anchor="ctr">
            <a:spAutoFit/>
          </a:bodyPr>
          <a:lstStyle/>
          <a:p>
            <a:pPr algn="l"/>
            <a:r>
              <a:rPr sz="1200" b="1" i="0">
                <a:solidFill>
                  <a:srgbClr val="070E1D"/>
                </a:solidFill>
                <a:latin typeface="Segoe UI"/>
              </a:rPr>
              <a:t>Satisfaction client (/10)</a:t>
            </a:r>
          </a:p>
        </p:txBody>
      </p:sp>
      <p:sp>
        <p:nvSpPr>
          <p:cNvPr id="33" name="S08_ROW_5_BAR_1"/>
          <p:cNvSpPr/>
          <p:nvPr/>
        </p:nvSpPr>
        <p:spPr>
          <a:xfrm>
            <a:off x="4298400" y="4813200"/>
            <a:ext cx="3130593" cy="298800"/>
          </a:xfrm>
          <a:prstGeom prst="roundRect">
            <a:avLst>
              <a:gd name="adj" fmla="val 10000"/>
            </a:avLst>
          </a:prstGeom>
          <a:solidFill>
            <a:srgbClr val="D5B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08_ROW_5_BAR_2"/>
          <p:cNvSpPr/>
          <p:nvPr/>
        </p:nvSpPr>
        <p:spPr>
          <a:xfrm>
            <a:off x="8798400" y="4813200"/>
            <a:ext cx="2242980" cy="298800"/>
          </a:xfrm>
          <a:prstGeom prst="roundRect">
            <a:avLst>
              <a:gd name="adj" fmla="val 10000"/>
            </a:avLst>
          </a:prstGeom>
          <a:solidFill>
            <a:srgbClr val="FEE3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08_ROW_5_VALUE_1"/>
          <p:cNvSpPr txBox="1"/>
          <p:nvPr/>
        </p:nvSpPr>
        <p:spPr>
          <a:xfrm>
            <a:off x="7464993" y="4813200"/>
            <a:ext cx="720000" cy="298800"/>
          </a:xfrm>
          <a:prstGeom prst="rect">
            <a:avLst/>
          </a:prstGeom>
          <a:noFill/>
        </p:spPr>
        <p:txBody>
          <a:bodyPr wrap="square" lIns="45720" rIns="45720" anchor="ctr">
            <a:spAutoFit/>
          </a:bodyPr>
          <a:lstStyle/>
          <a:p>
            <a:pPr algn="l"/>
            <a:r>
              <a:rPr sz="1200" b="1" i="0">
                <a:solidFill>
                  <a:srgbClr val="474E67"/>
                </a:solidFill>
                <a:latin typeface="Segoe UI"/>
              </a:rPr>
              <a:t>7,2</a:t>
            </a:r>
          </a:p>
        </p:txBody>
      </p:sp>
      <p:sp>
        <p:nvSpPr>
          <p:cNvPr id="36" name="S08_ROW_5_VALUE_2"/>
          <p:cNvSpPr txBox="1"/>
          <p:nvPr/>
        </p:nvSpPr>
        <p:spPr>
          <a:xfrm>
            <a:off x="11077380" y="4813200"/>
            <a:ext cx="720000" cy="298800"/>
          </a:xfrm>
          <a:prstGeom prst="rect">
            <a:avLst/>
          </a:prstGeom>
          <a:noFill/>
        </p:spPr>
        <p:txBody>
          <a:bodyPr wrap="square" lIns="45720" rIns="45720" anchor="ctr">
            <a:spAutoFit/>
          </a:bodyPr>
          <a:lstStyle/>
          <a:p>
            <a:pPr algn="l"/>
            <a:r>
              <a:rPr sz="1200" b="1" i="0">
                <a:solidFill>
                  <a:srgbClr val="474E67"/>
                </a:solidFill>
                <a:latin typeface="Segoe UI"/>
              </a:rPr>
              <a:t>8,6</a:t>
            </a:r>
          </a:p>
        </p:txBody>
      </p:sp>
      <p:sp>
        <p:nvSpPr>
          <p:cNvPr id="37" name="TakeawayBand"/>
          <p:cNvSpPr/>
          <p:nvPr/>
        </p:nvSpPr>
        <p:spPr>
          <a:xfrm>
            <a:off x="392400" y="6073200"/>
            <a:ext cx="11412000" cy="396000"/>
          </a:xfrm>
          <a:prstGeom prst="rect">
            <a:avLst/>
          </a:prstGeom>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Gains significatifs sur les 5 dimensions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Risques &amp; Opportunités du scale-up</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09/11</a:t>
            </a:r>
          </a:p>
        </p:txBody>
      </p:sp>
      <p:sp>
        <p:nvSpPr>
          <p:cNvPr id="7" name="S09_RISK_1_CARD"/>
          <p:cNvSpPr/>
          <p:nvPr/>
        </p:nvSpPr>
        <p:spPr>
          <a:xfrm>
            <a:off x="151200" y="1260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09_RISK_1_ICON"/>
          <p:cNvSpPr/>
          <p:nvPr/>
        </p:nvSpPr>
        <p:spPr>
          <a:xfrm>
            <a:off x="198000" y="1440000"/>
            <a:ext cx="306000" cy="306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09_RISK_1_TITLE"/>
          <p:cNvSpPr txBox="1"/>
          <p:nvPr/>
        </p:nvSpPr>
        <p:spPr>
          <a:xfrm>
            <a:off x="583200" y="1386000"/>
            <a:ext cx="3240000" cy="277200"/>
          </a:xfrm>
          <a:prstGeom prst="rect">
            <a:avLst/>
          </a:prstGeom>
          <a:noFill/>
        </p:spPr>
        <p:txBody>
          <a:bodyPr wrap="square" lIns="45720" rIns="45720" anchor="t">
            <a:spAutoFit/>
          </a:bodyPr>
          <a:lstStyle/>
          <a:p>
            <a:pPr algn="l"/>
            <a:r>
              <a:rPr sz="1200" b="1" i="0">
                <a:solidFill>
                  <a:srgbClr val="070E1D"/>
                </a:solidFill>
                <a:latin typeface="Segoe UI"/>
              </a:rPr>
              <a:t>Résistance management intermédiaire</a:t>
            </a:r>
          </a:p>
        </p:txBody>
      </p:sp>
      <p:sp>
        <p:nvSpPr>
          <p:cNvPr id="10" name="S09_RISK_1_LEVEL"/>
          <p:cNvSpPr txBox="1"/>
          <p:nvPr/>
        </p:nvSpPr>
        <p:spPr>
          <a:xfrm>
            <a:off x="583200" y="1663200"/>
            <a:ext cx="1440000" cy="190800"/>
          </a:xfrm>
          <a:prstGeom prst="rect">
            <a:avLst/>
          </a:prstGeom>
          <a:noFill/>
        </p:spPr>
        <p:txBody>
          <a:bodyPr wrap="square" lIns="45720" rIns="45720" anchor="t">
            <a:spAutoFit/>
          </a:bodyPr>
          <a:lstStyle/>
          <a:p>
            <a:pPr algn="l"/>
            <a:r>
              <a:rPr sz="1000" b="1" i="0" cap="small">
                <a:solidFill>
                  <a:srgbClr val="C00000"/>
                </a:solidFill>
                <a:latin typeface="Segoe UI"/>
              </a:rPr>
              <a:t>Risque élevé</a:t>
            </a:r>
          </a:p>
        </p:txBody>
      </p:sp>
      <p:sp>
        <p:nvSpPr>
          <p:cNvPr id="11" name="S09_RISK_1_BODY"/>
          <p:cNvSpPr txBox="1"/>
          <p:nvPr/>
        </p:nvSpPr>
        <p:spPr>
          <a:xfrm>
            <a:off x="223200" y="1908000"/>
            <a:ext cx="3654000" cy="432000"/>
          </a:xfrm>
          <a:prstGeom prst="rect">
            <a:avLst/>
          </a:prstGeom>
          <a:noFill/>
        </p:spPr>
        <p:txBody>
          <a:bodyPr wrap="square" lIns="45720" rIns="45720" anchor="t">
            <a:spAutoFit/>
          </a:bodyPr>
          <a:lstStyle/>
          <a:p>
            <a:pPr algn="l"/>
            <a:r>
              <a:rPr sz="1000" b="0" i="0">
                <a:solidFill>
                  <a:srgbClr val="070E1D"/>
                </a:solidFill>
                <a:latin typeface="Segoe UI"/>
              </a:rPr>
              <a:t>Crainte d'éviction, perception de surcharge.</a:t>
            </a:r>
          </a:p>
        </p:txBody>
      </p:sp>
      <p:cxnSp>
        <p:nvCxnSpPr>
          <p:cNvPr id="12" name="Connector 11"/>
          <p:cNvCxnSpPr/>
          <p:nvPr/>
        </p:nvCxnSpPr>
        <p:spPr>
          <a:xfrm>
            <a:off x="223200" y="2448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13" name="S09_RISK_1_ACTION_TAG"/>
          <p:cNvSpPr txBox="1"/>
          <p:nvPr/>
        </p:nvSpPr>
        <p:spPr>
          <a:xfrm>
            <a:off x="223200" y="2556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Parade</a:t>
            </a:r>
          </a:p>
        </p:txBody>
      </p:sp>
      <p:sp>
        <p:nvSpPr>
          <p:cNvPr id="14" name="S09_RISK_1_ACTION_BODY"/>
          <p:cNvSpPr txBox="1"/>
          <p:nvPr/>
        </p:nvSpPr>
        <p:spPr>
          <a:xfrm>
            <a:off x="907200" y="2556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Programme dédié N-1: formation 5j + ambassadeurs identifiés.</a:t>
            </a:r>
          </a:p>
        </p:txBody>
      </p:sp>
      <p:sp>
        <p:nvSpPr>
          <p:cNvPr id="15" name="S09_RISK_2_CARD"/>
          <p:cNvSpPr/>
          <p:nvPr/>
        </p:nvSpPr>
        <p:spPr>
          <a:xfrm>
            <a:off x="4165200" y="1260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9_RISK_2_ICON"/>
          <p:cNvSpPr/>
          <p:nvPr/>
        </p:nvSpPr>
        <p:spPr>
          <a:xfrm>
            <a:off x="4212000" y="1440000"/>
            <a:ext cx="306000" cy="306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09_RISK_2_TITLE"/>
          <p:cNvSpPr txBox="1"/>
          <p:nvPr/>
        </p:nvSpPr>
        <p:spPr>
          <a:xfrm>
            <a:off x="4597200" y="1386000"/>
            <a:ext cx="3240000" cy="277200"/>
          </a:xfrm>
          <a:prstGeom prst="rect">
            <a:avLst/>
          </a:prstGeom>
          <a:noFill/>
        </p:spPr>
        <p:txBody>
          <a:bodyPr wrap="square" lIns="45720" rIns="45720" anchor="t">
            <a:spAutoFit/>
          </a:bodyPr>
          <a:lstStyle/>
          <a:p>
            <a:pPr algn="l"/>
            <a:r>
              <a:rPr sz="1200" b="1" i="0">
                <a:solidFill>
                  <a:srgbClr val="070E1D"/>
                </a:solidFill>
                <a:latin typeface="Segoe UI"/>
              </a:rPr>
              <a:t>Dépendance fournisseur SI</a:t>
            </a:r>
          </a:p>
        </p:txBody>
      </p:sp>
      <p:sp>
        <p:nvSpPr>
          <p:cNvPr id="18" name="S09_RISK_2_LEVEL"/>
          <p:cNvSpPr txBox="1"/>
          <p:nvPr/>
        </p:nvSpPr>
        <p:spPr>
          <a:xfrm>
            <a:off x="4597200" y="1663200"/>
            <a:ext cx="1440000" cy="190800"/>
          </a:xfrm>
          <a:prstGeom prst="rect">
            <a:avLst/>
          </a:prstGeom>
          <a:noFill/>
        </p:spPr>
        <p:txBody>
          <a:bodyPr wrap="square" lIns="45720" rIns="45720" anchor="t">
            <a:spAutoFit/>
          </a:bodyPr>
          <a:lstStyle/>
          <a:p>
            <a:pPr algn="l"/>
            <a:r>
              <a:rPr sz="1000" b="1" i="0" cap="small">
                <a:solidFill>
                  <a:srgbClr val="FDA85B"/>
                </a:solidFill>
                <a:latin typeface="Segoe UI"/>
              </a:rPr>
              <a:t>Risque moyen</a:t>
            </a:r>
          </a:p>
        </p:txBody>
      </p:sp>
      <p:sp>
        <p:nvSpPr>
          <p:cNvPr id="19" name="S09_RISK_2_BODY"/>
          <p:cNvSpPr txBox="1"/>
          <p:nvPr/>
        </p:nvSpPr>
        <p:spPr>
          <a:xfrm>
            <a:off x="4237200" y="1908000"/>
            <a:ext cx="3654000" cy="432000"/>
          </a:xfrm>
          <a:prstGeom prst="rect">
            <a:avLst/>
          </a:prstGeom>
          <a:noFill/>
        </p:spPr>
        <p:txBody>
          <a:bodyPr wrap="square" lIns="45720" rIns="45720" anchor="t">
            <a:spAutoFit/>
          </a:bodyPr>
          <a:lstStyle/>
          <a:p>
            <a:pPr algn="l"/>
            <a:r>
              <a:rPr sz="1000" b="0" i="0">
                <a:solidFill>
                  <a:srgbClr val="070E1D"/>
                </a:solidFill>
                <a:latin typeface="Segoe UI"/>
              </a:rPr>
              <a:t>Couplage fort avec un éditeur unique.</a:t>
            </a:r>
          </a:p>
        </p:txBody>
      </p:sp>
      <p:cxnSp>
        <p:nvCxnSpPr>
          <p:cNvPr id="20" name="Connector 19"/>
          <p:cNvCxnSpPr/>
          <p:nvPr/>
        </p:nvCxnSpPr>
        <p:spPr>
          <a:xfrm>
            <a:off x="4237200" y="2448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21" name="S09_RISK_2_ACTION_TAG"/>
          <p:cNvSpPr txBox="1"/>
          <p:nvPr/>
        </p:nvSpPr>
        <p:spPr>
          <a:xfrm>
            <a:off x="4237200" y="2556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Parade</a:t>
            </a:r>
          </a:p>
        </p:txBody>
      </p:sp>
      <p:sp>
        <p:nvSpPr>
          <p:cNvPr id="22" name="S09_RISK_2_ACTION_BODY"/>
          <p:cNvSpPr txBox="1"/>
          <p:nvPr/>
        </p:nvSpPr>
        <p:spPr>
          <a:xfrm>
            <a:off x="4921200" y="2556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Clauses de réversibilité + plan de bascule sous 60 jours.</a:t>
            </a:r>
          </a:p>
        </p:txBody>
      </p:sp>
      <p:sp>
        <p:nvSpPr>
          <p:cNvPr id="23" name="S09_RISK_3_CARD"/>
          <p:cNvSpPr/>
          <p:nvPr/>
        </p:nvSpPr>
        <p:spPr>
          <a:xfrm>
            <a:off x="8175600" y="1260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09_RISK_3_ICON"/>
          <p:cNvSpPr/>
          <p:nvPr/>
        </p:nvSpPr>
        <p:spPr>
          <a:xfrm>
            <a:off x="8222400" y="1440000"/>
            <a:ext cx="306000" cy="306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09_RISK_3_TITLE"/>
          <p:cNvSpPr txBox="1"/>
          <p:nvPr/>
        </p:nvSpPr>
        <p:spPr>
          <a:xfrm>
            <a:off x="8607600" y="1386000"/>
            <a:ext cx="3240000" cy="277200"/>
          </a:xfrm>
          <a:prstGeom prst="rect">
            <a:avLst/>
          </a:prstGeom>
          <a:noFill/>
        </p:spPr>
        <p:txBody>
          <a:bodyPr wrap="square" lIns="45720" rIns="45720" anchor="t">
            <a:spAutoFit/>
          </a:bodyPr>
          <a:lstStyle/>
          <a:p>
            <a:pPr algn="l"/>
            <a:r>
              <a:rPr sz="1200" b="1" i="0">
                <a:solidFill>
                  <a:srgbClr val="070E1D"/>
                </a:solidFill>
                <a:latin typeface="Segoe UI"/>
              </a:rPr>
              <a:t>Charge sites en déploiement</a:t>
            </a:r>
          </a:p>
        </p:txBody>
      </p:sp>
      <p:sp>
        <p:nvSpPr>
          <p:cNvPr id="26" name="S09_RISK_3_LEVEL"/>
          <p:cNvSpPr txBox="1"/>
          <p:nvPr/>
        </p:nvSpPr>
        <p:spPr>
          <a:xfrm>
            <a:off x="8607600" y="1663200"/>
            <a:ext cx="1440000" cy="190800"/>
          </a:xfrm>
          <a:prstGeom prst="rect">
            <a:avLst/>
          </a:prstGeom>
          <a:noFill/>
        </p:spPr>
        <p:txBody>
          <a:bodyPr wrap="square" lIns="45720" rIns="45720" anchor="t">
            <a:spAutoFit/>
          </a:bodyPr>
          <a:lstStyle/>
          <a:p>
            <a:pPr algn="l"/>
            <a:r>
              <a:rPr sz="1000" b="1" i="0" cap="small">
                <a:solidFill>
                  <a:srgbClr val="C00000"/>
                </a:solidFill>
                <a:latin typeface="Segoe UI"/>
              </a:rPr>
              <a:t>Risque élevé</a:t>
            </a:r>
          </a:p>
        </p:txBody>
      </p:sp>
      <p:sp>
        <p:nvSpPr>
          <p:cNvPr id="27" name="S09_RISK_3_BODY"/>
          <p:cNvSpPr txBox="1"/>
          <p:nvPr/>
        </p:nvSpPr>
        <p:spPr>
          <a:xfrm>
            <a:off x="8247600" y="1908000"/>
            <a:ext cx="3654000" cy="432000"/>
          </a:xfrm>
          <a:prstGeom prst="rect">
            <a:avLst/>
          </a:prstGeom>
          <a:noFill/>
        </p:spPr>
        <p:txBody>
          <a:bodyPr wrap="square" lIns="45720" rIns="45720" anchor="t">
            <a:spAutoFit/>
          </a:bodyPr>
          <a:lstStyle/>
          <a:p>
            <a:pPr algn="l"/>
            <a:r>
              <a:rPr sz="1000" b="0" i="0">
                <a:solidFill>
                  <a:srgbClr val="070E1D"/>
                </a:solidFill>
                <a:latin typeface="Segoe UI"/>
              </a:rPr>
              <a:t>Pic d'activité commercial concomitant T4.</a:t>
            </a:r>
          </a:p>
        </p:txBody>
      </p:sp>
      <p:cxnSp>
        <p:nvCxnSpPr>
          <p:cNvPr id="28" name="Connector 27"/>
          <p:cNvCxnSpPr/>
          <p:nvPr/>
        </p:nvCxnSpPr>
        <p:spPr>
          <a:xfrm>
            <a:off x="8247600" y="2448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29" name="S09_RISK_3_ACTION_TAG"/>
          <p:cNvSpPr txBox="1"/>
          <p:nvPr/>
        </p:nvSpPr>
        <p:spPr>
          <a:xfrm>
            <a:off x="8247600" y="2556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Parade</a:t>
            </a:r>
          </a:p>
        </p:txBody>
      </p:sp>
      <p:sp>
        <p:nvSpPr>
          <p:cNvPr id="30" name="S09_RISK_3_ACTION_BODY"/>
          <p:cNvSpPr txBox="1"/>
          <p:nvPr/>
        </p:nvSpPr>
        <p:spPr>
          <a:xfrm>
            <a:off x="8931600" y="2556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Décaler 2 sites au T1 2027, lisser la charge.</a:t>
            </a:r>
          </a:p>
        </p:txBody>
      </p:sp>
      <p:sp>
        <p:nvSpPr>
          <p:cNvPr id="31" name="S09_OPP_1_CARD"/>
          <p:cNvSpPr/>
          <p:nvPr/>
        </p:nvSpPr>
        <p:spPr>
          <a:xfrm>
            <a:off x="151200" y="3708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09_OPP_1_ICON"/>
          <p:cNvSpPr/>
          <p:nvPr/>
        </p:nvSpPr>
        <p:spPr>
          <a:xfrm>
            <a:off x="198000" y="3888000"/>
            <a:ext cx="306000" cy="306000"/>
          </a:xfrm>
          <a:prstGeom prst="ellipse">
            <a:avLst/>
          </a:prstGeom>
          <a:solidFill>
            <a:srgbClr val="FBC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09_OPP_1_TITLE"/>
          <p:cNvSpPr txBox="1"/>
          <p:nvPr/>
        </p:nvSpPr>
        <p:spPr>
          <a:xfrm>
            <a:off x="583200" y="3834000"/>
            <a:ext cx="3240000" cy="277200"/>
          </a:xfrm>
          <a:prstGeom prst="rect">
            <a:avLst/>
          </a:prstGeom>
          <a:noFill/>
        </p:spPr>
        <p:txBody>
          <a:bodyPr wrap="square" lIns="45720" rIns="45720" anchor="t">
            <a:spAutoFit/>
          </a:bodyPr>
          <a:lstStyle/>
          <a:p>
            <a:pPr algn="l"/>
            <a:r>
              <a:rPr sz="1200" b="1" i="0">
                <a:solidFill>
                  <a:srgbClr val="070E1D"/>
                </a:solidFill>
                <a:latin typeface="Segoe UI"/>
              </a:rPr>
              <a:t>Vague d'engagement post-pilote</a:t>
            </a:r>
          </a:p>
        </p:txBody>
      </p:sp>
      <p:sp>
        <p:nvSpPr>
          <p:cNvPr id="34" name="S09_OPP_1_LEVEL"/>
          <p:cNvSpPr txBox="1"/>
          <p:nvPr/>
        </p:nvSpPr>
        <p:spPr>
          <a:xfrm>
            <a:off x="583200" y="4111200"/>
            <a:ext cx="1440000" cy="190800"/>
          </a:xfrm>
          <a:prstGeom prst="rect">
            <a:avLst/>
          </a:prstGeom>
          <a:noFill/>
        </p:spPr>
        <p:txBody>
          <a:bodyPr wrap="square" lIns="45720" rIns="45720" anchor="t">
            <a:spAutoFit/>
          </a:bodyPr>
          <a:lstStyle/>
          <a:p>
            <a:pPr algn="l"/>
            <a:r>
              <a:rPr sz="1000" b="1" i="0" cap="small">
                <a:solidFill>
                  <a:srgbClr val="00B050"/>
                </a:solidFill>
                <a:latin typeface="Segoe UI"/>
              </a:rPr>
              <a:t>Gain élevé</a:t>
            </a:r>
          </a:p>
        </p:txBody>
      </p:sp>
      <p:sp>
        <p:nvSpPr>
          <p:cNvPr id="35" name="S09_OPP_1_BODY"/>
          <p:cNvSpPr txBox="1"/>
          <p:nvPr/>
        </p:nvSpPr>
        <p:spPr>
          <a:xfrm>
            <a:off x="223200" y="4356000"/>
            <a:ext cx="3654000" cy="432000"/>
          </a:xfrm>
          <a:prstGeom prst="rect">
            <a:avLst/>
          </a:prstGeom>
          <a:noFill/>
        </p:spPr>
        <p:txBody>
          <a:bodyPr wrap="square" lIns="45720" rIns="45720" anchor="t">
            <a:spAutoFit/>
          </a:bodyPr>
          <a:lstStyle/>
          <a:p>
            <a:pPr algn="l"/>
            <a:r>
              <a:rPr sz="1000" b="0" i="0">
                <a:solidFill>
                  <a:srgbClr val="070E1D"/>
                </a:solidFill>
                <a:latin typeface="Segoe UI"/>
              </a:rPr>
              <a:t>Témoignages spontanés en interne, demande de formation.</a:t>
            </a:r>
          </a:p>
        </p:txBody>
      </p:sp>
      <p:cxnSp>
        <p:nvCxnSpPr>
          <p:cNvPr id="36" name="Connector 35"/>
          <p:cNvCxnSpPr/>
          <p:nvPr/>
        </p:nvCxnSpPr>
        <p:spPr>
          <a:xfrm>
            <a:off x="223200" y="4896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37" name="S09_OPP_1_ACTION_TAG"/>
          <p:cNvSpPr txBox="1"/>
          <p:nvPr/>
        </p:nvSpPr>
        <p:spPr>
          <a:xfrm>
            <a:off x="223200" y="5004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Levier</a:t>
            </a:r>
          </a:p>
        </p:txBody>
      </p:sp>
      <p:sp>
        <p:nvSpPr>
          <p:cNvPr id="38" name="S09_OPP_1_ACTION_BODY"/>
          <p:cNvSpPr txBox="1"/>
          <p:nvPr/>
        </p:nvSpPr>
        <p:spPr>
          <a:xfrm>
            <a:off x="907200" y="5004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Capitaliser via communication + bourse aux bonnes pratiques.</a:t>
            </a:r>
          </a:p>
        </p:txBody>
      </p:sp>
      <p:sp>
        <p:nvSpPr>
          <p:cNvPr id="39" name="S09_OPP_2_CARD"/>
          <p:cNvSpPr/>
          <p:nvPr/>
        </p:nvSpPr>
        <p:spPr>
          <a:xfrm>
            <a:off x="4165200" y="3708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09_OPP_2_ICON"/>
          <p:cNvSpPr/>
          <p:nvPr/>
        </p:nvSpPr>
        <p:spPr>
          <a:xfrm>
            <a:off x="4212000" y="3888000"/>
            <a:ext cx="306000" cy="306000"/>
          </a:xfrm>
          <a:prstGeom prst="ellipse">
            <a:avLst/>
          </a:prstGeom>
          <a:solidFill>
            <a:srgbClr val="FBC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09_OPP_2_TITLE"/>
          <p:cNvSpPr txBox="1"/>
          <p:nvPr/>
        </p:nvSpPr>
        <p:spPr>
          <a:xfrm>
            <a:off x="4597200" y="3834000"/>
            <a:ext cx="3240000" cy="277200"/>
          </a:xfrm>
          <a:prstGeom prst="rect">
            <a:avLst/>
          </a:prstGeom>
          <a:noFill/>
        </p:spPr>
        <p:txBody>
          <a:bodyPr wrap="square" lIns="45720" rIns="45720" anchor="t">
            <a:spAutoFit/>
          </a:bodyPr>
          <a:lstStyle/>
          <a:p>
            <a:pPr algn="l"/>
            <a:r>
              <a:rPr sz="1200" b="1" i="0">
                <a:solidFill>
                  <a:srgbClr val="070E1D"/>
                </a:solidFill>
                <a:latin typeface="Segoe UI"/>
              </a:rPr>
              <a:t>Synergie avec autres BU</a:t>
            </a:r>
          </a:p>
        </p:txBody>
      </p:sp>
      <p:sp>
        <p:nvSpPr>
          <p:cNvPr id="42" name="S09_OPP_2_LEVEL"/>
          <p:cNvSpPr txBox="1"/>
          <p:nvPr/>
        </p:nvSpPr>
        <p:spPr>
          <a:xfrm>
            <a:off x="4597200" y="4111200"/>
            <a:ext cx="1440000" cy="190800"/>
          </a:xfrm>
          <a:prstGeom prst="rect">
            <a:avLst/>
          </a:prstGeom>
          <a:noFill/>
        </p:spPr>
        <p:txBody>
          <a:bodyPr wrap="square" lIns="45720" rIns="45720" anchor="t">
            <a:spAutoFit/>
          </a:bodyPr>
          <a:lstStyle/>
          <a:p>
            <a:pPr algn="l"/>
            <a:r>
              <a:rPr sz="1000" b="1" i="0" cap="small">
                <a:solidFill>
                  <a:srgbClr val="A8A400"/>
                </a:solidFill>
                <a:latin typeface="Segoe UI"/>
              </a:rPr>
              <a:t>Gain moyen</a:t>
            </a:r>
          </a:p>
        </p:txBody>
      </p:sp>
      <p:sp>
        <p:nvSpPr>
          <p:cNvPr id="43" name="S09_OPP_2_BODY"/>
          <p:cNvSpPr txBox="1"/>
          <p:nvPr/>
        </p:nvSpPr>
        <p:spPr>
          <a:xfrm>
            <a:off x="4237200" y="4356000"/>
            <a:ext cx="3654000" cy="432000"/>
          </a:xfrm>
          <a:prstGeom prst="rect">
            <a:avLst/>
          </a:prstGeom>
          <a:noFill/>
        </p:spPr>
        <p:txBody>
          <a:bodyPr wrap="square" lIns="45720" rIns="45720" anchor="t">
            <a:spAutoFit/>
          </a:bodyPr>
          <a:lstStyle/>
          <a:p>
            <a:pPr algn="l"/>
            <a:r>
              <a:rPr sz="1000" b="0" i="0">
                <a:solidFill>
                  <a:srgbClr val="070E1D"/>
                </a:solidFill>
                <a:latin typeface="Segoe UI"/>
              </a:rPr>
              <a:t>BU adjacentes intéressées par la méthodologie.</a:t>
            </a:r>
          </a:p>
        </p:txBody>
      </p:sp>
      <p:cxnSp>
        <p:nvCxnSpPr>
          <p:cNvPr id="44" name="Connector 43"/>
          <p:cNvCxnSpPr/>
          <p:nvPr/>
        </p:nvCxnSpPr>
        <p:spPr>
          <a:xfrm>
            <a:off x="4237200" y="4896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45" name="S09_OPP_2_ACTION_TAG"/>
          <p:cNvSpPr txBox="1"/>
          <p:nvPr/>
        </p:nvSpPr>
        <p:spPr>
          <a:xfrm>
            <a:off x="4237200" y="5004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Levier</a:t>
            </a:r>
          </a:p>
        </p:txBody>
      </p:sp>
      <p:sp>
        <p:nvSpPr>
          <p:cNvPr id="46" name="S09_OPP_2_ACTION_BODY"/>
          <p:cNvSpPr txBox="1"/>
          <p:nvPr/>
        </p:nvSpPr>
        <p:spPr>
          <a:xfrm>
            <a:off x="4921200" y="5004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Ouvrir un comité transverse au T4.</a:t>
            </a:r>
          </a:p>
        </p:txBody>
      </p:sp>
      <p:sp>
        <p:nvSpPr>
          <p:cNvPr id="47" name="S09_OPP_3_CARD"/>
          <p:cNvSpPr/>
          <p:nvPr/>
        </p:nvSpPr>
        <p:spPr>
          <a:xfrm>
            <a:off x="8175600" y="3708000"/>
            <a:ext cx="3798000" cy="2106000"/>
          </a:xfrm>
          <a:prstGeom prst="roundRect">
            <a:avLst>
              <a:gd name="adj" fmla="val 10000"/>
            </a:avLst>
          </a:prstGeom>
          <a:solidFill>
            <a:srgbClr val="FFFFFF"/>
          </a:solidFill>
          <a:ln w="3175">
            <a:solidFill>
              <a:srgbClr val="AFB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09_OPP_3_ICON"/>
          <p:cNvSpPr/>
          <p:nvPr/>
        </p:nvSpPr>
        <p:spPr>
          <a:xfrm>
            <a:off x="8222400" y="3888000"/>
            <a:ext cx="306000" cy="306000"/>
          </a:xfrm>
          <a:prstGeom prst="ellipse">
            <a:avLst/>
          </a:prstGeom>
          <a:solidFill>
            <a:srgbClr val="FBC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09_OPP_3_TITLE"/>
          <p:cNvSpPr txBox="1"/>
          <p:nvPr/>
        </p:nvSpPr>
        <p:spPr>
          <a:xfrm>
            <a:off x="8607600" y="3834000"/>
            <a:ext cx="3240000" cy="277200"/>
          </a:xfrm>
          <a:prstGeom prst="rect">
            <a:avLst/>
          </a:prstGeom>
          <a:noFill/>
        </p:spPr>
        <p:txBody>
          <a:bodyPr wrap="square" lIns="45720" rIns="45720" anchor="t">
            <a:spAutoFit/>
          </a:bodyPr>
          <a:lstStyle/>
          <a:p>
            <a:pPr algn="l"/>
            <a:r>
              <a:rPr sz="1200" b="1" i="0">
                <a:solidFill>
                  <a:srgbClr val="070E1D"/>
                </a:solidFill>
                <a:latin typeface="Segoe UI"/>
              </a:rPr>
              <a:t>Crédibilité auprès des grands clients</a:t>
            </a:r>
          </a:p>
        </p:txBody>
      </p:sp>
      <p:sp>
        <p:nvSpPr>
          <p:cNvPr id="50" name="S09_OPP_3_LEVEL"/>
          <p:cNvSpPr txBox="1"/>
          <p:nvPr/>
        </p:nvSpPr>
        <p:spPr>
          <a:xfrm>
            <a:off x="8607600" y="4111200"/>
            <a:ext cx="1440000" cy="190800"/>
          </a:xfrm>
          <a:prstGeom prst="rect">
            <a:avLst/>
          </a:prstGeom>
          <a:noFill/>
        </p:spPr>
        <p:txBody>
          <a:bodyPr wrap="square" lIns="45720" rIns="45720" anchor="t">
            <a:spAutoFit/>
          </a:bodyPr>
          <a:lstStyle/>
          <a:p>
            <a:pPr algn="l"/>
            <a:r>
              <a:rPr sz="1000" b="1" i="0" cap="small">
                <a:solidFill>
                  <a:srgbClr val="00B050"/>
                </a:solidFill>
                <a:latin typeface="Segoe UI"/>
              </a:rPr>
              <a:t>Gain élevé</a:t>
            </a:r>
          </a:p>
        </p:txBody>
      </p:sp>
      <p:sp>
        <p:nvSpPr>
          <p:cNvPr id="51" name="S09_OPP_3_BODY"/>
          <p:cNvSpPr txBox="1"/>
          <p:nvPr/>
        </p:nvSpPr>
        <p:spPr>
          <a:xfrm>
            <a:off x="8247600" y="4356000"/>
            <a:ext cx="3654000" cy="432000"/>
          </a:xfrm>
          <a:prstGeom prst="rect">
            <a:avLst/>
          </a:prstGeom>
          <a:noFill/>
        </p:spPr>
        <p:txBody>
          <a:bodyPr wrap="square" lIns="45720" rIns="45720" anchor="t">
            <a:spAutoFit/>
          </a:bodyPr>
          <a:lstStyle/>
          <a:p>
            <a:pPr algn="l"/>
            <a:r>
              <a:rPr sz="1000" b="0" i="0">
                <a:solidFill>
                  <a:srgbClr val="070E1D"/>
                </a:solidFill>
                <a:latin typeface="Segoe UI"/>
              </a:rPr>
              <a:t>Audit client en T2 valorise la démarche.</a:t>
            </a:r>
          </a:p>
        </p:txBody>
      </p:sp>
      <p:cxnSp>
        <p:nvCxnSpPr>
          <p:cNvPr id="52" name="Connector 51"/>
          <p:cNvCxnSpPr/>
          <p:nvPr/>
        </p:nvCxnSpPr>
        <p:spPr>
          <a:xfrm>
            <a:off x="8247600" y="4896000"/>
            <a:ext cx="3654000" cy="0"/>
          </a:xfrm>
          <a:prstGeom prst="line">
            <a:avLst/>
          </a:prstGeom>
          <a:ln w="9525">
            <a:solidFill>
              <a:srgbClr val="AFB5C8"/>
            </a:solidFill>
            <a:prstDash val="dash"/>
          </a:ln>
        </p:spPr>
        <p:style>
          <a:lnRef idx="2">
            <a:schemeClr val="accent1"/>
          </a:lnRef>
          <a:fillRef idx="0">
            <a:schemeClr val="accent1"/>
          </a:fillRef>
          <a:effectRef idx="1">
            <a:schemeClr val="accent1"/>
          </a:effectRef>
          <a:fontRef idx="minor">
            <a:schemeClr val="tx1"/>
          </a:fontRef>
        </p:style>
      </p:cxnSp>
      <p:sp>
        <p:nvSpPr>
          <p:cNvPr id="53" name="S09_OPP_3_ACTION_TAG"/>
          <p:cNvSpPr txBox="1"/>
          <p:nvPr/>
        </p:nvSpPr>
        <p:spPr>
          <a:xfrm>
            <a:off x="8247600" y="5004000"/>
            <a:ext cx="615600" cy="190800"/>
          </a:xfrm>
          <a:prstGeom prst="rect">
            <a:avLst/>
          </a:prstGeom>
          <a:noFill/>
        </p:spPr>
        <p:txBody>
          <a:bodyPr wrap="square" lIns="45720" rIns="45720" anchor="t">
            <a:spAutoFit/>
          </a:bodyPr>
          <a:lstStyle/>
          <a:p>
            <a:pPr algn="l"/>
            <a:r>
              <a:rPr sz="1000" b="1" i="0" cap="small">
                <a:solidFill>
                  <a:srgbClr val="8DAC95"/>
                </a:solidFill>
                <a:latin typeface="Segoe UI"/>
              </a:rPr>
              <a:t>Levier</a:t>
            </a:r>
          </a:p>
        </p:txBody>
      </p:sp>
      <p:sp>
        <p:nvSpPr>
          <p:cNvPr id="54" name="S09_OPP_3_ACTION_BODY"/>
          <p:cNvSpPr txBox="1"/>
          <p:nvPr/>
        </p:nvSpPr>
        <p:spPr>
          <a:xfrm>
            <a:off x="8931600" y="5004000"/>
            <a:ext cx="2970000" cy="360000"/>
          </a:xfrm>
          <a:prstGeom prst="rect">
            <a:avLst/>
          </a:prstGeom>
          <a:noFill/>
        </p:spPr>
        <p:txBody>
          <a:bodyPr wrap="square" lIns="45720" rIns="45720" anchor="t">
            <a:spAutoFit/>
          </a:bodyPr>
          <a:lstStyle/>
          <a:p>
            <a:pPr algn="l"/>
            <a:r>
              <a:rPr sz="1000" b="0" i="0">
                <a:solidFill>
                  <a:srgbClr val="070E1D"/>
                </a:solidFill>
                <a:latin typeface="Segoe UI Light"/>
              </a:rPr>
              <a:t>Intégrer dans les RFP et plaquettes commerciales.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Plan d'action 18 mois</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10/11</a:t>
            </a:r>
          </a:p>
        </p:txBody>
      </p:sp>
      <p:sp>
        <p:nvSpPr>
          <p:cNvPr id="7" name="S10_DATE"/>
          <p:cNvSpPr txBox="1"/>
          <p:nvPr/>
        </p:nvSpPr>
        <p:spPr>
          <a:xfrm>
            <a:off x="10119600" y="270000"/>
            <a:ext cx="1828800" cy="464400"/>
          </a:xfrm>
          <a:prstGeom prst="rect">
            <a:avLst/>
          </a:prstGeom>
          <a:noFill/>
        </p:spPr>
        <p:txBody>
          <a:bodyPr wrap="square" lIns="45720" rIns="45720" anchor="ctr">
            <a:spAutoFit/>
          </a:bodyPr>
          <a:lstStyle/>
          <a:p>
            <a:pPr algn="r"/>
            <a:r>
              <a:rPr sz="1200" b="0" i="0">
                <a:solidFill>
                  <a:srgbClr val="FFFFFF"/>
                </a:solidFill>
                <a:latin typeface="Calibri"/>
              </a:rPr>
              <a:t>Mai 2026</a:t>
            </a:r>
          </a:p>
        </p:txBody>
      </p:sp>
      <p:sp>
        <p:nvSpPr>
          <p:cNvPr id="8" name="S10_PHASE_1_CARD"/>
          <p:cNvSpPr/>
          <p:nvPr/>
        </p:nvSpPr>
        <p:spPr>
          <a:xfrm>
            <a:off x="219600" y="1475999"/>
            <a:ext cx="3780000" cy="4136400"/>
          </a:xfrm>
          <a:prstGeom prst="rect">
            <a:avLst/>
          </a:prstGeom>
          <a:solidFill>
            <a:srgbClr val="FFFFFF"/>
          </a:solidFill>
          <a:ln w="3175">
            <a:solidFill>
              <a:srgbClr val="E0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0_PHASE_1_BAND"/>
          <p:cNvSpPr/>
          <p:nvPr/>
        </p:nvSpPr>
        <p:spPr>
          <a:xfrm>
            <a:off x="219600" y="1475999"/>
            <a:ext cx="3780000" cy="7560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0_PHASE_1_NUMBER"/>
          <p:cNvSpPr txBox="1"/>
          <p:nvPr/>
        </p:nvSpPr>
        <p:spPr>
          <a:xfrm>
            <a:off x="280800" y="1548000"/>
            <a:ext cx="511200" cy="511200"/>
          </a:xfrm>
          <a:prstGeom prst="rect">
            <a:avLst/>
          </a:prstGeom>
          <a:noFill/>
        </p:spPr>
        <p:txBody>
          <a:bodyPr wrap="square" lIns="45720" rIns="45720" anchor="ctr">
            <a:spAutoFit/>
          </a:bodyPr>
          <a:lstStyle/>
          <a:p>
            <a:pPr algn="ctr"/>
            <a:r>
              <a:rPr sz="2400" b="1" i="0">
                <a:solidFill>
                  <a:srgbClr val="FFFFFF"/>
                </a:solidFill>
                <a:latin typeface="Calibri"/>
              </a:rPr>
              <a:t>1</a:t>
            </a:r>
          </a:p>
        </p:txBody>
      </p:sp>
      <p:sp>
        <p:nvSpPr>
          <p:cNvPr id="11" name="S10_PHASE_1_TITLE"/>
          <p:cNvSpPr txBox="1"/>
          <p:nvPr/>
        </p:nvSpPr>
        <p:spPr>
          <a:xfrm>
            <a:off x="853200" y="1558800"/>
            <a:ext cx="3024000" cy="342000"/>
          </a:xfrm>
          <a:prstGeom prst="rect">
            <a:avLst/>
          </a:prstGeom>
          <a:noFill/>
        </p:spPr>
        <p:txBody>
          <a:bodyPr wrap="square" lIns="45720" rIns="45720" anchor="ctr">
            <a:spAutoFit/>
          </a:bodyPr>
          <a:lstStyle/>
          <a:p>
            <a:pPr algn="l"/>
            <a:r>
              <a:rPr sz="1600" b="1" i="0">
                <a:solidFill>
                  <a:srgbClr val="FFFFFF"/>
                </a:solidFill>
                <a:latin typeface="Segoe UI"/>
              </a:rPr>
              <a:t>Cadrage</a:t>
            </a:r>
          </a:p>
        </p:txBody>
      </p:sp>
      <p:sp>
        <p:nvSpPr>
          <p:cNvPr id="12" name="S10_PHASE_1_SUBTITLE"/>
          <p:cNvSpPr txBox="1"/>
          <p:nvPr/>
        </p:nvSpPr>
        <p:spPr>
          <a:xfrm>
            <a:off x="853200" y="1890000"/>
            <a:ext cx="3024000" cy="291600"/>
          </a:xfrm>
          <a:prstGeom prst="rect">
            <a:avLst/>
          </a:prstGeom>
          <a:noFill/>
        </p:spPr>
        <p:txBody>
          <a:bodyPr wrap="square" lIns="45720" rIns="45720" anchor="t">
            <a:spAutoFit/>
          </a:bodyPr>
          <a:lstStyle/>
          <a:p>
            <a:pPr algn="l"/>
            <a:r>
              <a:rPr sz="1200" b="0" i="1">
                <a:solidFill>
                  <a:srgbClr val="FFFFFF"/>
                </a:solidFill>
                <a:latin typeface="Segoe UI"/>
              </a:rPr>
              <a:t>T2-T3 2026</a:t>
            </a:r>
          </a:p>
        </p:txBody>
      </p:sp>
      <p:sp>
        <p:nvSpPr>
          <p:cNvPr id="13" name="S10_PHASE_1_ITEM_1_BULLET"/>
          <p:cNvSpPr/>
          <p:nvPr/>
        </p:nvSpPr>
        <p:spPr>
          <a:xfrm>
            <a:off x="399599" y="2340000"/>
            <a:ext cx="108000" cy="108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10_PHASE_1_ITEM_1_TITLE"/>
          <p:cNvSpPr txBox="1"/>
          <p:nvPr/>
        </p:nvSpPr>
        <p:spPr>
          <a:xfrm>
            <a:off x="586800" y="2268000"/>
            <a:ext cx="3268800" cy="367200"/>
          </a:xfrm>
          <a:prstGeom prst="rect">
            <a:avLst/>
          </a:prstGeom>
          <a:noFill/>
        </p:spPr>
        <p:txBody>
          <a:bodyPr wrap="square" lIns="45720" rIns="45720" anchor="ctr">
            <a:spAutoFit/>
          </a:bodyPr>
          <a:lstStyle/>
          <a:p>
            <a:pPr algn="l"/>
            <a:r>
              <a:rPr sz="1100" b="1" i="0">
                <a:solidFill>
                  <a:srgbClr val="070E1D"/>
                </a:solidFill>
                <a:latin typeface="Segoe UI"/>
              </a:rPr>
              <a:t>Sponsor + gouvernance</a:t>
            </a:r>
          </a:p>
        </p:txBody>
      </p:sp>
      <p:sp>
        <p:nvSpPr>
          <p:cNvPr id="15" name="S10_PHASE_1_ITEM_1_BODY"/>
          <p:cNvSpPr txBox="1"/>
          <p:nvPr/>
        </p:nvSpPr>
        <p:spPr>
          <a:xfrm>
            <a:off x="586800" y="26136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COPIL hebdomadaire piloté par le DG, sponsor N-1 nommé.</a:t>
            </a:r>
          </a:p>
        </p:txBody>
      </p:sp>
      <p:cxnSp>
        <p:nvCxnSpPr>
          <p:cNvPr id="16" name="Connector 15"/>
          <p:cNvCxnSpPr/>
          <p:nvPr/>
        </p:nvCxnSpPr>
        <p:spPr>
          <a:xfrm>
            <a:off x="363600" y="2955599"/>
            <a:ext cx="3491999"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17" name="S10_PHASE_1_ITEM_2_BULLET"/>
          <p:cNvSpPr/>
          <p:nvPr/>
        </p:nvSpPr>
        <p:spPr>
          <a:xfrm>
            <a:off x="399599" y="3340800"/>
            <a:ext cx="108000" cy="108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10_PHASE_1_ITEM_2_TITLE"/>
          <p:cNvSpPr txBox="1"/>
          <p:nvPr/>
        </p:nvSpPr>
        <p:spPr>
          <a:xfrm>
            <a:off x="586800" y="3268800"/>
            <a:ext cx="3268800" cy="367200"/>
          </a:xfrm>
          <a:prstGeom prst="rect">
            <a:avLst/>
          </a:prstGeom>
          <a:noFill/>
        </p:spPr>
        <p:txBody>
          <a:bodyPr wrap="square" lIns="45720" rIns="45720" anchor="ctr">
            <a:spAutoFit/>
          </a:bodyPr>
          <a:lstStyle/>
          <a:p>
            <a:pPr algn="l"/>
            <a:r>
              <a:rPr sz="1100" b="1" i="0">
                <a:solidFill>
                  <a:srgbClr val="070E1D"/>
                </a:solidFill>
                <a:latin typeface="Segoe UI"/>
              </a:rPr>
              <a:t>Diagnostic terrain</a:t>
            </a:r>
          </a:p>
        </p:txBody>
      </p:sp>
      <p:sp>
        <p:nvSpPr>
          <p:cNvPr id="19" name="S10_PHASE_1_ITEM_2_BODY"/>
          <p:cNvSpPr txBox="1"/>
          <p:nvPr/>
        </p:nvSpPr>
        <p:spPr>
          <a:xfrm>
            <a:off x="586800" y="3614399"/>
            <a:ext cx="3268800" cy="306000"/>
          </a:xfrm>
          <a:prstGeom prst="rect">
            <a:avLst/>
          </a:prstGeom>
          <a:noFill/>
        </p:spPr>
        <p:txBody>
          <a:bodyPr wrap="square" lIns="45720" rIns="45720" anchor="t">
            <a:spAutoFit/>
          </a:bodyPr>
          <a:lstStyle/>
          <a:p>
            <a:pPr algn="l"/>
            <a:r>
              <a:rPr sz="1050" b="0" i="0">
                <a:solidFill>
                  <a:srgbClr val="474E67"/>
                </a:solidFill>
                <a:latin typeface="Segoe UI Light"/>
              </a:rPr>
              <a:t>30 entretiens, 6 sites visités, value stream maps réalisés.</a:t>
            </a:r>
          </a:p>
        </p:txBody>
      </p:sp>
      <p:cxnSp>
        <p:nvCxnSpPr>
          <p:cNvPr id="20" name="Connector 19"/>
          <p:cNvCxnSpPr/>
          <p:nvPr/>
        </p:nvCxnSpPr>
        <p:spPr>
          <a:xfrm>
            <a:off x="363600" y="3956399"/>
            <a:ext cx="3491999"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21" name="S10_PHASE_1_ITEM_3_BULLET"/>
          <p:cNvSpPr/>
          <p:nvPr/>
        </p:nvSpPr>
        <p:spPr>
          <a:xfrm>
            <a:off x="399599" y="4471200"/>
            <a:ext cx="108000" cy="108000"/>
          </a:xfrm>
          <a:prstGeom prst="ellipse">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10_PHASE_1_ITEM_3_TITLE"/>
          <p:cNvSpPr txBox="1"/>
          <p:nvPr/>
        </p:nvSpPr>
        <p:spPr>
          <a:xfrm>
            <a:off x="586800" y="4399200"/>
            <a:ext cx="3268800" cy="367200"/>
          </a:xfrm>
          <a:prstGeom prst="rect">
            <a:avLst/>
          </a:prstGeom>
          <a:noFill/>
        </p:spPr>
        <p:txBody>
          <a:bodyPr wrap="square" lIns="45720" rIns="45720" anchor="ctr">
            <a:spAutoFit/>
          </a:bodyPr>
          <a:lstStyle/>
          <a:p>
            <a:pPr algn="l"/>
            <a:r>
              <a:rPr sz="1100" b="1" i="0">
                <a:solidFill>
                  <a:srgbClr val="070E1D"/>
                </a:solidFill>
                <a:latin typeface="Segoe UI"/>
              </a:rPr>
              <a:t>Roadmap détaillée</a:t>
            </a:r>
          </a:p>
        </p:txBody>
      </p:sp>
      <p:sp>
        <p:nvSpPr>
          <p:cNvPr id="23" name="S10_PHASE_1_ITEM_3_BODY"/>
          <p:cNvSpPr txBox="1"/>
          <p:nvPr/>
        </p:nvSpPr>
        <p:spPr>
          <a:xfrm>
            <a:off x="586800" y="47448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5 chantiers identifiés, KPI baseline figés, charte projet validée.</a:t>
            </a:r>
          </a:p>
        </p:txBody>
      </p:sp>
      <p:sp>
        <p:nvSpPr>
          <p:cNvPr id="24" name="S10_PHASE_2_CARD"/>
          <p:cNvSpPr/>
          <p:nvPr/>
        </p:nvSpPr>
        <p:spPr>
          <a:xfrm>
            <a:off x="4204800" y="1475999"/>
            <a:ext cx="3780000" cy="4136400"/>
          </a:xfrm>
          <a:prstGeom prst="rect">
            <a:avLst/>
          </a:prstGeom>
          <a:solidFill>
            <a:srgbClr val="FFFFFF"/>
          </a:solidFill>
          <a:ln w="3175">
            <a:solidFill>
              <a:srgbClr val="E0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10_PHASE_2_BAND"/>
          <p:cNvSpPr/>
          <p:nvPr/>
        </p:nvSpPr>
        <p:spPr>
          <a:xfrm>
            <a:off x="4204800" y="1475999"/>
            <a:ext cx="3780000" cy="7560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10_PHASE_2_NUMBER"/>
          <p:cNvSpPr txBox="1"/>
          <p:nvPr/>
        </p:nvSpPr>
        <p:spPr>
          <a:xfrm>
            <a:off x="4305600" y="1548000"/>
            <a:ext cx="511200" cy="511200"/>
          </a:xfrm>
          <a:prstGeom prst="rect">
            <a:avLst/>
          </a:prstGeom>
          <a:noFill/>
        </p:spPr>
        <p:txBody>
          <a:bodyPr wrap="square" lIns="45720" rIns="45720" anchor="ctr">
            <a:spAutoFit/>
          </a:bodyPr>
          <a:lstStyle/>
          <a:p>
            <a:pPr algn="ctr"/>
            <a:r>
              <a:rPr sz="2400" b="1" i="0">
                <a:solidFill>
                  <a:srgbClr val="FFFFFF"/>
                </a:solidFill>
                <a:latin typeface="Calibri"/>
              </a:rPr>
              <a:t>2</a:t>
            </a:r>
          </a:p>
        </p:txBody>
      </p:sp>
      <p:sp>
        <p:nvSpPr>
          <p:cNvPr id="27" name="S10_PHASE_2_TITLE"/>
          <p:cNvSpPr txBox="1"/>
          <p:nvPr/>
        </p:nvSpPr>
        <p:spPr>
          <a:xfrm>
            <a:off x="4878000" y="1558800"/>
            <a:ext cx="3024000" cy="342000"/>
          </a:xfrm>
          <a:prstGeom prst="rect">
            <a:avLst/>
          </a:prstGeom>
          <a:noFill/>
        </p:spPr>
        <p:txBody>
          <a:bodyPr wrap="square" lIns="45720" rIns="45720" anchor="ctr">
            <a:spAutoFit/>
          </a:bodyPr>
          <a:lstStyle/>
          <a:p>
            <a:pPr algn="l"/>
            <a:r>
              <a:rPr sz="1600" b="1" i="0">
                <a:solidFill>
                  <a:srgbClr val="FFFFFF"/>
                </a:solidFill>
                <a:latin typeface="Segoe UI"/>
              </a:rPr>
              <a:t>Pilote</a:t>
            </a:r>
          </a:p>
        </p:txBody>
      </p:sp>
      <p:sp>
        <p:nvSpPr>
          <p:cNvPr id="28" name="S10_PHASE_2_SUBTITLE"/>
          <p:cNvSpPr txBox="1"/>
          <p:nvPr/>
        </p:nvSpPr>
        <p:spPr>
          <a:xfrm>
            <a:off x="4878000" y="1890000"/>
            <a:ext cx="3024000" cy="291600"/>
          </a:xfrm>
          <a:prstGeom prst="rect">
            <a:avLst/>
          </a:prstGeom>
          <a:noFill/>
        </p:spPr>
        <p:txBody>
          <a:bodyPr wrap="square" lIns="45720" rIns="45720" anchor="t">
            <a:spAutoFit/>
          </a:bodyPr>
          <a:lstStyle/>
          <a:p>
            <a:pPr algn="l"/>
            <a:r>
              <a:rPr sz="1200" b="0" i="1">
                <a:solidFill>
                  <a:srgbClr val="FFFFFF"/>
                </a:solidFill>
                <a:latin typeface="Segoe UI"/>
              </a:rPr>
              <a:t>T3 2026 - T1 2027</a:t>
            </a:r>
          </a:p>
        </p:txBody>
      </p:sp>
      <p:sp>
        <p:nvSpPr>
          <p:cNvPr id="29" name="S10_PHASE_2_ITEM_1_BULLET"/>
          <p:cNvSpPr/>
          <p:nvPr/>
        </p:nvSpPr>
        <p:spPr>
          <a:xfrm>
            <a:off x="4384800" y="2340000"/>
            <a:ext cx="108000" cy="1080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10_PHASE_2_ITEM_1_TITLE"/>
          <p:cNvSpPr txBox="1"/>
          <p:nvPr/>
        </p:nvSpPr>
        <p:spPr>
          <a:xfrm>
            <a:off x="4608000" y="2268000"/>
            <a:ext cx="3268800" cy="367200"/>
          </a:xfrm>
          <a:prstGeom prst="rect">
            <a:avLst/>
          </a:prstGeom>
          <a:noFill/>
        </p:spPr>
        <p:txBody>
          <a:bodyPr wrap="square" lIns="45720" rIns="45720" anchor="ctr">
            <a:spAutoFit/>
          </a:bodyPr>
          <a:lstStyle/>
          <a:p>
            <a:pPr algn="l"/>
            <a:r>
              <a:rPr sz="1100" b="1" i="0">
                <a:solidFill>
                  <a:srgbClr val="070E1D"/>
                </a:solidFill>
                <a:latin typeface="Segoe UI"/>
              </a:rPr>
              <a:t>2 sites pilotes</a:t>
            </a:r>
          </a:p>
        </p:txBody>
      </p:sp>
      <p:sp>
        <p:nvSpPr>
          <p:cNvPr id="31" name="S10_PHASE_2_ITEM_1_BODY"/>
          <p:cNvSpPr txBox="1"/>
          <p:nvPr/>
        </p:nvSpPr>
        <p:spPr>
          <a:xfrm>
            <a:off x="4608000" y="26136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France et Espagne, profils différents pour tester la robustesse.</a:t>
            </a:r>
          </a:p>
        </p:txBody>
      </p:sp>
      <p:cxnSp>
        <p:nvCxnSpPr>
          <p:cNvPr id="32" name="Connector 31"/>
          <p:cNvCxnSpPr/>
          <p:nvPr/>
        </p:nvCxnSpPr>
        <p:spPr>
          <a:xfrm>
            <a:off x="4348800" y="2955599"/>
            <a:ext cx="3492000"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33" name="S10_PHASE_2_ITEM_2_BULLET"/>
          <p:cNvSpPr/>
          <p:nvPr/>
        </p:nvSpPr>
        <p:spPr>
          <a:xfrm>
            <a:off x="4384800" y="3340800"/>
            <a:ext cx="108000" cy="1080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10_PHASE_2_ITEM_2_TITLE"/>
          <p:cNvSpPr txBox="1"/>
          <p:nvPr/>
        </p:nvSpPr>
        <p:spPr>
          <a:xfrm>
            <a:off x="4608000" y="3268800"/>
            <a:ext cx="3268800" cy="367200"/>
          </a:xfrm>
          <a:prstGeom prst="rect">
            <a:avLst/>
          </a:prstGeom>
          <a:noFill/>
        </p:spPr>
        <p:txBody>
          <a:bodyPr wrap="square" lIns="45720" rIns="45720" anchor="ctr">
            <a:spAutoFit/>
          </a:bodyPr>
          <a:lstStyle/>
          <a:p>
            <a:pPr algn="l"/>
            <a:r>
              <a:rPr sz="1100" b="1" i="0">
                <a:solidFill>
                  <a:srgbClr val="070E1D"/>
                </a:solidFill>
                <a:latin typeface="Segoe UI"/>
              </a:rPr>
              <a:t>Méthode validée</a:t>
            </a:r>
          </a:p>
        </p:txBody>
      </p:sp>
      <p:sp>
        <p:nvSpPr>
          <p:cNvPr id="35" name="S10_PHASE_2_ITEM_2_BODY"/>
          <p:cNvSpPr txBox="1"/>
          <p:nvPr/>
        </p:nvSpPr>
        <p:spPr>
          <a:xfrm>
            <a:off x="4608000" y="3614399"/>
            <a:ext cx="3268800" cy="306000"/>
          </a:xfrm>
          <a:prstGeom prst="rect">
            <a:avLst/>
          </a:prstGeom>
          <a:noFill/>
        </p:spPr>
        <p:txBody>
          <a:bodyPr wrap="square" lIns="45720" rIns="45720" anchor="t">
            <a:spAutoFit/>
          </a:bodyPr>
          <a:lstStyle/>
          <a:p>
            <a:pPr algn="l"/>
            <a:r>
              <a:rPr sz="1050" b="0" i="0">
                <a:solidFill>
                  <a:srgbClr val="474E67"/>
                </a:solidFill>
                <a:latin typeface="Segoe UI Light"/>
              </a:rPr>
              <a:t>Itérations 2 semaines, REX mensuel, ajustements documentés.</a:t>
            </a:r>
          </a:p>
        </p:txBody>
      </p:sp>
      <p:cxnSp>
        <p:nvCxnSpPr>
          <p:cNvPr id="36" name="Connector 35"/>
          <p:cNvCxnSpPr/>
          <p:nvPr/>
        </p:nvCxnSpPr>
        <p:spPr>
          <a:xfrm>
            <a:off x="4348800" y="3956399"/>
            <a:ext cx="3492000"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37" name="S10_PHASE_2_ITEM_3_BULLET"/>
          <p:cNvSpPr/>
          <p:nvPr/>
        </p:nvSpPr>
        <p:spPr>
          <a:xfrm>
            <a:off x="4384800" y="4471200"/>
            <a:ext cx="108000" cy="108000"/>
          </a:xfrm>
          <a:prstGeom prst="ellipse">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10_PHASE_2_ITEM_3_TITLE"/>
          <p:cNvSpPr txBox="1"/>
          <p:nvPr/>
        </p:nvSpPr>
        <p:spPr>
          <a:xfrm>
            <a:off x="4608000" y="4399200"/>
            <a:ext cx="3268800" cy="367200"/>
          </a:xfrm>
          <a:prstGeom prst="rect">
            <a:avLst/>
          </a:prstGeom>
          <a:noFill/>
        </p:spPr>
        <p:txBody>
          <a:bodyPr wrap="square" lIns="45720" rIns="45720" anchor="ctr">
            <a:spAutoFit/>
          </a:bodyPr>
          <a:lstStyle/>
          <a:p>
            <a:pPr algn="l"/>
            <a:r>
              <a:rPr sz="1100" b="1" i="0">
                <a:solidFill>
                  <a:srgbClr val="070E1D"/>
                </a:solidFill>
                <a:latin typeface="Segoe UI"/>
              </a:rPr>
              <a:t>Premiers gains</a:t>
            </a:r>
          </a:p>
        </p:txBody>
      </p:sp>
      <p:sp>
        <p:nvSpPr>
          <p:cNvPr id="39" name="S10_PHASE_2_ITEM_3_BODY"/>
          <p:cNvSpPr txBox="1"/>
          <p:nvPr/>
        </p:nvSpPr>
        <p:spPr>
          <a:xfrm>
            <a:off x="4608000" y="47448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+22% engagement, -38% cycle, communication interne intensive.</a:t>
            </a:r>
          </a:p>
        </p:txBody>
      </p:sp>
      <p:sp>
        <p:nvSpPr>
          <p:cNvPr id="40" name="S10_PHASE_3_CARD"/>
          <p:cNvSpPr/>
          <p:nvPr/>
        </p:nvSpPr>
        <p:spPr>
          <a:xfrm>
            <a:off x="8229600" y="1475999"/>
            <a:ext cx="3780000" cy="4136400"/>
          </a:xfrm>
          <a:prstGeom prst="rect">
            <a:avLst/>
          </a:prstGeom>
          <a:solidFill>
            <a:srgbClr val="FFFFFF"/>
          </a:solidFill>
          <a:ln w="3175">
            <a:solidFill>
              <a:srgbClr val="E0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10_PHASE_3_BAND"/>
          <p:cNvSpPr/>
          <p:nvPr/>
        </p:nvSpPr>
        <p:spPr>
          <a:xfrm>
            <a:off x="8229600" y="1475999"/>
            <a:ext cx="3780000" cy="756000"/>
          </a:xfrm>
          <a:prstGeom prst="rect">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10_PHASE_3_NUMBER"/>
          <p:cNvSpPr txBox="1"/>
          <p:nvPr/>
        </p:nvSpPr>
        <p:spPr>
          <a:xfrm>
            <a:off x="8326800" y="1548000"/>
            <a:ext cx="511200" cy="511200"/>
          </a:xfrm>
          <a:prstGeom prst="rect">
            <a:avLst/>
          </a:prstGeom>
          <a:noFill/>
        </p:spPr>
        <p:txBody>
          <a:bodyPr wrap="square" lIns="45720" rIns="45720" anchor="ctr">
            <a:spAutoFit/>
          </a:bodyPr>
          <a:lstStyle/>
          <a:p>
            <a:pPr algn="ctr"/>
            <a:r>
              <a:rPr sz="2400" b="1" i="0">
                <a:solidFill>
                  <a:srgbClr val="FFFFFF"/>
                </a:solidFill>
                <a:latin typeface="Calibri"/>
              </a:rPr>
              <a:t>3</a:t>
            </a:r>
          </a:p>
        </p:txBody>
      </p:sp>
      <p:sp>
        <p:nvSpPr>
          <p:cNvPr id="43" name="S10_PHASE_3_TITLE"/>
          <p:cNvSpPr txBox="1"/>
          <p:nvPr/>
        </p:nvSpPr>
        <p:spPr>
          <a:xfrm>
            <a:off x="8899200" y="1558800"/>
            <a:ext cx="3024000" cy="342000"/>
          </a:xfrm>
          <a:prstGeom prst="rect">
            <a:avLst/>
          </a:prstGeom>
          <a:noFill/>
        </p:spPr>
        <p:txBody>
          <a:bodyPr wrap="square" lIns="45720" rIns="45720" anchor="ctr">
            <a:spAutoFit/>
          </a:bodyPr>
          <a:lstStyle/>
          <a:p>
            <a:pPr algn="l"/>
            <a:r>
              <a:rPr sz="1600" b="1" i="0">
                <a:solidFill>
                  <a:srgbClr val="FFFFFF"/>
                </a:solidFill>
                <a:latin typeface="Segoe UI"/>
              </a:rPr>
              <a:t>Déploiement</a:t>
            </a:r>
          </a:p>
        </p:txBody>
      </p:sp>
      <p:sp>
        <p:nvSpPr>
          <p:cNvPr id="44" name="S10_PHASE_3_SUBTITLE"/>
          <p:cNvSpPr txBox="1"/>
          <p:nvPr/>
        </p:nvSpPr>
        <p:spPr>
          <a:xfrm>
            <a:off x="8899200" y="1890000"/>
            <a:ext cx="3024000" cy="291600"/>
          </a:xfrm>
          <a:prstGeom prst="rect">
            <a:avLst/>
          </a:prstGeom>
          <a:noFill/>
        </p:spPr>
        <p:txBody>
          <a:bodyPr wrap="square" lIns="45720" rIns="45720" anchor="t">
            <a:spAutoFit/>
          </a:bodyPr>
          <a:lstStyle/>
          <a:p>
            <a:pPr algn="l"/>
            <a:r>
              <a:rPr sz="1200" b="0" i="1">
                <a:solidFill>
                  <a:srgbClr val="FFFFFF"/>
                </a:solidFill>
                <a:latin typeface="Segoe UI"/>
              </a:rPr>
              <a:t>T2-T4 2027</a:t>
            </a:r>
          </a:p>
        </p:txBody>
      </p:sp>
      <p:sp>
        <p:nvSpPr>
          <p:cNvPr id="45" name="S10_PHASE_3_ITEM_1_BULLET"/>
          <p:cNvSpPr/>
          <p:nvPr/>
        </p:nvSpPr>
        <p:spPr>
          <a:xfrm>
            <a:off x="8409600" y="2340000"/>
            <a:ext cx="108000" cy="1080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10_PHASE_3_ITEM_1_TITLE"/>
          <p:cNvSpPr txBox="1"/>
          <p:nvPr/>
        </p:nvSpPr>
        <p:spPr>
          <a:xfrm>
            <a:off x="8632800" y="2268000"/>
            <a:ext cx="3268800" cy="367200"/>
          </a:xfrm>
          <a:prstGeom prst="rect">
            <a:avLst/>
          </a:prstGeom>
          <a:noFill/>
        </p:spPr>
        <p:txBody>
          <a:bodyPr wrap="square" lIns="45720" rIns="45720" anchor="ctr">
            <a:spAutoFit/>
          </a:bodyPr>
          <a:lstStyle/>
          <a:p>
            <a:pPr algn="l"/>
            <a:r>
              <a:rPr sz="1100" b="1" i="0">
                <a:solidFill>
                  <a:srgbClr val="070E1D"/>
                </a:solidFill>
                <a:latin typeface="Segoe UI"/>
              </a:rPr>
              <a:t>Vague 1 (6 sites)</a:t>
            </a:r>
          </a:p>
        </p:txBody>
      </p:sp>
      <p:sp>
        <p:nvSpPr>
          <p:cNvPr id="47" name="S10_PHASE_3_ITEM_1_BODY"/>
          <p:cNvSpPr txBox="1"/>
          <p:nvPr/>
        </p:nvSpPr>
        <p:spPr>
          <a:xfrm>
            <a:off x="8632800" y="26136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Avec ambassadeurs internes, charge lissée sur 9 mois.</a:t>
            </a:r>
          </a:p>
        </p:txBody>
      </p:sp>
      <p:cxnSp>
        <p:nvCxnSpPr>
          <p:cNvPr id="48" name="Connector 47"/>
          <p:cNvCxnSpPr/>
          <p:nvPr/>
        </p:nvCxnSpPr>
        <p:spPr>
          <a:xfrm>
            <a:off x="8373599" y="2955599"/>
            <a:ext cx="3492001"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49" name="S10_PHASE_3_ITEM_2_BULLET"/>
          <p:cNvSpPr/>
          <p:nvPr/>
        </p:nvSpPr>
        <p:spPr>
          <a:xfrm>
            <a:off x="8409600" y="3340800"/>
            <a:ext cx="108000" cy="1080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10_PHASE_3_ITEM_2_TITLE"/>
          <p:cNvSpPr txBox="1"/>
          <p:nvPr/>
        </p:nvSpPr>
        <p:spPr>
          <a:xfrm>
            <a:off x="8632800" y="3268800"/>
            <a:ext cx="3268800" cy="367200"/>
          </a:xfrm>
          <a:prstGeom prst="rect">
            <a:avLst/>
          </a:prstGeom>
          <a:noFill/>
        </p:spPr>
        <p:txBody>
          <a:bodyPr wrap="square" lIns="45720" rIns="45720" anchor="ctr">
            <a:spAutoFit/>
          </a:bodyPr>
          <a:lstStyle/>
          <a:p>
            <a:pPr algn="l"/>
            <a:r>
              <a:rPr sz="1100" b="1" i="0">
                <a:solidFill>
                  <a:srgbClr val="070E1D"/>
                </a:solidFill>
                <a:latin typeface="Segoe UI"/>
              </a:rPr>
              <a:t>Vague 2 (12 sites)</a:t>
            </a:r>
          </a:p>
        </p:txBody>
      </p:sp>
      <p:sp>
        <p:nvSpPr>
          <p:cNvPr id="51" name="S10_PHASE_3_ITEM_2_BODY"/>
          <p:cNvSpPr txBox="1"/>
          <p:nvPr/>
        </p:nvSpPr>
        <p:spPr>
          <a:xfrm>
            <a:off x="8632800" y="3614399"/>
            <a:ext cx="3268800" cy="306000"/>
          </a:xfrm>
          <a:prstGeom prst="rect">
            <a:avLst/>
          </a:prstGeom>
          <a:noFill/>
        </p:spPr>
        <p:txBody>
          <a:bodyPr wrap="square" lIns="45720" rIns="45720" anchor="t">
            <a:spAutoFit/>
          </a:bodyPr>
          <a:lstStyle/>
          <a:p>
            <a:pPr algn="l"/>
            <a:r>
              <a:rPr sz="1050" b="0" i="0">
                <a:solidFill>
                  <a:srgbClr val="474E67"/>
                </a:solidFill>
                <a:latin typeface="Segoe UI Light"/>
              </a:rPr>
              <a:t>Y compris BU adjacentes intéressées.</a:t>
            </a:r>
          </a:p>
        </p:txBody>
      </p:sp>
      <p:cxnSp>
        <p:nvCxnSpPr>
          <p:cNvPr id="52" name="Connector 51"/>
          <p:cNvCxnSpPr/>
          <p:nvPr/>
        </p:nvCxnSpPr>
        <p:spPr>
          <a:xfrm>
            <a:off x="8373599" y="3956399"/>
            <a:ext cx="3492001" cy="0"/>
          </a:xfrm>
          <a:prstGeom prst="line">
            <a:avLst/>
          </a:prstGeom>
          <a:ln w="6350">
            <a:solidFill>
              <a:srgbClr val="E8E9EE"/>
            </a:solidFill>
          </a:ln>
        </p:spPr>
        <p:style>
          <a:lnRef idx="2">
            <a:schemeClr val="accent1"/>
          </a:lnRef>
          <a:fillRef idx="0">
            <a:schemeClr val="accent1"/>
          </a:fillRef>
          <a:effectRef idx="1">
            <a:schemeClr val="accent1"/>
          </a:effectRef>
          <a:fontRef idx="minor">
            <a:schemeClr val="tx1"/>
          </a:fontRef>
        </p:style>
      </p:cxnSp>
      <p:sp>
        <p:nvSpPr>
          <p:cNvPr id="53" name="S10_PHASE_3_ITEM_3_BULLET"/>
          <p:cNvSpPr/>
          <p:nvPr/>
        </p:nvSpPr>
        <p:spPr>
          <a:xfrm>
            <a:off x="8409600" y="4471200"/>
            <a:ext cx="108000" cy="108000"/>
          </a:xfrm>
          <a:prstGeom prst="ellipse">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10_PHASE_3_ITEM_3_TITLE"/>
          <p:cNvSpPr txBox="1"/>
          <p:nvPr/>
        </p:nvSpPr>
        <p:spPr>
          <a:xfrm>
            <a:off x="8632800" y="4399200"/>
            <a:ext cx="3268800" cy="367200"/>
          </a:xfrm>
          <a:prstGeom prst="rect">
            <a:avLst/>
          </a:prstGeom>
          <a:noFill/>
        </p:spPr>
        <p:txBody>
          <a:bodyPr wrap="square" lIns="45720" rIns="45720" anchor="ctr">
            <a:spAutoFit/>
          </a:bodyPr>
          <a:lstStyle/>
          <a:p>
            <a:pPr algn="l"/>
            <a:r>
              <a:rPr sz="1100" b="1" i="0">
                <a:solidFill>
                  <a:srgbClr val="070E1D"/>
                </a:solidFill>
                <a:latin typeface="Segoe UI"/>
              </a:rPr>
              <a:t>Pérennisation</a:t>
            </a:r>
          </a:p>
        </p:txBody>
      </p:sp>
      <p:sp>
        <p:nvSpPr>
          <p:cNvPr id="55" name="S10_PHASE_3_ITEM_3_BODY"/>
          <p:cNvSpPr txBox="1"/>
          <p:nvPr/>
        </p:nvSpPr>
        <p:spPr>
          <a:xfrm>
            <a:off x="8632800" y="4744800"/>
            <a:ext cx="3268800" cy="306000"/>
          </a:xfrm>
          <a:prstGeom prst="rect">
            <a:avLst/>
          </a:prstGeom>
          <a:noFill/>
        </p:spPr>
        <p:txBody>
          <a:bodyPr wrap="square" lIns="45720" rIns="45720" anchor="t">
            <a:spAutoFit/>
          </a:bodyPr>
          <a:lstStyle/>
          <a:p>
            <a:pPr algn="l"/>
            <a:r>
              <a:rPr sz="1050" b="0" i="0">
                <a:solidFill>
                  <a:srgbClr val="474E67"/>
                </a:solidFill>
                <a:latin typeface="Segoe UI Light"/>
              </a:rPr>
              <a:t>BAU + intégration RH (objectifs Yellow Belt managers).</a:t>
            </a:r>
          </a:p>
        </p:txBody>
      </p:sp>
      <p:sp>
        <p:nvSpPr>
          <p:cNvPr id="56" name="TakeawayBand"/>
          <p:cNvSpPr/>
          <p:nvPr/>
        </p:nvSpPr>
        <p:spPr>
          <a:xfrm>
            <a:off x="392400" y="6073200"/>
            <a:ext cx="11412000" cy="396000"/>
          </a:xfrm>
          <a:prstGeom prst="rect">
            <a:avLst/>
          </a:prstGeom>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Une feuille de route en 3 temps, 9 livrables clairs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_TITLE"/>
          <p:cNvSpPr txBox="1"/>
          <p:nvPr/>
        </p:nvSpPr>
        <p:spPr>
          <a:xfrm>
            <a:off x="392400" y="255600"/>
            <a:ext cx="11412000" cy="568800"/>
          </a:xfrm>
          <a:prstGeom prst="rect">
            <a:avLst/>
          </a:prstGeom>
          <a:noFill/>
        </p:spPr>
        <p:txBody>
          <a:bodyPr wrap="square" lIns="45720" rIns="45720" anchor="ctr">
            <a:spAutoFit/>
          </a:bodyPr>
          <a:lstStyle/>
          <a:p>
            <a:pPr algn="l"/>
            <a:r>
              <a:rPr sz="2932" b="0" i="0">
                <a:solidFill>
                  <a:srgbClr val="484C6A"/>
                </a:solidFill>
                <a:latin typeface="Segoe UI Black"/>
              </a:rPr>
              <a:t>Synthèse et appel à l'action</a:t>
            </a:r>
          </a:p>
        </p:txBody>
      </p:sp>
      <p:sp>
        <p:nvSpPr>
          <p:cNvPr id="3" name="SignatureRect"/>
          <p:cNvSpPr/>
          <p:nvPr/>
        </p:nvSpPr>
        <p:spPr>
          <a:xfrm>
            <a:off x="392400" y="885600"/>
            <a:ext cx="673200" cy="97200"/>
          </a:xfrm>
          <a:prstGeom prst="rect">
            <a:avLst/>
          </a:prstGeom>
          <a:solidFill>
            <a:srgbClr val="4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ignatureLine"/>
          <p:cNvSpPr/>
          <p:nvPr/>
        </p:nvSpPr>
        <p:spPr>
          <a:xfrm>
            <a:off x="392400" y="975600"/>
            <a:ext cx="1328400" cy="9000"/>
          </a:xfrm>
          <a:prstGeom prst="rect">
            <a:avLst/>
          </a:prstGeom>
          <a:solidFill>
            <a:srgbClr val="112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Confidential"/>
          <p:cNvSpPr txBox="1"/>
          <p:nvPr/>
        </p:nvSpPr>
        <p:spPr>
          <a:xfrm>
            <a:off x="381600" y="6663600"/>
            <a:ext cx="9475200" cy="144000"/>
          </a:xfrm>
          <a:prstGeom prst="rect">
            <a:avLst/>
          </a:prstGeom>
          <a:noFill/>
        </p:spPr>
        <p:txBody>
          <a:bodyPr wrap="square" lIns="45720" rIns="45720" anchor="t">
            <a:spAutoFit/>
          </a:bodyPr>
          <a:lstStyle/>
          <a:p>
            <a:pPr algn="l"/>
            <a:r>
              <a:rPr sz="650" b="0" i="0">
                <a:solidFill>
                  <a:srgbClr val="A8A8B5"/>
                </a:solidFill>
                <a:latin typeface="Segoe UI"/>
              </a:rPr>
              <a:t>This document and the information therein are the property of Safran. They must not be copied or communicated to a third party without the prior written authorization of Safran</a:t>
            </a:r>
          </a:p>
        </p:txBody>
      </p:sp>
      <p:sp>
        <p:nvSpPr>
          <p:cNvPr id="6" name="PageNumber"/>
          <p:cNvSpPr txBox="1"/>
          <p:nvPr/>
        </p:nvSpPr>
        <p:spPr>
          <a:xfrm>
            <a:off x="374400" y="6490800"/>
            <a:ext cx="540000" cy="165600"/>
          </a:xfrm>
          <a:prstGeom prst="rect">
            <a:avLst/>
          </a:prstGeom>
          <a:noFill/>
        </p:spPr>
        <p:txBody>
          <a:bodyPr wrap="square" lIns="45720" rIns="45720" anchor="ctr">
            <a:spAutoFit/>
          </a:bodyPr>
          <a:lstStyle/>
          <a:p>
            <a:pPr algn="l"/>
            <a:r>
              <a:rPr sz="900" b="1" i="0">
                <a:solidFill>
                  <a:srgbClr val="7D7B8D"/>
                </a:solidFill>
                <a:latin typeface="Segoe UI"/>
              </a:rPr>
              <a:t>11/11</a:t>
            </a:r>
          </a:p>
        </p:txBody>
      </p:sp>
      <p:sp>
        <p:nvSpPr>
          <p:cNvPr id="7" name="S11_BLOCK_1_ACCENT_BAR"/>
          <p:cNvSpPr/>
          <p:nvPr/>
        </p:nvSpPr>
        <p:spPr>
          <a:xfrm>
            <a:off x="392400" y="1098000"/>
            <a:ext cx="36000" cy="1512000"/>
          </a:xfrm>
          <a:prstGeom prst="rect">
            <a:avLst/>
          </a:prstGeom>
          <a:solidFill>
            <a:srgbClr val="6A5D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11_BLOCK_1_NUMBER"/>
          <p:cNvSpPr txBox="1"/>
          <p:nvPr/>
        </p:nvSpPr>
        <p:spPr>
          <a:xfrm>
            <a:off x="648000" y="900000"/>
            <a:ext cx="1440000" cy="792000"/>
          </a:xfrm>
          <a:prstGeom prst="rect">
            <a:avLst/>
          </a:prstGeom>
          <a:noFill/>
        </p:spPr>
        <p:txBody>
          <a:bodyPr wrap="square" lIns="45720" rIns="45720" anchor="t">
            <a:spAutoFit/>
          </a:bodyPr>
          <a:lstStyle/>
          <a:p>
            <a:pPr algn="l"/>
            <a:r>
              <a:rPr sz="7200" b="1" i="0">
                <a:latin typeface="Segoe UI Black"/>
                <a:solidFill>
                  <a:srgbClr val="BBB4C4">
                    <a:alpha val="40000"/>
                  </a:srgbClr>
                </a:solidFill>
              </a:rPr>
              <a:t>01</a:t>
            </a:r>
          </a:p>
        </p:txBody>
      </p:sp>
      <p:sp>
        <p:nvSpPr>
          <p:cNvPr id="9" name="S11_BLOCK_1_TITLE"/>
          <p:cNvSpPr txBox="1"/>
          <p:nvPr/>
        </p:nvSpPr>
        <p:spPr>
          <a:xfrm>
            <a:off x="720000" y="1188000"/>
            <a:ext cx="10620000" cy="396000"/>
          </a:xfrm>
          <a:prstGeom prst="rect">
            <a:avLst/>
          </a:prstGeom>
          <a:noFill/>
        </p:spPr>
        <p:txBody>
          <a:bodyPr wrap="square" lIns="45720" rIns="45720" anchor="t">
            <a:spAutoFit/>
          </a:bodyPr>
          <a:lstStyle/>
          <a:p>
            <a:pPr algn="l"/>
            <a:r>
              <a:rPr sz="1800" b="1" i="0">
                <a:solidFill>
                  <a:srgbClr val="6A5D79"/>
                </a:solidFill>
                <a:latin typeface="Segoe UI"/>
              </a:rPr>
              <a:t>Ce que nous avons appris</a:t>
            </a:r>
          </a:p>
        </p:txBody>
      </p:sp>
      <p:sp>
        <p:nvSpPr>
          <p:cNvPr id="10" name="S11_BLOCK_1_BODY"/>
          <p:cNvSpPr txBox="1"/>
          <p:nvPr/>
        </p:nvSpPr>
        <p:spPr>
          <a:xfrm>
            <a:off x="720000" y="1620000"/>
            <a:ext cx="10620000" cy="864000"/>
          </a:xfrm>
          <a:prstGeom prst="rect">
            <a:avLst/>
          </a:prstGeom>
          <a:noFill/>
        </p:spPr>
        <p:txBody>
          <a:bodyPr wrap="square" lIns="45720" rIns="45720" anchor="t">
            <a:spAutoFit/>
          </a:bodyPr>
          <a:lstStyle/>
          <a:p>
            <a:pPr algn="l"/>
            <a:r>
              <a:rPr sz="1400" b="0" i="0">
                <a:solidFill>
                  <a:srgbClr val="474E67"/>
                </a:solidFill>
                <a:latin typeface="Segoe UI Light"/>
              </a:rPr>
              <a:t>Le pilote sur 2 sites a confirmé la méthodologie : -38% cycle, +22% engagement, ROI atteint en 7 mois. Les 6 facteurs critiques de succès sont validés. La résistance managériale est l'unique frein matériel observé.</a:t>
            </a:r>
          </a:p>
        </p:txBody>
      </p:sp>
      <p:sp>
        <p:nvSpPr>
          <p:cNvPr id="11" name="S11_BLOCK_2_ACCENT_BAR"/>
          <p:cNvSpPr/>
          <p:nvPr/>
        </p:nvSpPr>
        <p:spPr>
          <a:xfrm>
            <a:off x="392400" y="2718000"/>
            <a:ext cx="36000" cy="1512000"/>
          </a:xfrm>
          <a:prstGeom prst="rect">
            <a:avLst/>
          </a:prstGeom>
          <a:solidFill>
            <a:srgbClr val="A258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11_BLOCK_2_NUMBER"/>
          <p:cNvSpPr txBox="1"/>
          <p:nvPr/>
        </p:nvSpPr>
        <p:spPr>
          <a:xfrm>
            <a:off x="648000" y="2520000"/>
            <a:ext cx="1440000" cy="792000"/>
          </a:xfrm>
          <a:prstGeom prst="rect">
            <a:avLst/>
          </a:prstGeom>
          <a:noFill/>
        </p:spPr>
        <p:txBody>
          <a:bodyPr wrap="square" lIns="45720" rIns="45720" anchor="t">
            <a:spAutoFit/>
          </a:bodyPr>
          <a:lstStyle/>
          <a:p>
            <a:pPr algn="l"/>
            <a:r>
              <a:rPr sz="7200" b="1" i="0">
                <a:latin typeface="Segoe UI Black"/>
                <a:solidFill>
                  <a:srgbClr val="D5B3BE">
                    <a:alpha val="40000"/>
                  </a:srgbClr>
                </a:solidFill>
              </a:rPr>
              <a:t>02</a:t>
            </a:r>
          </a:p>
        </p:txBody>
      </p:sp>
      <p:sp>
        <p:nvSpPr>
          <p:cNvPr id="13" name="S11_BLOCK_2_TITLE"/>
          <p:cNvSpPr txBox="1"/>
          <p:nvPr/>
        </p:nvSpPr>
        <p:spPr>
          <a:xfrm>
            <a:off x="720000" y="2818800"/>
            <a:ext cx="10620000" cy="396000"/>
          </a:xfrm>
          <a:prstGeom prst="rect">
            <a:avLst/>
          </a:prstGeom>
          <a:noFill/>
        </p:spPr>
        <p:txBody>
          <a:bodyPr wrap="square" lIns="45720" rIns="45720" anchor="t">
            <a:spAutoFit/>
          </a:bodyPr>
          <a:lstStyle/>
          <a:p>
            <a:pPr algn="l"/>
            <a:r>
              <a:rPr sz="1800" b="1" i="0">
                <a:solidFill>
                  <a:srgbClr val="A25871"/>
                </a:solidFill>
                <a:latin typeface="Segoe UI"/>
              </a:rPr>
              <a:t>Ce que nous proposons</a:t>
            </a:r>
          </a:p>
        </p:txBody>
      </p:sp>
      <p:sp>
        <p:nvSpPr>
          <p:cNvPr id="14" name="S11_BLOCK_2_BODY"/>
          <p:cNvSpPr txBox="1"/>
          <p:nvPr/>
        </p:nvSpPr>
        <p:spPr>
          <a:xfrm>
            <a:off x="720000" y="3250800"/>
            <a:ext cx="10620000" cy="864000"/>
          </a:xfrm>
          <a:prstGeom prst="rect">
            <a:avLst/>
          </a:prstGeom>
          <a:noFill/>
        </p:spPr>
        <p:txBody>
          <a:bodyPr wrap="square" lIns="45720" rIns="45720" anchor="t">
            <a:spAutoFit/>
          </a:bodyPr>
          <a:lstStyle/>
          <a:p>
            <a:pPr algn="l"/>
            <a:r>
              <a:rPr sz="1400" b="0" i="0">
                <a:solidFill>
                  <a:srgbClr val="474E67"/>
                </a:solidFill>
                <a:latin typeface="Segoe UI Light"/>
              </a:rPr>
              <a:t>Scénario B retenu : refonte ciblée Lean sur 18 mois, 1,8 M€, 18 sites au total. Plan d'action en 3 phases avec gouvernance dédiée (COPIL hebdomadaire, sponsor exécutif N-1).</a:t>
            </a:r>
          </a:p>
        </p:txBody>
      </p:sp>
      <p:sp>
        <p:nvSpPr>
          <p:cNvPr id="15" name="S11_BLOCK_3_ACCENT_BAR"/>
          <p:cNvSpPr/>
          <p:nvPr/>
        </p:nvSpPr>
        <p:spPr>
          <a:xfrm>
            <a:off x="392400" y="4338000"/>
            <a:ext cx="36000" cy="1512000"/>
          </a:xfrm>
          <a:prstGeom prst="rect">
            <a:avLst/>
          </a:prstGeom>
          <a:solidFill>
            <a:srgbClr val="FDA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11_BLOCK_3_NUMBER"/>
          <p:cNvSpPr txBox="1"/>
          <p:nvPr/>
        </p:nvSpPr>
        <p:spPr>
          <a:xfrm>
            <a:off x="648000" y="4140000"/>
            <a:ext cx="1440000" cy="792000"/>
          </a:xfrm>
          <a:prstGeom prst="rect">
            <a:avLst/>
          </a:prstGeom>
          <a:noFill/>
        </p:spPr>
        <p:txBody>
          <a:bodyPr wrap="square" lIns="45720" rIns="45720" anchor="t">
            <a:spAutoFit/>
          </a:bodyPr>
          <a:lstStyle/>
          <a:p>
            <a:pPr algn="l"/>
            <a:r>
              <a:rPr sz="7200" b="1" i="0">
                <a:latin typeface="Segoe UI Black"/>
                <a:solidFill>
                  <a:srgbClr val="FEE3CA">
                    <a:alpha val="40000"/>
                  </a:srgbClr>
                </a:solidFill>
              </a:rPr>
              <a:t>03</a:t>
            </a:r>
          </a:p>
        </p:txBody>
      </p:sp>
      <p:sp>
        <p:nvSpPr>
          <p:cNvPr id="17" name="S11_BLOCK_3_TITLE"/>
          <p:cNvSpPr txBox="1"/>
          <p:nvPr/>
        </p:nvSpPr>
        <p:spPr>
          <a:xfrm>
            <a:off x="720000" y="4428000"/>
            <a:ext cx="10620000" cy="396000"/>
          </a:xfrm>
          <a:prstGeom prst="rect">
            <a:avLst/>
          </a:prstGeom>
          <a:noFill/>
        </p:spPr>
        <p:txBody>
          <a:bodyPr wrap="square" lIns="45720" rIns="45720" anchor="t">
            <a:spAutoFit/>
          </a:bodyPr>
          <a:lstStyle/>
          <a:p>
            <a:pPr algn="l"/>
            <a:r>
              <a:rPr sz="1800" b="1" i="0">
                <a:solidFill>
                  <a:srgbClr val="FDA85B"/>
                </a:solidFill>
                <a:latin typeface="Segoe UI"/>
              </a:rPr>
              <a:t>Ce que nous attendons de vous</a:t>
            </a:r>
          </a:p>
        </p:txBody>
      </p:sp>
      <p:sp>
        <p:nvSpPr>
          <p:cNvPr id="18" name="S11_BLOCK_3_BODY"/>
          <p:cNvSpPr txBox="1"/>
          <p:nvPr/>
        </p:nvSpPr>
        <p:spPr>
          <a:xfrm>
            <a:off x="720000" y="4860000"/>
            <a:ext cx="10620000" cy="864000"/>
          </a:xfrm>
          <a:prstGeom prst="rect">
            <a:avLst/>
          </a:prstGeom>
          <a:noFill/>
        </p:spPr>
        <p:txBody>
          <a:bodyPr wrap="square" lIns="45720" rIns="45720" anchor="t">
            <a:spAutoFit/>
          </a:bodyPr>
          <a:lstStyle/>
          <a:p>
            <a:pPr algn="l"/>
            <a:r>
              <a:rPr sz="1400" b="0" i="0">
                <a:solidFill>
                  <a:srgbClr val="474E67"/>
                </a:solidFill>
                <a:latin typeface="Segoe UI Light"/>
              </a:rPr>
              <a:t>Validation du scénario B, allocation budget T3 2026 (1,1 M€) et T1 2027 (0,7 M€), désignation du sponsor exécutif. Décision attendue avant fin juin 2026 pour respecter la trajectoire.</a:t>
            </a:r>
          </a:p>
        </p:txBody>
      </p:sp>
      <p:sp>
        <p:nvSpPr>
          <p:cNvPr id="19" name="TakeawayBand"/>
          <p:cNvSpPr/>
          <p:nvPr/>
        </p:nvSpPr>
        <p:spPr>
          <a:xfrm>
            <a:off x="392400" y="6073200"/>
            <a:ext cx="11412000" cy="396000"/>
          </a:xfrm>
          <a:prstGeom prst="rect">
            <a:avLst/>
          </a:prstGeom>
          <a:gradFill flip="none" rotWithShape="1">
            <a:gsLst>
              <a:gs pos="0">
                <a:srgbClr val="A25871">
                  <a:satMod val="115000"/>
                  <a:shade val="30000"/>
                </a:srgbClr>
              </a:gs>
              <a:gs pos="50000">
                <a:srgbClr val="A25871">
                  <a:satMod val="115000"/>
                  <a:shade val="67500"/>
                </a:srgbClr>
              </a:gs>
              <a:gs pos="100000">
                <a:srgbClr val="A25871">
                  <a:satMod val="115000"/>
                  <a:shade val="100000"/>
                </a:srgbClr>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BandText"/>
          <p:cNvSpPr txBox="1"/>
          <p:nvPr/>
        </p:nvSpPr>
        <p:spPr>
          <a:xfrm>
            <a:off x="392400" y="6073200"/>
            <a:ext cx="11412000" cy="396000"/>
          </a:xfrm>
          <a:prstGeom prst="rect">
            <a:avLst/>
          </a:prstGeom>
          <a:noFill/>
        </p:spPr>
        <p:txBody>
          <a:bodyPr wrap="square" lIns="45720" rIns="45720" anchor="ctr">
            <a:spAutoFit/>
          </a:bodyPr>
          <a:lstStyle/>
          <a:p>
            <a:pPr algn="ctr"/>
            <a:r>
              <a:rPr sz="1600" b="1" i="0">
                <a:solidFill>
                  <a:srgbClr val="FFFFFF"/>
                </a:solidFill>
                <a:latin typeface="Segoe UI"/>
              </a:rPr>
              <a:t>Validez-vous le lancement de la phase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