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exécutif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partagée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dédiée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simples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continue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visibles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10459" y="2462400"/>
            <a:ext cx="25020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500460" y="2462400"/>
            <a:ext cx="25020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290459" y="2462400"/>
            <a:ext cx="2502001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1" name="S05_STEP_1_BULLET"/>
          <p:cNvSpPr/>
          <p:nvPr/>
        </p:nvSpPr>
        <p:spPr>
          <a:xfrm>
            <a:off x="566459" y="2390400"/>
            <a:ext cx="144000" cy="144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5_STEP_1_NUMBER"/>
          <p:cNvSpPr/>
          <p:nvPr/>
        </p:nvSpPr>
        <p:spPr>
          <a:xfrm>
            <a:off x="566459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3" name="S05_STEP_1_PERIOD"/>
          <p:cNvSpPr txBox="1"/>
          <p:nvPr/>
        </p:nvSpPr>
        <p:spPr>
          <a:xfrm>
            <a:off x="56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4" name="S05_STEP_1_TITLE"/>
          <p:cNvSpPr txBox="1"/>
          <p:nvPr/>
        </p:nvSpPr>
        <p:spPr>
          <a:xfrm>
            <a:off x="56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5" name="S05_STEP_1_BODY"/>
          <p:cNvSpPr txBox="1"/>
          <p:nvPr/>
        </p:nvSpPr>
        <p:spPr>
          <a:xfrm>
            <a:off x="56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6" name="S05_STEP_2_BULLET"/>
          <p:cNvSpPr/>
          <p:nvPr/>
        </p:nvSpPr>
        <p:spPr>
          <a:xfrm>
            <a:off x="3356459" y="2390400"/>
            <a:ext cx="144000" cy="144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5_STEP_2_NUMBER"/>
          <p:cNvSpPr/>
          <p:nvPr/>
        </p:nvSpPr>
        <p:spPr>
          <a:xfrm>
            <a:off x="3356459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8" name="S05_STEP_2_PERIOD"/>
          <p:cNvSpPr txBox="1"/>
          <p:nvPr/>
        </p:nvSpPr>
        <p:spPr>
          <a:xfrm>
            <a:off x="3356459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9" name="S05_STEP_2_TITLE"/>
          <p:cNvSpPr txBox="1"/>
          <p:nvPr/>
        </p:nvSpPr>
        <p:spPr>
          <a:xfrm>
            <a:off x="3356459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20" name="S05_STEP_2_BODY"/>
          <p:cNvSpPr txBox="1"/>
          <p:nvPr/>
        </p:nvSpPr>
        <p:spPr>
          <a:xfrm>
            <a:off x="3356459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1" name="S05_STEP_3_BULLET"/>
          <p:cNvSpPr/>
          <p:nvPr/>
        </p:nvSpPr>
        <p:spPr>
          <a:xfrm>
            <a:off x="6146460" y="2390400"/>
            <a:ext cx="144000" cy="1440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05_STEP_3_NUMBER"/>
          <p:cNvSpPr/>
          <p:nvPr/>
        </p:nvSpPr>
        <p:spPr>
          <a:xfrm>
            <a:off x="614646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3" name="S05_STEP_3_PERIOD"/>
          <p:cNvSpPr txBox="1"/>
          <p:nvPr/>
        </p:nvSpPr>
        <p:spPr>
          <a:xfrm>
            <a:off x="614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4" name="S05_STEP_3_TITLE"/>
          <p:cNvSpPr txBox="1"/>
          <p:nvPr/>
        </p:nvSpPr>
        <p:spPr>
          <a:xfrm>
            <a:off x="614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5" name="S05_STEP_3_BODY"/>
          <p:cNvSpPr txBox="1"/>
          <p:nvPr/>
        </p:nvSpPr>
        <p:spPr>
          <a:xfrm>
            <a:off x="614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6" name="S05_STEP_4_BULLET"/>
          <p:cNvSpPr/>
          <p:nvPr/>
        </p:nvSpPr>
        <p:spPr>
          <a:xfrm>
            <a:off x="8936460" y="2390400"/>
            <a:ext cx="144000" cy="144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5_STEP_4_NUMBER"/>
          <p:cNvSpPr/>
          <p:nvPr/>
        </p:nvSpPr>
        <p:spPr>
          <a:xfrm>
            <a:off x="893646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8" name="S05_STEP_4_PERIOD"/>
          <p:cNvSpPr txBox="1"/>
          <p:nvPr/>
        </p:nvSpPr>
        <p:spPr>
          <a:xfrm>
            <a:off x="893646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9" name="S05_STEP_4_TITLE"/>
          <p:cNvSpPr txBox="1"/>
          <p:nvPr/>
        </p:nvSpPr>
        <p:spPr>
          <a:xfrm>
            <a:off x="893646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30" name="S05_STEP_4_BODY"/>
          <p:cNvSpPr txBox="1"/>
          <p:nvPr/>
        </p:nvSpPr>
        <p:spPr>
          <a:xfrm>
            <a:off x="893646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6_HEADER_1_BG"/>
          <p:cNvSpPr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6_HEADER_C1"/>
          <p:cNvSpPr txBox="1"/>
          <p:nvPr/>
        </p:nvSpPr>
        <p:spPr>
          <a:xfrm>
            <a:off x="375659" y="1897199"/>
            <a:ext cx="362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10" name="S06_HEADER_2_BG"/>
          <p:cNvSpPr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6_HEADER_C2"/>
          <p:cNvSpPr txBox="1"/>
          <p:nvPr/>
        </p:nvSpPr>
        <p:spPr>
          <a:xfrm>
            <a:off x="4000859" y="1897199"/>
            <a:ext cx="2095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2" name="S06_HEADER_3_BG"/>
          <p:cNvSpPr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6_HEADER_C3"/>
          <p:cNvSpPr txBox="1"/>
          <p:nvPr/>
        </p:nvSpPr>
        <p:spPr>
          <a:xfrm>
            <a:off x="6096059" y="1897199"/>
            <a:ext cx="1764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4" name="S06_HEADER_4_BG"/>
          <p:cNvSpPr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6_HEADER_C4"/>
          <p:cNvSpPr txBox="1"/>
          <p:nvPr/>
        </p:nvSpPr>
        <p:spPr>
          <a:xfrm>
            <a:off x="7860060" y="1897199"/>
            <a:ext cx="2329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6" name="S06_HEADER_5_BG"/>
          <p:cNvSpPr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6_HEADER_C5"/>
          <p:cNvSpPr txBox="1"/>
          <p:nvPr/>
        </p:nvSpPr>
        <p:spPr>
          <a:xfrm>
            <a:off x="10189260" y="1897199"/>
            <a:ext cx="1627199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8" name="S06_R1_BG"/>
          <p:cNvSpPr/>
          <p:nvPr/>
        </p:nvSpPr>
        <p:spPr>
          <a:xfrm>
            <a:off x="375659" y="23616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6_R1C1"/>
          <p:cNvSpPr txBox="1"/>
          <p:nvPr/>
        </p:nvSpPr>
        <p:spPr>
          <a:xfrm>
            <a:off x="375659" y="23616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1" name="S06_R1C2"/>
          <p:cNvSpPr txBox="1"/>
          <p:nvPr/>
        </p:nvSpPr>
        <p:spPr>
          <a:xfrm>
            <a:off x="4000859" y="23616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3" name="S06_R1C3"/>
          <p:cNvSpPr txBox="1"/>
          <p:nvPr/>
        </p:nvSpPr>
        <p:spPr>
          <a:xfrm>
            <a:off x="6096059" y="23616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5" name="S06_R1C4"/>
          <p:cNvSpPr txBox="1"/>
          <p:nvPr/>
        </p:nvSpPr>
        <p:spPr>
          <a:xfrm>
            <a:off x="7860060" y="23616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7" name="S06_R1C5"/>
          <p:cNvSpPr txBox="1"/>
          <p:nvPr/>
        </p:nvSpPr>
        <p:spPr>
          <a:xfrm>
            <a:off x="10189260" y="23616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5659" y="28655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29" name="S06_R2_BG"/>
          <p:cNvSpPr/>
          <p:nvPr/>
        </p:nvSpPr>
        <p:spPr>
          <a:xfrm>
            <a:off x="375659" y="2869200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2C1"/>
          <p:cNvSpPr txBox="1"/>
          <p:nvPr/>
        </p:nvSpPr>
        <p:spPr>
          <a:xfrm>
            <a:off x="375659" y="28692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2" name="S06_R2C2"/>
          <p:cNvSpPr txBox="1"/>
          <p:nvPr/>
        </p:nvSpPr>
        <p:spPr>
          <a:xfrm>
            <a:off x="4000859" y="28692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4" name="S06_R2C3"/>
          <p:cNvSpPr txBox="1"/>
          <p:nvPr/>
        </p:nvSpPr>
        <p:spPr>
          <a:xfrm>
            <a:off x="6096059" y="28692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6" name="S06_R2C4"/>
          <p:cNvSpPr txBox="1"/>
          <p:nvPr/>
        </p:nvSpPr>
        <p:spPr>
          <a:xfrm>
            <a:off x="7860060" y="28692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38" name="S06_R2C5"/>
          <p:cNvSpPr txBox="1"/>
          <p:nvPr/>
        </p:nvSpPr>
        <p:spPr>
          <a:xfrm>
            <a:off x="10189260" y="28692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5659" y="3373199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0" name="S06_R3_BG"/>
          <p:cNvSpPr/>
          <p:nvPr/>
        </p:nvSpPr>
        <p:spPr>
          <a:xfrm>
            <a:off x="375659" y="3376800"/>
            <a:ext cx="11440800" cy="503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6_R3C1"/>
          <p:cNvSpPr txBox="1"/>
          <p:nvPr/>
        </p:nvSpPr>
        <p:spPr>
          <a:xfrm>
            <a:off x="375659" y="3376800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3" name="S06_R3C2"/>
          <p:cNvSpPr txBox="1"/>
          <p:nvPr/>
        </p:nvSpPr>
        <p:spPr>
          <a:xfrm>
            <a:off x="4000859" y="3376800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5" name="S06_R3C3"/>
          <p:cNvSpPr txBox="1"/>
          <p:nvPr/>
        </p:nvSpPr>
        <p:spPr>
          <a:xfrm>
            <a:off x="6096059" y="3376800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7" name="S06_R3C4"/>
          <p:cNvSpPr txBox="1"/>
          <p:nvPr/>
        </p:nvSpPr>
        <p:spPr>
          <a:xfrm>
            <a:off x="7860060" y="3376800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49" name="S06_R3C5"/>
          <p:cNvSpPr txBox="1"/>
          <p:nvPr/>
        </p:nvSpPr>
        <p:spPr>
          <a:xfrm>
            <a:off x="10189260" y="3376800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5659" y="38808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1" name="S06_R4_BG"/>
          <p:cNvSpPr/>
          <p:nvPr/>
        </p:nvSpPr>
        <p:spPr>
          <a:xfrm>
            <a:off x="375659" y="3884399"/>
            <a:ext cx="11440800" cy="503999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06_R4C1"/>
          <p:cNvSpPr txBox="1"/>
          <p:nvPr/>
        </p:nvSpPr>
        <p:spPr>
          <a:xfrm>
            <a:off x="375659" y="3884399"/>
            <a:ext cx="362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4" name="S06_R4C2"/>
          <p:cNvSpPr txBox="1"/>
          <p:nvPr/>
        </p:nvSpPr>
        <p:spPr>
          <a:xfrm>
            <a:off x="4000859" y="3884399"/>
            <a:ext cx="2095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6" name="S06_R4C3"/>
          <p:cNvSpPr txBox="1"/>
          <p:nvPr/>
        </p:nvSpPr>
        <p:spPr>
          <a:xfrm>
            <a:off x="6096059" y="3884399"/>
            <a:ext cx="17640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58" name="S06_R4C4"/>
          <p:cNvSpPr txBox="1"/>
          <p:nvPr/>
        </p:nvSpPr>
        <p:spPr>
          <a:xfrm>
            <a:off x="7860060" y="3884399"/>
            <a:ext cx="2329200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0" name="S06_R4C5"/>
          <p:cNvSpPr txBox="1"/>
          <p:nvPr/>
        </p:nvSpPr>
        <p:spPr>
          <a:xfrm>
            <a:off x="10189260" y="3884399"/>
            <a:ext cx="1627199" cy="503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75659" y="4388400"/>
            <a:ext cx="11440800" cy="0"/>
          </a:xfrm>
          <a:prstGeom prst="line">
            <a:avLst/>
          </a:prstGeom>
          <a:ln w="9525">
            <a:solidFill>
              <a:srgbClr val="D8DBE8"/>
            </a:solidFill>
          </a:ln>
        </p:spPr>
      </p:cxnSp>
      <p:sp>
        <p:nvSpPr>
          <p:cNvPr id="62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7_KPI_1_CARD"/>
          <p:cNvSpPr/>
          <p:nvPr/>
        </p:nvSpPr>
        <p:spPr>
          <a:xfrm>
            <a:off x="498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7_KPI_1_LABEL"/>
          <p:cNvSpPr txBox="1"/>
          <p:nvPr/>
        </p:nvSpPr>
        <p:spPr>
          <a:xfrm>
            <a:off x="537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10" name="S07_KPI_1_SUBLABEL"/>
          <p:cNvSpPr txBox="1"/>
          <p:nvPr/>
        </p:nvSpPr>
        <p:spPr>
          <a:xfrm>
            <a:off x="537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1" name="S07_KPI_2_CARD"/>
          <p:cNvSpPr/>
          <p:nvPr/>
        </p:nvSpPr>
        <p:spPr>
          <a:xfrm>
            <a:off x="23772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7_KPI_2_LABEL"/>
          <p:cNvSpPr txBox="1"/>
          <p:nvPr/>
        </p:nvSpPr>
        <p:spPr>
          <a:xfrm>
            <a:off x="24168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3" name="S07_KPI_2_SUBLABEL"/>
          <p:cNvSpPr txBox="1"/>
          <p:nvPr/>
        </p:nvSpPr>
        <p:spPr>
          <a:xfrm>
            <a:off x="24168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4" name="S07_KPI_3_CARD"/>
          <p:cNvSpPr/>
          <p:nvPr/>
        </p:nvSpPr>
        <p:spPr>
          <a:xfrm>
            <a:off x="42564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7_KPI_3_LABEL"/>
          <p:cNvSpPr txBox="1"/>
          <p:nvPr/>
        </p:nvSpPr>
        <p:spPr>
          <a:xfrm>
            <a:off x="42960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6" name="S07_KPI_3_SUBLABEL"/>
          <p:cNvSpPr txBox="1"/>
          <p:nvPr/>
        </p:nvSpPr>
        <p:spPr>
          <a:xfrm>
            <a:off x="42960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7" name="S07_KPI_4_CARD"/>
          <p:cNvSpPr/>
          <p:nvPr/>
        </p:nvSpPr>
        <p:spPr>
          <a:xfrm>
            <a:off x="61356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7_KPI_4_LABEL"/>
          <p:cNvSpPr txBox="1"/>
          <p:nvPr/>
        </p:nvSpPr>
        <p:spPr>
          <a:xfrm>
            <a:off x="61752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9" name="S07_KPI_4_SUBLABEL"/>
          <p:cNvSpPr txBox="1"/>
          <p:nvPr/>
        </p:nvSpPr>
        <p:spPr>
          <a:xfrm>
            <a:off x="61752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20" name="S07_KPI_5_CARD"/>
          <p:cNvSpPr/>
          <p:nvPr/>
        </p:nvSpPr>
        <p:spPr>
          <a:xfrm>
            <a:off x="80148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7_KPI_5_LABEL"/>
          <p:cNvSpPr txBox="1"/>
          <p:nvPr/>
        </p:nvSpPr>
        <p:spPr>
          <a:xfrm>
            <a:off x="80544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2" name="S07_KPI_5_SUBLABEL"/>
          <p:cNvSpPr txBox="1"/>
          <p:nvPr/>
        </p:nvSpPr>
        <p:spPr>
          <a:xfrm>
            <a:off x="80544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3" name="S07_KPI_6_CARD"/>
          <p:cNvSpPr/>
          <p:nvPr/>
        </p:nvSpPr>
        <p:spPr>
          <a:xfrm>
            <a:off x="9894059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7_KPI_6_LABEL"/>
          <p:cNvSpPr txBox="1"/>
          <p:nvPr/>
        </p:nvSpPr>
        <p:spPr>
          <a:xfrm>
            <a:off x="993365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5" name="S07_KPI_6_SUBLABEL"/>
          <p:cNvSpPr txBox="1"/>
          <p:nvPr/>
        </p:nvSpPr>
        <p:spPr>
          <a:xfrm>
            <a:off x="993365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07_SECTION_LABEL"/>
          <p:cNvSpPr txBox="1"/>
          <p:nvPr/>
        </p:nvSpPr>
        <p:spPr>
          <a:xfrm>
            <a:off x="501659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070E1D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070E1D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8" name="S07_BAR_1_LABEL"/>
          <p:cNvSpPr txBox="1"/>
          <p:nvPr/>
        </p:nvSpPr>
        <p:spPr>
          <a:xfrm>
            <a:off x="498059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9" name="S07_BAR_1_BAR"/>
          <p:cNvSpPr/>
          <p:nvPr/>
        </p:nvSpPr>
        <p:spPr>
          <a:xfrm>
            <a:off x="3068459" y="3704399"/>
            <a:ext cx="6811560" cy="198000"/>
          </a:xfrm>
          <a:prstGeom prst="roundRect">
            <a:avLst>
              <a:gd name="adj" fmla="val 5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7_BAR_1_VALUE"/>
          <p:cNvSpPr txBox="1"/>
          <p:nvPr/>
        </p:nvSpPr>
        <p:spPr>
          <a:xfrm>
            <a:off x="1111806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31" name="S07_BAR_2_LABEL"/>
          <p:cNvSpPr txBox="1"/>
          <p:nvPr/>
        </p:nvSpPr>
        <p:spPr>
          <a:xfrm>
            <a:off x="498059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2" name="S07_BAR_2_BAR"/>
          <p:cNvSpPr/>
          <p:nvPr/>
        </p:nvSpPr>
        <p:spPr>
          <a:xfrm>
            <a:off x="3068459" y="4176000"/>
            <a:ext cx="4968431" cy="198000"/>
          </a:xfrm>
          <a:prstGeom prst="roundRect">
            <a:avLst>
              <a:gd name="adj" fmla="val 5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7_BAR_2_VALUE"/>
          <p:cNvSpPr txBox="1"/>
          <p:nvPr/>
        </p:nvSpPr>
        <p:spPr>
          <a:xfrm>
            <a:off x="1111806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4" name="S07_BAR_3_LABEL"/>
          <p:cNvSpPr txBox="1"/>
          <p:nvPr/>
        </p:nvSpPr>
        <p:spPr>
          <a:xfrm>
            <a:off x="498059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5" name="S07_BAR_3_BAR"/>
          <p:cNvSpPr/>
          <p:nvPr/>
        </p:nvSpPr>
        <p:spPr>
          <a:xfrm>
            <a:off x="3068459" y="4636800"/>
            <a:ext cx="3285575" cy="198000"/>
          </a:xfrm>
          <a:prstGeom prst="roundRect">
            <a:avLst>
              <a:gd name="adj" fmla="val 5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7_BAR_3_VALUE"/>
          <p:cNvSpPr txBox="1"/>
          <p:nvPr/>
        </p:nvSpPr>
        <p:spPr>
          <a:xfrm>
            <a:off x="1111806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7" name="S07_BAR_4_LABEL"/>
          <p:cNvSpPr txBox="1"/>
          <p:nvPr/>
        </p:nvSpPr>
        <p:spPr>
          <a:xfrm>
            <a:off x="498059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8" name="S07_BAR_4_BAR"/>
          <p:cNvSpPr/>
          <p:nvPr/>
        </p:nvSpPr>
        <p:spPr>
          <a:xfrm>
            <a:off x="3068459" y="5097600"/>
            <a:ext cx="6250608" cy="198000"/>
          </a:xfrm>
          <a:prstGeom prst="roundRect">
            <a:avLst>
              <a:gd name="adj" fmla="val 5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07_BAR_4_VALUE"/>
          <p:cNvSpPr txBox="1"/>
          <p:nvPr/>
        </p:nvSpPr>
        <p:spPr>
          <a:xfrm>
            <a:off x="1111806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40" name="S07_BAR_5_LABEL"/>
          <p:cNvSpPr txBox="1"/>
          <p:nvPr/>
        </p:nvSpPr>
        <p:spPr>
          <a:xfrm>
            <a:off x="498059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41" name="S07_BAR_5_BAR"/>
          <p:cNvSpPr/>
          <p:nvPr/>
        </p:nvSpPr>
        <p:spPr>
          <a:xfrm>
            <a:off x="3068459" y="5536800"/>
            <a:ext cx="7212240" cy="198000"/>
          </a:xfrm>
          <a:prstGeom prst="roundRect">
            <a:avLst>
              <a:gd name="adj" fmla="val 5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07_BAR_5_VALUE"/>
          <p:cNvSpPr txBox="1"/>
          <p:nvPr/>
        </p:nvSpPr>
        <p:spPr>
          <a:xfrm>
            <a:off x="1111806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08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9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10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1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4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7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8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9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2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3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4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7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8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9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2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3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4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3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3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7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8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09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9_RISK_1_CARD"/>
          <p:cNvSpPr/>
          <p:nvPr/>
        </p:nvSpPr>
        <p:spPr>
          <a:xfrm>
            <a:off x="121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ICON"/>
          <p:cNvSpPr/>
          <p:nvPr/>
        </p:nvSpPr>
        <p:spPr>
          <a:xfrm>
            <a:off x="168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0" name="S09_RISK_1_TITLE"/>
          <p:cNvSpPr txBox="1"/>
          <p:nvPr/>
        </p:nvSpPr>
        <p:spPr>
          <a:xfrm>
            <a:off x="553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1" name="S09_RISK_1_LEVEL"/>
          <p:cNvSpPr/>
          <p:nvPr/>
        </p:nvSpPr>
        <p:spPr>
          <a:xfrm>
            <a:off x="553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9797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2" name="S09_RISK_1_BODY"/>
          <p:cNvSpPr txBox="1"/>
          <p:nvPr/>
        </p:nvSpPr>
        <p:spPr>
          <a:xfrm>
            <a:off x="168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4" name="S09_RISK_1_ACTION_TAG"/>
          <p:cNvSpPr/>
          <p:nvPr/>
        </p:nvSpPr>
        <p:spPr>
          <a:xfrm>
            <a:off x="193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5" name="S09_RISK_1_ACTION_BODY"/>
          <p:cNvSpPr txBox="1"/>
          <p:nvPr/>
        </p:nvSpPr>
        <p:spPr>
          <a:xfrm>
            <a:off x="877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6" name="S09_RISK_2_CARD"/>
          <p:cNvSpPr/>
          <p:nvPr/>
        </p:nvSpPr>
        <p:spPr>
          <a:xfrm>
            <a:off x="4135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ICON"/>
          <p:cNvSpPr/>
          <p:nvPr/>
        </p:nvSpPr>
        <p:spPr>
          <a:xfrm>
            <a:off x="4182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18" name="S09_RISK_2_TITLE"/>
          <p:cNvSpPr txBox="1"/>
          <p:nvPr/>
        </p:nvSpPr>
        <p:spPr>
          <a:xfrm>
            <a:off x="4567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09_RISK_2_LEVEL"/>
          <p:cNvSpPr/>
          <p:nvPr/>
        </p:nvSpPr>
        <p:spPr>
          <a:xfrm>
            <a:off x="4567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0" name="S09_RISK_2_BODY"/>
          <p:cNvSpPr txBox="1"/>
          <p:nvPr/>
        </p:nvSpPr>
        <p:spPr>
          <a:xfrm>
            <a:off x="4182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7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2" name="S09_RISK_2_ACTION_TAG"/>
          <p:cNvSpPr/>
          <p:nvPr/>
        </p:nvSpPr>
        <p:spPr>
          <a:xfrm>
            <a:off x="4207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3" name="S09_RISK_2_ACTION_BODY"/>
          <p:cNvSpPr txBox="1"/>
          <p:nvPr/>
        </p:nvSpPr>
        <p:spPr>
          <a:xfrm>
            <a:off x="4891859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4" name="S09_RISK_3_CARD"/>
          <p:cNvSpPr/>
          <p:nvPr/>
        </p:nvSpPr>
        <p:spPr>
          <a:xfrm>
            <a:off x="8149859" y="1260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ICON"/>
          <p:cNvSpPr/>
          <p:nvPr/>
        </p:nvSpPr>
        <p:spPr>
          <a:xfrm>
            <a:off x="8196659" y="1440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6A5D79"/>
                </a:solidFill>
                <a:latin typeface="Wingdings"/>
              </a:rPr>
              <a:t>L</a:t>
            </a:r>
          </a:p>
        </p:txBody>
      </p:sp>
      <p:sp>
        <p:nvSpPr>
          <p:cNvPr id="26" name="S09_RISK_3_TITLE"/>
          <p:cNvSpPr txBox="1"/>
          <p:nvPr/>
        </p:nvSpPr>
        <p:spPr>
          <a:xfrm>
            <a:off x="8581859" y="1386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7" name="S09_RISK_3_LEVEL"/>
          <p:cNvSpPr/>
          <p:nvPr/>
        </p:nvSpPr>
        <p:spPr>
          <a:xfrm>
            <a:off x="8581859" y="1663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8" name="S09_RISK_3_BODY"/>
          <p:cNvSpPr txBox="1"/>
          <p:nvPr/>
        </p:nvSpPr>
        <p:spPr>
          <a:xfrm>
            <a:off x="8196659" y="1908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1859" y="2448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0" name="S09_RISK_3_ACTION_TAG"/>
          <p:cNvSpPr/>
          <p:nvPr/>
        </p:nvSpPr>
        <p:spPr>
          <a:xfrm>
            <a:off x="8221859" y="2556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1" name="S09_RISK_3_ACTION_BODY"/>
          <p:cNvSpPr txBox="1"/>
          <p:nvPr/>
        </p:nvSpPr>
        <p:spPr>
          <a:xfrm>
            <a:off x="8905860" y="2556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2" name="S09_OPP_1_CARD"/>
          <p:cNvSpPr/>
          <p:nvPr/>
        </p:nvSpPr>
        <p:spPr>
          <a:xfrm>
            <a:off x="121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ICON"/>
          <p:cNvSpPr/>
          <p:nvPr/>
        </p:nvSpPr>
        <p:spPr>
          <a:xfrm>
            <a:off x="168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34" name="S09_OPP_1_TITLE"/>
          <p:cNvSpPr txBox="1"/>
          <p:nvPr/>
        </p:nvSpPr>
        <p:spPr>
          <a:xfrm>
            <a:off x="553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5" name="S09_OPP_1_LEVEL"/>
          <p:cNvSpPr/>
          <p:nvPr/>
        </p:nvSpPr>
        <p:spPr>
          <a:xfrm>
            <a:off x="553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6" name="S09_OPP_1_BODY"/>
          <p:cNvSpPr txBox="1"/>
          <p:nvPr/>
        </p:nvSpPr>
        <p:spPr>
          <a:xfrm>
            <a:off x="168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3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8" name="S09_OPP_1_ACTION_TAG"/>
          <p:cNvSpPr/>
          <p:nvPr/>
        </p:nvSpPr>
        <p:spPr>
          <a:xfrm>
            <a:off x="193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9" name="S09_OPP_1_ACTION_BODY"/>
          <p:cNvSpPr txBox="1"/>
          <p:nvPr/>
        </p:nvSpPr>
        <p:spPr>
          <a:xfrm>
            <a:off x="877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40" name="S09_OPP_2_CARD"/>
          <p:cNvSpPr/>
          <p:nvPr/>
        </p:nvSpPr>
        <p:spPr>
          <a:xfrm>
            <a:off x="4135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ICON"/>
          <p:cNvSpPr/>
          <p:nvPr/>
        </p:nvSpPr>
        <p:spPr>
          <a:xfrm>
            <a:off x="4182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42" name="S09_OPP_2_TITLE"/>
          <p:cNvSpPr txBox="1"/>
          <p:nvPr/>
        </p:nvSpPr>
        <p:spPr>
          <a:xfrm>
            <a:off x="4567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3" name="S09_OPP_2_LEVEL"/>
          <p:cNvSpPr/>
          <p:nvPr/>
        </p:nvSpPr>
        <p:spPr>
          <a:xfrm>
            <a:off x="4567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69FFAD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4" name="S09_OPP_2_BODY"/>
          <p:cNvSpPr txBox="1"/>
          <p:nvPr/>
        </p:nvSpPr>
        <p:spPr>
          <a:xfrm>
            <a:off x="4182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207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6" name="S09_OPP_2_ACTION_TAG"/>
          <p:cNvSpPr/>
          <p:nvPr/>
        </p:nvSpPr>
        <p:spPr>
          <a:xfrm>
            <a:off x="4207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7" name="S09_OPP_2_ACTION_BODY"/>
          <p:cNvSpPr txBox="1"/>
          <p:nvPr/>
        </p:nvSpPr>
        <p:spPr>
          <a:xfrm>
            <a:off x="4891859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8" name="S09_OPP_3_CARD"/>
          <p:cNvSpPr/>
          <p:nvPr/>
        </p:nvSpPr>
        <p:spPr>
          <a:xfrm>
            <a:off x="8149859" y="3708000"/>
            <a:ext cx="3920400" cy="230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ICON"/>
          <p:cNvSpPr/>
          <p:nvPr/>
        </p:nvSpPr>
        <p:spPr>
          <a:xfrm>
            <a:off x="8196659" y="3888000"/>
            <a:ext cx="306000" cy="306000"/>
          </a:xfrm>
          <a:prstGeom prst="roundRect">
            <a:avLst>
              <a:gd name="adj" fmla="val 15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800" b="1" i="0">
                <a:solidFill>
                  <a:srgbClr val="FBCC58"/>
                </a:solidFill>
                <a:latin typeface="Wingdings"/>
              </a:rPr>
              <a:t>J</a:t>
            </a:r>
          </a:p>
        </p:txBody>
      </p:sp>
      <p:sp>
        <p:nvSpPr>
          <p:cNvPr id="50" name="S09_OPP_3_TITLE"/>
          <p:cNvSpPr txBox="1"/>
          <p:nvPr/>
        </p:nvSpPr>
        <p:spPr>
          <a:xfrm>
            <a:off x="8581859" y="3834000"/>
            <a:ext cx="32400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1" name="S09_OPP_3_LEVEL"/>
          <p:cNvSpPr/>
          <p:nvPr/>
        </p:nvSpPr>
        <p:spPr>
          <a:xfrm>
            <a:off x="8581859" y="4111200"/>
            <a:ext cx="892800" cy="190800"/>
          </a:xfrm>
          <a:prstGeom prst="roundRect">
            <a:avLst>
              <a:gd name="adj" fmla="val 15000"/>
            </a:avLst>
          </a:prstGeom>
          <a:solidFill>
            <a:srgbClr val="FFFF85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2" name="S09_OPP_3_BODY"/>
          <p:cNvSpPr txBox="1"/>
          <p:nvPr/>
        </p:nvSpPr>
        <p:spPr>
          <a:xfrm>
            <a:off x="8196659" y="4356000"/>
            <a:ext cx="3776400" cy="432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1859" y="4896000"/>
            <a:ext cx="37764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4" name="S09_OPP_3_ACTION_TAG"/>
          <p:cNvSpPr/>
          <p:nvPr/>
        </p:nvSpPr>
        <p:spPr>
          <a:xfrm>
            <a:off x="8221859" y="5004000"/>
            <a:ext cx="615600" cy="190800"/>
          </a:xfrm>
          <a:prstGeom prst="roundRect">
            <a:avLst>
              <a:gd name="adj" fmla="val 15000"/>
            </a:avLst>
          </a:prstGeom>
          <a:solidFill>
            <a:srgbClr val="DDE7CF"/>
          </a:solidFill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1000" b="0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5" name="S09_OPP_3_ACTION_BODY"/>
          <p:cNvSpPr txBox="1"/>
          <p:nvPr/>
        </p:nvSpPr>
        <p:spPr>
          <a:xfrm>
            <a:off x="8905860" y="5004000"/>
            <a:ext cx="3092400" cy="360000"/>
          </a:xfrm>
          <a:prstGeom prst="rect">
            <a:avLst/>
          </a:prstGeom>
          <a:noFill/>
        </p:spPr>
        <p:txBody>
          <a:bodyPr wrap="square" lIns="45720" rIns="45720" tIns="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10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Process de déploiement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Identifier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clients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Cartographier les parties prenantes et qualifier la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voix du client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Évaluer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attentes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chaque besoin sur une échelle simple et comparable.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Construire le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questionnaire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Préparer des questions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fonctionnelles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dys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fonctionnelles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robustes.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Tester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le dispositif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Valider la compréhension auprès d'un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échantillon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restreint.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Diffuser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largement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Choisir les canaux, suivre le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taux de réponse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sécuriser les données.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Analyser les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résultats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Transformer les réponses en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priorités d'action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mesurables.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Bonnes pratiques terrain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13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3_LEFT_TITLE"/>
          <p:cNvSpPr txBox="1"/>
          <p:nvPr/>
        </p:nvSpPr>
        <p:spPr>
          <a:xfrm>
            <a:off x="345600" y="1576800"/>
            <a:ext cx="55044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Segoe UI"/>
              </a:rPr>
              <a:t>À faire</a:t>
            </a:r>
          </a:p>
        </p:txBody>
      </p:sp>
      <p:sp>
        <p:nvSpPr>
          <p:cNvPr id="9" name="S13_RIGHT_TITLE"/>
          <p:cNvSpPr txBox="1"/>
          <p:nvPr/>
        </p:nvSpPr>
        <p:spPr>
          <a:xfrm>
            <a:off x="6094800" y="1576800"/>
            <a:ext cx="57492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Segoe UI"/>
              </a:rPr>
              <a:t>À éviter</a:t>
            </a:r>
          </a:p>
        </p:txBody>
      </p:sp>
      <p:sp>
        <p:nvSpPr>
          <p:cNvPr id="10" name="S13_LEFT_1_BOX"/>
          <p:cNvSpPr/>
          <p:nvPr/>
        </p:nvSpPr>
        <p:spPr>
          <a:xfrm>
            <a:off x="345600" y="2030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3_RIGHT_1_BOX"/>
          <p:cNvSpPr/>
          <p:nvPr/>
        </p:nvSpPr>
        <p:spPr>
          <a:xfrm>
            <a:off x="6094800" y="2030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3_LEFT_1_BULLET"/>
          <p:cNvSpPr/>
          <p:nvPr/>
        </p:nvSpPr>
        <p:spPr>
          <a:xfrm>
            <a:off x="468000" y="21276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3" name="S13_RIGHT_1_BULLET"/>
          <p:cNvSpPr/>
          <p:nvPr/>
        </p:nvSpPr>
        <p:spPr>
          <a:xfrm>
            <a:off x="6217200" y="21276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14" name="S13_LEFT_1_ITEM"/>
          <p:cNvSpPr txBox="1"/>
          <p:nvPr/>
        </p:nvSpPr>
        <p:spPr>
          <a:xfrm>
            <a:off x="896400" y="2080799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Questions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précises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, portant sur une seule caractéristique</a:t>
            </a:r>
          </a:p>
        </p:txBody>
      </p:sp>
      <p:sp>
        <p:nvSpPr>
          <p:cNvPr id="15" name="S13_RIGHT_1_ITEM"/>
          <p:cNvSpPr txBox="1"/>
          <p:nvPr/>
        </p:nvSpPr>
        <p:spPr>
          <a:xfrm>
            <a:off x="6645600" y="2080799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Nier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mécaniquement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la question fonctionnelle</a:t>
            </a:r>
          </a:p>
        </p:txBody>
      </p:sp>
      <p:sp>
        <p:nvSpPr>
          <p:cNvPr id="16" name="S13_LEFT_2_BOX"/>
          <p:cNvSpPr/>
          <p:nvPr/>
        </p:nvSpPr>
        <p:spPr>
          <a:xfrm>
            <a:off x="345600" y="2667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3_RIGHT_2_BOX"/>
          <p:cNvSpPr/>
          <p:nvPr/>
        </p:nvSpPr>
        <p:spPr>
          <a:xfrm>
            <a:off x="6094800" y="2667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3_LEFT_2_BULLET"/>
          <p:cNvSpPr/>
          <p:nvPr/>
        </p:nvSpPr>
        <p:spPr>
          <a:xfrm>
            <a:off x="468000" y="2764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19" name="S13_RIGHT_2_BULLET"/>
          <p:cNvSpPr/>
          <p:nvPr/>
        </p:nvSpPr>
        <p:spPr>
          <a:xfrm>
            <a:off x="6217200" y="2764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0" name="S13_LEFT_2_ITEM"/>
          <p:cNvSpPr txBox="1"/>
          <p:nvPr/>
        </p:nvSpPr>
        <p:spPr>
          <a:xfrm>
            <a:off x="896400" y="2718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Formuler en termes de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bénéfices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pour l'utilisateur</a:t>
            </a:r>
          </a:p>
        </p:txBody>
      </p:sp>
      <p:sp>
        <p:nvSpPr>
          <p:cNvPr id="21" name="S13_RIGHT_2_ITEM"/>
          <p:cNvSpPr txBox="1"/>
          <p:nvPr/>
        </p:nvSpPr>
        <p:spPr>
          <a:xfrm>
            <a:off x="6645600" y="2718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Utiliser une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échelle classique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à la place des réponses adaptées</a:t>
            </a:r>
          </a:p>
        </p:txBody>
      </p:sp>
      <p:sp>
        <p:nvSpPr>
          <p:cNvPr id="22" name="S13_LEFT_3_BOX"/>
          <p:cNvSpPr/>
          <p:nvPr/>
        </p:nvSpPr>
        <p:spPr>
          <a:xfrm>
            <a:off x="345600" y="33012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3_RIGHT_3_BOX"/>
          <p:cNvSpPr/>
          <p:nvPr/>
        </p:nvSpPr>
        <p:spPr>
          <a:xfrm>
            <a:off x="6094800" y="33012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3_LEFT_3_BULLET"/>
          <p:cNvSpPr/>
          <p:nvPr/>
        </p:nvSpPr>
        <p:spPr>
          <a:xfrm>
            <a:off x="468000" y="33984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25" name="S13_RIGHT_3_BULLET"/>
          <p:cNvSpPr/>
          <p:nvPr/>
        </p:nvSpPr>
        <p:spPr>
          <a:xfrm>
            <a:off x="6217200" y="33984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26" name="S13_LEFT_3_ITEM"/>
          <p:cNvSpPr txBox="1"/>
          <p:nvPr/>
        </p:nvSpPr>
        <p:spPr>
          <a:xfrm>
            <a:off x="896400" y="33516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Mélanger les questions dans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ordre aléatoire</a:t>
            </a:r>
          </a:p>
        </p:txBody>
      </p:sp>
      <p:sp>
        <p:nvSpPr>
          <p:cNvPr id="27" name="S13_RIGHT_3_ITEM"/>
          <p:cNvSpPr txBox="1"/>
          <p:nvPr/>
        </p:nvSpPr>
        <p:spPr>
          <a:xfrm>
            <a:off x="6645600" y="33516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Prioriser par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simple comptage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sans indice d'intensité</a:t>
            </a:r>
          </a:p>
        </p:txBody>
      </p:sp>
      <p:sp>
        <p:nvSpPr>
          <p:cNvPr id="28" name="S13_LEFT_4_BOX"/>
          <p:cNvSpPr/>
          <p:nvPr/>
        </p:nvSpPr>
        <p:spPr>
          <a:xfrm>
            <a:off x="345600" y="39384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3_RIGHT_4_BOX"/>
          <p:cNvSpPr/>
          <p:nvPr/>
        </p:nvSpPr>
        <p:spPr>
          <a:xfrm>
            <a:off x="6094800" y="39384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3_LEFT_4_BULLET"/>
          <p:cNvSpPr/>
          <p:nvPr/>
        </p:nvSpPr>
        <p:spPr>
          <a:xfrm>
            <a:off x="468000" y="4035599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1" name="S13_RIGHT_4_BULLET"/>
          <p:cNvSpPr/>
          <p:nvPr/>
        </p:nvSpPr>
        <p:spPr>
          <a:xfrm>
            <a:off x="6217200" y="4035599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2" name="S13_LEFT_4_ITEM"/>
          <p:cNvSpPr txBox="1"/>
          <p:nvPr/>
        </p:nvSpPr>
        <p:spPr>
          <a:xfrm>
            <a:off x="896400" y="39888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Placer les données démographiques en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fin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de questionnaire</a:t>
            </a:r>
          </a:p>
        </p:txBody>
      </p:sp>
      <p:sp>
        <p:nvSpPr>
          <p:cNvPr id="33" name="S13_RIGHT_4_ITEM"/>
          <p:cNvSpPr txBox="1"/>
          <p:nvPr/>
        </p:nvSpPr>
        <p:spPr>
          <a:xfrm>
            <a:off x="6645600" y="39888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Lancer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sans tester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le questionnaire en amont</a:t>
            </a:r>
          </a:p>
        </p:txBody>
      </p:sp>
      <p:sp>
        <p:nvSpPr>
          <p:cNvPr id="34" name="S13_LEFT_5_BOX"/>
          <p:cNvSpPr/>
          <p:nvPr/>
        </p:nvSpPr>
        <p:spPr>
          <a:xfrm>
            <a:off x="345600" y="4575600"/>
            <a:ext cx="55044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3_RIGHT_5_BOX"/>
          <p:cNvSpPr/>
          <p:nvPr/>
        </p:nvSpPr>
        <p:spPr>
          <a:xfrm>
            <a:off x="6094800" y="4575600"/>
            <a:ext cx="5749200" cy="53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DF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13_LEFT_5_BULLET"/>
          <p:cNvSpPr/>
          <p:nvPr/>
        </p:nvSpPr>
        <p:spPr>
          <a:xfrm>
            <a:off x="468000" y="4672800"/>
            <a:ext cx="316800" cy="316800"/>
          </a:xfrm>
          <a:prstGeom prst="ellipse">
            <a:avLst/>
          </a:prstGeom>
          <a:solidFill>
            <a:srgbClr val="E1F5EE"/>
          </a:solidFill>
          <a:ln w="6350">
            <a:solidFill>
              <a:srgbClr val="0F6E5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0F6E56"/>
                </a:solidFill>
                <a:latin typeface="Segoe UI"/>
              </a:rPr>
              <a:t>✓</a:t>
            </a:r>
          </a:p>
        </p:txBody>
      </p:sp>
      <p:sp>
        <p:nvSpPr>
          <p:cNvPr id="37" name="S13_RIGHT_5_BULLET"/>
          <p:cNvSpPr/>
          <p:nvPr/>
        </p:nvSpPr>
        <p:spPr>
          <a:xfrm>
            <a:off x="6217200" y="4672800"/>
            <a:ext cx="316800" cy="316800"/>
          </a:xfrm>
          <a:prstGeom prst="ellipse">
            <a:avLst/>
          </a:prstGeom>
          <a:solidFill>
            <a:srgbClr val="FAECE7"/>
          </a:solidFill>
          <a:ln w="6350">
            <a:solidFill>
              <a:srgbClr val="993C1D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993C1D"/>
                </a:solidFill>
                <a:latin typeface="Segoe UI"/>
              </a:rPr>
              <a:t>×</a:t>
            </a:r>
          </a:p>
        </p:txBody>
      </p:sp>
      <p:sp>
        <p:nvSpPr>
          <p:cNvPr id="38" name="S13_LEFT_5_ITEM"/>
          <p:cNvSpPr txBox="1"/>
          <p:nvPr/>
        </p:nvSpPr>
        <p:spPr>
          <a:xfrm>
            <a:off x="896400" y="4626000"/>
            <a:ext cx="48312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Limiter le questionnaire à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dix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fonctionnalités</a:t>
            </a:r>
          </a:p>
        </p:txBody>
      </p:sp>
      <p:sp>
        <p:nvSpPr>
          <p:cNvPr id="39" name="S13_RIGHT_5_ITEM"/>
          <p:cNvSpPr txBox="1"/>
          <p:nvPr/>
        </p:nvSpPr>
        <p:spPr>
          <a:xfrm>
            <a:off x="6645600" y="4626000"/>
            <a:ext cx="50760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70E1D"/>
                </a:solidFill>
                <a:latin typeface="Segoe UI"/>
              </a:rPr>
              <a:t>Multiplier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les fonctionnalités au détriment de la qualité de réponse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Comparatif qualitatif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pic>
        <p:nvPicPr>
          <p:cNvPr id="8" name="Comp_quali_bg" descr="Comp_quali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00" y="1411200"/>
            <a:ext cx="9910800" cy="4190400"/>
          </a:xfrm>
          <a:prstGeom prst="rect">
            <a:avLst/>
          </a:prstGeom>
        </p:spPr>
      </p:pic>
      <p:sp>
        <p:nvSpPr>
          <p:cNvPr id="9" name="S14_LEFT_TITLE"/>
          <p:cNvSpPr txBox="1"/>
          <p:nvPr/>
        </p:nvSpPr>
        <p:spPr>
          <a:xfrm>
            <a:off x="20484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6A5D79"/>
                </a:solidFill>
                <a:latin typeface="Segoe UI"/>
              </a:rPr>
              <a:t>DMAIC</a:t>
            </a:r>
          </a:p>
        </p:txBody>
      </p:sp>
      <p:sp>
        <p:nvSpPr>
          <p:cNvPr id="10" name="S14_RIGHT_TITLE"/>
          <p:cNvSpPr txBox="1"/>
          <p:nvPr/>
        </p:nvSpPr>
        <p:spPr>
          <a:xfrm>
            <a:off x="7441200" y="1699200"/>
            <a:ext cx="2696400" cy="4320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ctr"/>
            <a:r>
              <a:rPr sz="2200" b="1" i="0" cap="small">
                <a:solidFill>
                  <a:srgbClr val="FDA85B"/>
                </a:solidFill>
                <a:latin typeface="Segoe UI"/>
              </a:rPr>
              <a:t>DMADV</a:t>
            </a:r>
          </a:p>
        </p:txBody>
      </p:sp>
      <p:sp>
        <p:nvSpPr>
          <p:cNvPr id="11" name="S14_LEFT_1_ITEM"/>
          <p:cNvSpPr txBox="1"/>
          <p:nvPr/>
        </p:nvSpPr>
        <p:spPr>
          <a:xfrm>
            <a:off x="13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Améliorer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processus existant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à partir de preuves terrain</a:t>
            </a:r>
          </a:p>
        </p:txBody>
      </p:sp>
      <p:sp>
        <p:nvSpPr>
          <p:cNvPr id="12" name="S14_RIGHT_1_ITEM"/>
          <p:cNvSpPr txBox="1"/>
          <p:nvPr/>
        </p:nvSpPr>
        <p:spPr>
          <a:xfrm>
            <a:off x="6703200" y="2325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Concevoir une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solution nouvelle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quand l'existant ne suffit plus</a:t>
            </a:r>
          </a:p>
        </p:txBody>
      </p:sp>
      <p:sp>
        <p:nvSpPr>
          <p:cNvPr id="13" name="S14_LEFT_2_ITEM"/>
          <p:cNvSpPr txBox="1"/>
          <p:nvPr/>
        </p:nvSpPr>
        <p:spPr>
          <a:xfrm>
            <a:off x="13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Mesurer les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écarts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de définir les actions correctives</a:t>
            </a:r>
          </a:p>
        </p:txBody>
      </p:sp>
      <p:sp>
        <p:nvSpPr>
          <p:cNvPr id="14" name="S14_RIGHT_2_ITEM"/>
          <p:cNvSpPr txBox="1"/>
          <p:nvPr/>
        </p:nvSpPr>
        <p:spPr>
          <a:xfrm>
            <a:off x="6703200" y="2937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Traduire la voix client en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exigences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de conception</a:t>
            </a:r>
          </a:p>
        </p:txBody>
      </p:sp>
      <p:sp>
        <p:nvSpPr>
          <p:cNvPr id="15" name="S14_LEFT_3_ITEM"/>
          <p:cNvSpPr txBox="1"/>
          <p:nvPr/>
        </p:nvSpPr>
        <p:spPr>
          <a:xfrm>
            <a:off x="13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Réduire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variabilité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et stabiliser les standards</a:t>
            </a:r>
          </a:p>
        </p:txBody>
      </p:sp>
      <p:sp>
        <p:nvSpPr>
          <p:cNvPr id="16" name="S14_RIGHT_3_ITEM"/>
          <p:cNvSpPr txBox="1"/>
          <p:nvPr/>
        </p:nvSpPr>
        <p:spPr>
          <a:xfrm>
            <a:off x="6703200" y="3549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Prototyper et vérifier la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robustesse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avant déploiement</a:t>
            </a:r>
          </a:p>
        </p:txBody>
      </p:sp>
      <p:sp>
        <p:nvSpPr>
          <p:cNvPr id="17" name="S14_LEFT_4_ITEM"/>
          <p:cNvSpPr txBox="1"/>
          <p:nvPr/>
        </p:nvSpPr>
        <p:spPr>
          <a:xfrm>
            <a:off x="13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Installer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contrôle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 opérationnel après amélioration</a:t>
            </a:r>
          </a:p>
        </p:txBody>
      </p:sp>
      <p:sp>
        <p:nvSpPr>
          <p:cNvPr id="18" name="S14_RIGHT_4_ITEM"/>
          <p:cNvSpPr txBox="1"/>
          <p:nvPr/>
        </p:nvSpPr>
        <p:spPr>
          <a:xfrm>
            <a:off x="6703200" y="4161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Prévenir les défauts dès la phase de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design</a:t>
            </a:r>
          </a:p>
        </p:txBody>
      </p:sp>
      <p:sp>
        <p:nvSpPr>
          <p:cNvPr id="19" name="S14_LEFT_5_ITEM"/>
          <p:cNvSpPr txBox="1"/>
          <p:nvPr/>
        </p:nvSpPr>
        <p:spPr>
          <a:xfrm>
            <a:off x="13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le fonctionnement actuel est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connu</a:t>
            </a:r>
          </a:p>
        </p:txBody>
      </p:sp>
      <p:sp>
        <p:nvSpPr>
          <p:cNvPr id="20" name="S14_RIGHT_5_ITEM"/>
          <p:cNvSpPr txBox="1"/>
          <p:nvPr/>
        </p:nvSpPr>
        <p:spPr>
          <a:xfrm>
            <a:off x="6703200" y="4773600"/>
            <a:ext cx="4024800" cy="4392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Idéal quand il faut créer un </a:t>
            </a:r>
            <a:r>
              <a:rPr sz="1000" b="1" i="0">
                <a:solidFill>
                  <a:srgbClr val="070E1D"/>
                </a:solidFill>
                <a:latin typeface="Segoe UI"/>
              </a:rPr>
              <a:t>modèle cible</a:t>
            </a:r>
          </a:p>
        </p:txBody>
      </p:sp>
      <p:sp>
        <p:nvSpPr>
          <p:cNvPr id="2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Choisir l'approche selon la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maturité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du problème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personne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10 personnes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16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fabricabilité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Support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Communication | Mobilisation | Support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0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2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3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5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6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7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8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9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41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42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44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46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48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50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